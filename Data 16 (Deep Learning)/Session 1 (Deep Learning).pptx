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314"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315" r:id="rId33"/>
    <p:sldId id="286" r:id="rId34"/>
    <p:sldId id="316" r:id="rId35"/>
    <p:sldId id="287" r:id="rId36"/>
    <p:sldId id="288" r:id="rId37"/>
    <p:sldId id="289" r:id="rId38"/>
    <p:sldId id="290" r:id="rId39"/>
    <p:sldId id="291" r:id="rId40"/>
    <p:sldId id="292" r:id="rId41"/>
    <p:sldId id="297" r:id="rId42"/>
    <p:sldId id="293" r:id="rId43"/>
    <p:sldId id="317" r:id="rId44"/>
    <p:sldId id="294" r:id="rId45"/>
    <p:sldId id="318" r:id="rId46"/>
    <p:sldId id="295" r:id="rId47"/>
    <p:sldId id="296" r:id="rId48"/>
    <p:sldId id="298" r:id="rId49"/>
    <p:sldId id="299" r:id="rId50"/>
    <p:sldId id="301" r:id="rId51"/>
    <p:sldId id="300" r:id="rId52"/>
    <p:sldId id="302" r:id="rId53"/>
    <p:sldId id="303" r:id="rId54"/>
    <p:sldId id="304" r:id="rId55"/>
    <p:sldId id="305" r:id="rId56"/>
    <p:sldId id="306" r:id="rId57"/>
    <p:sldId id="307" r:id="rId58"/>
    <p:sldId id="308" r:id="rId59"/>
    <p:sldId id="309" r:id="rId60"/>
    <p:sldId id="310" r:id="rId61"/>
    <p:sldId id="311" r:id="rId62"/>
    <p:sldId id="313"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69A6"/>
    <a:srgbClr val="2AAF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54" autoAdjust="0"/>
    <p:restoredTop sz="94660"/>
  </p:normalViewPr>
  <p:slideViewPr>
    <p:cSldViewPr snapToGrid="0">
      <p:cViewPr varScale="1">
        <p:scale>
          <a:sx n="67" d="100"/>
          <a:sy n="67" d="100"/>
        </p:scale>
        <p:origin x="83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C62B-2628-4936-BDD6-249B7556BA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91DB596-1022-427A-98F8-312B92A285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FBDA95-B084-49BF-AE62-13281B943CD7}"/>
              </a:ext>
            </a:extLst>
          </p:cNvPr>
          <p:cNvSpPr>
            <a:spLocks noGrp="1"/>
          </p:cNvSpPr>
          <p:nvPr>
            <p:ph type="dt" sz="half" idx="10"/>
          </p:nvPr>
        </p:nvSpPr>
        <p:spPr/>
        <p:txBody>
          <a:bodyPr/>
          <a:lstStyle/>
          <a:p>
            <a:fld id="{11D32FF9-3810-4BF7-A9BB-C6E9BEAA9379}" type="datetimeFigureOut">
              <a:rPr lang="en-US" smtClean="0"/>
              <a:t>9/7/2025</a:t>
            </a:fld>
            <a:endParaRPr lang="en-US"/>
          </a:p>
        </p:txBody>
      </p:sp>
      <p:sp>
        <p:nvSpPr>
          <p:cNvPr id="5" name="Footer Placeholder 4">
            <a:extLst>
              <a:ext uri="{FF2B5EF4-FFF2-40B4-BE49-F238E27FC236}">
                <a16:creationId xmlns:a16="http://schemas.microsoft.com/office/drawing/2014/main" id="{B1CD46E5-6115-428F-98AC-E395EE9CA7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B83AC8-8018-4419-8915-F273EFFC24C8}"/>
              </a:ext>
            </a:extLst>
          </p:cNvPr>
          <p:cNvSpPr>
            <a:spLocks noGrp="1"/>
          </p:cNvSpPr>
          <p:nvPr>
            <p:ph type="sldNum" sz="quarter" idx="12"/>
          </p:nvPr>
        </p:nvSpPr>
        <p:spPr/>
        <p:txBody>
          <a:bodyPr/>
          <a:lstStyle/>
          <a:p>
            <a:fld id="{A1F26AE4-DFF2-495F-9806-C69C743661E3}" type="slidenum">
              <a:rPr lang="en-US" smtClean="0"/>
              <a:t>‹#›</a:t>
            </a:fld>
            <a:endParaRPr lang="en-US"/>
          </a:p>
        </p:txBody>
      </p:sp>
    </p:spTree>
    <p:extLst>
      <p:ext uri="{BB962C8B-B14F-4D97-AF65-F5344CB8AC3E}">
        <p14:creationId xmlns:p14="http://schemas.microsoft.com/office/powerpoint/2010/main" val="573797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C356A-72FE-48FF-A9D0-9AB90A8ED3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8DD196-72DA-4ED8-9B07-0EE33AB78A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FA746C-0758-46BA-B0A4-B74A69043D1C}"/>
              </a:ext>
            </a:extLst>
          </p:cNvPr>
          <p:cNvSpPr>
            <a:spLocks noGrp="1"/>
          </p:cNvSpPr>
          <p:nvPr>
            <p:ph type="dt" sz="half" idx="10"/>
          </p:nvPr>
        </p:nvSpPr>
        <p:spPr/>
        <p:txBody>
          <a:bodyPr/>
          <a:lstStyle/>
          <a:p>
            <a:fld id="{11D32FF9-3810-4BF7-A9BB-C6E9BEAA9379}" type="datetimeFigureOut">
              <a:rPr lang="en-US" smtClean="0"/>
              <a:t>9/7/2025</a:t>
            </a:fld>
            <a:endParaRPr lang="en-US"/>
          </a:p>
        </p:txBody>
      </p:sp>
      <p:sp>
        <p:nvSpPr>
          <p:cNvPr id="5" name="Footer Placeholder 4">
            <a:extLst>
              <a:ext uri="{FF2B5EF4-FFF2-40B4-BE49-F238E27FC236}">
                <a16:creationId xmlns:a16="http://schemas.microsoft.com/office/drawing/2014/main" id="{221FB953-E092-4AB4-B43F-14F954D8E6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FC6C6D-D0FA-44C0-94A4-B8F5B127F61F}"/>
              </a:ext>
            </a:extLst>
          </p:cNvPr>
          <p:cNvSpPr>
            <a:spLocks noGrp="1"/>
          </p:cNvSpPr>
          <p:nvPr>
            <p:ph type="sldNum" sz="quarter" idx="12"/>
          </p:nvPr>
        </p:nvSpPr>
        <p:spPr/>
        <p:txBody>
          <a:bodyPr/>
          <a:lstStyle/>
          <a:p>
            <a:fld id="{A1F26AE4-DFF2-495F-9806-C69C743661E3}" type="slidenum">
              <a:rPr lang="en-US" smtClean="0"/>
              <a:t>‹#›</a:t>
            </a:fld>
            <a:endParaRPr lang="en-US"/>
          </a:p>
        </p:txBody>
      </p:sp>
    </p:spTree>
    <p:extLst>
      <p:ext uri="{BB962C8B-B14F-4D97-AF65-F5344CB8AC3E}">
        <p14:creationId xmlns:p14="http://schemas.microsoft.com/office/powerpoint/2010/main" val="19444263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CECBF-1100-43A8-AF42-C953882164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D73F308-3D2B-4181-9EEC-64AF94A805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C7980A-D7C3-4416-9790-CFCC0F6F4DBA}"/>
              </a:ext>
            </a:extLst>
          </p:cNvPr>
          <p:cNvSpPr>
            <a:spLocks noGrp="1"/>
          </p:cNvSpPr>
          <p:nvPr>
            <p:ph type="dt" sz="half" idx="10"/>
          </p:nvPr>
        </p:nvSpPr>
        <p:spPr/>
        <p:txBody>
          <a:bodyPr/>
          <a:lstStyle/>
          <a:p>
            <a:fld id="{11D32FF9-3810-4BF7-A9BB-C6E9BEAA9379}" type="datetimeFigureOut">
              <a:rPr lang="en-US" smtClean="0"/>
              <a:t>9/7/2025</a:t>
            </a:fld>
            <a:endParaRPr lang="en-US"/>
          </a:p>
        </p:txBody>
      </p:sp>
      <p:sp>
        <p:nvSpPr>
          <p:cNvPr id="5" name="Footer Placeholder 4">
            <a:extLst>
              <a:ext uri="{FF2B5EF4-FFF2-40B4-BE49-F238E27FC236}">
                <a16:creationId xmlns:a16="http://schemas.microsoft.com/office/drawing/2014/main" id="{9CE34537-F207-4E93-9069-293DDDD4E3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B18080-D4C2-4966-B051-E70B488902F9}"/>
              </a:ext>
            </a:extLst>
          </p:cNvPr>
          <p:cNvSpPr>
            <a:spLocks noGrp="1"/>
          </p:cNvSpPr>
          <p:nvPr>
            <p:ph type="sldNum" sz="quarter" idx="12"/>
          </p:nvPr>
        </p:nvSpPr>
        <p:spPr/>
        <p:txBody>
          <a:bodyPr/>
          <a:lstStyle/>
          <a:p>
            <a:fld id="{A1F26AE4-DFF2-495F-9806-C69C743661E3}" type="slidenum">
              <a:rPr lang="en-US" smtClean="0"/>
              <a:t>‹#›</a:t>
            </a:fld>
            <a:endParaRPr lang="en-US"/>
          </a:p>
        </p:txBody>
      </p:sp>
    </p:spTree>
    <p:extLst>
      <p:ext uri="{BB962C8B-B14F-4D97-AF65-F5344CB8AC3E}">
        <p14:creationId xmlns:p14="http://schemas.microsoft.com/office/powerpoint/2010/main" val="3109208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6960F-686E-4F56-B337-654D56EEE1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533A44-42C9-499A-8BD2-82C9B7829F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7F3EA3-A346-4388-9C39-F402EEA8190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CD6BAD3-3B9C-4320-A892-353FDC69D427}"/>
              </a:ext>
            </a:extLst>
          </p:cNvPr>
          <p:cNvSpPr>
            <a:spLocks noGrp="1"/>
          </p:cNvSpPr>
          <p:nvPr>
            <p:ph type="dt" sz="half" idx="10"/>
          </p:nvPr>
        </p:nvSpPr>
        <p:spPr/>
        <p:txBody>
          <a:bodyPr/>
          <a:lstStyle/>
          <a:p>
            <a:fld id="{11D32FF9-3810-4BF7-A9BB-C6E9BEAA9379}" type="datetimeFigureOut">
              <a:rPr lang="en-US" smtClean="0"/>
              <a:t>9/7/2025</a:t>
            </a:fld>
            <a:endParaRPr lang="en-US"/>
          </a:p>
        </p:txBody>
      </p:sp>
      <p:sp>
        <p:nvSpPr>
          <p:cNvPr id="6" name="Footer Placeholder 5">
            <a:extLst>
              <a:ext uri="{FF2B5EF4-FFF2-40B4-BE49-F238E27FC236}">
                <a16:creationId xmlns:a16="http://schemas.microsoft.com/office/drawing/2014/main" id="{9207074F-2E6F-48EB-A2AD-775557BD0B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561D4F-7530-4D59-9C79-EC67A4062248}"/>
              </a:ext>
            </a:extLst>
          </p:cNvPr>
          <p:cNvSpPr>
            <a:spLocks noGrp="1"/>
          </p:cNvSpPr>
          <p:nvPr>
            <p:ph type="sldNum" sz="quarter" idx="12"/>
          </p:nvPr>
        </p:nvSpPr>
        <p:spPr/>
        <p:txBody>
          <a:bodyPr/>
          <a:lstStyle/>
          <a:p>
            <a:fld id="{A1F26AE4-DFF2-495F-9806-C69C743661E3}" type="slidenum">
              <a:rPr lang="en-US" smtClean="0"/>
              <a:t>‹#›</a:t>
            </a:fld>
            <a:endParaRPr lang="en-US"/>
          </a:p>
        </p:txBody>
      </p:sp>
    </p:spTree>
    <p:extLst>
      <p:ext uri="{BB962C8B-B14F-4D97-AF65-F5344CB8AC3E}">
        <p14:creationId xmlns:p14="http://schemas.microsoft.com/office/powerpoint/2010/main" val="3121799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F1CA3-B0AC-4513-BE93-9F5D05F07F1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618AE31-472F-4865-8CE4-269421F336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298705-7549-4DB0-9957-09AEEE2AE0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279FC5A-EC0B-420D-8C3E-2A5590B91F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4D13B2-CED3-4D12-8A64-C12C65CBFA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C49F2E9-17C1-4AE9-AC53-B1A13393A60E}"/>
              </a:ext>
            </a:extLst>
          </p:cNvPr>
          <p:cNvSpPr>
            <a:spLocks noGrp="1"/>
          </p:cNvSpPr>
          <p:nvPr>
            <p:ph type="dt" sz="half" idx="10"/>
          </p:nvPr>
        </p:nvSpPr>
        <p:spPr/>
        <p:txBody>
          <a:bodyPr/>
          <a:lstStyle/>
          <a:p>
            <a:fld id="{11D32FF9-3810-4BF7-A9BB-C6E9BEAA9379}" type="datetimeFigureOut">
              <a:rPr lang="en-US" smtClean="0"/>
              <a:t>9/7/2025</a:t>
            </a:fld>
            <a:endParaRPr lang="en-US"/>
          </a:p>
        </p:txBody>
      </p:sp>
      <p:sp>
        <p:nvSpPr>
          <p:cNvPr id="8" name="Footer Placeholder 7">
            <a:extLst>
              <a:ext uri="{FF2B5EF4-FFF2-40B4-BE49-F238E27FC236}">
                <a16:creationId xmlns:a16="http://schemas.microsoft.com/office/drawing/2014/main" id="{DFDC57BF-3E32-480D-A16C-6F82DBC1C1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7E841C-A479-4258-B485-A816F08F9E7D}"/>
              </a:ext>
            </a:extLst>
          </p:cNvPr>
          <p:cNvSpPr>
            <a:spLocks noGrp="1"/>
          </p:cNvSpPr>
          <p:nvPr>
            <p:ph type="sldNum" sz="quarter" idx="12"/>
          </p:nvPr>
        </p:nvSpPr>
        <p:spPr/>
        <p:txBody>
          <a:bodyPr/>
          <a:lstStyle/>
          <a:p>
            <a:fld id="{A1F26AE4-DFF2-495F-9806-C69C743661E3}" type="slidenum">
              <a:rPr lang="en-US" smtClean="0"/>
              <a:t>‹#›</a:t>
            </a:fld>
            <a:endParaRPr lang="en-US"/>
          </a:p>
        </p:txBody>
      </p:sp>
    </p:spTree>
    <p:extLst>
      <p:ext uri="{BB962C8B-B14F-4D97-AF65-F5344CB8AC3E}">
        <p14:creationId xmlns:p14="http://schemas.microsoft.com/office/powerpoint/2010/main" val="62493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067B1-1531-4D3A-ABDA-29963A75D30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35B44F6-3AFD-41B6-B586-039D61D51E61}"/>
              </a:ext>
            </a:extLst>
          </p:cNvPr>
          <p:cNvSpPr>
            <a:spLocks noGrp="1"/>
          </p:cNvSpPr>
          <p:nvPr>
            <p:ph type="dt" sz="half" idx="10"/>
          </p:nvPr>
        </p:nvSpPr>
        <p:spPr/>
        <p:txBody>
          <a:bodyPr/>
          <a:lstStyle/>
          <a:p>
            <a:fld id="{11D32FF9-3810-4BF7-A9BB-C6E9BEAA9379}" type="datetimeFigureOut">
              <a:rPr lang="en-US" smtClean="0"/>
              <a:t>9/7/2025</a:t>
            </a:fld>
            <a:endParaRPr lang="en-US"/>
          </a:p>
        </p:txBody>
      </p:sp>
      <p:sp>
        <p:nvSpPr>
          <p:cNvPr id="4" name="Footer Placeholder 3">
            <a:extLst>
              <a:ext uri="{FF2B5EF4-FFF2-40B4-BE49-F238E27FC236}">
                <a16:creationId xmlns:a16="http://schemas.microsoft.com/office/drawing/2014/main" id="{C46F45B3-0BE8-4003-B948-36A1A3785D0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AA6BF78-A205-422A-804D-AD4ED9BCC077}"/>
              </a:ext>
            </a:extLst>
          </p:cNvPr>
          <p:cNvSpPr>
            <a:spLocks noGrp="1"/>
          </p:cNvSpPr>
          <p:nvPr>
            <p:ph type="sldNum" sz="quarter" idx="12"/>
          </p:nvPr>
        </p:nvSpPr>
        <p:spPr/>
        <p:txBody>
          <a:bodyPr/>
          <a:lstStyle/>
          <a:p>
            <a:fld id="{A1F26AE4-DFF2-495F-9806-C69C743661E3}" type="slidenum">
              <a:rPr lang="en-US" smtClean="0"/>
              <a:t>‹#›</a:t>
            </a:fld>
            <a:endParaRPr lang="en-US"/>
          </a:p>
        </p:txBody>
      </p:sp>
    </p:spTree>
    <p:extLst>
      <p:ext uri="{BB962C8B-B14F-4D97-AF65-F5344CB8AC3E}">
        <p14:creationId xmlns:p14="http://schemas.microsoft.com/office/powerpoint/2010/main" val="35694598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61C12B-9727-47E9-A8C8-02314BC2F439}"/>
              </a:ext>
            </a:extLst>
          </p:cNvPr>
          <p:cNvSpPr>
            <a:spLocks noGrp="1"/>
          </p:cNvSpPr>
          <p:nvPr>
            <p:ph type="dt" sz="half" idx="10"/>
          </p:nvPr>
        </p:nvSpPr>
        <p:spPr/>
        <p:txBody>
          <a:bodyPr/>
          <a:lstStyle/>
          <a:p>
            <a:fld id="{11D32FF9-3810-4BF7-A9BB-C6E9BEAA9379}" type="datetimeFigureOut">
              <a:rPr lang="en-US" smtClean="0"/>
              <a:t>9/7/2025</a:t>
            </a:fld>
            <a:endParaRPr lang="en-US"/>
          </a:p>
        </p:txBody>
      </p:sp>
      <p:sp>
        <p:nvSpPr>
          <p:cNvPr id="3" name="Footer Placeholder 2">
            <a:extLst>
              <a:ext uri="{FF2B5EF4-FFF2-40B4-BE49-F238E27FC236}">
                <a16:creationId xmlns:a16="http://schemas.microsoft.com/office/drawing/2014/main" id="{07C6BF5D-3CF7-432D-B834-2811D758272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6096D26-34A6-419E-AE03-B575C2FAD2E6}"/>
              </a:ext>
            </a:extLst>
          </p:cNvPr>
          <p:cNvSpPr>
            <a:spLocks noGrp="1"/>
          </p:cNvSpPr>
          <p:nvPr>
            <p:ph type="sldNum" sz="quarter" idx="12"/>
          </p:nvPr>
        </p:nvSpPr>
        <p:spPr/>
        <p:txBody>
          <a:bodyPr/>
          <a:lstStyle/>
          <a:p>
            <a:fld id="{A1F26AE4-DFF2-495F-9806-C69C743661E3}" type="slidenum">
              <a:rPr lang="en-US" smtClean="0"/>
              <a:t>‹#›</a:t>
            </a:fld>
            <a:endParaRPr lang="en-US"/>
          </a:p>
        </p:txBody>
      </p:sp>
    </p:spTree>
    <p:extLst>
      <p:ext uri="{BB962C8B-B14F-4D97-AF65-F5344CB8AC3E}">
        <p14:creationId xmlns:p14="http://schemas.microsoft.com/office/powerpoint/2010/main" val="4034142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39C49-5F71-4312-ACB9-CD8544495B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BDEE5E6-C2A2-4D26-81B8-DC7CB82FE3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DA2338-2E21-4A39-A284-F569DB9FAD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8D8EFA-CFEB-4D9F-8BD9-C3901880E65B}"/>
              </a:ext>
            </a:extLst>
          </p:cNvPr>
          <p:cNvSpPr>
            <a:spLocks noGrp="1"/>
          </p:cNvSpPr>
          <p:nvPr>
            <p:ph type="dt" sz="half" idx="10"/>
          </p:nvPr>
        </p:nvSpPr>
        <p:spPr/>
        <p:txBody>
          <a:bodyPr/>
          <a:lstStyle/>
          <a:p>
            <a:fld id="{11D32FF9-3810-4BF7-A9BB-C6E9BEAA9379}" type="datetimeFigureOut">
              <a:rPr lang="en-US" smtClean="0"/>
              <a:t>9/7/2025</a:t>
            </a:fld>
            <a:endParaRPr lang="en-US"/>
          </a:p>
        </p:txBody>
      </p:sp>
      <p:sp>
        <p:nvSpPr>
          <p:cNvPr id="6" name="Footer Placeholder 5">
            <a:extLst>
              <a:ext uri="{FF2B5EF4-FFF2-40B4-BE49-F238E27FC236}">
                <a16:creationId xmlns:a16="http://schemas.microsoft.com/office/drawing/2014/main" id="{F91C4DC9-2C16-4E06-ACB5-5FCF52D14C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99B219-B462-41FC-A310-28FF64AACDAB}"/>
              </a:ext>
            </a:extLst>
          </p:cNvPr>
          <p:cNvSpPr>
            <a:spLocks noGrp="1"/>
          </p:cNvSpPr>
          <p:nvPr>
            <p:ph type="sldNum" sz="quarter" idx="12"/>
          </p:nvPr>
        </p:nvSpPr>
        <p:spPr/>
        <p:txBody>
          <a:bodyPr/>
          <a:lstStyle/>
          <a:p>
            <a:fld id="{A1F26AE4-DFF2-495F-9806-C69C743661E3}" type="slidenum">
              <a:rPr lang="en-US" smtClean="0"/>
              <a:t>‹#›</a:t>
            </a:fld>
            <a:endParaRPr lang="en-US"/>
          </a:p>
        </p:txBody>
      </p:sp>
    </p:spTree>
    <p:extLst>
      <p:ext uri="{BB962C8B-B14F-4D97-AF65-F5344CB8AC3E}">
        <p14:creationId xmlns:p14="http://schemas.microsoft.com/office/powerpoint/2010/main" val="2358685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15B07-A098-4E98-B4B4-1BF12B4B2F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A407DE6-8E27-4091-AB43-A7DB6FEEC0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2B962CF-9179-40AD-A9F1-B40ED9BDFA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6A638E-9F74-4780-B971-CDDF160243FC}"/>
              </a:ext>
            </a:extLst>
          </p:cNvPr>
          <p:cNvSpPr>
            <a:spLocks noGrp="1"/>
          </p:cNvSpPr>
          <p:nvPr>
            <p:ph type="dt" sz="half" idx="10"/>
          </p:nvPr>
        </p:nvSpPr>
        <p:spPr/>
        <p:txBody>
          <a:bodyPr/>
          <a:lstStyle/>
          <a:p>
            <a:fld id="{11D32FF9-3810-4BF7-A9BB-C6E9BEAA9379}" type="datetimeFigureOut">
              <a:rPr lang="en-US" smtClean="0"/>
              <a:t>9/7/2025</a:t>
            </a:fld>
            <a:endParaRPr lang="en-US"/>
          </a:p>
        </p:txBody>
      </p:sp>
      <p:sp>
        <p:nvSpPr>
          <p:cNvPr id="6" name="Footer Placeholder 5">
            <a:extLst>
              <a:ext uri="{FF2B5EF4-FFF2-40B4-BE49-F238E27FC236}">
                <a16:creationId xmlns:a16="http://schemas.microsoft.com/office/drawing/2014/main" id="{3C5EC5D6-A221-4509-8F18-C84329A251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AB46E1-257D-4727-84FF-0996444DED9F}"/>
              </a:ext>
            </a:extLst>
          </p:cNvPr>
          <p:cNvSpPr>
            <a:spLocks noGrp="1"/>
          </p:cNvSpPr>
          <p:nvPr>
            <p:ph type="sldNum" sz="quarter" idx="12"/>
          </p:nvPr>
        </p:nvSpPr>
        <p:spPr/>
        <p:txBody>
          <a:bodyPr/>
          <a:lstStyle/>
          <a:p>
            <a:fld id="{A1F26AE4-DFF2-495F-9806-C69C743661E3}" type="slidenum">
              <a:rPr lang="en-US" smtClean="0"/>
              <a:t>‹#›</a:t>
            </a:fld>
            <a:endParaRPr lang="en-US"/>
          </a:p>
        </p:txBody>
      </p:sp>
    </p:spTree>
    <p:extLst>
      <p:ext uri="{BB962C8B-B14F-4D97-AF65-F5344CB8AC3E}">
        <p14:creationId xmlns:p14="http://schemas.microsoft.com/office/powerpoint/2010/main" val="2526808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0A38C-B1F6-440C-93F3-98CC2A6507E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527006-A964-4237-A641-35DFFCC983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03AECF-271B-40AC-88DF-A433A607186F}"/>
              </a:ext>
            </a:extLst>
          </p:cNvPr>
          <p:cNvSpPr>
            <a:spLocks noGrp="1"/>
          </p:cNvSpPr>
          <p:nvPr>
            <p:ph type="dt" sz="half" idx="10"/>
          </p:nvPr>
        </p:nvSpPr>
        <p:spPr/>
        <p:txBody>
          <a:bodyPr/>
          <a:lstStyle/>
          <a:p>
            <a:fld id="{11D32FF9-3810-4BF7-A9BB-C6E9BEAA9379}" type="datetimeFigureOut">
              <a:rPr lang="en-US" smtClean="0"/>
              <a:t>9/7/2025</a:t>
            </a:fld>
            <a:endParaRPr lang="en-US"/>
          </a:p>
        </p:txBody>
      </p:sp>
      <p:sp>
        <p:nvSpPr>
          <p:cNvPr id="5" name="Footer Placeholder 4">
            <a:extLst>
              <a:ext uri="{FF2B5EF4-FFF2-40B4-BE49-F238E27FC236}">
                <a16:creationId xmlns:a16="http://schemas.microsoft.com/office/drawing/2014/main" id="{73A701F8-0777-48BC-9B56-922C2947BD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C566A2-0012-4A17-A40E-97D4FB7B6152}"/>
              </a:ext>
            </a:extLst>
          </p:cNvPr>
          <p:cNvSpPr>
            <a:spLocks noGrp="1"/>
          </p:cNvSpPr>
          <p:nvPr>
            <p:ph type="sldNum" sz="quarter" idx="12"/>
          </p:nvPr>
        </p:nvSpPr>
        <p:spPr/>
        <p:txBody>
          <a:bodyPr/>
          <a:lstStyle/>
          <a:p>
            <a:fld id="{A1F26AE4-DFF2-495F-9806-C69C743661E3}" type="slidenum">
              <a:rPr lang="en-US" smtClean="0"/>
              <a:t>‹#›</a:t>
            </a:fld>
            <a:endParaRPr lang="en-US"/>
          </a:p>
        </p:txBody>
      </p:sp>
    </p:spTree>
    <p:extLst>
      <p:ext uri="{BB962C8B-B14F-4D97-AF65-F5344CB8AC3E}">
        <p14:creationId xmlns:p14="http://schemas.microsoft.com/office/powerpoint/2010/main" val="288580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91860B-4E40-4BD4-AC01-CDB14FFAB13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1487AD-D665-4443-995F-9CC7E94DA2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A99917-2904-4047-B619-018C44B53B04}"/>
              </a:ext>
            </a:extLst>
          </p:cNvPr>
          <p:cNvSpPr>
            <a:spLocks noGrp="1"/>
          </p:cNvSpPr>
          <p:nvPr>
            <p:ph type="dt" sz="half" idx="10"/>
          </p:nvPr>
        </p:nvSpPr>
        <p:spPr/>
        <p:txBody>
          <a:bodyPr/>
          <a:lstStyle/>
          <a:p>
            <a:fld id="{11D32FF9-3810-4BF7-A9BB-C6E9BEAA9379}" type="datetimeFigureOut">
              <a:rPr lang="en-US" smtClean="0"/>
              <a:t>9/7/2025</a:t>
            </a:fld>
            <a:endParaRPr lang="en-US"/>
          </a:p>
        </p:txBody>
      </p:sp>
      <p:sp>
        <p:nvSpPr>
          <p:cNvPr id="5" name="Footer Placeholder 4">
            <a:extLst>
              <a:ext uri="{FF2B5EF4-FFF2-40B4-BE49-F238E27FC236}">
                <a16:creationId xmlns:a16="http://schemas.microsoft.com/office/drawing/2014/main" id="{268E3349-0BBB-4C20-B22A-F676070208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E75336-1717-4FF8-ACFD-59A1204B4874}"/>
              </a:ext>
            </a:extLst>
          </p:cNvPr>
          <p:cNvSpPr>
            <a:spLocks noGrp="1"/>
          </p:cNvSpPr>
          <p:nvPr>
            <p:ph type="sldNum" sz="quarter" idx="12"/>
          </p:nvPr>
        </p:nvSpPr>
        <p:spPr/>
        <p:txBody>
          <a:bodyPr/>
          <a:lstStyle/>
          <a:p>
            <a:fld id="{A1F26AE4-DFF2-495F-9806-C69C743661E3}" type="slidenum">
              <a:rPr lang="en-US" smtClean="0"/>
              <a:t>‹#›</a:t>
            </a:fld>
            <a:endParaRPr lang="en-US"/>
          </a:p>
        </p:txBody>
      </p:sp>
    </p:spTree>
    <p:extLst>
      <p:ext uri="{BB962C8B-B14F-4D97-AF65-F5344CB8AC3E}">
        <p14:creationId xmlns:p14="http://schemas.microsoft.com/office/powerpoint/2010/main" val="2189906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30408F-15C5-411E-8B00-9372AC4E93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14CF3FF-5758-4CC7-A78B-E4556F9B58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E9CE7B-ED75-4946-B835-0664D6F839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D32FF9-3810-4BF7-A9BB-C6E9BEAA9379}" type="datetimeFigureOut">
              <a:rPr lang="en-US" smtClean="0"/>
              <a:t>9/7/2025</a:t>
            </a:fld>
            <a:endParaRPr lang="en-US"/>
          </a:p>
        </p:txBody>
      </p:sp>
      <p:sp>
        <p:nvSpPr>
          <p:cNvPr id="5" name="Footer Placeholder 4">
            <a:extLst>
              <a:ext uri="{FF2B5EF4-FFF2-40B4-BE49-F238E27FC236}">
                <a16:creationId xmlns:a16="http://schemas.microsoft.com/office/drawing/2014/main" id="{72BFF61B-DAD4-4040-8E5B-7BF360A21C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9F32310-41A8-42AB-A178-BDAB679A67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F26AE4-DFF2-495F-9806-C69C743661E3}" type="slidenum">
              <a:rPr lang="en-US" smtClean="0"/>
              <a:t>‹#›</a:t>
            </a:fld>
            <a:endParaRPr lang="en-US"/>
          </a:p>
        </p:txBody>
      </p:sp>
    </p:spTree>
    <p:extLst>
      <p:ext uri="{BB962C8B-B14F-4D97-AF65-F5344CB8AC3E}">
        <p14:creationId xmlns:p14="http://schemas.microsoft.com/office/powerpoint/2010/main" val="22846698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439F24B-2C59-038F-AAA9-8129FC5CD399}"/>
              </a:ext>
            </a:extLst>
          </p:cNvPr>
          <p:cNvSpPr txBox="1"/>
          <p:nvPr/>
        </p:nvSpPr>
        <p:spPr>
          <a:xfrm>
            <a:off x="2147598" y="2782669"/>
            <a:ext cx="7896800" cy="646331"/>
          </a:xfrm>
          <a:prstGeom prst="rect">
            <a:avLst/>
          </a:prstGeom>
          <a:noFill/>
        </p:spPr>
        <p:txBody>
          <a:bodyPr wrap="square">
            <a:spAutoFit/>
          </a:bodyPr>
          <a:lstStyle/>
          <a:p>
            <a:pPr algn="ctr"/>
            <a:r>
              <a:rPr lang="en-US" sz="3600" b="1" dirty="0">
                <a:solidFill>
                  <a:srgbClr val="2AAF82"/>
                </a:solidFill>
              </a:rPr>
              <a:t>Deep Learning</a:t>
            </a:r>
          </a:p>
        </p:txBody>
      </p:sp>
      <p:sp>
        <p:nvSpPr>
          <p:cNvPr id="5" name="TextBox 4">
            <a:extLst>
              <a:ext uri="{FF2B5EF4-FFF2-40B4-BE49-F238E27FC236}">
                <a16:creationId xmlns:a16="http://schemas.microsoft.com/office/drawing/2014/main" id="{AB894B88-4724-1A1A-ECC9-67B013644593}"/>
              </a:ext>
            </a:extLst>
          </p:cNvPr>
          <p:cNvSpPr txBox="1"/>
          <p:nvPr/>
        </p:nvSpPr>
        <p:spPr>
          <a:xfrm>
            <a:off x="3930313" y="3429000"/>
            <a:ext cx="4331369" cy="307777"/>
          </a:xfrm>
          <a:prstGeom prst="rect">
            <a:avLst/>
          </a:prstGeom>
          <a:noFill/>
        </p:spPr>
        <p:txBody>
          <a:bodyPr wrap="square">
            <a:spAutoFit/>
          </a:bodyPr>
          <a:lstStyle/>
          <a:p>
            <a:pPr algn="ctr"/>
            <a:r>
              <a:rPr lang="en-US" sz="1400" b="1" dirty="0">
                <a:solidFill>
                  <a:srgbClr val="2AAF82"/>
                </a:solidFill>
              </a:rPr>
              <a:t>Session 1</a:t>
            </a:r>
          </a:p>
        </p:txBody>
      </p:sp>
    </p:spTree>
    <p:extLst>
      <p:ext uri="{BB962C8B-B14F-4D97-AF65-F5344CB8AC3E}">
        <p14:creationId xmlns:p14="http://schemas.microsoft.com/office/powerpoint/2010/main" val="2053447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CDD133-8161-32C5-2DF3-BE6D01822A81}"/>
              </a:ext>
            </a:extLst>
          </p:cNvPr>
          <p:cNvSpPr txBox="1"/>
          <p:nvPr/>
        </p:nvSpPr>
        <p:spPr>
          <a:xfrm>
            <a:off x="1723541" y="1283228"/>
            <a:ext cx="1745673" cy="523220"/>
          </a:xfrm>
          <a:prstGeom prst="rect">
            <a:avLst/>
          </a:prstGeom>
          <a:noFill/>
        </p:spPr>
        <p:txBody>
          <a:bodyPr wrap="square">
            <a:spAutoFit/>
          </a:bodyPr>
          <a:lstStyle/>
          <a:p>
            <a:r>
              <a:rPr lang="en-US" sz="2800" b="1" dirty="0">
                <a:solidFill>
                  <a:srgbClr val="1869A6"/>
                </a:solidFill>
              </a:rPr>
              <a:t>Agenda</a:t>
            </a:r>
            <a:r>
              <a:rPr lang="en-US" sz="2800" dirty="0">
                <a:solidFill>
                  <a:srgbClr val="1869A6"/>
                </a:solidFill>
              </a:rPr>
              <a:t>:</a:t>
            </a:r>
          </a:p>
        </p:txBody>
      </p:sp>
      <p:graphicFrame>
        <p:nvGraphicFramePr>
          <p:cNvPr id="3" name="Table 2">
            <a:extLst>
              <a:ext uri="{FF2B5EF4-FFF2-40B4-BE49-F238E27FC236}">
                <a16:creationId xmlns:a16="http://schemas.microsoft.com/office/drawing/2014/main" id="{DABCA4CD-C524-281C-5059-31EC79B160DE}"/>
              </a:ext>
            </a:extLst>
          </p:cNvPr>
          <p:cNvGraphicFramePr>
            <a:graphicFrameLocks noGrp="1"/>
          </p:cNvGraphicFramePr>
          <p:nvPr>
            <p:extLst>
              <p:ext uri="{D42A27DB-BD31-4B8C-83A1-F6EECF244321}">
                <p14:modId xmlns:p14="http://schemas.microsoft.com/office/powerpoint/2010/main" val="3211428155"/>
              </p:ext>
            </p:extLst>
          </p:nvPr>
        </p:nvGraphicFramePr>
        <p:xfrm>
          <a:off x="2596378" y="2225964"/>
          <a:ext cx="6999244" cy="1971384"/>
        </p:xfrm>
        <a:graphic>
          <a:graphicData uri="http://schemas.openxmlformats.org/drawingml/2006/table">
            <a:tbl>
              <a:tblPr firstRow="1" bandRow="1">
                <a:tableStyleId>{5C22544A-7EE6-4342-B048-85BDC9FD1C3A}</a:tableStyleId>
              </a:tblPr>
              <a:tblGrid>
                <a:gridCol w="568311">
                  <a:extLst>
                    <a:ext uri="{9D8B030D-6E8A-4147-A177-3AD203B41FA5}">
                      <a16:colId xmlns:a16="http://schemas.microsoft.com/office/drawing/2014/main" val="2296649913"/>
                    </a:ext>
                  </a:extLst>
                </a:gridCol>
                <a:gridCol w="6430933">
                  <a:extLst>
                    <a:ext uri="{9D8B030D-6E8A-4147-A177-3AD203B41FA5}">
                      <a16:colId xmlns:a16="http://schemas.microsoft.com/office/drawing/2014/main" val="4021298204"/>
                    </a:ext>
                  </a:extLst>
                </a:gridCol>
              </a:tblGrid>
              <a:tr h="482121">
                <a:tc>
                  <a:txBody>
                    <a:bodyPr/>
                    <a:lstStyle/>
                    <a:p>
                      <a:pPr algn="ctr"/>
                      <a:r>
                        <a:rPr lang="en-US" b="1" dirty="0">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tc>
                  <a:txBody>
                    <a:bodyPr/>
                    <a:lstStyle/>
                    <a:p>
                      <a:pPr algn="ctr"/>
                      <a:r>
                        <a:rPr lang="en-US" dirty="0"/>
                        <a:t>Introduction to Deep Learning</a:t>
                      </a:r>
                      <a:endParaRPr lang="en-US"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extLst>
                  <a:ext uri="{0D108BD9-81ED-4DB2-BD59-A6C34878D82A}">
                    <a16:rowId xmlns:a16="http://schemas.microsoft.com/office/drawing/2014/main" val="3138608899"/>
                  </a:ext>
                </a:extLst>
              </a:tr>
              <a:tr h="496421">
                <a:tc>
                  <a:txBody>
                    <a:bodyPr/>
                    <a:lstStyle/>
                    <a:p>
                      <a:pPr algn="ctr"/>
                      <a:r>
                        <a:rPr lang="en-US" b="1" dirty="0">
                          <a:solidFill>
                            <a:schemeClr val="bg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tc>
                  <a:txBody>
                    <a:bodyPr/>
                    <a:lstStyle/>
                    <a:p>
                      <a:pPr algn="ctr"/>
                      <a:r>
                        <a:rPr lang="en-US" b="1" dirty="0">
                          <a:solidFill>
                            <a:schemeClr val="bg1"/>
                          </a:solidFill>
                        </a:rPr>
                        <a:t>Neurons and Perceptrons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extLst>
                  <a:ext uri="{0D108BD9-81ED-4DB2-BD59-A6C34878D82A}">
                    <a16:rowId xmlns:a16="http://schemas.microsoft.com/office/drawing/2014/main" val="4082344712"/>
                  </a:ext>
                </a:extLst>
              </a:tr>
              <a:tr h="496421">
                <a:tc>
                  <a:txBody>
                    <a:bodyPr/>
                    <a:lstStyle/>
                    <a:p>
                      <a:pPr algn="ctr"/>
                      <a:r>
                        <a:rPr lang="en-US" b="1" dirty="0">
                          <a:solidFill>
                            <a:schemeClr val="bg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tc>
                  <a:txBody>
                    <a:bodyPr/>
                    <a:lstStyle/>
                    <a:p>
                      <a:pPr algn="ctr"/>
                      <a:r>
                        <a:rPr lang="en-US" b="1" dirty="0">
                          <a:solidFill>
                            <a:schemeClr val="bg1"/>
                          </a:solidFill>
                        </a:rPr>
                        <a:t>Feedforward Neural Networks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extLst>
                  <a:ext uri="{0D108BD9-81ED-4DB2-BD59-A6C34878D82A}">
                    <a16:rowId xmlns:a16="http://schemas.microsoft.com/office/drawing/2014/main" val="1545105015"/>
                  </a:ext>
                </a:extLst>
              </a:tr>
              <a:tr h="496421">
                <a:tc>
                  <a:txBody>
                    <a:bodyPr/>
                    <a:lstStyle/>
                    <a:p>
                      <a:pPr algn="ctr"/>
                      <a:r>
                        <a:rPr lang="en-US" b="1" dirty="0">
                          <a:solidFill>
                            <a:schemeClr val="bg1"/>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tc>
                  <a:txBody>
                    <a:bodyPr/>
                    <a:lstStyle/>
                    <a:p>
                      <a:pPr algn="ctr"/>
                      <a:r>
                        <a:rPr lang="en-US" b="1" dirty="0">
                          <a:solidFill>
                            <a:schemeClr val="bg1"/>
                          </a:solidFill>
                        </a:rPr>
                        <a:t>Backpropagation and Gradient Descent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extLst>
                  <a:ext uri="{0D108BD9-81ED-4DB2-BD59-A6C34878D82A}">
                    <a16:rowId xmlns:a16="http://schemas.microsoft.com/office/drawing/2014/main" val="1490705335"/>
                  </a:ext>
                </a:extLst>
              </a:tr>
            </a:tbl>
          </a:graphicData>
        </a:graphic>
      </p:graphicFrame>
    </p:spTree>
    <p:extLst>
      <p:ext uri="{BB962C8B-B14F-4D97-AF65-F5344CB8AC3E}">
        <p14:creationId xmlns:p14="http://schemas.microsoft.com/office/powerpoint/2010/main" val="1095651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AE4991-94AE-ADF8-10E7-5DF88357EA80}"/>
              </a:ext>
            </a:extLst>
          </p:cNvPr>
          <p:cNvSpPr txBox="1"/>
          <p:nvPr/>
        </p:nvSpPr>
        <p:spPr>
          <a:xfrm>
            <a:off x="2752436" y="2782669"/>
            <a:ext cx="6687127" cy="646331"/>
          </a:xfrm>
          <a:prstGeom prst="rect">
            <a:avLst/>
          </a:prstGeom>
          <a:noFill/>
        </p:spPr>
        <p:txBody>
          <a:bodyPr wrap="square">
            <a:spAutoFit/>
          </a:bodyPr>
          <a:lstStyle/>
          <a:p>
            <a:pPr algn="ctr"/>
            <a:r>
              <a:rPr lang="en-US" sz="3600" b="1" dirty="0">
                <a:solidFill>
                  <a:srgbClr val="2AAF82"/>
                </a:solidFill>
              </a:rPr>
              <a:t>Introduction to Deep Learning</a:t>
            </a:r>
          </a:p>
        </p:txBody>
      </p:sp>
    </p:spTree>
    <p:extLst>
      <p:ext uri="{BB962C8B-B14F-4D97-AF65-F5344CB8AC3E}">
        <p14:creationId xmlns:p14="http://schemas.microsoft.com/office/powerpoint/2010/main" val="2462846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273CF1-CD5F-CDC9-5E71-8352B16949A8}"/>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Introduction to Deep Learning</a:t>
            </a:r>
          </a:p>
        </p:txBody>
      </p:sp>
      <p:sp>
        <p:nvSpPr>
          <p:cNvPr id="7" name="TextBox 6">
            <a:extLst>
              <a:ext uri="{FF2B5EF4-FFF2-40B4-BE49-F238E27FC236}">
                <a16:creationId xmlns:a16="http://schemas.microsoft.com/office/drawing/2014/main" id="{F0FA3FB2-2200-58D5-6AC8-4FE4D3015778}"/>
              </a:ext>
            </a:extLst>
          </p:cNvPr>
          <p:cNvSpPr txBox="1"/>
          <p:nvPr/>
        </p:nvSpPr>
        <p:spPr>
          <a:xfrm>
            <a:off x="1173018" y="1832949"/>
            <a:ext cx="10261600" cy="923330"/>
          </a:xfrm>
          <a:prstGeom prst="rect">
            <a:avLst/>
          </a:prstGeom>
          <a:noFill/>
        </p:spPr>
        <p:txBody>
          <a:bodyPr wrap="square">
            <a:spAutoFit/>
          </a:bodyPr>
          <a:lstStyle/>
          <a:p>
            <a:r>
              <a:rPr lang="en-US" dirty="0"/>
              <a:t>Deep learning is a subset of machine learning that uses multilayered neural networks, called deep neural networks, to simulate the complex decision-making power of the human brain. Some form of deep learning powers most of the artificial intelligence (AI) applications in our lives today</a:t>
            </a:r>
          </a:p>
        </p:txBody>
      </p:sp>
      <p:pic>
        <p:nvPicPr>
          <p:cNvPr id="1026" name="Picture 2" descr="What is Deep Learning? Everything You Need to Know - Corpnce">
            <a:extLst>
              <a:ext uri="{FF2B5EF4-FFF2-40B4-BE49-F238E27FC236}">
                <a16:creationId xmlns:a16="http://schemas.microsoft.com/office/drawing/2014/main" id="{4A97866A-C247-79BD-21A3-B1A073C6AB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7138" y="2756279"/>
            <a:ext cx="3777723" cy="38974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4931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BEC215-0C33-F7B0-AA56-E24A604231A5}"/>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Introduction to Deep Learning</a:t>
            </a:r>
          </a:p>
        </p:txBody>
      </p:sp>
      <p:sp>
        <p:nvSpPr>
          <p:cNvPr id="4" name="TextBox 3">
            <a:extLst>
              <a:ext uri="{FF2B5EF4-FFF2-40B4-BE49-F238E27FC236}">
                <a16:creationId xmlns:a16="http://schemas.microsoft.com/office/drawing/2014/main" id="{9DC55F5D-DC1A-F321-D878-7583E55021D2}"/>
              </a:ext>
            </a:extLst>
          </p:cNvPr>
          <p:cNvSpPr txBox="1"/>
          <p:nvPr/>
        </p:nvSpPr>
        <p:spPr>
          <a:xfrm>
            <a:off x="1016000" y="1832949"/>
            <a:ext cx="6853382" cy="369332"/>
          </a:xfrm>
          <a:prstGeom prst="rect">
            <a:avLst/>
          </a:prstGeom>
          <a:noFill/>
        </p:spPr>
        <p:txBody>
          <a:bodyPr wrap="square">
            <a:spAutoFit/>
          </a:bodyPr>
          <a:lstStyle/>
          <a:p>
            <a:r>
              <a:rPr lang="en-US" b="1" dirty="0"/>
              <a:t>The Difference Between Deep Learning and Machine Learning</a:t>
            </a:r>
          </a:p>
        </p:txBody>
      </p:sp>
      <p:sp>
        <p:nvSpPr>
          <p:cNvPr id="6" name="TextBox 5">
            <a:extLst>
              <a:ext uri="{FF2B5EF4-FFF2-40B4-BE49-F238E27FC236}">
                <a16:creationId xmlns:a16="http://schemas.microsoft.com/office/drawing/2014/main" id="{6B6CD3A7-11B0-3130-C5D6-88FF896994B0}"/>
              </a:ext>
            </a:extLst>
          </p:cNvPr>
          <p:cNvSpPr txBox="1"/>
          <p:nvPr/>
        </p:nvSpPr>
        <p:spPr>
          <a:xfrm>
            <a:off x="1394691" y="2202281"/>
            <a:ext cx="8543636" cy="646331"/>
          </a:xfrm>
          <a:prstGeom prst="rect">
            <a:avLst/>
          </a:prstGeom>
          <a:noFill/>
        </p:spPr>
        <p:txBody>
          <a:bodyPr wrap="square">
            <a:spAutoFit/>
          </a:bodyPr>
          <a:lstStyle/>
          <a:p>
            <a:r>
              <a:rPr lang="en-US" dirty="0"/>
              <a:t>The primary distinction between deep learning and machine learning lies in how they execute their tasks.</a:t>
            </a:r>
          </a:p>
        </p:txBody>
      </p:sp>
      <p:sp>
        <p:nvSpPr>
          <p:cNvPr id="9" name="TextBox 8">
            <a:extLst>
              <a:ext uri="{FF2B5EF4-FFF2-40B4-BE49-F238E27FC236}">
                <a16:creationId xmlns:a16="http://schemas.microsoft.com/office/drawing/2014/main" id="{43F861A5-44F5-BC02-A817-6E5F1AB05B49}"/>
              </a:ext>
            </a:extLst>
          </p:cNvPr>
          <p:cNvSpPr txBox="1"/>
          <p:nvPr/>
        </p:nvSpPr>
        <p:spPr>
          <a:xfrm>
            <a:off x="1985536" y="2848612"/>
            <a:ext cx="8987264" cy="3139321"/>
          </a:xfrm>
          <a:prstGeom prst="rect">
            <a:avLst/>
          </a:prstGeom>
          <a:noFill/>
        </p:spPr>
        <p:txBody>
          <a:bodyPr wrap="square">
            <a:spAutoFit/>
          </a:bodyPr>
          <a:lstStyle/>
          <a:p>
            <a:pPr marL="285750" indent="-285750" algn="just">
              <a:buFont typeface="Arial" panose="020B0604020202020204" pitchFamily="34" charset="0"/>
              <a:buChar char="•"/>
            </a:pPr>
            <a:r>
              <a:rPr lang="en-US" b="1" dirty="0"/>
              <a:t>Machine Learning (ML) </a:t>
            </a:r>
            <a:r>
              <a:rPr lang="en-US" dirty="0"/>
              <a:t>often requires </a:t>
            </a:r>
            <a:r>
              <a:rPr lang="en-US" b="1" dirty="0"/>
              <a:t>manual feature extraction</a:t>
            </a:r>
            <a:r>
              <a:rPr lang="en-US" dirty="0"/>
              <a:t>. For example, a data scientist needs to predefine important features for the model to focus on. In contrast, </a:t>
            </a:r>
            <a:r>
              <a:rPr lang="en-US" b="1" dirty="0"/>
              <a:t>deep learning (DL) </a:t>
            </a:r>
            <a:r>
              <a:rPr lang="en-US" dirty="0"/>
              <a:t>automatically learns these features from raw data.</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Data Requirements</a:t>
            </a:r>
            <a:r>
              <a:rPr lang="en-US" dirty="0"/>
              <a:t>: Deep learning models need a </a:t>
            </a:r>
            <a:r>
              <a:rPr lang="en-US" b="1" dirty="0"/>
              <a:t>large amount of data </a:t>
            </a:r>
            <a:r>
              <a:rPr lang="en-US" dirty="0"/>
              <a:t>to perform well. When the data is small, </a:t>
            </a:r>
            <a:r>
              <a:rPr lang="en-US" b="1" dirty="0"/>
              <a:t>machine learning </a:t>
            </a:r>
            <a:r>
              <a:rPr lang="en-US" dirty="0"/>
              <a:t>tends to outperform deep learning since deep learning requires massive datasets to learn efficiently.</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Computational Power</a:t>
            </a:r>
            <a:r>
              <a:rPr lang="en-US" dirty="0"/>
              <a:t>: Deep learning algorithms rely on </a:t>
            </a:r>
            <a:r>
              <a:rPr lang="en-US" b="1" dirty="0"/>
              <a:t>high-end machines and GPUs. </a:t>
            </a:r>
            <a:r>
              <a:rPr lang="en-US" dirty="0"/>
              <a:t>This is necessary because the algorithms process enormous amounts of data and perform complex computations across multiple layers of neural networks.</a:t>
            </a:r>
          </a:p>
        </p:txBody>
      </p:sp>
    </p:spTree>
    <p:extLst>
      <p:ext uri="{BB962C8B-B14F-4D97-AF65-F5344CB8AC3E}">
        <p14:creationId xmlns:p14="http://schemas.microsoft.com/office/powerpoint/2010/main" val="3709731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eep Learning vs. Machine Learning – What's The Difference?">
            <a:extLst>
              <a:ext uri="{FF2B5EF4-FFF2-40B4-BE49-F238E27FC236}">
                <a16:creationId xmlns:a16="http://schemas.microsoft.com/office/drawing/2014/main" id="{D7C5D14A-8485-DD4D-E6B5-C78B2AEF2B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5957" y="2294614"/>
            <a:ext cx="7180086" cy="37182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E52BB82D-D83B-3E80-627F-0835ED6D9F1E}"/>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Introduction to Deep Learning</a:t>
            </a:r>
          </a:p>
        </p:txBody>
      </p:sp>
      <p:sp>
        <p:nvSpPr>
          <p:cNvPr id="7" name="TextBox 6">
            <a:extLst>
              <a:ext uri="{FF2B5EF4-FFF2-40B4-BE49-F238E27FC236}">
                <a16:creationId xmlns:a16="http://schemas.microsoft.com/office/drawing/2014/main" id="{66EF1429-E0D8-8B73-E428-B6DF0F9AA724}"/>
              </a:ext>
            </a:extLst>
          </p:cNvPr>
          <p:cNvSpPr txBox="1"/>
          <p:nvPr/>
        </p:nvSpPr>
        <p:spPr>
          <a:xfrm>
            <a:off x="1016000" y="1832949"/>
            <a:ext cx="6853382" cy="369332"/>
          </a:xfrm>
          <a:prstGeom prst="rect">
            <a:avLst/>
          </a:prstGeom>
          <a:noFill/>
        </p:spPr>
        <p:txBody>
          <a:bodyPr wrap="square">
            <a:spAutoFit/>
          </a:bodyPr>
          <a:lstStyle/>
          <a:p>
            <a:r>
              <a:rPr lang="en-US" b="1" dirty="0"/>
              <a:t>The Difference Between Deep Learning and Machine Learning</a:t>
            </a:r>
          </a:p>
        </p:txBody>
      </p:sp>
    </p:spTree>
    <p:extLst>
      <p:ext uri="{BB962C8B-B14F-4D97-AF65-F5344CB8AC3E}">
        <p14:creationId xmlns:p14="http://schemas.microsoft.com/office/powerpoint/2010/main" val="3697562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DF8655-CA7C-AF90-1F68-68AA47496337}"/>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Introduction to Deep Learning</a:t>
            </a:r>
          </a:p>
        </p:txBody>
      </p:sp>
      <p:sp>
        <p:nvSpPr>
          <p:cNvPr id="4" name="TextBox 3">
            <a:extLst>
              <a:ext uri="{FF2B5EF4-FFF2-40B4-BE49-F238E27FC236}">
                <a16:creationId xmlns:a16="http://schemas.microsoft.com/office/drawing/2014/main" id="{AF8F937A-9A03-1DBE-19D9-96A09DE9F500}"/>
              </a:ext>
            </a:extLst>
          </p:cNvPr>
          <p:cNvSpPr txBox="1"/>
          <p:nvPr/>
        </p:nvSpPr>
        <p:spPr>
          <a:xfrm>
            <a:off x="1117600" y="1832949"/>
            <a:ext cx="6096000" cy="369332"/>
          </a:xfrm>
          <a:prstGeom prst="rect">
            <a:avLst/>
          </a:prstGeom>
          <a:noFill/>
        </p:spPr>
        <p:txBody>
          <a:bodyPr wrap="square">
            <a:spAutoFit/>
          </a:bodyPr>
          <a:lstStyle/>
          <a:p>
            <a:r>
              <a:rPr lang="en-US" b="1" dirty="0"/>
              <a:t>How Deep Learning Extracts Features</a:t>
            </a:r>
          </a:p>
        </p:txBody>
      </p:sp>
      <p:sp>
        <p:nvSpPr>
          <p:cNvPr id="6" name="TextBox 5">
            <a:extLst>
              <a:ext uri="{FF2B5EF4-FFF2-40B4-BE49-F238E27FC236}">
                <a16:creationId xmlns:a16="http://schemas.microsoft.com/office/drawing/2014/main" id="{9066DF3E-7E25-7166-1851-F862136642F0}"/>
              </a:ext>
            </a:extLst>
          </p:cNvPr>
          <p:cNvSpPr txBox="1"/>
          <p:nvPr/>
        </p:nvSpPr>
        <p:spPr>
          <a:xfrm>
            <a:off x="1766596" y="2228671"/>
            <a:ext cx="10019003" cy="923330"/>
          </a:xfrm>
          <a:prstGeom prst="rect">
            <a:avLst/>
          </a:prstGeom>
          <a:noFill/>
        </p:spPr>
        <p:txBody>
          <a:bodyPr wrap="square">
            <a:spAutoFit/>
          </a:bodyPr>
          <a:lstStyle/>
          <a:p>
            <a:r>
              <a:rPr lang="en-US" dirty="0"/>
              <a:t>Traditional machine learning workflows involve a process where data undergoes </a:t>
            </a:r>
            <a:r>
              <a:rPr lang="en-US" b="1" dirty="0"/>
              <a:t>feature extraction</a:t>
            </a:r>
            <a:r>
              <a:rPr lang="en-US" dirty="0"/>
              <a:t>, followed by the task (such as classification or regression). This requires a person to choose which features are most relevant.</a:t>
            </a:r>
          </a:p>
        </p:txBody>
      </p:sp>
      <p:sp>
        <p:nvSpPr>
          <p:cNvPr id="9" name="TextBox 8">
            <a:extLst>
              <a:ext uri="{FF2B5EF4-FFF2-40B4-BE49-F238E27FC236}">
                <a16:creationId xmlns:a16="http://schemas.microsoft.com/office/drawing/2014/main" id="{9630BB2B-1568-0B6F-B3D0-0BE1F8623A3B}"/>
              </a:ext>
            </a:extLst>
          </p:cNvPr>
          <p:cNvSpPr txBox="1"/>
          <p:nvPr/>
        </p:nvSpPr>
        <p:spPr>
          <a:xfrm>
            <a:off x="2124362" y="3152001"/>
            <a:ext cx="8996219" cy="2031325"/>
          </a:xfrm>
          <a:prstGeom prst="rect">
            <a:avLst/>
          </a:prstGeom>
          <a:noFill/>
        </p:spPr>
        <p:txBody>
          <a:bodyPr wrap="square">
            <a:spAutoFit/>
          </a:bodyPr>
          <a:lstStyle/>
          <a:p>
            <a:pPr marL="285750" indent="-285750" algn="just">
              <a:buFont typeface="Arial" panose="020B0604020202020204" pitchFamily="34" charset="0"/>
              <a:buChar char="•"/>
            </a:pPr>
            <a:r>
              <a:rPr lang="en-US" dirty="0"/>
              <a:t>In </a:t>
            </a:r>
            <a:r>
              <a:rPr lang="en-US" b="1" dirty="0"/>
              <a:t>deep learning</a:t>
            </a:r>
            <a:r>
              <a:rPr lang="en-US" dirty="0"/>
              <a:t>, feature extraction happens </a:t>
            </a:r>
            <a:r>
              <a:rPr lang="en-US" b="1" dirty="0"/>
              <a:t>automatically</a:t>
            </a:r>
            <a:r>
              <a:rPr lang="en-US" dirty="0"/>
              <a:t> within the layers of the neural network. Each layer in a deep network builds on features learned by previous layers, from low-level patterns to high-level representations.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This capability is a </a:t>
            </a:r>
            <a:r>
              <a:rPr lang="en-US" b="1" dirty="0"/>
              <a:t>major advantage</a:t>
            </a:r>
            <a:r>
              <a:rPr lang="en-US" dirty="0"/>
              <a:t> because it reduces the need for manually developing new feature extractors for every problem. Deep learning can learn these by itself as long as there's enough data.</a:t>
            </a:r>
          </a:p>
        </p:txBody>
      </p:sp>
    </p:spTree>
    <p:extLst>
      <p:ext uri="{BB962C8B-B14F-4D97-AF65-F5344CB8AC3E}">
        <p14:creationId xmlns:p14="http://schemas.microsoft.com/office/powerpoint/2010/main" val="3739906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64A8AA-D311-2432-E1E8-9C1210A3B072}"/>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Introduction to Deep Learning</a:t>
            </a:r>
          </a:p>
        </p:txBody>
      </p:sp>
      <p:sp>
        <p:nvSpPr>
          <p:cNvPr id="4" name="TextBox 3">
            <a:extLst>
              <a:ext uri="{FF2B5EF4-FFF2-40B4-BE49-F238E27FC236}">
                <a16:creationId xmlns:a16="http://schemas.microsoft.com/office/drawing/2014/main" id="{A5E0B065-3183-4C87-6396-EC1894C88B0A}"/>
              </a:ext>
            </a:extLst>
          </p:cNvPr>
          <p:cNvSpPr txBox="1"/>
          <p:nvPr/>
        </p:nvSpPr>
        <p:spPr>
          <a:xfrm>
            <a:off x="1099127" y="1832949"/>
            <a:ext cx="6096000" cy="369332"/>
          </a:xfrm>
          <a:prstGeom prst="rect">
            <a:avLst/>
          </a:prstGeom>
          <a:noFill/>
        </p:spPr>
        <p:txBody>
          <a:bodyPr wrap="square">
            <a:spAutoFit/>
          </a:bodyPr>
          <a:lstStyle/>
          <a:p>
            <a:r>
              <a:rPr lang="en-US" b="1" dirty="0"/>
              <a:t>Why is Deep Learning Gaining Popularity?</a:t>
            </a:r>
          </a:p>
        </p:txBody>
      </p:sp>
      <p:sp>
        <p:nvSpPr>
          <p:cNvPr id="6" name="TextBox 5">
            <a:extLst>
              <a:ext uri="{FF2B5EF4-FFF2-40B4-BE49-F238E27FC236}">
                <a16:creationId xmlns:a16="http://schemas.microsoft.com/office/drawing/2014/main" id="{83D4388B-7C9C-49B8-1476-016BE40536D9}"/>
              </a:ext>
            </a:extLst>
          </p:cNvPr>
          <p:cNvSpPr txBox="1"/>
          <p:nvPr/>
        </p:nvSpPr>
        <p:spPr>
          <a:xfrm>
            <a:off x="1699491" y="2202281"/>
            <a:ext cx="8183418" cy="646331"/>
          </a:xfrm>
          <a:prstGeom prst="rect">
            <a:avLst/>
          </a:prstGeom>
          <a:noFill/>
        </p:spPr>
        <p:txBody>
          <a:bodyPr wrap="square">
            <a:spAutoFit/>
          </a:bodyPr>
          <a:lstStyle/>
          <a:p>
            <a:r>
              <a:rPr lang="en-US" dirty="0"/>
              <a:t>While </a:t>
            </a:r>
            <a:r>
              <a:rPr lang="en-US" b="1" dirty="0"/>
              <a:t>deep learning</a:t>
            </a:r>
            <a:r>
              <a:rPr lang="en-US" dirty="0"/>
              <a:t> is not a new concept, it has seen rapid growth recently due to several factors</a:t>
            </a:r>
          </a:p>
        </p:txBody>
      </p:sp>
      <p:sp>
        <p:nvSpPr>
          <p:cNvPr id="8" name="TextBox 7">
            <a:extLst>
              <a:ext uri="{FF2B5EF4-FFF2-40B4-BE49-F238E27FC236}">
                <a16:creationId xmlns:a16="http://schemas.microsoft.com/office/drawing/2014/main" id="{6AEC3101-ABE2-1A27-68E9-298B93CC5B46}"/>
              </a:ext>
            </a:extLst>
          </p:cNvPr>
          <p:cNvSpPr txBox="1"/>
          <p:nvPr/>
        </p:nvSpPr>
        <p:spPr>
          <a:xfrm>
            <a:off x="2105890" y="2848612"/>
            <a:ext cx="8534401" cy="1200329"/>
          </a:xfrm>
          <a:prstGeom prst="rect">
            <a:avLst/>
          </a:prstGeom>
          <a:noFill/>
        </p:spPr>
        <p:txBody>
          <a:bodyPr wrap="square">
            <a:spAutoFit/>
          </a:bodyPr>
          <a:lstStyle/>
          <a:p>
            <a:pPr marL="285750" indent="-285750" algn="just">
              <a:buFont typeface="Arial" panose="020B0604020202020204" pitchFamily="34" charset="0"/>
              <a:buChar char="•"/>
            </a:pPr>
            <a:r>
              <a:rPr lang="en-US" b="1" dirty="0"/>
              <a:t>Big Data</a:t>
            </a:r>
            <a:r>
              <a:rPr lang="en-US" dirty="0"/>
              <a:t>: The availability of massive datasets (e.g., </a:t>
            </a:r>
            <a:r>
              <a:rPr lang="en-US" b="1" dirty="0"/>
              <a:t>images</a:t>
            </a:r>
            <a:r>
              <a:rPr lang="en-US" dirty="0"/>
              <a:t>, </a:t>
            </a:r>
            <a:r>
              <a:rPr lang="en-US" b="1" dirty="0"/>
              <a:t>text</a:t>
            </a:r>
            <a:r>
              <a:rPr lang="en-US" dirty="0"/>
              <a:t>, </a:t>
            </a:r>
            <a:r>
              <a:rPr lang="en-US" b="1" dirty="0"/>
              <a:t>videos</a:t>
            </a:r>
            <a:r>
              <a:rPr lang="en-US" dirty="0"/>
              <a:t>) is a key driver of deep learning’s success. Large tech companies like Facebook, Walmart, and YouTube produce vast amounts of data daily, providing the foundation for training powerful deep learning models.</a:t>
            </a:r>
          </a:p>
        </p:txBody>
      </p:sp>
    </p:spTree>
    <p:extLst>
      <p:ext uri="{BB962C8B-B14F-4D97-AF65-F5344CB8AC3E}">
        <p14:creationId xmlns:p14="http://schemas.microsoft.com/office/powerpoint/2010/main" val="2374232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C785EA-B697-6272-469D-FEC6552421BA}"/>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Introduction to Deep Learning</a:t>
            </a:r>
          </a:p>
        </p:txBody>
      </p:sp>
      <p:sp>
        <p:nvSpPr>
          <p:cNvPr id="3" name="TextBox 2">
            <a:extLst>
              <a:ext uri="{FF2B5EF4-FFF2-40B4-BE49-F238E27FC236}">
                <a16:creationId xmlns:a16="http://schemas.microsoft.com/office/drawing/2014/main" id="{E69F5A6A-421E-C875-9730-7D77FA72E846}"/>
              </a:ext>
            </a:extLst>
          </p:cNvPr>
          <p:cNvSpPr txBox="1"/>
          <p:nvPr/>
        </p:nvSpPr>
        <p:spPr>
          <a:xfrm>
            <a:off x="1099127" y="1832949"/>
            <a:ext cx="6096000" cy="369332"/>
          </a:xfrm>
          <a:prstGeom prst="rect">
            <a:avLst/>
          </a:prstGeom>
          <a:noFill/>
        </p:spPr>
        <p:txBody>
          <a:bodyPr wrap="square">
            <a:spAutoFit/>
          </a:bodyPr>
          <a:lstStyle/>
          <a:p>
            <a:r>
              <a:rPr lang="en-US" b="1" dirty="0"/>
              <a:t>Why is Deep Learning Gaining Popularity?</a:t>
            </a:r>
          </a:p>
        </p:txBody>
      </p:sp>
      <p:sp>
        <p:nvSpPr>
          <p:cNvPr id="4" name="TextBox 3">
            <a:extLst>
              <a:ext uri="{FF2B5EF4-FFF2-40B4-BE49-F238E27FC236}">
                <a16:creationId xmlns:a16="http://schemas.microsoft.com/office/drawing/2014/main" id="{5792FF55-7D40-6B08-0465-C548CFD29876}"/>
              </a:ext>
            </a:extLst>
          </p:cNvPr>
          <p:cNvSpPr txBox="1"/>
          <p:nvPr/>
        </p:nvSpPr>
        <p:spPr>
          <a:xfrm>
            <a:off x="1699491" y="2202281"/>
            <a:ext cx="8183418" cy="646331"/>
          </a:xfrm>
          <a:prstGeom prst="rect">
            <a:avLst/>
          </a:prstGeom>
          <a:noFill/>
        </p:spPr>
        <p:txBody>
          <a:bodyPr wrap="square">
            <a:spAutoFit/>
          </a:bodyPr>
          <a:lstStyle/>
          <a:p>
            <a:r>
              <a:rPr lang="en-US" dirty="0"/>
              <a:t>While </a:t>
            </a:r>
            <a:r>
              <a:rPr lang="en-US" b="1" dirty="0"/>
              <a:t>deep learning</a:t>
            </a:r>
            <a:r>
              <a:rPr lang="en-US" dirty="0"/>
              <a:t> is not a new concept, it has seen rapid growth recently due to several factors</a:t>
            </a:r>
          </a:p>
        </p:txBody>
      </p:sp>
      <p:sp>
        <p:nvSpPr>
          <p:cNvPr id="5" name="TextBox 4">
            <a:extLst>
              <a:ext uri="{FF2B5EF4-FFF2-40B4-BE49-F238E27FC236}">
                <a16:creationId xmlns:a16="http://schemas.microsoft.com/office/drawing/2014/main" id="{3F1E848A-6CFD-A343-8141-03061290C20B}"/>
              </a:ext>
            </a:extLst>
          </p:cNvPr>
          <p:cNvSpPr txBox="1"/>
          <p:nvPr/>
        </p:nvSpPr>
        <p:spPr>
          <a:xfrm>
            <a:off x="2105890" y="2848612"/>
            <a:ext cx="8377383" cy="923330"/>
          </a:xfrm>
          <a:prstGeom prst="rect">
            <a:avLst/>
          </a:prstGeom>
          <a:noFill/>
        </p:spPr>
        <p:txBody>
          <a:bodyPr wrap="square">
            <a:spAutoFit/>
          </a:bodyPr>
          <a:lstStyle/>
          <a:p>
            <a:pPr marL="285750" indent="-285750" algn="just">
              <a:buFont typeface="Arial" panose="020B0604020202020204" pitchFamily="34" charset="0"/>
              <a:buChar char="•"/>
            </a:pPr>
            <a:r>
              <a:rPr lang="en-US" b="1" dirty="0"/>
              <a:t>Improved Hardware (GPUs)</a:t>
            </a:r>
            <a:r>
              <a:rPr lang="en-US" dirty="0"/>
              <a:t>: High-performance GPUs and cloud infrastructure allow deep learning models to process enormous amounts of data efficiently, which wasn’t feasible with earlier hardware technologies.</a:t>
            </a:r>
          </a:p>
        </p:txBody>
      </p:sp>
      <p:pic>
        <p:nvPicPr>
          <p:cNvPr id="6146" name="Picture 2" descr="Review: Nvidia's Founder's Edition RTX 4090 — An Editor's Perspective -">
            <a:extLst>
              <a:ext uri="{FF2B5EF4-FFF2-40B4-BE49-F238E27FC236}">
                <a16:creationId xmlns:a16="http://schemas.microsoft.com/office/drawing/2014/main" id="{433E0753-EB5B-40B1-42FB-321F3F52C8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6281" y="3897745"/>
            <a:ext cx="4116992" cy="27913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76284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F077F8-3385-389C-28BE-F357B70DB9C5}"/>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Introduction to Deep Learning</a:t>
            </a:r>
          </a:p>
        </p:txBody>
      </p:sp>
      <p:sp>
        <p:nvSpPr>
          <p:cNvPr id="3" name="TextBox 2">
            <a:extLst>
              <a:ext uri="{FF2B5EF4-FFF2-40B4-BE49-F238E27FC236}">
                <a16:creationId xmlns:a16="http://schemas.microsoft.com/office/drawing/2014/main" id="{89400FC7-88B3-1A57-2BAA-73769AA223C0}"/>
              </a:ext>
            </a:extLst>
          </p:cNvPr>
          <p:cNvSpPr txBox="1"/>
          <p:nvPr/>
        </p:nvSpPr>
        <p:spPr>
          <a:xfrm>
            <a:off x="1099127" y="1832949"/>
            <a:ext cx="6096000" cy="369332"/>
          </a:xfrm>
          <a:prstGeom prst="rect">
            <a:avLst/>
          </a:prstGeom>
          <a:noFill/>
        </p:spPr>
        <p:txBody>
          <a:bodyPr wrap="square">
            <a:spAutoFit/>
          </a:bodyPr>
          <a:lstStyle/>
          <a:p>
            <a:r>
              <a:rPr lang="en-US" b="1" dirty="0"/>
              <a:t>Why is Deep Learning Gaining Popularity?</a:t>
            </a:r>
          </a:p>
        </p:txBody>
      </p:sp>
      <p:sp>
        <p:nvSpPr>
          <p:cNvPr id="4" name="TextBox 3">
            <a:extLst>
              <a:ext uri="{FF2B5EF4-FFF2-40B4-BE49-F238E27FC236}">
                <a16:creationId xmlns:a16="http://schemas.microsoft.com/office/drawing/2014/main" id="{969B9D6F-0A6F-7AF1-0D4F-61D2072AF4CF}"/>
              </a:ext>
            </a:extLst>
          </p:cNvPr>
          <p:cNvSpPr txBox="1"/>
          <p:nvPr/>
        </p:nvSpPr>
        <p:spPr>
          <a:xfrm>
            <a:off x="1699491" y="2202281"/>
            <a:ext cx="8183418" cy="646331"/>
          </a:xfrm>
          <a:prstGeom prst="rect">
            <a:avLst/>
          </a:prstGeom>
          <a:noFill/>
        </p:spPr>
        <p:txBody>
          <a:bodyPr wrap="square">
            <a:spAutoFit/>
          </a:bodyPr>
          <a:lstStyle/>
          <a:p>
            <a:r>
              <a:rPr lang="en-US" dirty="0"/>
              <a:t>While </a:t>
            </a:r>
            <a:r>
              <a:rPr lang="en-US" b="1" dirty="0"/>
              <a:t>deep learning</a:t>
            </a:r>
            <a:r>
              <a:rPr lang="en-US" dirty="0"/>
              <a:t> is not a new concept, it has seen rapid growth recently due to several factors</a:t>
            </a:r>
          </a:p>
        </p:txBody>
      </p:sp>
      <p:sp>
        <p:nvSpPr>
          <p:cNvPr id="5" name="TextBox 4">
            <a:extLst>
              <a:ext uri="{FF2B5EF4-FFF2-40B4-BE49-F238E27FC236}">
                <a16:creationId xmlns:a16="http://schemas.microsoft.com/office/drawing/2014/main" id="{1ABC6495-740E-C5FF-E13B-A41E81A1135B}"/>
              </a:ext>
            </a:extLst>
          </p:cNvPr>
          <p:cNvSpPr txBox="1"/>
          <p:nvPr/>
        </p:nvSpPr>
        <p:spPr>
          <a:xfrm>
            <a:off x="2105890" y="2848612"/>
            <a:ext cx="7333674" cy="923330"/>
          </a:xfrm>
          <a:prstGeom prst="rect">
            <a:avLst/>
          </a:prstGeom>
          <a:noFill/>
        </p:spPr>
        <p:txBody>
          <a:bodyPr wrap="square">
            <a:spAutoFit/>
          </a:bodyPr>
          <a:lstStyle/>
          <a:p>
            <a:pPr marL="285750" indent="-285750" algn="just">
              <a:buFont typeface="Arial" panose="020B0604020202020204" pitchFamily="34" charset="0"/>
              <a:buChar char="•"/>
            </a:pPr>
            <a:r>
              <a:rPr lang="en-US" b="1" dirty="0"/>
              <a:t>New Techniques</a:t>
            </a:r>
            <a:r>
              <a:rPr lang="en-US" dirty="0"/>
              <a:t>: Advances in algorithms and techniques for training deep networks have made deep learning far more effective than it was a few decades ago.</a:t>
            </a:r>
          </a:p>
        </p:txBody>
      </p:sp>
    </p:spTree>
    <p:extLst>
      <p:ext uri="{BB962C8B-B14F-4D97-AF65-F5344CB8AC3E}">
        <p14:creationId xmlns:p14="http://schemas.microsoft.com/office/powerpoint/2010/main" val="3314899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C992A9-18B3-BD37-1090-F03BB2FD3A3C}"/>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Introduction to Deep Learning</a:t>
            </a:r>
          </a:p>
        </p:txBody>
      </p:sp>
      <p:sp>
        <p:nvSpPr>
          <p:cNvPr id="3" name="TextBox 2">
            <a:extLst>
              <a:ext uri="{FF2B5EF4-FFF2-40B4-BE49-F238E27FC236}">
                <a16:creationId xmlns:a16="http://schemas.microsoft.com/office/drawing/2014/main" id="{D1AC9D54-CD0A-5294-BB48-A7A4DC2F72C8}"/>
              </a:ext>
            </a:extLst>
          </p:cNvPr>
          <p:cNvSpPr txBox="1"/>
          <p:nvPr/>
        </p:nvSpPr>
        <p:spPr>
          <a:xfrm>
            <a:off x="1281405" y="1832949"/>
            <a:ext cx="6096000" cy="369332"/>
          </a:xfrm>
          <a:prstGeom prst="rect">
            <a:avLst/>
          </a:prstGeom>
          <a:noFill/>
        </p:spPr>
        <p:txBody>
          <a:bodyPr wrap="square">
            <a:spAutoFit/>
          </a:bodyPr>
          <a:lstStyle/>
          <a:p>
            <a:r>
              <a:rPr lang="en-US" b="1" dirty="0"/>
              <a:t>Why Deep Learning?</a:t>
            </a:r>
          </a:p>
        </p:txBody>
      </p:sp>
      <p:sp>
        <p:nvSpPr>
          <p:cNvPr id="5" name="TextBox 4">
            <a:extLst>
              <a:ext uri="{FF2B5EF4-FFF2-40B4-BE49-F238E27FC236}">
                <a16:creationId xmlns:a16="http://schemas.microsoft.com/office/drawing/2014/main" id="{05DC0DC9-B0B0-AC71-3800-A8FD32893E61}"/>
              </a:ext>
            </a:extLst>
          </p:cNvPr>
          <p:cNvSpPr txBox="1"/>
          <p:nvPr/>
        </p:nvSpPr>
        <p:spPr>
          <a:xfrm>
            <a:off x="1653310" y="2202281"/>
            <a:ext cx="9467272" cy="923330"/>
          </a:xfrm>
          <a:prstGeom prst="rect">
            <a:avLst/>
          </a:prstGeom>
          <a:noFill/>
        </p:spPr>
        <p:txBody>
          <a:bodyPr wrap="square">
            <a:spAutoFit/>
          </a:bodyPr>
          <a:lstStyle/>
          <a:p>
            <a:r>
              <a:rPr lang="en-US" dirty="0"/>
              <a:t>Machine learning models often reach a </a:t>
            </a:r>
            <a:r>
              <a:rPr lang="en-US" b="1" dirty="0"/>
              <a:t>performance plateau</a:t>
            </a:r>
            <a:r>
              <a:rPr lang="en-US" dirty="0"/>
              <a:t> after a certain point. Even if we increase the amount of data, the model might not find additional patterns or features to improve its performance.</a:t>
            </a:r>
          </a:p>
        </p:txBody>
      </p:sp>
      <p:pic>
        <p:nvPicPr>
          <p:cNvPr id="4098" name="Picture 2" descr="Machine Learning vs. Deep Learning — What they Are and Why they Matter | by  Evan Chan | Medium">
            <a:extLst>
              <a:ext uri="{FF2B5EF4-FFF2-40B4-BE49-F238E27FC236}">
                <a16:creationId xmlns:a16="http://schemas.microsoft.com/office/drawing/2014/main" id="{4136D643-D55D-A3B6-AE22-B2B3258B16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27651" y="3636511"/>
            <a:ext cx="5552786" cy="27763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72640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AD2812-F5BA-F0F0-D04F-CAB9CB9FE760}"/>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Introduction to Deep Learning</a:t>
            </a:r>
          </a:p>
        </p:txBody>
      </p:sp>
      <p:sp>
        <p:nvSpPr>
          <p:cNvPr id="3" name="TextBox 2">
            <a:extLst>
              <a:ext uri="{FF2B5EF4-FFF2-40B4-BE49-F238E27FC236}">
                <a16:creationId xmlns:a16="http://schemas.microsoft.com/office/drawing/2014/main" id="{97DFCCF4-D9FC-E0C0-D972-60440B6E610D}"/>
              </a:ext>
            </a:extLst>
          </p:cNvPr>
          <p:cNvSpPr txBox="1"/>
          <p:nvPr/>
        </p:nvSpPr>
        <p:spPr>
          <a:xfrm>
            <a:off x="1281405" y="1832949"/>
            <a:ext cx="6096000" cy="369332"/>
          </a:xfrm>
          <a:prstGeom prst="rect">
            <a:avLst/>
          </a:prstGeom>
          <a:noFill/>
        </p:spPr>
        <p:txBody>
          <a:bodyPr wrap="square">
            <a:spAutoFit/>
          </a:bodyPr>
          <a:lstStyle/>
          <a:p>
            <a:r>
              <a:rPr lang="en-US" b="1" dirty="0"/>
              <a:t>Why Deep Learning?</a:t>
            </a:r>
          </a:p>
        </p:txBody>
      </p:sp>
      <p:sp>
        <p:nvSpPr>
          <p:cNvPr id="6" name="TextBox 5">
            <a:extLst>
              <a:ext uri="{FF2B5EF4-FFF2-40B4-BE49-F238E27FC236}">
                <a16:creationId xmlns:a16="http://schemas.microsoft.com/office/drawing/2014/main" id="{61C03ECC-BF31-307C-59B1-A5DB3D020F66}"/>
              </a:ext>
            </a:extLst>
          </p:cNvPr>
          <p:cNvSpPr txBox="1"/>
          <p:nvPr/>
        </p:nvSpPr>
        <p:spPr>
          <a:xfrm>
            <a:off x="1874980" y="2294614"/>
            <a:ext cx="8700655" cy="1754326"/>
          </a:xfrm>
          <a:prstGeom prst="rect">
            <a:avLst/>
          </a:prstGeom>
          <a:noFill/>
        </p:spPr>
        <p:txBody>
          <a:bodyPr wrap="square">
            <a:spAutoFit/>
          </a:bodyPr>
          <a:lstStyle/>
          <a:p>
            <a:pPr marL="285750" indent="-285750">
              <a:buFont typeface="Arial" panose="020B0604020202020204" pitchFamily="34" charset="0"/>
              <a:buChar char="•"/>
            </a:pPr>
            <a:r>
              <a:rPr lang="en-US" b="1" dirty="0"/>
              <a:t>Deep learning</a:t>
            </a:r>
            <a:r>
              <a:rPr lang="en-US" dirty="0"/>
              <a:t>, on the other hand, continues to improve as more data is added. As we construct </a:t>
            </a:r>
            <a:r>
              <a:rPr lang="en-US" b="1" dirty="0"/>
              <a:t>larger neural networks</a:t>
            </a:r>
            <a:r>
              <a:rPr lang="en-US" dirty="0"/>
              <a:t> and expose them to </a:t>
            </a:r>
            <a:r>
              <a:rPr lang="en-US" b="1" dirty="0"/>
              <a:t>more data</a:t>
            </a:r>
            <a:r>
              <a:rPr lang="en-US" dirty="0"/>
              <a:t>, their performance increases significantly.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This scalability with data is one of the major reasons deep learning is thriving in areas like image recognition and natural language processing.</a:t>
            </a:r>
          </a:p>
        </p:txBody>
      </p:sp>
    </p:spTree>
    <p:extLst>
      <p:ext uri="{BB962C8B-B14F-4D97-AF65-F5344CB8AC3E}">
        <p14:creationId xmlns:p14="http://schemas.microsoft.com/office/powerpoint/2010/main" val="1278072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85801F-76C8-86C1-9A2F-3BEE159A5D72}"/>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Introduction to Deep Learning</a:t>
            </a:r>
          </a:p>
        </p:txBody>
      </p:sp>
      <p:sp>
        <p:nvSpPr>
          <p:cNvPr id="4" name="TextBox 3">
            <a:extLst>
              <a:ext uri="{FF2B5EF4-FFF2-40B4-BE49-F238E27FC236}">
                <a16:creationId xmlns:a16="http://schemas.microsoft.com/office/drawing/2014/main" id="{335E208D-6F99-3601-803A-B86148AC44EB}"/>
              </a:ext>
            </a:extLst>
          </p:cNvPr>
          <p:cNvSpPr txBox="1"/>
          <p:nvPr/>
        </p:nvSpPr>
        <p:spPr>
          <a:xfrm>
            <a:off x="1209963" y="1832949"/>
            <a:ext cx="6096000" cy="369332"/>
          </a:xfrm>
          <a:prstGeom prst="rect">
            <a:avLst/>
          </a:prstGeom>
          <a:noFill/>
        </p:spPr>
        <p:txBody>
          <a:bodyPr wrap="square">
            <a:spAutoFit/>
          </a:bodyPr>
          <a:lstStyle/>
          <a:p>
            <a:r>
              <a:rPr lang="en-US" b="1" dirty="0"/>
              <a:t>Key Takeaways</a:t>
            </a:r>
          </a:p>
        </p:txBody>
      </p:sp>
      <p:sp>
        <p:nvSpPr>
          <p:cNvPr id="6" name="TextBox 5">
            <a:extLst>
              <a:ext uri="{FF2B5EF4-FFF2-40B4-BE49-F238E27FC236}">
                <a16:creationId xmlns:a16="http://schemas.microsoft.com/office/drawing/2014/main" id="{7163CD29-A1B3-D341-F68B-B5204C60384D}"/>
              </a:ext>
            </a:extLst>
          </p:cNvPr>
          <p:cNvSpPr txBox="1"/>
          <p:nvPr/>
        </p:nvSpPr>
        <p:spPr>
          <a:xfrm>
            <a:off x="1533236" y="2202281"/>
            <a:ext cx="6096000" cy="369332"/>
          </a:xfrm>
          <a:prstGeom prst="rect">
            <a:avLst/>
          </a:prstGeom>
          <a:noFill/>
        </p:spPr>
        <p:txBody>
          <a:bodyPr wrap="square">
            <a:spAutoFit/>
          </a:bodyPr>
          <a:lstStyle/>
          <a:p>
            <a:r>
              <a:rPr lang="en-US" b="1" dirty="0"/>
              <a:t>1. Deep Learning vs. Machine Learning</a:t>
            </a:r>
          </a:p>
        </p:txBody>
      </p:sp>
      <p:sp>
        <p:nvSpPr>
          <p:cNvPr id="9" name="TextBox 8">
            <a:extLst>
              <a:ext uri="{FF2B5EF4-FFF2-40B4-BE49-F238E27FC236}">
                <a16:creationId xmlns:a16="http://schemas.microsoft.com/office/drawing/2014/main" id="{5786E5C6-67E1-931C-4C3C-A107D1588A09}"/>
              </a:ext>
            </a:extLst>
          </p:cNvPr>
          <p:cNvSpPr txBox="1"/>
          <p:nvPr/>
        </p:nvSpPr>
        <p:spPr>
          <a:xfrm>
            <a:off x="1995054" y="2663946"/>
            <a:ext cx="7204364" cy="1477328"/>
          </a:xfrm>
          <a:prstGeom prst="rect">
            <a:avLst/>
          </a:prstGeom>
          <a:noFill/>
        </p:spPr>
        <p:txBody>
          <a:bodyPr wrap="square">
            <a:spAutoFit/>
          </a:bodyPr>
          <a:lstStyle/>
          <a:p>
            <a:pPr marL="285750" indent="-285750">
              <a:buFont typeface="Arial" panose="020B0604020202020204" pitchFamily="34" charset="0"/>
              <a:buChar char="•"/>
            </a:pPr>
            <a:r>
              <a:rPr lang="en-US" b="1" dirty="0"/>
              <a:t>Deep learning</a:t>
            </a:r>
            <a:r>
              <a:rPr lang="en-US" dirty="0"/>
              <a:t> requires large datasets and high computational power but automatically extracts features.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Machine learning</a:t>
            </a:r>
            <a:r>
              <a:rPr lang="en-US" dirty="0"/>
              <a:t> can work well with smaller datasets and requires manual feature extraction.</a:t>
            </a:r>
          </a:p>
        </p:txBody>
      </p:sp>
    </p:spTree>
    <p:extLst>
      <p:ext uri="{BB962C8B-B14F-4D97-AF65-F5344CB8AC3E}">
        <p14:creationId xmlns:p14="http://schemas.microsoft.com/office/powerpoint/2010/main" val="453076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8CC865-74C5-DF25-066D-283089B608E4}"/>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Introduction to Deep Learning</a:t>
            </a:r>
          </a:p>
        </p:txBody>
      </p:sp>
      <p:sp>
        <p:nvSpPr>
          <p:cNvPr id="3" name="TextBox 2">
            <a:extLst>
              <a:ext uri="{FF2B5EF4-FFF2-40B4-BE49-F238E27FC236}">
                <a16:creationId xmlns:a16="http://schemas.microsoft.com/office/drawing/2014/main" id="{755F4E4B-7282-F04B-2A7A-1825062CCA78}"/>
              </a:ext>
            </a:extLst>
          </p:cNvPr>
          <p:cNvSpPr txBox="1"/>
          <p:nvPr/>
        </p:nvSpPr>
        <p:spPr>
          <a:xfrm>
            <a:off x="1209963" y="1832949"/>
            <a:ext cx="6096000" cy="369332"/>
          </a:xfrm>
          <a:prstGeom prst="rect">
            <a:avLst/>
          </a:prstGeom>
          <a:noFill/>
        </p:spPr>
        <p:txBody>
          <a:bodyPr wrap="square">
            <a:spAutoFit/>
          </a:bodyPr>
          <a:lstStyle/>
          <a:p>
            <a:r>
              <a:rPr lang="en-US" b="1" dirty="0"/>
              <a:t>Key Takeaways</a:t>
            </a:r>
          </a:p>
        </p:txBody>
      </p:sp>
      <p:sp>
        <p:nvSpPr>
          <p:cNvPr id="4" name="TextBox 3">
            <a:extLst>
              <a:ext uri="{FF2B5EF4-FFF2-40B4-BE49-F238E27FC236}">
                <a16:creationId xmlns:a16="http://schemas.microsoft.com/office/drawing/2014/main" id="{2660C936-BA32-5DC5-FC08-BDF1409FC61C}"/>
              </a:ext>
            </a:extLst>
          </p:cNvPr>
          <p:cNvSpPr txBox="1"/>
          <p:nvPr/>
        </p:nvSpPr>
        <p:spPr>
          <a:xfrm>
            <a:off x="1533236" y="2202281"/>
            <a:ext cx="6096000" cy="369332"/>
          </a:xfrm>
          <a:prstGeom prst="rect">
            <a:avLst/>
          </a:prstGeom>
          <a:noFill/>
        </p:spPr>
        <p:txBody>
          <a:bodyPr wrap="square">
            <a:spAutoFit/>
          </a:bodyPr>
          <a:lstStyle/>
          <a:p>
            <a:r>
              <a:rPr lang="en-US" b="1" dirty="0"/>
              <a:t>2. Deep Learning's Growth</a:t>
            </a:r>
          </a:p>
        </p:txBody>
      </p:sp>
      <p:sp>
        <p:nvSpPr>
          <p:cNvPr id="5" name="TextBox 4">
            <a:extLst>
              <a:ext uri="{FF2B5EF4-FFF2-40B4-BE49-F238E27FC236}">
                <a16:creationId xmlns:a16="http://schemas.microsoft.com/office/drawing/2014/main" id="{CAE1DF3A-1B53-742D-6BEC-489C0091216E}"/>
              </a:ext>
            </a:extLst>
          </p:cNvPr>
          <p:cNvSpPr txBox="1"/>
          <p:nvPr/>
        </p:nvSpPr>
        <p:spPr>
          <a:xfrm>
            <a:off x="1995054" y="2663946"/>
            <a:ext cx="7204364" cy="646331"/>
          </a:xfrm>
          <a:prstGeom prst="rect">
            <a:avLst/>
          </a:prstGeom>
          <a:noFill/>
        </p:spPr>
        <p:txBody>
          <a:bodyPr wrap="square">
            <a:spAutoFit/>
          </a:bodyPr>
          <a:lstStyle/>
          <a:p>
            <a:pPr marL="285750" indent="-285750">
              <a:buFont typeface="Arial" panose="020B0604020202020204" pitchFamily="34" charset="0"/>
              <a:buChar char="•"/>
            </a:pPr>
            <a:r>
              <a:rPr lang="en-US" dirty="0"/>
              <a:t>Driven by big data availability, improved hardware (like GPUs), and advances in algorithms.</a:t>
            </a:r>
          </a:p>
        </p:txBody>
      </p:sp>
      <p:sp>
        <p:nvSpPr>
          <p:cNvPr id="8" name="TextBox 7">
            <a:extLst>
              <a:ext uri="{FF2B5EF4-FFF2-40B4-BE49-F238E27FC236}">
                <a16:creationId xmlns:a16="http://schemas.microsoft.com/office/drawing/2014/main" id="{833D94D3-CD96-E7A3-0800-173F0804731A}"/>
              </a:ext>
            </a:extLst>
          </p:cNvPr>
          <p:cNvSpPr txBox="1"/>
          <p:nvPr/>
        </p:nvSpPr>
        <p:spPr>
          <a:xfrm>
            <a:off x="1533236" y="3310277"/>
            <a:ext cx="6096000" cy="369332"/>
          </a:xfrm>
          <a:prstGeom prst="rect">
            <a:avLst/>
          </a:prstGeom>
          <a:noFill/>
        </p:spPr>
        <p:txBody>
          <a:bodyPr wrap="square">
            <a:spAutoFit/>
          </a:bodyPr>
          <a:lstStyle/>
          <a:p>
            <a:r>
              <a:rPr lang="en-US" b="1" dirty="0"/>
              <a:t>3. Why Deep Learning?</a:t>
            </a:r>
          </a:p>
        </p:txBody>
      </p:sp>
      <p:sp>
        <p:nvSpPr>
          <p:cNvPr id="11" name="TextBox 10">
            <a:extLst>
              <a:ext uri="{FF2B5EF4-FFF2-40B4-BE49-F238E27FC236}">
                <a16:creationId xmlns:a16="http://schemas.microsoft.com/office/drawing/2014/main" id="{098C54A0-36BA-746F-5F2F-CB88D72F5221}"/>
              </a:ext>
            </a:extLst>
          </p:cNvPr>
          <p:cNvSpPr txBox="1"/>
          <p:nvPr/>
        </p:nvSpPr>
        <p:spPr>
          <a:xfrm>
            <a:off x="1995053" y="3771957"/>
            <a:ext cx="7509165" cy="1477328"/>
          </a:xfrm>
          <a:prstGeom prst="rect">
            <a:avLst/>
          </a:prstGeom>
          <a:noFill/>
        </p:spPr>
        <p:txBody>
          <a:bodyPr wrap="square">
            <a:spAutoFit/>
          </a:bodyPr>
          <a:lstStyle/>
          <a:p>
            <a:pPr marL="285750" indent="-285750">
              <a:buFont typeface="Arial" panose="020B0604020202020204" pitchFamily="34" charset="0"/>
              <a:buChar char="•"/>
            </a:pPr>
            <a:r>
              <a:rPr lang="en-US" dirty="0"/>
              <a:t>It can handle both </a:t>
            </a:r>
            <a:r>
              <a:rPr lang="en-US" b="1" dirty="0"/>
              <a:t>structured</a:t>
            </a:r>
            <a:r>
              <a:rPr lang="en-US" dirty="0"/>
              <a:t> and </a:t>
            </a:r>
            <a:r>
              <a:rPr lang="en-US" b="1" dirty="0"/>
              <a:t>unstructured</a:t>
            </a:r>
            <a:r>
              <a:rPr lang="en-US" dirty="0"/>
              <a:t> data (such as images, videos, and speech).</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It scales well with the amount of data, unlike traditional machine learning methods, which may plateau.</a:t>
            </a:r>
          </a:p>
        </p:txBody>
      </p:sp>
    </p:spTree>
    <p:extLst>
      <p:ext uri="{BB962C8B-B14F-4D97-AF65-F5344CB8AC3E}">
        <p14:creationId xmlns:p14="http://schemas.microsoft.com/office/powerpoint/2010/main" val="1891522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A6DEE7-B103-217A-F113-C624446149F0}"/>
              </a:ext>
            </a:extLst>
          </p:cNvPr>
          <p:cNvSpPr txBox="1"/>
          <p:nvPr/>
        </p:nvSpPr>
        <p:spPr>
          <a:xfrm>
            <a:off x="2752436" y="2782669"/>
            <a:ext cx="6687127" cy="646331"/>
          </a:xfrm>
          <a:prstGeom prst="rect">
            <a:avLst/>
          </a:prstGeom>
          <a:noFill/>
        </p:spPr>
        <p:txBody>
          <a:bodyPr wrap="square">
            <a:spAutoFit/>
          </a:bodyPr>
          <a:lstStyle/>
          <a:p>
            <a:pPr algn="ctr"/>
            <a:r>
              <a:rPr lang="en-US" sz="3600" b="1" dirty="0">
                <a:solidFill>
                  <a:srgbClr val="2AAF82"/>
                </a:solidFill>
              </a:rPr>
              <a:t>Neurons and Perceptrons</a:t>
            </a:r>
          </a:p>
        </p:txBody>
      </p:sp>
    </p:spTree>
    <p:extLst>
      <p:ext uri="{BB962C8B-B14F-4D97-AF65-F5344CB8AC3E}">
        <p14:creationId xmlns:p14="http://schemas.microsoft.com/office/powerpoint/2010/main" val="2182680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377579-EA5F-E54F-08C4-A6E9CE626D89}"/>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Neurons and Perceptrons</a:t>
            </a:r>
          </a:p>
        </p:txBody>
      </p:sp>
      <p:sp>
        <p:nvSpPr>
          <p:cNvPr id="4" name="TextBox 3">
            <a:extLst>
              <a:ext uri="{FF2B5EF4-FFF2-40B4-BE49-F238E27FC236}">
                <a16:creationId xmlns:a16="http://schemas.microsoft.com/office/drawing/2014/main" id="{266B2849-AC85-082B-2ABE-18BFFB6916F8}"/>
              </a:ext>
            </a:extLst>
          </p:cNvPr>
          <p:cNvSpPr txBox="1"/>
          <p:nvPr/>
        </p:nvSpPr>
        <p:spPr>
          <a:xfrm>
            <a:off x="1281405" y="1832949"/>
            <a:ext cx="6096000" cy="369332"/>
          </a:xfrm>
          <a:prstGeom prst="rect">
            <a:avLst/>
          </a:prstGeom>
          <a:noFill/>
        </p:spPr>
        <p:txBody>
          <a:bodyPr wrap="square">
            <a:spAutoFit/>
          </a:bodyPr>
          <a:lstStyle/>
          <a:p>
            <a:r>
              <a:rPr lang="en-US" b="1" dirty="0"/>
              <a:t>What is a Neuron?</a:t>
            </a:r>
          </a:p>
        </p:txBody>
      </p:sp>
      <p:sp>
        <p:nvSpPr>
          <p:cNvPr id="8" name="TextBox 7">
            <a:extLst>
              <a:ext uri="{FF2B5EF4-FFF2-40B4-BE49-F238E27FC236}">
                <a16:creationId xmlns:a16="http://schemas.microsoft.com/office/drawing/2014/main" id="{A0FF0EA8-0EF5-27E5-802A-2A286BE4EADF}"/>
              </a:ext>
            </a:extLst>
          </p:cNvPr>
          <p:cNvSpPr txBox="1"/>
          <p:nvPr/>
        </p:nvSpPr>
        <p:spPr>
          <a:xfrm>
            <a:off x="1766596" y="2202281"/>
            <a:ext cx="6701265" cy="646331"/>
          </a:xfrm>
          <a:prstGeom prst="rect">
            <a:avLst/>
          </a:prstGeom>
          <a:noFill/>
        </p:spPr>
        <p:txBody>
          <a:bodyPr wrap="square">
            <a:spAutoFit/>
          </a:bodyPr>
          <a:lstStyle/>
          <a:p>
            <a:r>
              <a:rPr lang="en-US" dirty="0"/>
              <a:t>Let’s start by understanding the basic building block of neural networks, the </a:t>
            </a:r>
            <a:r>
              <a:rPr lang="en-US" b="1" dirty="0"/>
              <a:t>neuron</a:t>
            </a:r>
            <a:endParaRPr lang="en-US" dirty="0"/>
          </a:p>
        </p:txBody>
      </p:sp>
      <p:sp>
        <p:nvSpPr>
          <p:cNvPr id="10" name="TextBox 9">
            <a:extLst>
              <a:ext uri="{FF2B5EF4-FFF2-40B4-BE49-F238E27FC236}">
                <a16:creationId xmlns:a16="http://schemas.microsoft.com/office/drawing/2014/main" id="{3D622BF4-95A0-54BA-A77F-C5A9CA7412AF}"/>
              </a:ext>
            </a:extLst>
          </p:cNvPr>
          <p:cNvSpPr txBox="1"/>
          <p:nvPr/>
        </p:nvSpPr>
        <p:spPr>
          <a:xfrm>
            <a:off x="2069228" y="2848612"/>
            <a:ext cx="8912808" cy="923330"/>
          </a:xfrm>
          <a:prstGeom prst="rect">
            <a:avLst/>
          </a:prstGeom>
          <a:noFill/>
        </p:spPr>
        <p:txBody>
          <a:bodyPr wrap="square">
            <a:spAutoFit/>
          </a:bodyPr>
          <a:lstStyle/>
          <a:p>
            <a:pPr marL="285750" indent="-285750" algn="just">
              <a:buFont typeface="Arial" panose="020B0604020202020204" pitchFamily="34" charset="0"/>
              <a:buChar char="•"/>
            </a:pPr>
            <a:r>
              <a:rPr lang="en-US" dirty="0"/>
              <a:t>In biology, a neuron is a cell in the brain that transmits information via electrical and chemical signals. These neurons are interconnected in a complex network and are responsible for all our cognitive functions.</a:t>
            </a:r>
          </a:p>
        </p:txBody>
      </p:sp>
      <p:pic>
        <p:nvPicPr>
          <p:cNvPr id="12" name="Picture 11" descr="A cartoon of a nerve cell&#10;&#10;Description automatically generated">
            <a:extLst>
              <a:ext uri="{FF2B5EF4-FFF2-40B4-BE49-F238E27FC236}">
                <a16:creationId xmlns:a16="http://schemas.microsoft.com/office/drawing/2014/main" id="{853EED59-8DA8-AD7F-BFE6-3E94D3CAB7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23347" y="3790109"/>
            <a:ext cx="5156572" cy="2833536"/>
          </a:xfrm>
          <a:prstGeom prst="rect">
            <a:avLst/>
          </a:prstGeom>
        </p:spPr>
      </p:pic>
    </p:spTree>
    <p:extLst>
      <p:ext uri="{BB962C8B-B14F-4D97-AF65-F5344CB8AC3E}">
        <p14:creationId xmlns:p14="http://schemas.microsoft.com/office/powerpoint/2010/main" val="28334292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4697D4-233B-3428-A420-6015318F8152}"/>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Neurons and Perceptrons</a:t>
            </a:r>
          </a:p>
        </p:txBody>
      </p:sp>
      <p:sp>
        <p:nvSpPr>
          <p:cNvPr id="3" name="TextBox 2">
            <a:extLst>
              <a:ext uri="{FF2B5EF4-FFF2-40B4-BE49-F238E27FC236}">
                <a16:creationId xmlns:a16="http://schemas.microsoft.com/office/drawing/2014/main" id="{A23BCA02-863C-E9C1-4587-B9016AFD78D9}"/>
              </a:ext>
            </a:extLst>
          </p:cNvPr>
          <p:cNvSpPr txBox="1"/>
          <p:nvPr/>
        </p:nvSpPr>
        <p:spPr>
          <a:xfrm>
            <a:off x="1281405" y="1832949"/>
            <a:ext cx="6096000" cy="369332"/>
          </a:xfrm>
          <a:prstGeom prst="rect">
            <a:avLst/>
          </a:prstGeom>
          <a:noFill/>
        </p:spPr>
        <p:txBody>
          <a:bodyPr wrap="square">
            <a:spAutoFit/>
          </a:bodyPr>
          <a:lstStyle/>
          <a:p>
            <a:r>
              <a:rPr lang="en-US" b="1" dirty="0"/>
              <a:t>What is a Neuron?</a:t>
            </a:r>
          </a:p>
        </p:txBody>
      </p:sp>
      <p:sp>
        <p:nvSpPr>
          <p:cNvPr id="4" name="TextBox 3">
            <a:extLst>
              <a:ext uri="{FF2B5EF4-FFF2-40B4-BE49-F238E27FC236}">
                <a16:creationId xmlns:a16="http://schemas.microsoft.com/office/drawing/2014/main" id="{A856121D-2627-D231-BEB8-C54268A4109E}"/>
              </a:ext>
            </a:extLst>
          </p:cNvPr>
          <p:cNvSpPr txBox="1"/>
          <p:nvPr/>
        </p:nvSpPr>
        <p:spPr>
          <a:xfrm>
            <a:off x="1766596" y="2202281"/>
            <a:ext cx="6701265" cy="646331"/>
          </a:xfrm>
          <a:prstGeom prst="rect">
            <a:avLst/>
          </a:prstGeom>
          <a:noFill/>
        </p:spPr>
        <p:txBody>
          <a:bodyPr wrap="square">
            <a:spAutoFit/>
          </a:bodyPr>
          <a:lstStyle/>
          <a:p>
            <a:r>
              <a:rPr lang="en-US" dirty="0"/>
              <a:t>Let’s start by understanding the basic building block of neural networks, the </a:t>
            </a:r>
            <a:r>
              <a:rPr lang="en-US" b="1" dirty="0"/>
              <a:t>neuron</a:t>
            </a:r>
            <a:endParaRPr lang="en-US" dirty="0"/>
          </a:p>
        </p:txBody>
      </p:sp>
      <p:sp>
        <p:nvSpPr>
          <p:cNvPr id="6" name="TextBox 5">
            <a:extLst>
              <a:ext uri="{FF2B5EF4-FFF2-40B4-BE49-F238E27FC236}">
                <a16:creationId xmlns:a16="http://schemas.microsoft.com/office/drawing/2014/main" id="{9960FDCF-1DC8-CD10-E57A-E30DC4E248E8}"/>
              </a:ext>
            </a:extLst>
          </p:cNvPr>
          <p:cNvSpPr txBox="1"/>
          <p:nvPr/>
        </p:nvSpPr>
        <p:spPr>
          <a:xfrm>
            <a:off x="2069228" y="2848612"/>
            <a:ext cx="8580300" cy="923330"/>
          </a:xfrm>
          <a:prstGeom prst="rect">
            <a:avLst/>
          </a:prstGeom>
          <a:noFill/>
        </p:spPr>
        <p:txBody>
          <a:bodyPr wrap="square">
            <a:spAutoFit/>
          </a:bodyPr>
          <a:lstStyle/>
          <a:p>
            <a:pPr marL="285750" indent="-285750" algn="just">
              <a:buFont typeface="Arial" panose="020B0604020202020204" pitchFamily="34" charset="0"/>
              <a:buChar char="•"/>
            </a:pPr>
            <a:r>
              <a:rPr lang="en-US" dirty="0"/>
              <a:t>In </a:t>
            </a:r>
            <a:r>
              <a:rPr lang="en-US" b="1" dirty="0"/>
              <a:t>artificial neural networks (ANNs)</a:t>
            </a:r>
            <a:r>
              <a:rPr lang="en-US" dirty="0"/>
              <a:t>, a neuron is a </a:t>
            </a:r>
            <a:r>
              <a:rPr lang="en-US" b="1" dirty="0"/>
              <a:t>mathematical function</a:t>
            </a:r>
            <a:r>
              <a:rPr lang="en-US" dirty="0"/>
              <a:t> that processes input data and produces an output. Artificial neurons are modeled after biological neurons but use mathematical functions to simulate learning behavior.</a:t>
            </a:r>
          </a:p>
        </p:txBody>
      </p:sp>
      <p:pic>
        <p:nvPicPr>
          <p:cNvPr id="11266" name="Picture 2" descr="Deep Learning: Overview of Neurons and Activation Functions | by Stacey  Ronaghan | Medium">
            <a:extLst>
              <a:ext uri="{FF2B5EF4-FFF2-40B4-BE49-F238E27FC236}">
                <a16:creationId xmlns:a16="http://schemas.microsoft.com/office/drawing/2014/main" id="{7A909F45-7FDB-C2F0-394B-1546330DE9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1232" y="3860801"/>
            <a:ext cx="4380628" cy="26905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40076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77D4A2-6A84-6F26-9117-20FF2E714A1C}"/>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Neurons and Perceptrons</a:t>
            </a:r>
          </a:p>
        </p:txBody>
      </p:sp>
      <p:sp>
        <p:nvSpPr>
          <p:cNvPr id="4" name="TextBox 3">
            <a:extLst>
              <a:ext uri="{FF2B5EF4-FFF2-40B4-BE49-F238E27FC236}">
                <a16:creationId xmlns:a16="http://schemas.microsoft.com/office/drawing/2014/main" id="{CA864F3E-0D33-75FE-33D1-02DF456A67E8}"/>
              </a:ext>
            </a:extLst>
          </p:cNvPr>
          <p:cNvSpPr txBox="1"/>
          <p:nvPr/>
        </p:nvSpPr>
        <p:spPr>
          <a:xfrm>
            <a:off x="1281405" y="1832949"/>
            <a:ext cx="6096000" cy="369332"/>
          </a:xfrm>
          <a:prstGeom prst="rect">
            <a:avLst/>
          </a:prstGeom>
          <a:noFill/>
        </p:spPr>
        <p:txBody>
          <a:bodyPr wrap="square">
            <a:spAutoFit/>
          </a:bodyPr>
          <a:lstStyle/>
          <a:p>
            <a:r>
              <a:rPr lang="en-US" b="1" dirty="0"/>
              <a:t>How an Artificial Neuron Works</a:t>
            </a:r>
          </a:p>
        </p:txBody>
      </p:sp>
      <p:sp>
        <p:nvSpPr>
          <p:cNvPr id="6" name="TextBox 5">
            <a:extLst>
              <a:ext uri="{FF2B5EF4-FFF2-40B4-BE49-F238E27FC236}">
                <a16:creationId xmlns:a16="http://schemas.microsoft.com/office/drawing/2014/main" id="{0ECA2DDA-49DE-A066-236B-551D319F2E6F}"/>
              </a:ext>
            </a:extLst>
          </p:cNvPr>
          <p:cNvSpPr txBox="1"/>
          <p:nvPr/>
        </p:nvSpPr>
        <p:spPr>
          <a:xfrm>
            <a:off x="1766597" y="2202281"/>
            <a:ext cx="6241330" cy="646331"/>
          </a:xfrm>
          <a:prstGeom prst="rect">
            <a:avLst/>
          </a:prstGeom>
          <a:noFill/>
        </p:spPr>
        <p:txBody>
          <a:bodyPr wrap="square">
            <a:spAutoFit/>
          </a:bodyPr>
          <a:lstStyle/>
          <a:p>
            <a:r>
              <a:rPr lang="en-US" dirty="0"/>
              <a:t>An artificial neuron mimics the biological neuron by performing these key steps</a:t>
            </a:r>
          </a:p>
        </p:txBody>
      </p:sp>
      <p:sp>
        <p:nvSpPr>
          <p:cNvPr id="8" name="TextBox 7">
            <a:extLst>
              <a:ext uri="{FF2B5EF4-FFF2-40B4-BE49-F238E27FC236}">
                <a16:creationId xmlns:a16="http://schemas.microsoft.com/office/drawing/2014/main" id="{2B9CC39D-A150-4951-8C38-C27A318F5E5B}"/>
              </a:ext>
            </a:extLst>
          </p:cNvPr>
          <p:cNvSpPr txBox="1"/>
          <p:nvPr/>
        </p:nvSpPr>
        <p:spPr>
          <a:xfrm>
            <a:off x="2004291" y="2848612"/>
            <a:ext cx="6096000" cy="369332"/>
          </a:xfrm>
          <a:prstGeom prst="rect">
            <a:avLst/>
          </a:prstGeom>
          <a:noFill/>
        </p:spPr>
        <p:txBody>
          <a:bodyPr wrap="square">
            <a:spAutoFit/>
          </a:bodyPr>
          <a:lstStyle/>
          <a:p>
            <a:r>
              <a:rPr lang="en-US" b="1" dirty="0"/>
              <a:t>1. Inputs (Features)</a:t>
            </a:r>
          </a:p>
        </p:txBody>
      </p:sp>
      <p:sp>
        <p:nvSpPr>
          <p:cNvPr id="10" name="TextBox 9">
            <a:extLst>
              <a:ext uri="{FF2B5EF4-FFF2-40B4-BE49-F238E27FC236}">
                <a16:creationId xmlns:a16="http://schemas.microsoft.com/office/drawing/2014/main" id="{B5325775-B48F-0217-8194-92BADDFAEFD6}"/>
              </a:ext>
            </a:extLst>
          </p:cNvPr>
          <p:cNvSpPr txBox="1"/>
          <p:nvPr/>
        </p:nvSpPr>
        <p:spPr>
          <a:xfrm>
            <a:off x="2502772" y="3217944"/>
            <a:ext cx="7564864" cy="923330"/>
          </a:xfrm>
          <a:prstGeom prst="rect">
            <a:avLst/>
          </a:prstGeom>
          <a:noFill/>
        </p:spPr>
        <p:txBody>
          <a:bodyPr wrap="square">
            <a:spAutoFit/>
          </a:bodyPr>
          <a:lstStyle/>
          <a:p>
            <a:pPr marL="285750" indent="-285750">
              <a:buFont typeface="Arial" panose="020B0604020202020204" pitchFamily="34" charset="0"/>
              <a:buChar char="•"/>
            </a:pPr>
            <a:r>
              <a:rPr lang="en-US" dirty="0"/>
              <a:t>These are the data points provided to the neuron, often in the form of numbers (e.g., pixels of an image, features of a dataset like height or weight).</a:t>
            </a:r>
          </a:p>
        </p:txBody>
      </p:sp>
    </p:spTree>
    <p:extLst>
      <p:ext uri="{BB962C8B-B14F-4D97-AF65-F5344CB8AC3E}">
        <p14:creationId xmlns:p14="http://schemas.microsoft.com/office/powerpoint/2010/main" val="3813691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981D22-343F-8D4E-16FD-F9787114A468}"/>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Neurons and Perceptrons</a:t>
            </a:r>
          </a:p>
        </p:txBody>
      </p:sp>
      <p:sp>
        <p:nvSpPr>
          <p:cNvPr id="3" name="TextBox 2">
            <a:extLst>
              <a:ext uri="{FF2B5EF4-FFF2-40B4-BE49-F238E27FC236}">
                <a16:creationId xmlns:a16="http://schemas.microsoft.com/office/drawing/2014/main" id="{B48823BA-095F-A658-3BDB-F79B02F8D9A5}"/>
              </a:ext>
            </a:extLst>
          </p:cNvPr>
          <p:cNvSpPr txBox="1"/>
          <p:nvPr/>
        </p:nvSpPr>
        <p:spPr>
          <a:xfrm>
            <a:off x="1281405" y="1832949"/>
            <a:ext cx="6096000" cy="369332"/>
          </a:xfrm>
          <a:prstGeom prst="rect">
            <a:avLst/>
          </a:prstGeom>
          <a:noFill/>
        </p:spPr>
        <p:txBody>
          <a:bodyPr wrap="square">
            <a:spAutoFit/>
          </a:bodyPr>
          <a:lstStyle/>
          <a:p>
            <a:r>
              <a:rPr lang="en-US" b="1" dirty="0"/>
              <a:t>How an Artificial Neuron Works</a:t>
            </a:r>
          </a:p>
        </p:txBody>
      </p:sp>
      <p:sp>
        <p:nvSpPr>
          <p:cNvPr id="4" name="TextBox 3">
            <a:extLst>
              <a:ext uri="{FF2B5EF4-FFF2-40B4-BE49-F238E27FC236}">
                <a16:creationId xmlns:a16="http://schemas.microsoft.com/office/drawing/2014/main" id="{7C241570-254A-F194-5CA4-434308CFAF0E}"/>
              </a:ext>
            </a:extLst>
          </p:cNvPr>
          <p:cNvSpPr txBox="1"/>
          <p:nvPr/>
        </p:nvSpPr>
        <p:spPr>
          <a:xfrm>
            <a:off x="1766597" y="2202281"/>
            <a:ext cx="6241330" cy="646331"/>
          </a:xfrm>
          <a:prstGeom prst="rect">
            <a:avLst/>
          </a:prstGeom>
          <a:noFill/>
        </p:spPr>
        <p:txBody>
          <a:bodyPr wrap="square">
            <a:spAutoFit/>
          </a:bodyPr>
          <a:lstStyle/>
          <a:p>
            <a:r>
              <a:rPr lang="en-US" dirty="0"/>
              <a:t>An artificial neuron mimics the biological neuron by performing these key steps</a:t>
            </a:r>
          </a:p>
        </p:txBody>
      </p:sp>
      <p:sp>
        <p:nvSpPr>
          <p:cNvPr id="5" name="TextBox 4">
            <a:extLst>
              <a:ext uri="{FF2B5EF4-FFF2-40B4-BE49-F238E27FC236}">
                <a16:creationId xmlns:a16="http://schemas.microsoft.com/office/drawing/2014/main" id="{97FB2075-B01B-F48A-3D40-11834251522E}"/>
              </a:ext>
            </a:extLst>
          </p:cNvPr>
          <p:cNvSpPr txBox="1"/>
          <p:nvPr/>
        </p:nvSpPr>
        <p:spPr>
          <a:xfrm>
            <a:off x="2004291" y="2848612"/>
            <a:ext cx="6096000" cy="369332"/>
          </a:xfrm>
          <a:prstGeom prst="rect">
            <a:avLst/>
          </a:prstGeom>
          <a:noFill/>
        </p:spPr>
        <p:txBody>
          <a:bodyPr wrap="square">
            <a:spAutoFit/>
          </a:bodyPr>
          <a:lstStyle/>
          <a:p>
            <a:r>
              <a:rPr lang="en-US" b="1" dirty="0"/>
              <a:t>2. Weights</a:t>
            </a:r>
          </a:p>
        </p:txBody>
      </p:sp>
      <p:sp>
        <p:nvSpPr>
          <p:cNvPr id="6" name="TextBox 5">
            <a:extLst>
              <a:ext uri="{FF2B5EF4-FFF2-40B4-BE49-F238E27FC236}">
                <a16:creationId xmlns:a16="http://schemas.microsoft.com/office/drawing/2014/main" id="{5DEF57C2-A261-A834-C4CF-3DEB53D98866}"/>
              </a:ext>
            </a:extLst>
          </p:cNvPr>
          <p:cNvSpPr txBox="1"/>
          <p:nvPr/>
        </p:nvSpPr>
        <p:spPr>
          <a:xfrm>
            <a:off x="2502772" y="3217944"/>
            <a:ext cx="7564864" cy="923330"/>
          </a:xfrm>
          <a:prstGeom prst="rect">
            <a:avLst/>
          </a:prstGeom>
          <a:noFill/>
        </p:spPr>
        <p:txBody>
          <a:bodyPr wrap="square">
            <a:spAutoFit/>
          </a:bodyPr>
          <a:lstStyle/>
          <a:p>
            <a:pPr marL="285750" indent="-285750">
              <a:buFont typeface="Arial" panose="020B0604020202020204" pitchFamily="34" charset="0"/>
              <a:buChar char="•"/>
            </a:pPr>
            <a:r>
              <a:rPr lang="en-US" dirty="0"/>
              <a:t>Each input is assigned a </a:t>
            </a:r>
            <a:r>
              <a:rPr lang="en-US" b="1" dirty="0"/>
              <a:t>weight</a:t>
            </a:r>
            <a:r>
              <a:rPr lang="en-US" dirty="0"/>
              <a:t>. Weights determine the importance of each input to the final output. A weight can be positive or negative, depending on whether it amplifies or diminishes the input’s effect.</a:t>
            </a:r>
          </a:p>
        </p:txBody>
      </p:sp>
    </p:spTree>
    <p:extLst>
      <p:ext uri="{BB962C8B-B14F-4D97-AF65-F5344CB8AC3E}">
        <p14:creationId xmlns:p14="http://schemas.microsoft.com/office/powerpoint/2010/main" val="24385764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47668E-0F9B-FF8A-1D54-95008CC7214F}"/>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Neurons and Perceptrons</a:t>
            </a:r>
          </a:p>
        </p:txBody>
      </p:sp>
      <p:sp>
        <p:nvSpPr>
          <p:cNvPr id="3" name="TextBox 2">
            <a:extLst>
              <a:ext uri="{FF2B5EF4-FFF2-40B4-BE49-F238E27FC236}">
                <a16:creationId xmlns:a16="http://schemas.microsoft.com/office/drawing/2014/main" id="{0180D47B-0CE5-8610-D46A-61830505E5D8}"/>
              </a:ext>
            </a:extLst>
          </p:cNvPr>
          <p:cNvSpPr txBox="1"/>
          <p:nvPr/>
        </p:nvSpPr>
        <p:spPr>
          <a:xfrm>
            <a:off x="1281405" y="1832949"/>
            <a:ext cx="6096000" cy="369332"/>
          </a:xfrm>
          <a:prstGeom prst="rect">
            <a:avLst/>
          </a:prstGeom>
          <a:noFill/>
        </p:spPr>
        <p:txBody>
          <a:bodyPr wrap="square">
            <a:spAutoFit/>
          </a:bodyPr>
          <a:lstStyle/>
          <a:p>
            <a:r>
              <a:rPr lang="en-US" b="1" dirty="0"/>
              <a:t>How an Artificial Neuron Works</a:t>
            </a:r>
          </a:p>
        </p:txBody>
      </p:sp>
      <p:sp>
        <p:nvSpPr>
          <p:cNvPr id="4" name="TextBox 3">
            <a:extLst>
              <a:ext uri="{FF2B5EF4-FFF2-40B4-BE49-F238E27FC236}">
                <a16:creationId xmlns:a16="http://schemas.microsoft.com/office/drawing/2014/main" id="{F0BE6416-FED7-0769-BF4A-CC1F11FF7BCB}"/>
              </a:ext>
            </a:extLst>
          </p:cNvPr>
          <p:cNvSpPr txBox="1"/>
          <p:nvPr/>
        </p:nvSpPr>
        <p:spPr>
          <a:xfrm>
            <a:off x="1766597" y="2202281"/>
            <a:ext cx="6241330" cy="646331"/>
          </a:xfrm>
          <a:prstGeom prst="rect">
            <a:avLst/>
          </a:prstGeom>
          <a:noFill/>
        </p:spPr>
        <p:txBody>
          <a:bodyPr wrap="square">
            <a:spAutoFit/>
          </a:bodyPr>
          <a:lstStyle/>
          <a:p>
            <a:r>
              <a:rPr lang="en-US" dirty="0"/>
              <a:t>An artificial neuron mimics the biological neuron by performing these key steps</a:t>
            </a:r>
          </a:p>
        </p:txBody>
      </p:sp>
      <p:sp>
        <p:nvSpPr>
          <p:cNvPr id="5" name="TextBox 4">
            <a:extLst>
              <a:ext uri="{FF2B5EF4-FFF2-40B4-BE49-F238E27FC236}">
                <a16:creationId xmlns:a16="http://schemas.microsoft.com/office/drawing/2014/main" id="{A041B367-1C1E-7B0D-EA7D-E48B4E631AD3}"/>
              </a:ext>
            </a:extLst>
          </p:cNvPr>
          <p:cNvSpPr txBox="1"/>
          <p:nvPr/>
        </p:nvSpPr>
        <p:spPr>
          <a:xfrm>
            <a:off x="2004291" y="2848612"/>
            <a:ext cx="6096000" cy="369332"/>
          </a:xfrm>
          <a:prstGeom prst="rect">
            <a:avLst/>
          </a:prstGeom>
          <a:noFill/>
        </p:spPr>
        <p:txBody>
          <a:bodyPr wrap="square">
            <a:spAutoFit/>
          </a:bodyPr>
          <a:lstStyle/>
          <a:p>
            <a:r>
              <a:rPr lang="en-US" b="1" dirty="0"/>
              <a:t>3. Weighted Sum</a:t>
            </a:r>
          </a:p>
        </p:txBody>
      </p:sp>
      <p:sp>
        <p:nvSpPr>
          <p:cNvPr id="6" name="TextBox 5">
            <a:extLst>
              <a:ext uri="{FF2B5EF4-FFF2-40B4-BE49-F238E27FC236}">
                <a16:creationId xmlns:a16="http://schemas.microsoft.com/office/drawing/2014/main" id="{AF84A24E-FFC6-F63C-A63B-5B248219434F}"/>
              </a:ext>
            </a:extLst>
          </p:cNvPr>
          <p:cNvSpPr txBox="1"/>
          <p:nvPr/>
        </p:nvSpPr>
        <p:spPr>
          <a:xfrm>
            <a:off x="2502772" y="3217944"/>
            <a:ext cx="7564864" cy="923330"/>
          </a:xfrm>
          <a:prstGeom prst="rect">
            <a:avLst/>
          </a:prstGeom>
          <a:noFill/>
        </p:spPr>
        <p:txBody>
          <a:bodyPr wrap="square">
            <a:spAutoFit/>
          </a:bodyPr>
          <a:lstStyle/>
          <a:p>
            <a:pPr marL="285750" indent="-285750">
              <a:buFont typeface="Arial" panose="020B0604020202020204" pitchFamily="34" charset="0"/>
              <a:buChar char="•"/>
            </a:pPr>
            <a:r>
              <a:rPr lang="en-US" dirty="0"/>
              <a:t>The neuron computes a </a:t>
            </a:r>
            <a:r>
              <a:rPr lang="en-US" b="1" dirty="0"/>
              <a:t>weighted sum</a:t>
            </a:r>
            <a:r>
              <a:rPr lang="en-US" dirty="0"/>
              <a:t> of all its inputs. This is done by multiplying each input by its corresponding weight and adding them together.</a:t>
            </a:r>
          </a:p>
        </p:txBody>
      </p:sp>
      <p:sp>
        <p:nvSpPr>
          <p:cNvPr id="8" name="TextBox 7">
            <a:extLst>
              <a:ext uri="{FF2B5EF4-FFF2-40B4-BE49-F238E27FC236}">
                <a16:creationId xmlns:a16="http://schemas.microsoft.com/office/drawing/2014/main" id="{3AFAD98B-4487-4410-659D-58DF7D14EB07}"/>
              </a:ext>
            </a:extLst>
          </p:cNvPr>
          <p:cNvSpPr txBox="1"/>
          <p:nvPr/>
        </p:nvSpPr>
        <p:spPr>
          <a:xfrm>
            <a:off x="2502772" y="4144657"/>
            <a:ext cx="6096000" cy="369332"/>
          </a:xfrm>
          <a:prstGeom prst="rect">
            <a:avLst/>
          </a:prstGeom>
          <a:noFill/>
        </p:spPr>
        <p:txBody>
          <a:bodyPr wrap="square">
            <a:spAutoFit/>
          </a:bodyPr>
          <a:lstStyle/>
          <a:p>
            <a:pPr marL="285750" indent="-285750">
              <a:buFont typeface="Arial" panose="020B0604020202020204" pitchFamily="34" charset="0"/>
              <a:buChar char="•"/>
            </a:pPr>
            <a:r>
              <a:rPr lang="en-US" dirty="0"/>
              <a:t>Mathematically, this is expressed as :</a:t>
            </a:r>
          </a:p>
        </p:txBody>
      </p:sp>
      <p:pic>
        <p:nvPicPr>
          <p:cNvPr id="10" name="Picture 9">
            <a:extLst>
              <a:ext uri="{FF2B5EF4-FFF2-40B4-BE49-F238E27FC236}">
                <a16:creationId xmlns:a16="http://schemas.microsoft.com/office/drawing/2014/main" id="{DD8D1C88-92F2-C7BB-FEBB-EA20FB5EC77C}"/>
              </a:ext>
            </a:extLst>
          </p:cNvPr>
          <p:cNvPicPr>
            <a:picLocks noChangeAspect="1"/>
          </p:cNvPicPr>
          <p:nvPr/>
        </p:nvPicPr>
        <p:blipFill>
          <a:blip r:embed="rId2"/>
          <a:stretch>
            <a:fillRect/>
          </a:stretch>
        </p:blipFill>
        <p:spPr>
          <a:xfrm>
            <a:off x="6568216" y="4208541"/>
            <a:ext cx="4376875" cy="308831"/>
          </a:xfrm>
          <a:prstGeom prst="rect">
            <a:avLst/>
          </a:prstGeom>
        </p:spPr>
      </p:pic>
      <p:sp>
        <p:nvSpPr>
          <p:cNvPr id="12" name="TextBox 11">
            <a:extLst>
              <a:ext uri="{FF2B5EF4-FFF2-40B4-BE49-F238E27FC236}">
                <a16:creationId xmlns:a16="http://schemas.microsoft.com/office/drawing/2014/main" id="{A92EB889-DE46-73B7-D2C1-019470B6F412}"/>
              </a:ext>
            </a:extLst>
          </p:cNvPr>
          <p:cNvSpPr txBox="1"/>
          <p:nvPr/>
        </p:nvSpPr>
        <p:spPr>
          <a:xfrm>
            <a:off x="2803252" y="4517372"/>
            <a:ext cx="1154828" cy="369332"/>
          </a:xfrm>
          <a:prstGeom prst="rect">
            <a:avLst/>
          </a:prstGeom>
          <a:noFill/>
        </p:spPr>
        <p:txBody>
          <a:bodyPr wrap="square">
            <a:spAutoFit/>
          </a:bodyPr>
          <a:lstStyle/>
          <a:p>
            <a:r>
              <a:rPr lang="en-US" b="1" dirty="0"/>
              <a:t>Where :</a:t>
            </a:r>
          </a:p>
        </p:txBody>
      </p:sp>
      <p:pic>
        <p:nvPicPr>
          <p:cNvPr id="14" name="Picture 13">
            <a:extLst>
              <a:ext uri="{FF2B5EF4-FFF2-40B4-BE49-F238E27FC236}">
                <a16:creationId xmlns:a16="http://schemas.microsoft.com/office/drawing/2014/main" id="{E04C2E70-4207-C40F-839A-ECFF66F9ABC5}"/>
              </a:ext>
            </a:extLst>
          </p:cNvPr>
          <p:cNvPicPr>
            <a:picLocks noChangeAspect="1"/>
          </p:cNvPicPr>
          <p:nvPr/>
        </p:nvPicPr>
        <p:blipFill>
          <a:blip r:embed="rId3"/>
          <a:stretch>
            <a:fillRect/>
          </a:stretch>
        </p:blipFill>
        <p:spPr>
          <a:xfrm>
            <a:off x="3276023" y="4886641"/>
            <a:ext cx="6896100" cy="1200150"/>
          </a:xfrm>
          <a:prstGeom prst="rect">
            <a:avLst/>
          </a:prstGeom>
        </p:spPr>
      </p:pic>
    </p:spTree>
    <p:extLst>
      <p:ext uri="{BB962C8B-B14F-4D97-AF65-F5344CB8AC3E}">
        <p14:creationId xmlns:p14="http://schemas.microsoft.com/office/powerpoint/2010/main" val="15655644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FB81E7-AC65-1636-FACA-CCB660868D8A}"/>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Neurons and Perceptrons</a:t>
            </a:r>
          </a:p>
        </p:txBody>
      </p:sp>
      <p:sp>
        <p:nvSpPr>
          <p:cNvPr id="3" name="TextBox 2">
            <a:extLst>
              <a:ext uri="{FF2B5EF4-FFF2-40B4-BE49-F238E27FC236}">
                <a16:creationId xmlns:a16="http://schemas.microsoft.com/office/drawing/2014/main" id="{D242F4F6-F753-859C-CE5B-3C8F6F5B45E5}"/>
              </a:ext>
            </a:extLst>
          </p:cNvPr>
          <p:cNvSpPr txBox="1"/>
          <p:nvPr/>
        </p:nvSpPr>
        <p:spPr>
          <a:xfrm>
            <a:off x="1281405" y="1832949"/>
            <a:ext cx="6096000" cy="369332"/>
          </a:xfrm>
          <a:prstGeom prst="rect">
            <a:avLst/>
          </a:prstGeom>
          <a:noFill/>
        </p:spPr>
        <p:txBody>
          <a:bodyPr wrap="square">
            <a:spAutoFit/>
          </a:bodyPr>
          <a:lstStyle/>
          <a:p>
            <a:r>
              <a:rPr lang="en-US" b="1" dirty="0"/>
              <a:t>How an Artificial Neuron Works</a:t>
            </a:r>
          </a:p>
        </p:txBody>
      </p:sp>
      <p:sp>
        <p:nvSpPr>
          <p:cNvPr id="4" name="TextBox 3">
            <a:extLst>
              <a:ext uri="{FF2B5EF4-FFF2-40B4-BE49-F238E27FC236}">
                <a16:creationId xmlns:a16="http://schemas.microsoft.com/office/drawing/2014/main" id="{4CFCD57D-9E76-0DB6-E6D5-5548051F3F37}"/>
              </a:ext>
            </a:extLst>
          </p:cNvPr>
          <p:cNvSpPr txBox="1"/>
          <p:nvPr/>
        </p:nvSpPr>
        <p:spPr>
          <a:xfrm>
            <a:off x="1766597" y="2202281"/>
            <a:ext cx="6241330" cy="646331"/>
          </a:xfrm>
          <a:prstGeom prst="rect">
            <a:avLst/>
          </a:prstGeom>
          <a:noFill/>
        </p:spPr>
        <p:txBody>
          <a:bodyPr wrap="square">
            <a:spAutoFit/>
          </a:bodyPr>
          <a:lstStyle/>
          <a:p>
            <a:r>
              <a:rPr lang="en-US" dirty="0"/>
              <a:t>An artificial neuron mimics the biological neuron by performing these key steps</a:t>
            </a:r>
          </a:p>
        </p:txBody>
      </p:sp>
      <p:sp>
        <p:nvSpPr>
          <p:cNvPr id="5" name="TextBox 4">
            <a:extLst>
              <a:ext uri="{FF2B5EF4-FFF2-40B4-BE49-F238E27FC236}">
                <a16:creationId xmlns:a16="http://schemas.microsoft.com/office/drawing/2014/main" id="{8061B5DF-8534-4D7B-4A84-DAEC89ADBC2E}"/>
              </a:ext>
            </a:extLst>
          </p:cNvPr>
          <p:cNvSpPr txBox="1"/>
          <p:nvPr/>
        </p:nvSpPr>
        <p:spPr>
          <a:xfrm>
            <a:off x="2004291" y="2848612"/>
            <a:ext cx="6096000" cy="369332"/>
          </a:xfrm>
          <a:prstGeom prst="rect">
            <a:avLst/>
          </a:prstGeom>
          <a:noFill/>
        </p:spPr>
        <p:txBody>
          <a:bodyPr wrap="square">
            <a:spAutoFit/>
          </a:bodyPr>
          <a:lstStyle/>
          <a:p>
            <a:r>
              <a:rPr lang="en-US" b="1" dirty="0"/>
              <a:t>4. Bias</a:t>
            </a:r>
          </a:p>
        </p:txBody>
      </p:sp>
      <p:sp>
        <p:nvSpPr>
          <p:cNvPr id="6" name="TextBox 5">
            <a:extLst>
              <a:ext uri="{FF2B5EF4-FFF2-40B4-BE49-F238E27FC236}">
                <a16:creationId xmlns:a16="http://schemas.microsoft.com/office/drawing/2014/main" id="{F0CA382F-A218-88FB-5E29-B6F1A4F5A180}"/>
              </a:ext>
            </a:extLst>
          </p:cNvPr>
          <p:cNvSpPr txBox="1"/>
          <p:nvPr/>
        </p:nvSpPr>
        <p:spPr>
          <a:xfrm>
            <a:off x="2502772" y="3217944"/>
            <a:ext cx="7564864" cy="923330"/>
          </a:xfrm>
          <a:prstGeom prst="rect">
            <a:avLst/>
          </a:prstGeom>
          <a:noFill/>
        </p:spPr>
        <p:txBody>
          <a:bodyPr wrap="square">
            <a:spAutoFit/>
          </a:bodyPr>
          <a:lstStyle/>
          <a:p>
            <a:pPr marL="285750" indent="-285750">
              <a:buFont typeface="Arial" panose="020B0604020202020204" pitchFamily="34" charset="0"/>
              <a:buChar char="•"/>
            </a:pPr>
            <a:r>
              <a:rPr lang="en-US" dirty="0"/>
              <a:t>The </a:t>
            </a:r>
            <a:r>
              <a:rPr lang="en-US" b="1" dirty="0"/>
              <a:t>bias</a:t>
            </a:r>
            <a:r>
              <a:rPr lang="en-US" dirty="0"/>
              <a:t> term is an additional constant added to the weighted sum. Bias allows the model to shift the activation function, helping it fit the data better.</a:t>
            </a:r>
          </a:p>
        </p:txBody>
      </p:sp>
    </p:spTree>
    <p:extLst>
      <p:ext uri="{BB962C8B-B14F-4D97-AF65-F5344CB8AC3E}">
        <p14:creationId xmlns:p14="http://schemas.microsoft.com/office/powerpoint/2010/main" val="24129509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A1E37D-0876-BE82-4180-5F696528F419}"/>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Neurons and Perceptrons</a:t>
            </a:r>
          </a:p>
        </p:txBody>
      </p:sp>
      <p:sp>
        <p:nvSpPr>
          <p:cNvPr id="3" name="TextBox 2">
            <a:extLst>
              <a:ext uri="{FF2B5EF4-FFF2-40B4-BE49-F238E27FC236}">
                <a16:creationId xmlns:a16="http://schemas.microsoft.com/office/drawing/2014/main" id="{A9D0C765-E760-C4E0-B41F-58F5474FA0D9}"/>
              </a:ext>
            </a:extLst>
          </p:cNvPr>
          <p:cNvSpPr txBox="1"/>
          <p:nvPr/>
        </p:nvSpPr>
        <p:spPr>
          <a:xfrm>
            <a:off x="1281405" y="1832949"/>
            <a:ext cx="6096000" cy="369332"/>
          </a:xfrm>
          <a:prstGeom prst="rect">
            <a:avLst/>
          </a:prstGeom>
          <a:noFill/>
        </p:spPr>
        <p:txBody>
          <a:bodyPr wrap="square">
            <a:spAutoFit/>
          </a:bodyPr>
          <a:lstStyle/>
          <a:p>
            <a:r>
              <a:rPr lang="en-US" b="1" dirty="0"/>
              <a:t>How an Artificial Neuron Works</a:t>
            </a:r>
          </a:p>
        </p:txBody>
      </p:sp>
      <p:sp>
        <p:nvSpPr>
          <p:cNvPr id="4" name="TextBox 3">
            <a:extLst>
              <a:ext uri="{FF2B5EF4-FFF2-40B4-BE49-F238E27FC236}">
                <a16:creationId xmlns:a16="http://schemas.microsoft.com/office/drawing/2014/main" id="{1F5ECCCA-3D72-EE07-3CC7-C509B0A75207}"/>
              </a:ext>
            </a:extLst>
          </p:cNvPr>
          <p:cNvSpPr txBox="1"/>
          <p:nvPr/>
        </p:nvSpPr>
        <p:spPr>
          <a:xfrm>
            <a:off x="1766597" y="2202281"/>
            <a:ext cx="6241330" cy="646331"/>
          </a:xfrm>
          <a:prstGeom prst="rect">
            <a:avLst/>
          </a:prstGeom>
          <a:noFill/>
        </p:spPr>
        <p:txBody>
          <a:bodyPr wrap="square">
            <a:spAutoFit/>
          </a:bodyPr>
          <a:lstStyle/>
          <a:p>
            <a:r>
              <a:rPr lang="en-US" dirty="0"/>
              <a:t>An artificial neuron mimics the biological neuron by performing these key steps</a:t>
            </a:r>
          </a:p>
        </p:txBody>
      </p:sp>
      <p:sp>
        <p:nvSpPr>
          <p:cNvPr id="5" name="TextBox 4">
            <a:extLst>
              <a:ext uri="{FF2B5EF4-FFF2-40B4-BE49-F238E27FC236}">
                <a16:creationId xmlns:a16="http://schemas.microsoft.com/office/drawing/2014/main" id="{4D0547B0-6BEF-5515-3988-7B67176F326D}"/>
              </a:ext>
            </a:extLst>
          </p:cNvPr>
          <p:cNvSpPr txBox="1"/>
          <p:nvPr/>
        </p:nvSpPr>
        <p:spPr>
          <a:xfrm>
            <a:off x="2004291" y="2848612"/>
            <a:ext cx="6096000" cy="369332"/>
          </a:xfrm>
          <a:prstGeom prst="rect">
            <a:avLst/>
          </a:prstGeom>
          <a:noFill/>
        </p:spPr>
        <p:txBody>
          <a:bodyPr wrap="square">
            <a:spAutoFit/>
          </a:bodyPr>
          <a:lstStyle/>
          <a:p>
            <a:r>
              <a:rPr lang="en-US" b="1" dirty="0"/>
              <a:t>5. Activation Function</a:t>
            </a:r>
            <a:endParaRPr lang="en-US" dirty="0"/>
          </a:p>
        </p:txBody>
      </p:sp>
      <p:sp>
        <p:nvSpPr>
          <p:cNvPr id="6" name="TextBox 5">
            <a:extLst>
              <a:ext uri="{FF2B5EF4-FFF2-40B4-BE49-F238E27FC236}">
                <a16:creationId xmlns:a16="http://schemas.microsoft.com/office/drawing/2014/main" id="{7C05AA17-B4F8-8433-8E2F-1C1D4CF44D8F}"/>
              </a:ext>
            </a:extLst>
          </p:cNvPr>
          <p:cNvSpPr txBox="1"/>
          <p:nvPr/>
        </p:nvSpPr>
        <p:spPr>
          <a:xfrm>
            <a:off x="2502772" y="3217944"/>
            <a:ext cx="8072864" cy="1200329"/>
          </a:xfrm>
          <a:prstGeom prst="rect">
            <a:avLst/>
          </a:prstGeom>
          <a:noFill/>
        </p:spPr>
        <p:txBody>
          <a:bodyPr wrap="square">
            <a:spAutoFit/>
          </a:bodyPr>
          <a:lstStyle/>
          <a:p>
            <a:pPr marL="285750" indent="-285750">
              <a:buFont typeface="Arial" panose="020B0604020202020204" pitchFamily="34" charset="0"/>
              <a:buChar char="•"/>
            </a:pPr>
            <a:r>
              <a:rPr lang="en-US" dirty="0"/>
              <a:t>Once the weighted sum and bias are calculated, the result is passed through an </a:t>
            </a:r>
            <a:r>
              <a:rPr lang="en-US" b="1" dirty="0"/>
              <a:t>activation function</a:t>
            </a:r>
            <a:r>
              <a:rPr lang="en-US" dirty="0"/>
              <a:t>. This function determines whether the neuron should be "activated" (i.e., fire) or not, similar to how a biological neuron decides whether to send a signal.</a:t>
            </a:r>
          </a:p>
        </p:txBody>
      </p:sp>
    </p:spTree>
    <p:extLst>
      <p:ext uri="{BB962C8B-B14F-4D97-AF65-F5344CB8AC3E}">
        <p14:creationId xmlns:p14="http://schemas.microsoft.com/office/powerpoint/2010/main" val="25040127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196ACA-F386-41AD-29E8-52069727EF45}"/>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Neurons and Perceptrons</a:t>
            </a:r>
          </a:p>
        </p:txBody>
      </p:sp>
      <p:sp>
        <p:nvSpPr>
          <p:cNvPr id="3" name="TextBox 2">
            <a:extLst>
              <a:ext uri="{FF2B5EF4-FFF2-40B4-BE49-F238E27FC236}">
                <a16:creationId xmlns:a16="http://schemas.microsoft.com/office/drawing/2014/main" id="{00702A93-8E25-B375-4E33-AEC75F47FE7F}"/>
              </a:ext>
            </a:extLst>
          </p:cNvPr>
          <p:cNvSpPr txBox="1"/>
          <p:nvPr/>
        </p:nvSpPr>
        <p:spPr>
          <a:xfrm>
            <a:off x="1281405" y="1832949"/>
            <a:ext cx="6096000" cy="369332"/>
          </a:xfrm>
          <a:prstGeom prst="rect">
            <a:avLst/>
          </a:prstGeom>
          <a:noFill/>
        </p:spPr>
        <p:txBody>
          <a:bodyPr wrap="square">
            <a:spAutoFit/>
          </a:bodyPr>
          <a:lstStyle/>
          <a:p>
            <a:r>
              <a:rPr lang="en-US" b="1" dirty="0"/>
              <a:t>How an Artificial Neuron Works</a:t>
            </a:r>
          </a:p>
        </p:txBody>
      </p:sp>
      <p:pic>
        <p:nvPicPr>
          <p:cNvPr id="5" name="Picture 4">
            <a:extLst>
              <a:ext uri="{FF2B5EF4-FFF2-40B4-BE49-F238E27FC236}">
                <a16:creationId xmlns:a16="http://schemas.microsoft.com/office/drawing/2014/main" id="{C7F6CF5B-BF58-376E-1067-52621E2A11D5}"/>
              </a:ext>
            </a:extLst>
          </p:cNvPr>
          <p:cNvPicPr>
            <a:picLocks noChangeAspect="1"/>
          </p:cNvPicPr>
          <p:nvPr/>
        </p:nvPicPr>
        <p:blipFill>
          <a:blip r:embed="rId2"/>
          <a:stretch>
            <a:fillRect/>
          </a:stretch>
        </p:blipFill>
        <p:spPr>
          <a:xfrm>
            <a:off x="2332615" y="2202281"/>
            <a:ext cx="7236017" cy="3612847"/>
          </a:xfrm>
          <a:prstGeom prst="rect">
            <a:avLst/>
          </a:prstGeom>
        </p:spPr>
      </p:pic>
    </p:spTree>
    <p:extLst>
      <p:ext uri="{BB962C8B-B14F-4D97-AF65-F5344CB8AC3E}">
        <p14:creationId xmlns:p14="http://schemas.microsoft.com/office/powerpoint/2010/main" val="31384304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7E095A-1C45-3D50-F57B-485561B77F8E}"/>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Neurons and Perceptrons</a:t>
            </a:r>
          </a:p>
        </p:txBody>
      </p:sp>
      <p:sp>
        <p:nvSpPr>
          <p:cNvPr id="3" name="TextBox 2">
            <a:extLst>
              <a:ext uri="{FF2B5EF4-FFF2-40B4-BE49-F238E27FC236}">
                <a16:creationId xmlns:a16="http://schemas.microsoft.com/office/drawing/2014/main" id="{D1AEDA54-7830-A133-58CD-95F6A4D19F24}"/>
              </a:ext>
            </a:extLst>
          </p:cNvPr>
          <p:cNvSpPr txBox="1"/>
          <p:nvPr/>
        </p:nvSpPr>
        <p:spPr>
          <a:xfrm>
            <a:off x="1281405" y="1832949"/>
            <a:ext cx="6096000" cy="369332"/>
          </a:xfrm>
          <a:prstGeom prst="rect">
            <a:avLst/>
          </a:prstGeom>
          <a:noFill/>
        </p:spPr>
        <p:txBody>
          <a:bodyPr wrap="square">
            <a:spAutoFit/>
          </a:bodyPr>
          <a:lstStyle/>
          <a:p>
            <a:r>
              <a:rPr lang="en-US" b="1" dirty="0"/>
              <a:t>The Simplest Neural Network</a:t>
            </a:r>
          </a:p>
        </p:txBody>
      </p:sp>
      <p:sp>
        <p:nvSpPr>
          <p:cNvPr id="5" name="TextBox 4">
            <a:extLst>
              <a:ext uri="{FF2B5EF4-FFF2-40B4-BE49-F238E27FC236}">
                <a16:creationId xmlns:a16="http://schemas.microsoft.com/office/drawing/2014/main" id="{344F2F98-9EA1-6ED1-73E0-D4D04AD25BC9}"/>
              </a:ext>
            </a:extLst>
          </p:cNvPr>
          <p:cNvSpPr txBox="1"/>
          <p:nvPr/>
        </p:nvSpPr>
        <p:spPr>
          <a:xfrm>
            <a:off x="1766597" y="2202281"/>
            <a:ext cx="10185258" cy="646331"/>
          </a:xfrm>
          <a:prstGeom prst="rect">
            <a:avLst/>
          </a:prstGeom>
          <a:noFill/>
        </p:spPr>
        <p:txBody>
          <a:bodyPr wrap="square">
            <a:spAutoFit/>
          </a:bodyPr>
          <a:lstStyle/>
          <a:p>
            <a:r>
              <a:rPr lang="en-US" dirty="0"/>
              <a:t>Now that we understand how a neuron works, let's introduce the </a:t>
            </a:r>
            <a:r>
              <a:rPr lang="en-US" b="1" dirty="0"/>
              <a:t>perceptron</a:t>
            </a:r>
            <a:r>
              <a:rPr lang="en-US" dirty="0"/>
              <a:t>—the simplest form of a neural network.</a:t>
            </a:r>
          </a:p>
        </p:txBody>
      </p:sp>
      <p:sp>
        <p:nvSpPr>
          <p:cNvPr id="7" name="TextBox 6">
            <a:extLst>
              <a:ext uri="{FF2B5EF4-FFF2-40B4-BE49-F238E27FC236}">
                <a16:creationId xmlns:a16="http://schemas.microsoft.com/office/drawing/2014/main" id="{5B0591E6-59AE-6266-F85C-1BC5791947EF}"/>
              </a:ext>
            </a:extLst>
          </p:cNvPr>
          <p:cNvSpPr txBox="1"/>
          <p:nvPr/>
        </p:nvSpPr>
        <p:spPr>
          <a:xfrm>
            <a:off x="2272146" y="2848612"/>
            <a:ext cx="6428509" cy="1200329"/>
          </a:xfrm>
          <a:prstGeom prst="rect">
            <a:avLst/>
          </a:prstGeom>
          <a:noFill/>
        </p:spPr>
        <p:txBody>
          <a:bodyPr wrap="square">
            <a:spAutoFit/>
          </a:bodyPr>
          <a:lstStyle/>
          <a:p>
            <a:pPr marL="285750" indent="-285750" algn="just">
              <a:buFont typeface="Arial" panose="020B0604020202020204" pitchFamily="34" charset="0"/>
              <a:buChar char="•"/>
            </a:pPr>
            <a:r>
              <a:rPr lang="en-US" dirty="0"/>
              <a:t>The </a:t>
            </a:r>
            <a:r>
              <a:rPr lang="en-US" b="1" dirty="0"/>
              <a:t>perceptron</a:t>
            </a:r>
            <a:r>
              <a:rPr lang="en-US" dirty="0"/>
              <a:t> is essentially a single-layer neural network. It consists of one or more inputs connected to an output via weights, and it makes binary decisions based on those inputs.</a:t>
            </a:r>
          </a:p>
        </p:txBody>
      </p:sp>
      <p:pic>
        <p:nvPicPr>
          <p:cNvPr id="9" name="Picture 8">
            <a:extLst>
              <a:ext uri="{FF2B5EF4-FFF2-40B4-BE49-F238E27FC236}">
                <a16:creationId xmlns:a16="http://schemas.microsoft.com/office/drawing/2014/main" id="{E52BCA92-CA6D-91F0-06F3-1F32321FE7FE}"/>
              </a:ext>
            </a:extLst>
          </p:cNvPr>
          <p:cNvPicPr>
            <a:picLocks noChangeAspect="1"/>
          </p:cNvPicPr>
          <p:nvPr/>
        </p:nvPicPr>
        <p:blipFill>
          <a:blip r:embed="rId2"/>
          <a:stretch>
            <a:fillRect/>
          </a:stretch>
        </p:blipFill>
        <p:spPr>
          <a:xfrm>
            <a:off x="5925705" y="3919632"/>
            <a:ext cx="4400550" cy="2609850"/>
          </a:xfrm>
          <a:prstGeom prst="rect">
            <a:avLst/>
          </a:prstGeom>
        </p:spPr>
      </p:pic>
    </p:spTree>
    <p:extLst>
      <p:ext uri="{BB962C8B-B14F-4D97-AF65-F5344CB8AC3E}">
        <p14:creationId xmlns:p14="http://schemas.microsoft.com/office/powerpoint/2010/main" val="36653557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E889BC-A701-B368-ADEC-9FBC7E0BE6A6}"/>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Neurons and Perceptrons</a:t>
            </a:r>
          </a:p>
        </p:txBody>
      </p:sp>
      <p:sp>
        <p:nvSpPr>
          <p:cNvPr id="3" name="TextBox 2">
            <a:extLst>
              <a:ext uri="{FF2B5EF4-FFF2-40B4-BE49-F238E27FC236}">
                <a16:creationId xmlns:a16="http://schemas.microsoft.com/office/drawing/2014/main" id="{9E4EC44F-82E7-32AB-BF57-325F456F9457}"/>
              </a:ext>
            </a:extLst>
          </p:cNvPr>
          <p:cNvSpPr txBox="1"/>
          <p:nvPr/>
        </p:nvSpPr>
        <p:spPr>
          <a:xfrm>
            <a:off x="1281405" y="1832949"/>
            <a:ext cx="6096000" cy="369332"/>
          </a:xfrm>
          <a:prstGeom prst="rect">
            <a:avLst/>
          </a:prstGeom>
          <a:noFill/>
        </p:spPr>
        <p:txBody>
          <a:bodyPr wrap="square">
            <a:spAutoFit/>
          </a:bodyPr>
          <a:lstStyle/>
          <a:p>
            <a:r>
              <a:rPr lang="en-US" b="1" dirty="0"/>
              <a:t>Mathematical Representation of a Perceptron</a:t>
            </a:r>
          </a:p>
        </p:txBody>
      </p:sp>
      <p:sp>
        <p:nvSpPr>
          <p:cNvPr id="5" name="TextBox 4">
            <a:extLst>
              <a:ext uri="{FF2B5EF4-FFF2-40B4-BE49-F238E27FC236}">
                <a16:creationId xmlns:a16="http://schemas.microsoft.com/office/drawing/2014/main" id="{9AB3C2E7-81B6-5D72-0801-DB030F304065}"/>
              </a:ext>
            </a:extLst>
          </p:cNvPr>
          <p:cNvSpPr txBox="1"/>
          <p:nvPr/>
        </p:nvSpPr>
        <p:spPr>
          <a:xfrm>
            <a:off x="1766597" y="2202281"/>
            <a:ext cx="6096000" cy="369332"/>
          </a:xfrm>
          <a:prstGeom prst="rect">
            <a:avLst/>
          </a:prstGeom>
          <a:noFill/>
        </p:spPr>
        <p:txBody>
          <a:bodyPr wrap="square">
            <a:spAutoFit/>
          </a:bodyPr>
          <a:lstStyle/>
          <a:p>
            <a:r>
              <a:rPr lang="en-US" dirty="0"/>
              <a:t>Let’s break down the perceptron step-by-step</a:t>
            </a:r>
          </a:p>
        </p:txBody>
      </p:sp>
      <p:sp>
        <p:nvSpPr>
          <p:cNvPr id="7" name="TextBox 6">
            <a:extLst>
              <a:ext uri="{FF2B5EF4-FFF2-40B4-BE49-F238E27FC236}">
                <a16:creationId xmlns:a16="http://schemas.microsoft.com/office/drawing/2014/main" id="{D14AA5C5-E643-0EEE-277A-80846BE8B5C0}"/>
              </a:ext>
            </a:extLst>
          </p:cNvPr>
          <p:cNvSpPr txBox="1"/>
          <p:nvPr/>
        </p:nvSpPr>
        <p:spPr>
          <a:xfrm>
            <a:off x="2041236" y="2571613"/>
            <a:ext cx="6096000" cy="369332"/>
          </a:xfrm>
          <a:prstGeom prst="rect">
            <a:avLst/>
          </a:prstGeom>
          <a:noFill/>
        </p:spPr>
        <p:txBody>
          <a:bodyPr wrap="square">
            <a:spAutoFit/>
          </a:bodyPr>
          <a:lstStyle/>
          <a:p>
            <a:r>
              <a:rPr lang="en-US" b="1" dirty="0"/>
              <a:t>1. Inputs and Weights</a:t>
            </a:r>
          </a:p>
        </p:txBody>
      </p:sp>
      <p:sp>
        <p:nvSpPr>
          <p:cNvPr id="9" name="TextBox 8">
            <a:extLst>
              <a:ext uri="{FF2B5EF4-FFF2-40B4-BE49-F238E27FC236}">
                <a16:creationId xmlns:a16="http://schemas.microsoft.com/office/drawing/2014/main" id="{7597B61C-C449-8D01-2124-F26830F7D122}"/>
              </a:ext>
            </a:extLst>
          </p:cNvPr>
          <p:cNvSpPr txBox="1"/>
          <p:nvPr/>
        </p:nvSpPr>
        <p:spPr>
          <a:xfrm>
            <a:off x="2502771" y="2940945"/>
            <a:ext cx="8534683" cy="646331"/>
          </a:xfrm>
          <a:prstGeom prst="rect">
            <a:avLst/>
          </a:prstGeom>
          <a:noFill/>
        </p:spPr>
        <p:txBody>
          <a:bodyPr wrap="square">
            <a:spAutoFit/>
          </a:bodyPr>
          <a:lstStyle/>
          <a:p>
            <a:pPr marL="285750" indent="-285750">
              <a:buFont typeface="Arial" panose="020B0604020202020204" pitchFamily="34" charset="0"/>
              <a:buChar char="•"/>
            </a:pPr>
            <a:r>
              <a:rPr lang="en-US" dirty="0"/>
              <a:t>Similar to an individual neuron, the perceptron receives inputs (𝑥1,𝑥2,...,𝑥𝑛) and assigns each input a weight (𝑤1,𝑤2,...,𝑤𝑛).</a:t>
            </a:r>
          </a:p>
        </p:txBody>
      </p:sp>
    </p:spTree>
    <p:extLst>
      <p:ext uri="{BB962C8B-B14F-4D97-AF65-F5344CB8AC3E}">
        <p14:creationId xmlns:p14="http://schemas.microsoft.com/office/powerpoint/2010/main" val="29307840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7EA8DF-021C-9AC7-E7FD-737C438832E3}"/>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Neurons and Perceptrons</a:t>
            </a:r>
          </a:p>
        </p:txBody>
      </p:sp>
      <p:sp>
        <p:nvSpPr>
          <p:cNvPr id="3" name="TextBox 2">
            <a:extLst>
              <a:ext uri="{FF2B5EF4-FFF2-40B4-BE49-F238E27FC236}">
                <a16:creationId xmlns:a16="http://schemas.microsoft.com/office/drawing/2014/main" id="{B2A51FDB-B0E4-94BF-2C5D-15D8D50C0272}"/>
              </a:ext>
            </a:extLst>
          </p:cNvPr>
          <p:cNvSpPr txBox="1"/>
          <p:nvPr/>
        </p:nvSpPr>
        <p:spPr>
          <a:xfrm>
            <a:off x="1281405" y="1832949"/>
            <a:ext cx="6096000" cy="369332"/>
          </a:xfrm>
          <a:prstGeom prst="rect">
            <a:avLst/>
          </a:prstGeom>
          <a:noFill/>
        </p:spPr>
        <p:txBody>
          <a:bodyPr wrap="square">
            <a:spAutoFit/>
          </a:bodyPr>
          <a:lstStyle/>
          <a:p>
            <a:r>
              <a:rPr lang="en-US" b="1" dirty="0"/>
              <a:t>Mathematical Representation of a Perceptron</a:t>
            </a:r>
          </a:p>
        </p:txBody>
      </p:sp>
      <p:sp>
        <p:nvSpPr>
          <p:cNvPr id="4" name="TextBox 3">
            <a:extLst>
              <a:ext uri="{FF2B5EF4-FFF2-40B4-BE49-F238E27FC236}">
                <a16:creationId xmlns:a16="http://schemas.microsoft.com/office/drawing/2014/main" id="{A44BBD57-05D0-C07F-E72E-7E76C9B8405D}"/>
              </a:ext>
            </a:extLst>
          </p:cNvPr>
          <p:cNvSpPr txBox="1"/>
          <p:nvPr/>
        </p:nvSpPr>
        <p:spPr>
          <a:xfrm>
            <a:off x="1766597" y="2202281"/>
            <a:ext cx="6096000" cy="369332"/>
          </a:xfrm>
          <a:prstGeom prst="rect">
            <a:avLst/>
          </a:prstGeom>
          <a:noFill/>
        </p:spPr>
        <p:txBody>
          <a:bodyPr wrap="square">
            <a:spAutoFit/>
          </a:bodyPr>
          <a:lstStyle/>
          <a:p>
            <a:r>
              <a:rPr lang="en-US" dirty="0"/>
              <a:t>Let’s break down the perceptron step-by-step</a:t>
            </a:r>
          </a:p>
        </p:txBody>
      </p:sp>
      <p:sp>
        <p:nvSpPr>
          <p:cNvPr id="5" name="TextBox 4">
            <a:extLst>
              <a:ext uri="{FF2B5EF4-FFF2-40B4-BE49-F238E27FC236}">
                <a16:creationId xmlns:a16="http://schemas.microsoft.com/office/drawing/2014/main" id="{4D6334E4-81AF-EFE2-F7F0-F8BCE9FE43EB}"/>
              </a:ext>
            </a:extLst>
          </p:cNvPr>
          <p:cNvSpPr txBox="1"/>
          <p:nvPr/>
        </p:nvSpPr>
        <p:spPr>
          <a:xfrm>
            <a:off x="2041236" y="2571613"/>
            <a:ext cx="6096000" cy="369332"/>
          </a:xfrm>
          <a:prstGeom prst="rect">
            <a:avLst/>
          </a:prstGeom>
          <a:noFill/>
        </p:spPr>
        <p:txBody>
          <a:bodyPr wrap="square">
            <a:spAutoFit/>
          </a:bodyPr>
          <a:lstStyle/>
          <a:p>
            <a:r>
              <a:rPr lang="en-US" b="1" dirty="0"/>
              <a:t>2. Weighted Sum</a:t>
            </a:r>
          </a:p>
        </p:txBody>
      </p:sp>
      <p:sp>
        <p:nvSpPr>
          <p:cNvPr id="6" name="TextBox 5">
            <a:extLst>
              <a:ext uri="{FF2B5EF4-FFF2-40B4-BE49-F238E27FC236}">
                <a16:creationId xmlns:a16="http://schemas.microsoft.com/office/drawing/2014/main" id="{DB018106-DC72-238E-76D8-B2EB37FE9E78}"/>
              </a:ext>
            </a:extLst>
          </p:cNvPr>
          <p:cNvSpPr txBox="1"/>
          <p:nvPr/>
        </p:nvSpPr>
        <p:spPr>
          <a:xfrm>
            <a:off x="2502771" y="2940945"/>
            <a:ext cx="8534683" cy="369332"/>
          </a:xfrm>
          <a:prstGeom prst="rect">
            <a:avLst/>
          </a:prstGeom>
          <a:noFill/>
        </p:spPr>
        <p:txBody>
          <a:bodyPr wrap="square">
            <a:spAutoFit/>
          </a:bodyPr>
          <a:lstStyle/>
          <a:p>
            <a:pPr marL="285750" indent="-285750">
              <a:buFont typeface="Arial" panose="020B0604020202020204" pitchFamily="34" charset="0"/>
              <a:buChar char="•"/>
            </a:pPr>
            <a:r>
              <a:rPr lang="en-US" dirty="0"/>
              <a:t>The perceptron calculates the </a:t>
            </a:r>
            <a:r>
              <a:rPr lang="en-US" b="1" dirty="0"/>
              <a:t>weighted sum</a:t>
            </a:r>
            <a:r>
              <a:rPr lang="en-US" dirty="0"/>
              <a:t> of inputs :</a:t>
            </a:r>
          </a:p>
        </p:txBody>
      </p:sp>
      <p:pic>
        <p:nvPicPr>
          <p:cNvPr id="8" name="Picture 7">
            <a:extLst>
              <a:ext uri="{FF2B5EF4-FFF2-40B4-BE49-F238E27FC236}">
                <a16:creationId xmlns:a16="http://schemas.microsoft.com/office/drawing/2014/main" id="{6C6C3DDE-F35E-E061-94C9-74D5E2DB0E19}"/>
              </a:ext>
            </a:extLst>
          </p:cNvPr>
          <p:cNvPicPr>
            <a:picLocks noChangeAspect="1"/>
          </p:cNvPicPr>
          <p:nvPr/>
        </p:nvPicPr>
        <p:blipFill>
          <a:blip r:embed="rId2"/>
          <a:stretch>
            <a:fillRect/>
          </a:stretch>
        </p:blipFill>
        <p:spPr>
          <a:xfrm>
            <a:off x="3588400" y="3391920"/>
            <a:ext cx="4548836" cy="279413"/>
          </a:xfrm>
          <a:prstGeom prst="rect">
            <a:avLst/>
          </a:prstGeom>
        </p:spPr>
      </p:pic>
      <p:sp>
        <p:nvSpPr>
          <p:cNvPr id="10" name="TextBox 9">
            <a:extLst>
              <a:ext uri="{FF2B5EF4-FFF2-40B4-BE49-F238E27FC236}">
                <a16:creationId xmlns:a16="http://schemas.microsoft.com/office/drawing/2014/main" id="{4A92C05C-E887-4F01-CDCD-4D8BA2CEC403}"/>
              </a:ext>
            </a:extLst>
          </p:cNvPr>
          <p:cNvSpPr txBox="1"/>
          <p:nvPr/>
        </p:nvSpPr>
        <p:spPr>
          <a:xfrm>
            <a:off x="2814818" y="3752976"/>
            <a:ext cx="6096000" cy="369332"/>
          </a:xfrm>
          <a:prstGeom prst="rect">
            <a:avLst/>
          </a:prstGeom>
          <a:noFill/>
        </p:spPr>
        <p:txBody>
          <a:bodyPr wrap="square">
            <a:spAutoFit/>
          </a:bodyPr>
          <a:lstStyle/>
          <a:p>
            <a:r>
              <a:rPr lang="en-US" dirty="0"/>
              <a:t>Where 𝑏 is the bias term</a:t>
            </a:r>
          </a:p>
        </p:txBody>
      </p:sp>
    </p:spTree>
    <p:extLst>
      <p:ext uri="{BB962C8B-B14F-4D97-AF65-F5344CB8AC3E}">
        <p14:creationId xmlns:p14="http://schemas.microsoft.com/office/powerpoint/2010/main" val="41569590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612261-28BF-31ED-1107-8A3C7EC516CB}"/>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Neurons and Perceptrons</a:t>
            </a:r>
          </a:p>
        </p:txBody>
      </p:sp>
      <p:sp>
        <p:nvSpPr>
          <p:cNvPr id="3" name="TextBox 2">
            <a:extLst>
              <a:ext uri="{FF2B5EF4-FFF2-40B4-BE49-F238E27FC236}">
                <a16:creationId xmlns:a16="http://schemas.microsoft.com/office/drawing/2014/main" id="{45955199-F6FC-B6AF-EDB7-510071FA55A6}"/>
              </a:ext>
            </a:extLst>
          </p:cNvPr>
          <p:cNvSpPr txBox="1"/>
          <p:nvPr/>
        </p:nvSpPr>
        <p:spPr>
          <a:xfrm>
            <a:off x="1281405" y="1832949"/>
            <a:ext cx="6096000" cy="369332"/>
          </a:xfrm>
          <a:prstGeom prst="rect">
            <a:avLst/>
          </a:prstGeom>
          <a:noFill/>
        </p:spPr>
        <p:txBody>
          <a:bodyPr wrap="square">
            <a:spAutoFit/>
          </a:bodyPr>
          <a:lstStyle/>
          <a:p>
            <a:r>
              <a:rPr lang="en-US" b="1" dirty="0"/>
              <a:t>Mathematical Representation of a Perceptron</a:t>
            </a:r>
          </a:p>
        </p:txBody>
      </p:sp>
      <p:sp>
        <p:nvSpPr>
          <p:cNvPr id="4" name="TextBox 3">
            <a:extLst>
              <a:ext uri="{FF2B5EF4-FFF2-40B4-BE49-F238E27FC236}">
                <a16:creationId xmlns:a16="http://schemas.microsoft.com/office/drawing/2014/main" id="{FA8C7936-C792-434B-FE10-A71A35ADBD69}"/>
              </a:ext>
            </a:extLst>
          </p:cNvPr>
          <p:cNvSpPr txBox="1"/>
          <p:nvPr/>
        </p:nvSpPr>
        <p:spPr>
          <a:xfrm>
            <a:off x="1766597" y="2202281"/>
            <a:ext cx="6096000" cy="369332"/>
          </a:xfrm>
          <a:prstGeom prst="rect">
            <a:avLst/>
          </a:prstGeom>
          <a:noFill/>
        </p:spPr>
        <p:txBody>
          <a:bodyPr wrap="square">
            <a:spAutoFit/>
          </a:bodyPr>
          <a:lstStyle/>
          <a:p>
            <a:r>
              <a:rPr lang="en-US" dirty="0"/>
              <a:t>Let’s break down the perceptron step-by-step</a:t>
            </a:r>
          </a:p>
        </p:txBody>
      </p:sp>
      <p:sp>
        <p:nvSpPr>
          <p:cNvPr id="5" name="TextBox 4">
            <a:extLst>
              <a:ext uri="{FF2B5EF4-FFF2-40B4-BE49-F238E27FC236}">
                <a16:creationId xmlns:a16="http://schemas.microsoft.com/office/drawing/2014/main" id="{0FC56AE4-C78E-F17E-489E-CAFE2EE72408}"/>
              </a:ext>
            </a:extLst>
          </p:cNvPr>
          <p:cNvSpPr txBox="1"/>
          <p:nvPr/>
        </p:nvSpPr>
        <p:spPr>
          <a:xfrm>
            <a:off x="2041236" y="2571613"/>
            <a:ext cx="6096000" cy="369332"/>
          </a:xfrm>
          <a:prstGeom prst="rect">
            <a:avLst/>
          </a:prstGeom>
          <a:noFill/>
        </p:spPr>
        <p:txBody>
          <a:bodyPr wrap="square">
            <a:spAutoFit/>
          </a:bodyPr>
          <a:lstStyle/>
          <a:p>
            <a:r>
              <a:rPr lang="en-US" b="1" dirty="0"/>
              <a:t>3. Activation Function</a:t>
            </a:r>
          </a:p>
        </p:txBody>
      </p:sp>
      <p:sp>
        <p:nvSpPr>
          <p:cNvPr id="6" name="TextBox 5">
            <a:extLst>
              <a:ext uri="{FF2B5EF4-FFF2-40B4-BE49-F238E27FC236}">
                <a16:creationId xmlns:a16="http://schemas.microsoft.com/office/drawing/2014/main" id="{B079280E-A2C2-3800-D546-11F3C1D54901}"/>
              </a:ext>
            </a:extLst>
          </p:cNvPr>
          <p:cNvSpPr txBox="1"/>
          <p:nvPr/>
        </p:nvSpPr>
        <p:spPr>
          <a:xfrm>
            <a:off x="2502771" y="2940945"/>
            <a:ext cx="8534683" cy="923330"/>
          </a:xfrm>
          <a:prstGeom prst="rect">
            <a:avLst/>
          </a:prstGeom>
          <a:noFill/>
        </p:spPr>
        <p:txBody>
          <a:bodyPr wrap="square">
            <a:spAutoFit/>
          </a:bodyPr>
          <a:lstStyle/>
          <a:p>
            <a:pPr marL="285750" indent="-285750">
              <a:buFont typeface="Arial" panose="020B0604020202020204" pitchFamily="34" charset="0"/>
              <a:buChar char="•"/>
            </a:pPr>
            <a:r>
              <a:rPr lang="en-US" dirty="0"/>
              <a:t>The perceptron applies an activation function to decide the output. In the basic perceptron model, the activation function is a </a:t>
            </a:r>
            <a:r>
              <a:rPr lang="en-US" b="1" dirty="0"/>
              <a:t>step function</a:t>
            </a:r>
            <a:r>
              <a:rPr lang="en-US" dirty="0"/>
              <a:t>, meaning the perceptron outputs</a:t>
            </a:r>
          </a:p>
        </p:txBody>
      </p:sp>
      <p:sp>
        <p:nvSpPr>
          <p:cNvPr id="9" name="TextBox 8">
            <a:extLst>
              <a:ext uri="{FF2B5EF4-FFF2-40B4-BE49-F238E27FC236}">
                <a16:creationId xmlns:a16="http://schemas.microsoft.com/office/drawing/2014/main" id="{361C498C-9F3D-410B-573E-A8A7CFA4E9AD}"/>
              </a:ext>
            </a:extLst>
          </p:cNvPr>
          <p:cNvSpPr txBox="1"/>
          <p:nvPr/>
        </p:nvSpPr>
        <p:spPr>
          <a:xfrm>
            <a:off x="3047999" y="3782491"/>
            <a:ext cx="7592291" cy="584775"/>
          </a:xfrm>
          <a:prstGeom prst="rect">
            <a:avLst/>
          </a:prstGeom>
          <a:noFill/>
        </p:spPr>
        <p:txBody>
          <a:bodyPr wrap="square">
            <a:spAutoFit/>
          </a:bodyPr>
          <a:lstStyle/>
          <a:p>
            <a:pPr marL="285750" indent="-285750">
              <a:buFont typeface="Arial" panose="020B0604020202020204" pitchFamily="34" charset="0"/>
              <a:buChar char="•"/>
            </a:pPr>
            <a:r>
              <a:rPr lang="en-US" sz="1600" dirty="0"/>
              <a:t>1 if the weighted sum is above a certain threshold (neuron "fires").</a:t>
            </a:r>
          </a:p>
          <a:p>
            <a:pPr marL="285750" indent="-285750">
              <a:buFont typeface="Arial" panose="020B0604020202020204" pitchFamily="34" charset="0"/>
              <a:buChar char="•"/>
            </a:pPr>
            <a:r>
              <a:rPr lang="en-US" sz="1600" dirty="0"/>
              <a:t>0 if the weighted sum is below the threshold (neuron "doesn't fire").</a:t>
            </a:r>
          </a:p>
        </p:txBody>
      </p:sp>
      <p:sp>
        <p:nvSpPr>
          <p:cNvPr id="11" name="TextBox 10">
            <a:extLst>
              <a:ext uri="{FF2B5EF4-FFF2-40B4-BE49-F238E27FC236}">
                <a16:creationId xmlns:a16="http://schemas.microsoft.com/office/drawing/2014/main" id="{500B7113-681F-56FF-9F54-0F751873315F}"/>
              </a:ext>
            </a:extLst>
          </p:cNvPr>
          <p:cNvSpPr txBox="1"/>
          <p:nvPr/>
        </p:nvSpPr>
        <p:spPr>
          <a:xfrm>
            <a:off x="2752437" y="4367266"/>
            <a:ext cx="6096000" cy="369332"/>
          </a:xfrm>
          <a:prstGeom prst="rect">
            <a:avLst/>
          </a:prstGeom>
          <a:noFill/>
        </p:spPr>
        <p:txBody>
          <a:bodyPr wrap="square">
            <a:spAutoFit/>
          </a:bodyPr>
          <a:lstStyle/>
          <a:p>
            <a:r>
              <a:rPr lang="en-US" dirty="0"/>
              <a:t>This can be expressed mathematically as :</a:t>
            </a:r>
          </a:p>
        </p:txBody>
      </p:sp>
      <p:pic>
        <p:nvPicPr>
          <p:cNvPr id="13" name="Picture 12">
            <a:extLst>
              <a:ext uri="{FF2B5EF4-FFF2-40B4-BE49-F238E27FC236}">
                <a16:creationId xmlns:a16="http://schemas.microsoft.com/office/drawing/2014/main" id="{97B0A765-750F-9119-FE29-A376762AF455}"/>
              </a:ext>
            </a:extLst>
          </p:cNvPr>
          <p:cNvPicPr>
            <a:picLocks noChangeAspect="1"/>
          </p:cNvPicPr>
          <p:nvPr/>
        </p:nvPicPr>
        <p:blipFill>
          <a:blip r:embed="rId2"/>
          <a:stretch>
            <a:fillRect/>
          </a:stretch>
        </p:blipFill>
        <p:spPr>
          <a:xfrm>
            <a:off x="5171302" y="5022011"/>
            <a:ext cx="3197619" cy="926207"/>
          </a:xfrm>
          <a:prstGeom prst="rect">
            <a:avLst/>
          </a:prstGeom>
        </p:spPr>
      </p:pic>
    </p:spTree>
    <p:extLst>
      <p:ext uri="{BB962C8B-B14F-4D97-AF65-F5344CB8AC3E}">
        <p14:creationId xmlns:p14="http://schemas.microsoft.com/office/powerpoint/2010/main" val="6586206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DDB1C2-6E47-B3D7-4892-7F4EAB1BCD23}"/>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Neurons and Perceptrons</a:t>
            </a:r>
          </a:p>
        </p:txBody>
      </p:sp>
      <p:sp>
        <p:nvSpPr>
          <p:cNvPr id="3" name="TextBox 2">
            <a:extLst>
              <a:ext uri="{FF2B5EF4-FFF2-40B4-BE49-F238E27FC236}">
                <a16:creationId xmlns:a16="http://schemas.microsoft.com/office/drawing/2014/main" id="{192AB884-0BE3-6C91-9F24-B41754E01C4A}"/>
              </a:ext>
            </a:extLst>
          </p:cNvPr>
          <p:cNvSpPr txBox="1"/>
          <p:nvPr/>
        </p:nvSpPr>
        <p:spPr>
          <a:xfrm>
            <a:off x="1281405" y="1832949"/>
            <a:ext cx="6096000" cy="369332"/>
          </a:xfrm>
          <a:prstGeom prst="rect">
            <a:avLst/>
          </a:prstGeom>
          <a:noFill/>
        </p:spPr>
        <p:txBody>
          <a:bodyPr wrap="square">
            <a:spAutoFit/>
          </a:bodyPr>
          <a:lstStyle/>
          <a:p>
            <a:r>
              <a:rPr lang="en-US" b="1" dirty="0"/>
              <a:t>Limitations of a Perceptron</a:t>
            </a:r>
          </a:p>
        </p:txBody>
      </p:sp>
      <p:sp>
        <p:nvSpPr>
          <p:cNvPr id="5" name="TextBox 4">
            <a:extLst>
              <a:ext uri="{FF2B5EF4-FFF2-40B4-BE49-F238E27FC236}">
                <a16:creationId xmlns:a16="http://schemas.microsoft.com/office/drawing/2014/main" id="{0934944A-6861-C006-059A-302BED4BD685}"/>
              </a:ext>
            </a:extLst>
          </p:cNvPr>
          <p:cNvSpPr txBox="1"/>
          <p:nvPr/>
        </p:nvSpPr>
        <p:spPr>
          <a:xfrm>
            <a:off x="1766596" y="2202281"/>
            <a:ext cx="6195149" cy="646331"/>
          </a:xfrm>
          <a:prstGeom prst="rect">
            <a:avLst/>
          </a:prstGeom>
          <a:noFill/>
        </p:spPr>
        <p:txBody>
          <a:bodyPr wrap="square">
            <a:spAutoFit/>
          </a:bodyPr>
          <a:lstStyle/>
          <a:p>
            <a:r>
              <a:rPr lang="en-US" dirty="0"/>
              <a:t>The perceptron is powerful for basic tasks, but it has significant limitations</a:t>
            </a:r>
          </a:p>
        </p:txBody>
      </p:sp>
      <p:sp>
        <p:nvSpPr>
          <p:cNvPr id="7" name="TextBox 6">
            <a:extLst>
              <a:ext uri="{FF2B5EF4-FFF2-40B4-BE49-F238E27FC236}">
                <a16:creationId xmlns:a16="http://schemas.microsoft.com/office/drawing/2014/main" id="{B66FEFC8-E1BA-4974-F119-5AA026EEEC2D}"/>
              </a:ext>
            </a:extLst>
          </p:cNvPr>
          <p:cNvSpPr txBox="1"/>
          <p:nvPr/>
        </p:nvSpPr>
        <p:spPr>
          <a:xfrm>
            <a:off x="2050473" y="2848612"/>
            <a:ext cx="6096000" cy="369332"/>
          </a:xfrm>
          <a:prstGeom prst="rect">
            <a:avLst/>
          </a:prstGeom>
          <a:noFill/>
        </p:spPr>
        <p:txBody>
          <a:bodyPr wrap="square">
            <a:spAutoFit/>
          </a:bodyPr>
          <a:lstStyle/>
          <a:p>
            <a:r>
              <a:rPr lang="en-US" b="1" dirty="0"/>
              <a:t>1. Linear Decision Boundaries</a:t>
            </a:r>
          </a:p>
        </p:txBody>
      </p:sp>
      <p:sp>
        <p:nvSpPr>
          <p:cNvPr id="9" name="TextBox 8">
            <a:extLst>
              <a:ext uri="{FF2B5EF4-FFF2-40B4-BE49-F238E27FC236}">
                <a16:creationId xmlns:a16="http://schemas.microsoft.com/office/drawing/2014/main" id="{1AD451AB-7CE9-5293-DF47-83137A9AC630}"/>
              </a:ext>
            </a:extLst>
          </p:cNvPr>
          <p:cNvSpPr txBox="1"/>
          <p:nvPr/>
        </p:nvSpPr>
        <p:spPr>
          <a:xfrm>
            <a:off x="2502771" y="3217944"/>
            <a:ext cx="8386902" cy="1477328"/>
          </a:xfrm>
          <a:prstGeom prst="rect">
            <a:avLst/>
          </a:prstGeom>
          <a:noFill/>
        </p:spPr>
        <p:txBody>
          <a:bodyPr wrap="square">
            <a:spAutoFit/>
          </a:bodyPr>
          <a:lstStyle/>
          <a:p>
            <a:pPr marL="285750" indent="-285750" algn="just">
              <a:buFont typeface="Arial" panose="020B0604020202020204" pitchFamily="34" charset="0"/>
              <a:buChar char="•"/>
            </a:pPr>
            <a:r>
              <a:rPr lang="en-US" dirty="0"/>
              <a:t>The perceptron can only classify </a:t>
            </a:r>
            <a:r>
              <a:rPr lang="en-US" b="1" dirty="0"/>
              <a:t>linearly separable</a:t>
            </a:r>
            <a:r>
              <a:rPr lang="en-US" dirty="0"/>
              <a:t> data, meaning it can only separate classes with a straight line (or plane, in higher dimensions). For example, it works well for problems like OR or AND logic gates, but it struggles with more complex tasks like the XOR problem (which cannot be separated by a straight line).</a:t>
            </a:r>
          </a:p>
        </p:txBody>
      </p:sp>
    </p:spTree>
    <p:extLst>
      <p:ext uri="{BB962C8B-B14F-4D97-AF65-F5344CB8AC3E}">
        <p14:creationId xmlns:p14="http://schemas.microsoft.com/office/powerpoint/2010/main" val="935974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9E567A-5395-30E7-3435-377D0F78CCE8}"/>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Neurons and Perceptrons</a:t>
            </a:r>
          </a:p>
        </p:txBody>
      </p:sp>
      <p:sp>
        <p:nvSpPr>
          <p:cNvPr id="3" name="TextBox 2">
            <a:extLst>
              <a:ext uri="{FF2B5EF4-FFF2-40B4-BE49-F238E27FC236}">
                <a16:creationId xmlns:a16="http://schemas.microsoft.com/office/drawing/2014/main" id="{74611A7A-4386-2FF1-C521-3B45BD495FC7}"/>
              </a:ext>
            </a:extLst>
          </p:cNvPr>
          <p:cNvSpPr txBox="1"/>
          <p:nvPr/>
        </p:nvSpPr>
        <p:spPr>
          <a:xfrm>
            <a:off x="1281405" y="1832949"/>
            <a:ext cx="6096000" cy="369332"/>
          </a:xfrm>
          <a:prstGeom prst="rect">
            <a:avLst/>
          </a:prstGeom>
          <a:noFill/>
        </p:spPr>
        <p:txBody>
          <a:bodyPr wrap="square">
            <a:spAutoFit/>
          </a:bodyPr>
          <a:lstStyle/>
          <a:p>
            <a:r>
              <a:rPr lang="en-US" b="1" dirty="0"/>
              <a:t>Limitations of a Perceptron</a:t>
            </a:r>
          </a:p>
        </p:txBody>
      </p:sp>
      <p:sp>
        <p:nvSpPr>
          <p:cNvPr id="4" name="TextBox 3">
            <a:extLst>
              <a:ext uri="{FF2B5EF4-FFF2-40B4-BE49-F238E27FC236}">
                <a16:creationId xmlns:a16="http://schemas.microsoft.com/office/drawing/2014/main" id="{68A8FEAD-DE25-E8D4-7841-923D8001E412}"/>
              </a:ext>
            </a:extLst>
          </p:cNvPr>
          <p:cNvSpPr txBox="1"/>
          <p:nvPr/>
        </p:nvSpPr>
        <p:spPr>
          <a:xfrm>
            <a:off x="1766596" y="2202281"/>
            <a:ext cx="6195149" cy="646331"/>
          </a:xfrm>
          <a:prstGeom prst="rect">
            <a:avLst/>
          </a:prstGeom>
          <a:noFill/>
        </p:spPr>
        <p:txBody>
          <a:bodyPr wrap="square">
            <a:spAutoFit/>
          </a:bodyPr>
          <a:lstStyle/>
          <a:p>
            <a:r>
              <a:rPr lang="en-US" dirty="0"/>
              <a:t>The perceptron is powerful for basic tasks, but it has significant limitations</a:t>
            </a:r>
          </a:p>
        </p:txBody>
      </p:sp>
      <p:sp>
        <p:nvSpPr>
          <p:cNvPr id="5" name="TextBox 4">
            <a:extLst>
              <a:ext uri="{FF2B5EF4-FFF2-40B4-BE49-F238E27FC236}">
                <a16:creationId xmlns:a16="http://schemas.microsoft.com/office/drawing/2014/main" id="{565B6C9B-7313-6448-CBDE-91C1368167D5}"/>
              </a:ext>
            </a:extLst>
          </p:cNvPr>
          <p:cNvSpPr txBox="1"/>
          <p:nvPr/>
        </p:nvSpPr>
        <p:spPr>
          <a:xfrm>
            <a:off x="2050473" y="2848612"/>
            <a:ext cx="6096000" cy="369332"/>
          </a:xfrm>
          <a:prstGeom prst="rect">
            <a:avLst/>
          </a:prstGeom>
          <a:noFill/>
        </p:spPr>
        <p:txBody>
          <a:bodyPr wrap="square">
            <a:spAutoFit/>
          </a:bodyPr>
          <a:lstStyle/>
          <a:p>
            <a:r>
              <a:rPr lang="en-US" b="1" dirty="0"/>
              <a:t>1. Linear Decision Boundaries</a:t>
            </a:r>
          </a:p>
        </p:txBody>
      </p:sp>
      <p:pic>
        <p:nvPicPr>
          <p:cNvPr id="11" name="Picture 10">
            <a:extLst>
              <a:ext uri="{FF2B5EF4-FFF2-40B4-BE49-F238E27FC236}">
                <a16:creationId xmlns:a16="http://schemas.microsoft.com/office/drawing/2014/main" id="{D90A927A-47A5-6AE7-32D1-64510751AFB4}"/>
              </a:ext>
            </a:extLst>
          </p:cNvPr>
          <p:cNvPicPr>
            <a:picLocks noChangeAspect="1"/>
          </p:cNvPicPr>
          <p:nvPr/>
        </p:nvPicPr>
        <p:blipFill>
          <a:blip r:embed="rId2"/>
          <a:stretch>
            <a:fillRect/>
          </a:stretch>
        </p:blipFill>
        <p:spPr>
          <a:xfrm>
            <a:off x="6643509" y="3345957"/>
            <a:ext cx="4135327" cy="1645603"/>
          </a:xfrm>
          <a:prstGeom prst="rect">
            <a:avLst/>
          </a:prstGeom>
        </p:spPr>
      </p:pic>
      <p:pic>
        <p:nvPicPr>
          <p:cNvPr id="13" name="Picture 12">
            <a:extLst>
              <a:ext uri="{FF2B5EF4-FFF2-40B4-BE49-F238E27FC236}">
                <a16:creationId xmlns:a16="http://schemas.microsoft.com/office/drawing/2014/main" id="{166D373A-AB59-404C-358F-931CBD7698F7}"/>
              </a:ext>
            </a:extLst>
          </p:cNvPr>
          <p:cNvPicPr>
            <a:picLocks noChangeAspect="1"/>
          </p:cNvPicPr>
          <p:nvPr/>
        </p:nvPicPr>
        <p:blipFill>
          <a:blip r:embed="rId3"/>
          <a:stretch>
            <a:fillRect/>
          </a:stretch>
        </p:blipFill>
        <p:spPr>
          <a:xfrm>
            <a:off x="2154523" y="3380470"/>
            <a:ext cx="4237040" cy="1611090"/>
          </a:xfrm>
          <a:prstGeom prst="rect">
            <a:avLst/>
          </a:prstGeom>
        </p:spPr>
      </p:pic>
    </p:spTree>
    <p:extLst>
      <p:ext uri="{BB962C8B-B14F-4D97-AF65-F5344CB8AC3E}">
        <p14:creationId xmlns:p14="http://schemas.microsoft.com/office/powerpoint/2010/main" val="32165270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315C6D-67D3-848B-0058-0309A2633AF5}"/>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Neurons and Perceptrons</a:t>
            </a:r>
          </a:p>
        </p:txBody>
      </p:sp>
      <p:sp>
        <p:nvSpPr>
          <p:cNvPr id="3" name="TextBox 2">
            <a:extLst>
              <a:ext uri="{FF2B5EF4-FFF2-40B4-BE49-F238E27FC236}">
                <a16:creationId xmlns:a16="http://schemas.microsoft.com/office/drawing/2014/main" id="{454CEA0A-65F0-9116-DAF5-D2F70C29C542}"/>
              </a:ext>
            </a:extLst>
          </p:cNvPr>
          <p:cNvSpPr txBox="1"/>
          <p:nvPr/>
        </p:nvSpPr>
        <p:spPr>
          <a:xfrm>
            <a:off x="1281405" y="1832949"/>
            <a:ext cx="6096000" cy="369332"/>
          </a:xfrm>
          <a:prstGeom prst="rect">
            <a:avLst/>
          </a:prstGeom>
          <a:noFill/>
        </p:spPr>
        <p:txBody>
          <a:bodyPr wrap="square">
            <a:spAutoFit/>
          </a:bodyPr>
          <a:lstStyle/>
          <a:p>
            <a:r>
              <a:rPr lang="en-US" b="1" dirty="0"/>
              <a:t>Limitations of a Perceptron</a:t>
            </a:r>
          </a:p>
        </p:txBody>
      </p:sp>
      <p:sp>
        <p:nvSpPr>
          <p:cNvPr id="4" name="TextBox 3">
            <a:extLst>
              <a:ext uri="{FF2B5EF4-FFF2-40B4-BE49-F238E27FC236}">
                <a16:creationId xmlns:a16="http://schemas.microsoft.com/office/drawing/2014/main" id="{82509B38-3C7E-3F4D-3378-C67AE4503FF2}"/>
              </a:ext>
            </a:extLst>
          </p:cNvPr>
          <p:cNvSpPr txBox="1"/>
          <p:nvPr/>
        </p:nvSpPr>
        <p:spPr>
          <a:xfrm>
            <a:off x="1766596" y="2202281"/>
            <a:ext cx="6195149" cy="646331"/>
          </a:xfrm>
          <a:prstGeom prst="rect">
            <a:avLst/>
          </a:prstGeom>
          <a:noFill/>
        </p:spPr>
        <p:txBody>
          <a:bodyPr wrap="square">
            <a:spAutoFit/>
          </a:bodyPr>
          <a:lstStyle/>
          <a:p>
            <a:r>
              <a:rPr lang="en-US" dirty="0"/>
              <a:t>The perceptron is powerful for basic tasks, but it has significant limitations</a:t>
            </a:r>
          </a:p>
        </p:txBody>
      </p:sp>
      <p:sp>
        <p:nvSpPr>
          <p:cNvPr id="5" name="TextBox 4">
            <a:extLst>
              <a:ext uri="{FF2B5EF4-FFF2-40B4-BE49-F238E27FC236}">
                <a16:creationId xmlns:a16="http://schemas.microsoft.com/office/drawing/2014/main" id="{41373CC9-0CA4-07ED-7C68-7DAB61778B83}"/>
              </a:ext>
            </a:extLst>
          </p:cNvPr>
          <p:cNvSpPr txBox="1"/>
          <p:nvPr/>
        </p:nvSpPr>
        <p:spPr>
          <a:xfrm>
            <a:off x="2050473" y="2848612"/>
            <a:ext cx="6096000" cy="369332"/>
          </a:xfrm>
          <a:prstGeom prst="rect">
            <a:avLst/>
          </a:prstGeom>
          <a:noFill/>
        </p:spPr>
        <p:txBody>
          <a:bodyPr wrap="square">
            <a:spAutoFit/>
          </a:bodyPr>
          <a:lstStyle/>
          <a:p>
            <a:r>
              <a:rPr lang="en-US" b="1" dirty="0"/>
              <a:t>2. No Hidden Layers</a:t>
            </a:r>
          </a:p>
        </p:txBody>
      </p:sp>
      <p:sp>
        <p:nvSpPr>
          <p:cNvPr id="7" name="TextBox 6">
            <a:extLst>
              <a:ext uri="{FF2B5EF4-FFF2-40B4-BE49-F238E27FC236}">
                <a16:creationId xmlns:a16="http://schemas.microsoft.com/office/drawing/2014/main" id="{F22FAF59-1F8F-8D69-B92D-F65C1B7127BF}"/>
              </a:ext>
            </a:extLst>
          </p:cNvPr>
          <p:cNvSpPr txBox="1"/>
          <p:nvPr/>
        </p:nvSpPr>
        <p:spPr>
          <a:xfrm>
            <a:off x="2502771" y="3217944"/>
            <a:ext cx="7860429" cy="1200329"/>
          </a:xfrm>
          <a:prstGeom prst="rect">
            <a:avLst/>
          </a:prstGeom>
          <a:noFill/>
        </p:spPr>
        <p:txBody>
          <a:bodyPr wrap="square">
            <a:spAutoFit/>
          </a:bodyPr>
          <a:lstStyle/>
          <a:p>
            <a:pPr marL="285750" indent="-285750" algn="just">
              <a:buFont typeface="Arial" panose="020B0604020202020204" pitchFamily="34" charset="0"/>
              <a:buChar char="•"/>
            </a:pPr>
            <a:r>
              <a:rPr lang="en-US" dirty="0"/>
              <a:t>The basic perceptron has no hidden layers, which limits its ability to learn more abstract patterns. This leads us to the need for </a:t>
            </a:r>
            <a:r>
              <a:rPr lang="en-US" b="1" dirty="0"/>
              <a:t>multi-layer networks</a:t>
            </a:r>
            <a:r>
              <a:rPr lang="en-US" dirty="0"/>
              <a:t> to solve more complex problems, which we’ll cover later in </a:t>
            </a:r>
            <a:r>
              <a:rPr lang="en-US" b="1" dirty="0"/>
              <a:t>feedforward neural networks</a:t>
            </a:r>
            <a:r>
              <a:rPr lang="en-US" dirty="0"/>
              <a:t>.</a:t>
            </a:r>
          </a:p>
        </p:txBody>
      </p:sp>
      <p:pic>
        <p:nvPicPr>
          <p:cNvPr id="23554" name="Picture 2" descr="What is the difference between a Neural Network, a Deep Learning System and  a Deep Belief Network? - Computer Science Stack Exchange">
            <a:extLst>
              <a:ext uri="{FF2B5EF4-FFF2-40B4-BE49-F238E27FC236}">
                <a16:creationId xmlns:a16="http://schemas.microsoft.com/office/drawing/2014/main" id="{C13F2417-B9AA-0319-4302-9DE5A746A6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3473" y="4418273"/>
            <a:ext cx="2836998" cy="18440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9451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B6838F-AE96-5D9F-91EE-7D43EAA5642A}"/>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Neurons and Perceptrons</a:t>
            </a:r>
          </a:p>
        </p:txBody>
      </p:sp>
      <p:sp>
        <p:nvSpPr>
          <p:cNvPr id="3" name="TextBox 2">
            <a:extLst>
              <a:ext uri="{FF2B5EF4-FFF2-40B4-BE49-F238E27FC236}">
                <a16:creationId xmlns:a16="http://schemas.microsoft.com/office/drawing/2014/main" id="{D1D262AC-F296-C6FA-1A4D-BACAC16A2FA8}"/>
              </a:ext>
            </a:extLst>
          </p:cNvPr>
          <p:cNvSpPr txBox="1"/>
          <p:nvPr/>
        </p:nvSpPr>
        <p:spPr>
          <a:xfrm>
            <a:off x="1281405" y="1832949"/>
            <a:ext cx="6096000" cy="369332"/>
          </a:xfrm>
          <a:prstGeom prst="rect">
            <a:avLst/>
          </a:prstGeom>
          <a:noFill/>
        </p:spPr>
        <p:txBody>
          <a:bodyPr wrap="square">
            <a:spAutoFit/>
          </a:bodyPr>
          <a:lstStyle/>
          <a:p>
            <a:r>
              <a:rPr lang="en-US" b="1" dirty="0"/>
              <a:t>From Perceptrons to Neural Networks</a:t>
            </a:r>
          </a:p>
        </p:txBody>
      </p:sp>
      <p:sp>
        <p:nvSpPr>
          <p:cNvPr id="5" name="TextBox 4">
            <a:extLst>
              <a:ext uri="{FF2B5EF4-FFF2-40B4-BE49-F238E27FC236}">
                <a16:creationId xmlns:a16="http://schemas.microsoft.com/office/drawing/2014/main" id="{19AC7AE2-C450-802F-1C6E-E0B5B72531C8}"/>
              </a:ext>
            </a:extLst>
          </p:cNvPr>
          <p:cNvSpPr txBox="1"/>
          <p:nvPr/>
        </p:nvSpPr>
        <p:spPr>
          <a:xfrm>
            <a:off x="1766596" y="2202281"/>
            <a:ext cx="6860167" cy="646331"/>
          </a:xfrm>
          <a:prstGeom prst="rect">
            <a:avLst/>
          </a:prstGeom>
          <a:noFill/>
        </p:spPr>
        <p:txBody>
          <a:bodyPr wrap="square">
            <a:spAutoFit/>
          </a:bodyPr>
          <a:lstStyle/>
          <a:p>
            <a:r>
              <a:rPr lang="en-US" dirty="0"/>
              <a:t>The perceptron is the building block for more complex neural networks. Here’s how</a:t>
            </a:r>
          </a:p>
        </p:txBody>
      </p:sp>
      <p:sp>
        <p:nvSpPr>
          <p:cNvPr id="7" name="TextBox 6">
            <a:extLst>
              <a:ext uri="{FF2B5EF4-FFF2-40B4-BE49-F238E27FC236}">
                <a16:creationId xmlns:a16="http://schemas.microsoft.com/office/drawing/2014/main" id="{5DCC42C2-98F3-2989-08FA-DCD6C6E1AB44}"/>
              </a:ext>
            </a:extLst>
          </p:cNvPr>
          <p:cNvSpPr txBox="1"/>
          <p:nvPr/>
        </p:nvSpPr>
        <p:spPr>
          <a:xfrm>
            <a:off x="2148679" y="2848612"/>
            <a:ext cx="6096000" cy="369332"/>
          </a:xfrm>
          <a:prstGeom prst="rect">
            <a:avLst/>
          </a:prstGeom>
          <a:noFill/>
        </p:spPr>
        <p:txBody>
          <a:bodyPr wrap="square">
            <a:spAutoFit/>
          </a:bodyPr>
          <a:lstStyle/>
          <a:p>
            <a:r>
              <a:rPr lang="en-US" b="1" dirty="0"/>
              <a:t>1. Multiple Layers</a:t>
            </a:r>
          </a:p>
        </p:txBody>
      </p:sp>
      <p:sp>
        <p:nvSpPr>
          <p:cNvPr id="9" name="TextBox 8">
            <a:extLst>
              <a:ext uri="{FF2B5EF4-FFF2-40B4-BE49-F238E27FC236}">
                <a16:creationId xmlns:a16="http://schemas.microsoft.com/office/drawing/2014/main" id="{49450225-8634-DB9E-8303-B787354F7710}"/>
              </a:ext>
            </a:extLst>
          </p:cNvPr>
          <p:cNvSpPr txBox="1"/>
          <p:nvPr/>
        </p:nvSpPr>
        <p:spPr>
          <a:xfrm>
            <a:off x="2530762" y="3194108"/>
            <a:ext cx="8349674" cy="1200329"/>
          </a:xfrm>
          <a:prstGeom prst="rect">
            <a:avLst/>
          </a:prstGeom>
          <a:noFill/>
        </p:spPr>
        <p:txBody>
          <a:bodyPr wrap="square">
            <a:spAutoFit/>
          </a:bodyPr>
          <a:lstStyle/>
          <a:p>
            <a:pPr marL="285750" indent="-285750" algn="just">
              <a:buFont typeface="Arial" panose="020B0604020202020204" pitchFamily="34" charset="0"/>
              <a:buChar char="•"/>
            </a:pPr>
            <a:r>
              <a:rPr lang="en-US" dirty="0"/>
              <a:t>By stacking perceptrons together, we can create </a:t>
            </a:r>
            <a:r>
              <a:rPr lang="en-US" b="1" dirty="0"/>
              <a:t>multi-layer neural networks</a:t>
            </a:r>
            <a:r>
              <a:rPr lang="en-US" dirty="0"/>
              <a:t> (also known as </a:t>
            </a:r>
            <a:r>
              <a:rPr lang="en-US" b="1" dirty="0"/>
              <a:t>multi-layer perceptrons</a:t>
            </a:r>
            <a:r>
              <a:rPr lang="en-US" dirty="0"/>
              <a:t> or </a:t>
            </a:r>
            <a:r>
              <a:rPr lang="en-US" b="1" dirty="0"/>
              <a:t>MLPs</a:t>
            </a:r>
            <a:r>
              <a:rPr lang="en-US" dirty="0"/>
              <a:t>). Each layer builds on the output of the previous layer, allowing the network to learn more complex patterns in data.</a:t>
            </a:r>
          </a:p>
        </p:txBody>
      </p:sp>
    </p:spTree>
    <p:extLst>
      <p:ext uri="{BB962C8B-B14F-4D97-AF65-F5344CB8AC3E}">
        <p14:creationId xmlns:p14="http://schemas.microsoft.com/office/powerpoint/2010/main" val="36422443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F9907EE-3F8E-3B9C-255A-D0332DFF3672}"/>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Neurons and Perceptrons</a:t>
            </a:r>
          </a:p>
        </p:txBody>
      </p:sp>
      <p:sp>
        <p:nvSpPr>
          <p:cNvPr id="5" name="TextBox 4">
            <a:extLst>
              <a:ext uri="{FF2B5EF4-FFF2-40B4-BE49-F238E27FC236}">
                <a16:creationId xmlns:a16="http://schemas.microsoft.com/office/drawing/2014/main" id="{5500C57A-D4C2-D999-BFC2-6D5CE66E1707}"/>
              </a:ext>
            </a:extLst>
          </p:cNvPr>
          <p:cNvSpPr txBox="1"/>
          <p:nvPr/>
        </p:nvSpPr>
        <p:spPr>
          <a:xfrm>
            <a:off x="1281405" y="1832949"/>
            <a:ext cx="6096000" cy="369332"/>
          </a:xfrm>
          <a:prstGeom prst="rect">
            <a:avLst/>
          </a:prstGeom>
          <a:noFill/>
        </p:spPr>
        <p:txBody>
          <a:bodyPr wrap="square">
            <a:spAutoFit/>
          </a:bodyPr>
          <a:lstStyle/>
          <a:p>
            <a:r>
              <a:rPr lang="en-US" b="1" dirty="0"/>
              <a:t>From Perceptrons to Neural Networks</a:t>
            </a:r>
          </a:p>
        </p:txBody>
      </p:sp>
      <p:sp>
        <p:nvSpPr>
          <p:cNvPr id="6" name="TextBox 5">
            <a:extLst>
              <a:ext uri="{FF2B5EF4-FFF2-40B4-BE49-F238E27FC236}">
                <a16:creationId xmlns:a16="http://schemas.microsoft.com/office/drawing/2014/main" id="{830F68F1-6F6C-21FF-3E1D-7CFBD04C09F7}"/>
              </a:ext>
            </a:extLst>
          </p:cNvPr>
          <p:cNvSpPr txBox="1"/>
          <p:nvPr/>
        </p:nvSpPr>
        <p:spPr>
          <a:xfrm>
            <a:off x="2139443" y="2202281"/>
            <a:ext cx="6096000" cy="369332"/>
          </a:xfrm>
          <a:prstGeom prst="rect">
            <a:avLst/>
          </a:prstGeom>
          <a:noFill/>
        </p:spPr>
        <p:txBody>
          <a:bodyPr wrap="square">
            <a:spAutoFit/>
          </a:bodyPr>
          <a:lstStyle/>
          <a:p>
            <a:r>
              <a:rPr lang="en-US" b="1" dirty="0"/>
              <a:t>1. Multiple Layers</a:t>
            </a:r>
          </a:p>
        </p:txBody>
      </p:sp>
      <p:pic>
        <p:nvPicPr>
          <p:cNvPr id="11" name="Picture 10">
            <a:extLst>
              <a:ext uri="{FF2B5EF4-FFF2-40B4-BE49-F238E27FC236}">
                <a16:creationId xmlns:a16="http://schemas.microsoft.com/office/drawing/2014/main" id="{31FB880A-257C-2447-A6C9-1363FD055220}"/>
              </a:ext>
            </a:extLst>
          </p:cNvPr>
          <p:cNvPicPr>
            <a:picLocks noChangeAspect="1"/>
          </p:cNvPicPr>
          <p:nvPr/>
        </p:nvPicPr>
        <p:blipFill>
          <a:blip r:embed="rId2"/>
          <a:stretch>
            <a:fillRect/>
          </a:stretch>
        </p:blipFill>
        <p:spPr>
          <a:xfrm>
            <a:off x="2250278" y="2663946"/>
            <a:ext cx="6096000" cy="3546763"/>
          </a:xfrm>
          <a:prstGeom prst="rect">
            <a:avLst/>
          </a:prstGeom>
        </p:spPr>
      </p:pic>
    </p:spTree>
    <p:extLst>
      <p:ext uri="{BB962C8B-B14F-4D97-AF65-F5344CB8AC3E}">
        <p14:creationId xmlns:p14="http://schemas.microsoft.com/office/powerpoint/2010/main" val="7898619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12E666-8345-C679-5C30-A541C0C6C768}"/>
              </a:ext>
            </a:extLst>
          </p:cNvPr>
          <p:cNvSpPr txBox="1"/>
          <p:nvPr/>
        </p:nvSpPr>
        <p:spPr>
          <a:xfrm>
            <a:off x="1281405" y="1832949"/>
            <a:ext cx="6096000" cy="369332"/>
          </a:xfrm>
          <a:prstGeom prst="rect">
            <a:avLst/>
          </a:prstGeom>
          <a:noFill/>
        </p:spPr>
        <p:txBody>
          <a:bodyPr wrap="square">
            <a:spAutoFit/>
          </a:bodyPr>
          <a:lstStyle/>
          <a:p>
            <a:r>
              <a:rPr lang="en-US" b="1" dirty="0"/>
              <a:t>From Perceptrons to Neural Networks</a:t>
            </a:r>
          </a:p>
        </p:txBody>
      </p:sp>
      <p:sp>
        <p:nvSpPr>
          <p:cNvPr id="3" name="TextBox 2">
            <a:extLst>
              <a:ext uri="{FF2B5EF4-FFF2-40B4-BE49-F238E27FC236}">
                <a16:creationId xmlns:a16="http://schemas.microsoft.com/office/drawing/2014/main" id="{0046CD27-7EFE-B2F9-FE86-B3A7C6E7ABB6}"/>
              </a:ext>
            </a:extLst>
          </p:cNvPr>
          <p:cNvSpPr txBox="1"/>
          <p:nvPr/>
        </p:nvSpPr>
        <p:spPr>
          <a:xfrm>
            <a:off x="1766596" y="2202281"/>
            <a:ext cx="6860167" cy="646331"/>
          </a:xfrm>
          <a:prstGeom prst="rect">
            <a:avLst/>
          </a:prstGeom>
          <a:noFill/>
        </p:spPr>
        <p:txBody>
          <a:bodyPr wrap="square">
            <a:spAutoFit/>
          </a:bodyPr>
          <a:lstStyle/>
          <a:p>
            <a:r>
              <a:rPr lang="en-US" dirty="0"/>
              <a:t>The perceptron is the building block for more complex neural networks. Here’s how</a:t>
            </a:r>
          </a:p>
        </p:txBody>
      </p:sp>
      <p:sp>
        <p:nvSpPr>
          <p:cNvPr id="4" name="TextBox 3">
            <a:extLst>
              <a:ext uri="{FF2B5EF4-FFF2-40B4-BE49-F238E27FC236}">
                <a16:creationId xmlns:a16="http://schemas.microsoft.com/office/drawing/2014/main" id="{95E9CAC5-BF99-F87D-E97B-5DC2623BF634}"/>
              </a:ext>
            </a:extLst>
          </p:cNvPr>
          <p:cNvSpPr txBox="1"/>
          <p:nvPr/>
        </p:nvSpPr>
        <p:spPr>
          <a:xfrm>
            <a:off x="2148679" y="2848612"/>
            <a:ext cx="6096000" cy="369332"/>
          </a:xfrm>
          <a:prstGeom prst="rect">
            <a:avLst/>
          </a:prstGeom>
          <a:noFill/>
        </p:spPr>
        <p:txBody>
          <a:bodyPr wrap="square">
            <a:spAutoFit/>
          </a:bodyPr>
          <a:lstStyle/>
          <a:p>
            <a:r>
              <a:rPr lang="en-US" b="1" dirty="0"/>
              <a:t>2. Non-Linear Activation Functions</a:t>
            </a:r>
          </a:p>
        </p:txBody>
      </p:sp>
      <p:sp>
        <p:nvSpPr>
          <p:cNvPr id="5" name="TextBox 4">
            <a:extLst>
              <a:ext uri="{FF2B5EF4-FFF2-40B4-BE49-F238E27FC236}">
                <a16:creationId xmlns:a16="http://schemas.microsoft.com/office/drawing/2014/main" id="{9B82D3E9-E1D9-D90B-53D8-E7776937EB86}"/>
              </a:ext>
            </a:extLst>
          </p:cNvPr>
          <p:cNvSpPr txBox="1"/>
          <p:nvPr/>
        </p:nvSpPr>
        <p:spPr>
          <a:xfrm>
            <a:off x="2530762" y="3194108"/>
            <a:ext cx="8349674" cy="1200329"/>
          </a:xfrm>
          <a:prstGeom prst="rect">
            <a:avLst/>
          </a:prstGeom>
          <a:noFill/>
        </p:spPr>
        <p:txBody>
          <a:bodyPr wrap="square">
            <a:spAutoFit/>
          </a:bodyPr>
          <a:lstStyle/>
          <a:p>
            <a:pPr marL="285750" indent="-285750" algn="just">
              <a:buFont typeface="Arial" panose="020B0604020202020204" pitchFamily="34" charset="0"/>
              <a:buChar char="•"/>
            </a:pPr>
            <a:r>
              <a:rPr lang="en-US" dirty="0"/>
              <a:t>Instead of a step function, modern neural networks use activation functions like </a:t>
            </a:r>
            <a:r>
              <a:rPr lang="en-US" b="1" dirty="0"/>
              <a:t>ReLU</a:t>
            </a:r>
            <a:r>
              <a:rPr lang="en-US" dirty="0"/>
              <a:t> (Rectified Linear Unit) or </a:t>
            </a:r>
            <a:r>
              <a:rPr lang="en-US" b="1" dirty="0"/>
              <a:t>Sigmoid</a:t>
            </a:r>
            <a:r>
              <a:rPr lang="en-US" dirty="0"/>
              <a:t>, which introduce </a:t>
            </a:r>
            <a:r>
              <a:rPr lang="en-US" b="1" dirty="0"/>
              <a:t>non-linearity</a:t>
            </a:r>
            <a:r>
              <a:rPr lang="en-US" dirty="0"/>
              <a:t>. This enables neural networks to model complex relationships and solve problems like XOR.</a:t>
            </a:r>
          </a:p>
        </p:txBody>
      </p:sp>
      <p:sp>
        <p:nvSpPr>
          <p:cNvPr id="6" name="TextBox 5">
            <a:extLst>
              <a:ext uri="{FF2B5EF4-FFF2-40B4-BE49-F238E27FC236}">
                <a16:creationId xmlns:a16="http://schemas.microsoft.com/office/drawing/2014/main" id="{2629951D-B388-1805-0012-B6050432F64F}"/>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Neurons and Perceptrons</a:t>
            </a:r>
          </a:p>
        </p:txBody>
      </p:sp>
    </p:spTree>
    <p:extLst>
      <p:ext uri="{BB962C8B-B14F-4D97-AF65-F5344CB8AC3E}">
        <p14:creationId xmlns:p14="http://schemas.microsoft.com/office/powerpoint/2010/main" val="30860670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e most common nonlinear activation functions. | Download Scientific  Diagram">
            <a:extLst>
              <a:ext uri="{FF2B5EF4-FFF2-40B4-BE49-F238E27FC236}">
                <a16:creationId xmlns:a16="http://schemas.microsoft.com/office/drawing/2014/main" id="{A23F8041-B2CA-CDFF-92AF-EB3271B395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4571" y="2571613"/>
            <a:ext cx="4841429" cy="363267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7C279E1-12C4-89BA-7F70-8E3B5C247A47}"/>
              </a:ext>
            </a:extLst>
          </p:cNvPr>
          <p:cNvSpPr txBox="1"/>
          <p:nvPr/>
        </p:nvSpPr>
        <p:spPr>
          <a:xfrm>
            <a:off x="1281405" y="1832949"/>
            <a:ext cx="6096000" cy="369332"/>
          </a:xfrm>
          <a:prstGeom prst="rect">
            <a:avLst/>
          </a:prstGeom>
          <a:noFill/>
        </p:spPr>
        <p:txBody>
          <a:bodyPr wrap="square">
            <a:spAutoFit/>
          </a:bodyPr>
          <a:lstStyle/>
          <a:p>
            <a:r>
              <a:rPr lang="en-US" b="1" dirty="0"/>
              <a:t>From Perceptrons to Neural Networks</a:t>
            </a:r>
          </a:p>
        </p:txBody>
      </p:sp>
      <p:sp>
        <p:nvSpPr>
          <p:cNvPr id="5" name="TextBox 4">
            <a:extLst>
              <a:ext uri="{FF2B5EF4-FFF2-40B4-BE49-F238E27FC236}">
                <a16:creationId xmlns:a16="http://schemas.microsoft.com/office/drawing/2014/main" id="{AE7D4B46-76E3-0168-3341-E0E7506C61DF}"/>
              </a:ext>
            </a:extLst>
          </p:cNvPr>
          <p:cNvSpPr txBox="1"/>
          <p:nvPr/>
        </p:nvSpPr>
        <p:spPr>
          <a:xfrm>
            <a:off x="1766597" y="2202281"/>
            <a:ext cx="6096000" cy="369332"/>
          </a:xfrm>
          <a:prstGeom prst="rect">
            <a:avLst/>
          </a:prstGeom>
          <a:noFill/>
        </p:spPr>
        <p:txBody>
          <a:bodyPr wrap="square">
            <a:spAutoFit/>
          </a:bodyPr>
          <a:lstStyle/>
          <a:p>
            <a:r>
              <a:rPr lang="en-US" b="1" dirty="0"/>
              <a:t>2. Non-Linear Activation Functions</a:t>
            </a:r>
          </a:p>
        </p:txBody>
      </p:sp>
      <p:sp>
        <p:nvSpPr>
          <p:cNvPr id="6" name="TextBox 5">
            <a:extLst>
              <a:ext uri="{FF2B5EF4-FFF2-40B4-BE49-F238E27FC236}">
                <a16:creationId xmlns:a16="http://schemas.microsoft.com/office/drawing/2014/main" id="{0C17B07E-B55B-9A2B-BC31-D9A138C7E53E}"/>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Neurons and Perceptrons</a:t>
            </a:r>
          </a:p>
        </p:txBody>
      </p:sp>
    </p:spTree>
    <p:extLst>
      <p:ext uri="{BB962C8B-B14F-4D97-AF65-F5344CB8AC3E}">
        <p14:creationId xmlns:p14="http://schemas.microsoft.com/office/powerpoint/2010/main" val="39349299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80DB38-508A-0CFD-25EB-77583B7E8CB8}"/>
              </a:ext>
            </a:extLst>
          </p:cNvPr>
          <p:cNvSpPr txBox="1"/>
          <p:nvPr/>
        </p:nvSpPr>
        <p:spPr>
          <a:xfrm>
            <a:off x="1281405" y="1832949"/>
            <a:ext cx="6096000" cy="369332"/>
          </a:xfrm>
          <a:prstGeom prst="rect">
            <a:avLst/>
          </a:prstGeom>
          <a:noFill/>
        </p:spPr>
        <p:txBody>
          <a:bodyPr wrap="square">
            <a:spAutoFit/>
          </a:bodyPr>
          <a:lstStyle/>
          <a:p>
            <a:r>
              <a:rPr lang="en-US" b="1" dirty="0"/>
              <a:t>Activation Functions Overview</a:t>
            </a:r>
          </a:p>
        </p:txBody>
      </p:sp>
      <p:sp>
        <p:nvSpPr>
          <p:cNvPr id="3" name="TextBox 2">
            <a:extLst>
              <a:ext uri="{FF2B5EF4-FFF2-40B4-BE49-F238E27FC236}">
                <a16:creationId xmlns:a16="http://schemas.microsoft.com/office/drawing/2014/main" id="{336D8E5A-522A-8297-8019-EA9A754A2454}"/>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Neurons and Perceptrons</a:t>
            </a:r>
          </a:p>
        </p:txBody>
      </p:sp>
      <p:sp>
        <p:nvSpPr>
          <p:cNvPr id="5" name="TextBox 4">
            <a:extLst>
              <a:ext uri="{FF2B5EF4-FFF2-40B4-BE49-F238E27FC236}">
                <a16:creationId xmlns:a16="http://schemas.microsoft.com/office/drawing/2014/main" id="{19E5A7B4-5CFA-DBBC-9236-2AB82E31A33B}"/>
              </a:ext>
            </a:extLst>
          </p:cNvPr>
          <p:cNvSpPr txBox="1"/>
          <p:nvPr/>
        </p:nvSpPr>
        <p:spPr>
          <a:xfrm>
            <a:off x="1766597" y="2202281"/>
            <a:ext cx="8827512" cy="646331"/>
          </a:xfrm>
          <a:prstGeom prst="rect">
            <a:avLst/>
          </a:prstGeom>
          <a:noFill/>
        </p:spPr>
        <p:txBody>
          <a:bodyPr wrap="square">
            <a:spAutoFit/>
          </a:bodyPr>
          <a:lstStyle/>
          <a:p>
            <a:r>
              <a:rPr lang="en-US" dirty="0"/>
              <a:t>Activation functions play a crucial role in modern neural networks. Here’s a quick overview of commonly used functions</a:t>
            </a:r>
          </a:p>
        </p:txBody>
      </p:sp>
      <p:sp>
        <p:nvSpPr>
          <p:cNvPr id="7" name="TextBox 6">
            <a:extLst>
              <a:ext uri="{FF2B5EF4-FFF2-40B4-BE49-F238E27FC236}">
                <a16:creationId xmlns:a16="http://schemas.microsoft.com/office/drawing/2014/main" id="{4F1C51E8-35B3-75BD-C87E-C2C8F3F41230}"/>
              </a:ext>
            </a:extLst>
          </p:cNvPr>
          <p:cNvSpPr txBox="1"/>
          <p:nvPr/>
        </p:nvSpPr>
        <p:spPr>
          <a:xfrm>
            <a:off x="2078182" y="2848612"/>
            <a:ext cx="6096000" cy="369332"/>
          </a:xfrm>
          <a:prstGeom prst="rect">
            <a:avLst/>
          </a:prstGeom>
          <a:noFill/>
        </p:spPr>
        <p:txBody>
          <a:bodyPr wrap="square">
            <a:spAutoFit/>
          </a:bodyPr>
          <a:lstStyle/>
          <a:p>
            <a:r>
              <a:rPr lang="en-US" b="1" dirty="0"/>
              <a:t>1. Sigmoid Activation Function</a:t>
            </a:r>
          </a:p>
        </p:txBody>
      </p:sp>
      <p:pic>
        <p:nvPicPr>
          <p:cNvPr id="9" name="Picture 8">
            <a:extLst>
              <a:ext uri="{FF2B5EF4-FFF2-40B4-BE49-F238E27FC236}">
                <a16:creationId xmlns:a16="http://schemas.microsoft.com/office/drawing/2014/main" id="{A91DE0DC-25B0-DBBC-702E-617EC0FEFC2B}"/>
              </a:ext>
            </a:extLst>
          </p:cNvPr>
          <p:cNvPicPr>
            <a:picLocks noChangeAspect="1"/>
          </p:cNvPicPr>
          <p:nvPr/>
        </p:nvPicPr>
        <p:blipFill>
          <a:blip r:embed="rId2"/>
          <a:stretch>
            <a:fillRect/>
          </a:stretch>
        </p:blipFill>
        <p:spPr>
          <a:xfrm>
            <a:off x="3983326" y="3254854"/>
            <a:ext cx="2574493" cy="1218842"/>
          </a:xfrm>
          <a:prstGeom prst="rect">
            <a:avLst/>
          </a:prstGeom>
        </p:spPr>
      </p:pic>
      <p:sp>
        <p:nvSpPr>
          <p:cNvPr id="11" name="TextBox 10">
            <a:extLst>
              <a:ext uri="{FF2B5EF4-FFF2-40B4-BE49-F238E27FC236}">
                <a16:creationId xmlns:a16="http://schemas.microsoft.com/office/drawing/2014/main" id="{662F160E-658F-9156-D33A-641CB48BC8FA}"/>
              </a:ext>
            </a:extLst>
          </p:cNvPr>
          <p:cNvSpPr txBox="1"/>
          <p:nvPr/>
        </p:nvSpPr>
        <p:spPr>
          <a:xfrm>
            <a:off x="2502772" y="4563386"/>
            <a:ext cx="6096000" cy="923330"/>
          </a:xfrm>
          <a:prstGeom prst="rect">
            <a:avLst/>
          </a:prstGeom>
          <a:noFill/>
        </p:spPr>
        <p:txBody>
          <a:bodyPr wrap="square">
            <a:spAutoFit/>
          </a:bodyPr>
          <a:lstStyle/>
          <a:p>
            <a:pPr marL="285750" indent="-285750">
              <a:buFont typeface="Arial" panose="020B0604020202020204" pitchFamily="34" charset="0"/>
              <a:buChar char="•"/>
            </a:pPr>
            <a:r>
              <a:rPr lang="en-US" dirty="0"/>
              <a:t>Outputs values between 0 and 1.</a:t>
            </a:r>
          </a:p>
          <a:p>
            <a:pPr marL="285750" indent="-285750">
              <a:buFont typeface="Arial" panose="020B0604020202020204" pitchFamily="34" charset="0"/>
              <a:buChar char="•"/>
            </a:pPr>
            <a:r>
              <a:rPr lang="en-US" dirty="0"/>
              <a:t>Often used in the output layer for binary classification problems.</a:t>
            </a:r>
          </a:p>
        </p:txBody>
      </p:sp>
    </p:spTree>
    <p:extLst>
      <p:ext uri="{BB962C8B-B14F-4D97-AF65-F5344CB8AC3E}">
        <p14:creationId xmlns:p14="http://schemas.microsoft.com/office/powerpoint/2010/main" val="36062948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3E56E2-7C9B-8BE7-B75C-6E62B60E43D8}"/>
              </a:ext>
            </a:extLst>
          </p:cNvPr>
          <p:cNvSpPr txBox="1"/>
          <p:nvPr/>
        </p:nvSpPr>
        <p:spPr>
          <a:xfrm>
            <a:off x="1281405" y="1832949"/>
            <a:ext cx="6096000" cy="369332"/>
          </a:xfrm>
          <a:prstGeom prst="rect">
            <a:avLst/>
          </a:prstGeom>
          <a:noFill/>
        </p:spPr>
        <p:txBody>
          <a:bodyPr wrap="square">
            <a:spAutoFit/>
          </a:bodyPr>
          <a:lstStyle/>
          <a:p>
            <a:r>
              <a:rPr lang="en-US" b="1" dirty="0"/>
              <a:t>Activation Functions Overview</a:t>
            </a:r>
          </a:p>
        </p:txBody>
      </p:sp>
      <p:sp>
        <p:nvSpPr>
          <p:cNvPr id="3" name="TextBox 2">
            <a:extLst>
              <a:ext uri="{FF2B5EF4-FFF2-40B4-BE49-F238E27FC236}">
                <a16:creationId xmlns:a16="http://schemas.microsoft.com/office/drawing/2014/main" id="{032F9DE3-22CB-684B-C460-88E593A2E5F4}"/>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Neurons and Perceptrons</a:t>
            </a:r>
          </a:p>
        </p:txBody>
      </p:sp>
      <p:sp>
        <p:nvSpPr>
          <p:cNvPr id="4" name="TextBox 3">
            <a:extLst>
              <a:ext uri="{FF2B5EF4-FFF2-40B4-BE49-F238E27FC236}">
                <a16:creationId xmlns:a16="http://schemas.microsoft.com/office/drawing/2014/main" id="{8E113011-A4EA-8015-DE1B-A66660FD9EE2}"/>
              </a:ext>
            </a:extLst>
          </p:cNvPr>
          <p:cNvSpPr txBox="1"/>
          <p:nvPr/>
        </p:nvSpPr>
        <p:spPr>
          <a:xfrm>
            <a:off x="1766597" y="2202281"/>
            <a:ext cx="8827512" cy="646331"/>
          </a:xfrm>
          <a:prstGeom prst="rect">
            <a:avLst/>
          </a:prstGeom>
          <a:noFill/>
        </p:spPr>
        <p:txBody>
          <a:bodyPr wrap="square">
            <a:spAutoFit/>
          </a:bodyPr>
          <a:lstStyle/>
          <a:p>
            <a:r>
              <a:rPr lang="en-US" dirty="0"/>
              <a:t>Activation functions play a crucial role in modern neural networks. Here’s a quick overview of commonly used functions</a:t>
            </a:r>
          </a:p>
        </p:txBody>
      </p:sp>
      <p:sp>
        <p:nvSpPr>
          <p:cNvPr id="5" name="TextBox 4">
            <a:extLst>
              <a:ext uri="{FF2B5EF4-FFF2-40B4-BE49-F238E27FC236}">
                <a16:creationId xmlns:a16="http://schemas.microsoft.com/office/drawing/2014/main" id="{CFDB6EF8-38FE-754B-1F35-BE943BE4D553}"/>
              </a:ext>
            </a:extLst>
          </p:cNvPr>
          <p:cNvSpPr txBox="1"/>
          <p:nvPr/>
        </p:nvSpPr>
        <p:spPr>
          <a:xfrm>
            <a:off x="2078182" y="2848612"/>
            <a:ext cx="6096000" cy="369332"/>
          </a:xfrm>
          <a:prstGeom prst="rect">
            <a:avLst/>
          </a:prstGeom>
          <a:noFill/>
        </p:spPr>
        <p:txBody>
          <a:bodyPr wrap="square">
            <a:spAutoFit/>
          </a:bodyPr>
          <a:lstStyle/>
          <a:p>
            <a:r>
              <a:rPr lang="en-US" b="1" dirty="0"/>
              <a:t>2. ReLU (Rectified Linear Unit)</a:t>
            </a:r>
          </a:p>
        </p:txBody>
      </p:sp>
      <p:pic>
        <p:nvPicPr>
          <p:cNvPr id="7" name="Picture 6">
            <a:extLst>
              <a:ext uri="{FF2B5EF4-FFF2-40B4-BE49-F238E27FC236}">
                <a16:creationId xmlns:a16="http://schemas.microsoft.com/office/drawing/2014/main" id="{6B78C79F-8118-DEBB-875C-6659482A8968}"/>
              </a:ext>
            </a:extLst>
          </p:cNvPr>
          <p:cNvPicPr>
            <a:picLocks noChangeAspect="1"/>
          </p:cNvPicPr>
          <p:nvPr/>
        </p:nvPicPr>
        <p:blipFill>
          <a:blip r:embed="rId2"/>
          <a:stretch>
            <a:fillRect/>
          </a:stretch>
        </p:blipFill>
        <p:spPr>
          <a:xfrm>
            <a:off x="4076121" y="3339658"/>
            <a:ext cx="2780159" cy="600797"/>
          </a:xfrm>
          <a:prstGeom prst="rect">
            <a:avLst/>
          </a:prstGeom>
        </p:spPr>
      </p:pic>
      <p:sp>
        <p:nvSpPr>
          <p:cNvPr id="9" name="TextBox 8">
            <a:extLst>
              <a:ext uri="{FF2B5EF4-FFF2-40B4-BE49-F238E27FC236}">
                <a16:creationId xmlns:a16="http://schemas.microsoft.com/office/drawing/2014/main" id="{3620440E-38EC-7848-E52E-AE36C5BDABCD}"/>
              </a:ext>
            </a:extLst>
          </p:cNvPr>
          <p:cNvSpPr txBox="1"/>
          <p:nvPr/>
        </p:nvSpPr>
        <p:spPr>
          <a:xfrm>
            <a:off x="2502771" y="4530636"/>
            <a:ext cx="7684937" cy="646331"/>
          </a:xfrm>
          <a:prstGeom prst="rect">
            <a:avLst/>
          </a:prstGeom>
          <a:noFill/>
        </p:spPr>
        <p:txBody>
          <a:bodyPr wrap="square">
            <a:spAutoFit/>
          </a:bodyPr>
          <a:lstStyle/>
          <a:p>
            <a:pPr marL="285750" indent="-285750">
              <a:buFont typeface="Arial" panose="020B0604020202020204" pitchFamily="34" charset="0"/>
              <a:buChar char="•"/>
            </a:pPr>
            <a:r>
              <a:rPr lang="en-US" dirty="0"/>
              <a:t>Outputs 0 if the input is negative, otherwise returns the input value.</a:t>
            </a:r>
          </a:p>
          <a:p>
            <a:pPr marL="285750" indent="-285750">
              <a:buFont typeface="Arial" panose="020B0604020202020204" pitchFamily="34" charset="0"/>
              <a:buChar char="•"/>
            </a:pPr>
            <a:r>
              <a:rPr lang="en-US" dirty="0"/>
              <a:t>Popular for hidden layers due to its simplicity and effectiveness.</a:t>
            </a:r>
          </a:p>
        </p:txBody>
      </p:sp>
    </p:spTree>
    <p:extLst>
      <p:ext uri="{BB962C8B-B14F-4D97-AF65-F5344CB8AC3E}">
        <p14:creationId xmlns:p14="http://schemas.microsoft.com/office/powerpoint/2010/main" val="6811430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8D81ED-72A3-F0EE-809D-8F9C19C84002}"/>
              </a:ext>
            </a:extLst>
          </p:cNvPr>
          <p:cNvSpPr txBox="1"/>
          <p:nvPr/>
        </p:nvSpPr>
        <p:spPr>
          <a:xfrm>
            <a:off x="1281405" y="1832949"/>
            <a:ext cx="6096000" cy="369332"/>
          </a:xfrm>
          <a:prstGeom prst="rect">
            <a:avLst/>
          </a:prstGeom>
          <a:noFill/>
        </p:spPr>
        <p:txBody>
          <a:bodyPr wrap="square">
            <a:spAutoFit/>
          </a:bodyPr>
          <a:lstStyle/>
          <a:p>
            <a:r>
              <a:rPr lang="en-US" b="1" dirty="0"/>
              <a:t>Activation Functions Overview</a:t>
            </a:r>
          </a:p>
        </p:txBody>
      </p:sp>
      <p:sp>
        <p:nvSpPr>
          <p:cNvPr id="3" name="TextBox 2">
            <a:extLst>
              <a:ext uri="{FF2B5EF4-FFF2-40B4-BE49-F238E27FC236}">
                <a16:creationId xmlns:a16="http://schemas.microsoft.com/office/drawing/2014/main" id="{0453C1A5-AA45-2675-69FD-4ADA9172A7A4}"/>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Neurons and Perceptrons</a:t>
            </a:r>
          </a:p>
        </p:txBody>
      </p:sp>
      <p:sp>
        <p:nvSpPr>
          <p:cNvPr id="4" name="TextBox 3">
            <a:extLst>
              <a:ext uri="{FF2B5EF4-FFF2-40B4-BE49-F238E27FC236}">
                <a16:creationId xmlns:a16="http://schemas.microsoft.com/office/drawing/2014/main" id="{D89B8627-C66A-708A-E7D1-88B374BEFBB8}"/>
              </a:ext>
            </a:extLst>
          </p:cNvPr>
          <p:cNvSpPr txBox="1"/>
          <p:nvPr/>
        </p:nvSpPr>
        <p:spPr>
          <a:xfrm>
            <a:off x="1766597" y="2202281"/>
            <a:ext cx="8827512" cy="646331"/>
          </a:xfrm>
          <a:prstGeom prst="rect">
            <a:avLst/>
          </a:prstGeom>
          <a:noFill/>
        </p:spPr>
        <p:txBody>
          <a:bodyPr wrap="square">
            <a:spAutoFit/>
          </a:bodyPr>
          <a:lstStyle/>
          <a:p>
            <a:r>
              <a:rPr lang="en-US" dirty="0"/>
              <a:t>Activation functions play a crucial role in modern neural networks. Here’s a quick overview of commonly used functions</a:t>
            </a:r>
          </a:p>
        </p:txBody>
      </p:sp>
      <p:sp>
        <p:nvSpPr>
          <p:cNvPr id="5" name="TextBox 4">
            <a:extLst>
              <a:ext uri="{FF2B5EF4-FFF2-40B4-BE49-F238E27FC236}">
                <a16:creationId xmlns:a16="http://schemas.microsoft.com/office/drawing/2014/main" id="{9EBCBD1B-5CF4-D474-8D2B-1D7606CDD7EE}"/>
              </a:ext>
            </a:extLst>
          </p:cNvPr>
          <p:cNvSpPr txBox="1"/>
          <p:nvPr/>
        </p:nvSpPr>
        <p:spPr>
          <a:xfrm>
            <a:off x="2078182" y="2848612"/>
            <a:ext cx="6096000" cy="369332"/>
          </a:xfrm>
          <a:prstGeom prst="rect">
            <a:avLst/>
          </a:prstGeom>
          <a:noFill/>
        </p:spPr>
        <p:txBody>
          <a:bodyPr wrap="square">
            <a:spAutoFit/>
          </a:bodyPr>
          <a:lstStyle/>
          <a:p>
            <a:r>
              <a:rPr lang="en-US" b="1" dirty="0"/>
              <a:t>3. Tanh Activation Function</a:t>
            </a:r>
          </a:p>
        </p:txBody>
      </p:sp>
      <p:pic>
        <p:nvPicPr>
          <p:cNvPr id="7" name="Picture 6">
            <a:extLst>
              <a:ext uri="{FF2B5EF4-FFF2-40B4-BE49-F238E27FC236}">
                <a16:creationId xmlns:a16="http://schemas.microsoft.com/office/drawing/2014/main" id="{6C5B3B4A-1D96-009E-CB10-8242A9E46734}"/>
              </a:ext>
            </a:extLst>
          </p:cNvPr>
          <p:cNvPicPr>
            <a:picLocks noChangeAspect="1"/>
          </p:cNvPicPr>
          <p:nvPr/>
        </p:nvPicPr>
        <p:blipFill>
          <a:blip r:embed="rId2"/>
          <a:stretch>
            <a:fillRect/>
          </a:stretch>
        </p:blipFill>
        <p:spPr>
          <a:xfrm>
            <a:off x="3872435" y="3217944"/>
            <a:ext cx="2507494" cy="928255"/>
          </a:xfrm>
          <a:prstGeom prst="rect">
            <a:avLst/>
          </a:prstGeom>
        </p:spPr>
      </p:pic>
      <p:sp>
        <p:nvSpPr>
          <p:cNvPr id="9" name="TextBox 8">
            <a:extLst>
              <a:ext uri="{FF2B5EF4-FFF2-40B4-BE49-F238E27FC236}">
                <a16:creationId xmlns:a16="http://schemas.microsoft.com/office/drawing/2014/main" id="{1E5EAD10-4604-DA3C-6620-EB2442545AD8}"/>
              </a:ext>
            </a:extLst>
          </p:cNvPr>
          <p:cNvSpPr txBox="1"/>
          <p:nvPr/>
        </p:nvSpPr>
        <p:spPr>
          <a:xfrm>
            <a:off x="2502772" y="4428944"/>
            <a:ext cx="6096000" cy="646331"/>
          </a:xfrm>
          <a:prstGeom prst="rect">
            <a:avLst/>
          </a:prstGeom>
          <a:noFill/>
        </p:spPr>
        <p:txBody>
          <a:bodyPr wrap="square">
            <a:spAutoFit/>
          </a:bodyPr>
          <a:lstStyle/>
          <a:p>
            <a:pPr marL="285750" indent="-285750">
              <a:buFont typeface="Arial" panose="020B0604020202020204" pitchFamily="34" charset="0"/>
              <a:buChar char="•"/>
            </a:pPr>
            <a:r>
              <a:rPr lang="en-US" dirty="0"/>
              <a:t>Outputs values between -1 and 1.</a:t>
            </a:r>
          </a:p>
          <a:p>
            <a:pPr marL="285750" indent="-285750">
              <a:buFont typeface="Arial" panose="020B0604020202020204" pitchFamily="34" charset="0"/>
              <a:buChar char="•"/>
            </a:pPr>
            <a:r>
              <a:rPr lang="en-US" dirty="0"/>
              <a:t>Often used in hidden layers.</a:t>
            </a:r>
          </a:p>
        </p:txBody>
      </p:sp>
    </p:spTree>
    <p:extLst>
      <p:ext uri="{BB962C8B-B14F-4D97-AF65-F5344CB8AC3E}">
        <p14:creationId xmlns:p14="http://schemas.microsoft.com/office/powerpoint/2010/main" val="31841632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8E9579-8C93-B10C-BEA4-8CACC7E1CE63}"/>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Neurons and Perceptrons</a:t>
            </a:r>
          </a:p>
        </p:txBody>
      </p:sp>
      <p:sp>
        <p:nvSpPr>
          <p:cNvPr id="4" name="TextBox 3">
            <a:extLst>
              <a:ext uri="{FF2B5EF4-FFF2-40B4-BE49-F238E27FC236}">
                <a16:creationId xmlns:a16="http://schemas.microsoft.com/office/drawing/2014/main" id="{4AA6ABA7-2F3F-9401-BF08-972C98C90D01}"/>
              </a:ext>
            </a:extLst>
          </p:cNvPr>
          <p:cNvSpPr txBox="1"/>
          <p:nvPr/>
        </p:nvSpPr>
        <p:spPr>
          <a:xfrm>
            <a:off x="1281405" y="1832949"/>
            <a:ext cx="6096000" cy="369332"/>
          </a:xfrm>
          <a:prstGeom prst="rect">
            <a:avLst/>
          </a:prstGeom>
          <a:noFill/>
        </p:spPr>
        <p:txBody>
          <a:bodyPr wrap="square">
            <a:spAutoFit/>
          </a:bodyPr>
          <a:lstStyle/>
          <a:p>
            <a:r>
              <a:rPr lang="en-US" b="1" dirty="0"/>
              <a:t>Summary and Key Takeaways</a:t>
            </a:r>
          </a:p>
        </p:txBody>
      </p:sp>
      <p:sp>
        <p:nvSpPr>
          <p:cNvPr id="7" name="TextBox 6">
            <a:extLst>
              <a:ext uri="{FF2B5EF4-FFF2-40B4-BE49-F238E27FC236}">
                <a16:creationId xmlns:a16="http://schemas.microsoft.com/office/drawing/2014/main" id="{C2160F20-CD27-085C-D6E3-EEED217C1095}"/>
              </a:ext>
            </a:extLst>
          </p:cNvPr>
          <p:cNvSpPr txBox="1"/>
          <p:nvPr/>
        </p:nvSpPr>
        <p:spPr>
          <a:xfrm>
            <a:off x="1985818" y="2243345"/>
            <a:ext cx="7278255" cy="3970318"/>
          </a:xfrm>
          <a:prstGeom prst="rect">
            <a:avLst/>
          </a:prstGeom>
          <a:noFill/>
        </p:spPr>
        <p:txBody>
          <a:bodyPr wrap="square">
            <a:spAutoFit/>
          </a:bodyPr>
          <a:lstStyle/>
          <a:p>
            <a:pPr marL="285750" indent="-285750" algn="just">
              <a:buFont typeface="Arial" panose="020B0604020202020204" pitchFamily="34" charset="0"/>
              <a:buChar char="•"/>
            </a:pPr>
            <a:r>
              <a:rPr lang="en-US" dirty="0"/>
              <a:t>A </a:t>
            </a:r>
            <a:r>
              <a:rPr lang="en-US" b="1" dirty="0"/>
              <a:t>neuron</a:t>
            </a:r>
            <a:r>
              <a:rPr lang="en-US" dirty="0"/>
              <a:t> in artificial neural networks is a mathematical model that processes input data and produces an output based on the weighted sum of inputs and an activation function.</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The </a:t>
            </a:r>
            <a:r>
              <a:rPr lang="en-US" b="1" dirty="0"/>
              <a:t>perceptron</a:t>
            </a:r>
            <a:r>
              <a:rPr lang="en-US" dirty="0"/>
              <a:t> is the simplest form of a neural network, performing binary classification based on a step function.</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While perceptrons are limited to </a:t>
            </a:r>
            <a:r>
              <a:rPr lang="en-US" b="1" dirty="0"/>
              <a:t>linear decision boundaries</a:t>
            </a:r>
            <a:r>
              <a:rPr lang="en-US" dirty="0"/>
              <a:t>, they provide the foundation for more complex neural networks by stacking layers and using non-linear activation functions.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Activation functions</a:t>
            </a:r>
            <a:r>
              <a:rPr lang="en-US" dirty="0"/>
              <a:t> are critical in determining whether a neuron "fires" and can introduce non-linearity, allowing neural networks to learn more complex patterns.</a:t>
            </a:r>
          </a:p>
        </p:txBody>
      </p:sp>
    </p:spTree>
    <p:extLst>
      <p:ext uri="{BB962C8B-B14F-4D97-AF65-F5344CB8AC3E}">
        <p14:creationId xmlns:p14="http://schemas.microsoft.com/office/powerpoint/2010/main" val="17354374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548D73-089E-3C2B-6D4B-812ADC99329E}"/>
              </a:ext>
            </a:extLst>
          </p:cNvPr>
          <p:cNvSpPr txBox="1"/>
          <p:nvPr/>
        </p:nvSpPr>
        <p:spPr>
          <a:xfrm>
            <a:off x="2752436" y="2782669"/>
            <a:ext cx="6687127" cy="646331"/>
          </a:xfrm>
          <a:prstGeom prst="rect">
            <a:avLst/>
          </a:prstGeom>
          <a:noFill/>
        </p:spPr>
        <p:txBody>
          <a:bodyPr wrap="square">
            <a:spAutoFit/>
          </a:bodyPr>
          <a:lstStyle/>
          <a:p>
            <a:pPr algn="ctr"/>
            <a:r>
              <a:rPr lang="en-US" sz="3600" b="1" dirty="0">
                <a:solidFill>
                  <a:srgbClr val="2AAF82"/>
                </a:solidFill>
              </a:rPr>
              <a:t>Feedforward Neural Networks</a:t>
            </a:r>
          </a:p>
        </p:txBody>
      </p:sp>
    </p:spTree>
    <p:extLst>
      <p:ext uri="{BB962C8B-B14F-4D97-AF65-F5344CB8AC3E}">
        <p14:creationId xmlns:p14="http://schemas.microsoft.com/office/powerpoint/2010/main" val="10936416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DDD677-040E-2D66-1C52-E63EA3BC9BBC}"/>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Feedforward Neural Networks</a:t>
            </a:r>
          </a:p>
        </p:txBody>
      </p:sp>
      <p:sp>
        <p:nvSpPr>
          <p:cNvPr id="5" name="TextBox 4">
            <a:extLst>
              <a:ext uri="{FF2B5EF4-FFF2-40B4-BE49-F238E27FC236}">
                <a16:creationId xmlns:a16="http://schemas.microsoft.com/office/drawing/2014/main" id="{B7D0A0AE-6F16-7BB3-073B-8FE4414D3D8A}"/>
              </a:ext>
            </a:extLst>
          </p:cNvPr>
          <p:cNvSpPr txBox="1"/>
          <p:nvPr/>
        </p:nvSpPr>
        <p:spPr>
          <a:xfrm>
            <a:off x="1006764" y="1832949"/>
            <a:ext cx="6096000" cy="369332"/>
          </a:xfrm>
          <a:prstGeom prst="rect">
            <a:avLst/>
          </a:prstGeom>
          <a:noFill/>
        </p:spPr>
        <p:txBody>
          <a:bodyPr wrap="square">
            <a:spAutoFit/>
          </a:bodyPr>
          <a:lstStyle/>
          <a:p>
            <a:r>
              <a:rPr lang="en-US" b="1" dirty="0"/>
              <a:t>Introduction to Feedforward Neural Networks (FNNs)</a:t>
            </a:r>
          </a:p>
        </p:txBody>
      </p:sp>
      <p:sp>
        <p:nvSpPr>
          <p:cNvPr id="7" name="TextBox 6">
            <a:extLst>
              <a:ext uri="{FF2B5EF4-FFF2-40B4-BE49-F238E27FC236}">
                <a16:creationId xmlns:a16="http://schemas.microsoft.com/office/drawing/2014/main" id="{442E8B78-FEF0-CCF5-60FB-0C96107BC3EA}"/>
              </a:ext>
            </a:extLst>
          </p:cNvPr>
          <p:cNvSpPr txBox="1"/>
          <p:nvPr/>
        </p:nvSpPr>
        <p:spPr>
          <a:xfrm>
            <a:off x="1459345" y="2202281"/>
            <a:ext cx="9190182" cy="646331"/>
          </a:xfrm>
          <a:prstGeom prst="rect">
            <a:avLst/>
          </a:prstGeom>
          <a:noFill/>
        </p:spPr>
        <p:txBody>
          <a:bodyPr wrap="square">
            <a:spAutoFit/>
          </a:bodyPr>
          <a:lstStyle/>
          <a:p>
            <a:r>
              <a:rPr lang="en-US" dirty="0"/>
              <a:t>Now that we understand how a single neuron (or perceptron) works, let’s move on to </a:t>
            </a:r>
            <a:r>
              <a:rPr lang="en-US" b="1" dirty="0"/>
              <a:t>Feedforward Neural Networks (FNNs)</a:t>
            </a:r>
            <a:r>
              <a:rPr lang="en-US" dirty="0"/>
              <a:t>, which are the foundation of deep learning models.</a:t>
            </a:r>
          </a:p>
        </p:txBody>
      </p:sp>
      <p:sp>
        <p:nvSpPr>
          <p:cNvPr id="9" name="TextBox 8">
            <a:extLst>
              <a:ext uri="{FF2B5EF4-FFF2-40B4-BE49-F238E27FC236}">
                <a16:creationId xmlns:a16="http://schemas.microsoft.com/office/drawing/2014/main" id="{697FAD1C-EFC5-959E-6DCB-E397E335436D}"/>
              </a:ext>
            </a:extLst>
          </p:cNvPr>
          <p:cNvSpPr txBox="1"/>
          <p:nvPr/>
        </p:nvSpPr>
        <p:spPr>
          <a:xfrm>
            <a:off x="1766596" y="2967335"/>
            <a:ext cx="7829985" cy="923330"/>
          </a:xfrm>
          <a:prstGeom prst="rect">
            <a:avLst/>
          </a:prstGeom>
          <a:noFill/>
        </p:spPr>
        <p:txBody>
          <a:bodyPr wrap="square">
            <a:spAutoFit/>
          </a:bodyPr>
          <a:lstStyle/>
          <a:p>
            <a:pPr marL="285750" indent="-285750" algn="just">
              <a:buFont typeface="Arial" panose="020B0604020202020204" pitchFamily="34" charset="0"/>
              <a:buChar char="•"/>
            </a:pPr>
            <a:r>
              <a:rPr lang="en-US" b="1" dirty="0"/>
              <a:t>Feedforward Neural Networks</a:t>
            </a:r>
            <a:r>
              <a:rPr lang="en-US" dirty="0"/>
              <a:t> are the simplest form of artificial neural networks where information moves in </a:t>
            </a:r>
            <a:r>
              <a:rPr lang="en-US" b="1" dirty="0"/>
              <a:t>one direction</a:t>
            </a:r>
            <a:r>
              <a:rPr lang="en-US" dirty="0"/>
              <a:t> only, from the input layer to the output layer.</a:t>
            </a:r>
          </a:p>
        </p:txBody>
      </p:sp>
      <p:sp>
        <p:nvSpPr>
          <p:cNvPr id="11" name="TextBox 10">
            <a:extLst>
              <a:ext uri="{FF2B5EF4-FFF2-40B4-BE49-F238E27FC236}">
                <a16:creationId xmlns:a16="http://schemas.microsoft.com/office/drawing/2014/main" id="{7C7A5DBF-F4FE-30C1-317A-7C88AAE3795A}"/>
              </a:ext>
            </a:extLst>
          </p:cNvPr>
          <p:cNvSpPr txBox="1"/>
          <p:nvPr/>
        </p:nvSpPr>
        <p:spPr>
          <a:xfrm>
            <a:off x="1766596" y="4009388"/>
            <a:ext cx="6096000" cy="369332"/>
          </a:xfrm>
          <a:prstGeom prst="rect">
            <a:avLst/>
          </a:prstGeom>
          <a:noFill/>
        </p:spPr>
        <p:txBody>
          <a:bodyPr wrap="square">
            <a:spAutoFit/>
          </a:bodyPr>
          <a:lstStyle/>
          <a:p>
            <a:pPr marL="285750" indent="-285750">
              <a:buFont typeface="Arial" panose="020B0604020202020204" pitchFamily="34" charset="0"/>
              <a:buChar char="•"/>
            </a:pPr>
            <a:r>
              <a:rPr lang="en-US" dirty="0"/>
              <a:t>FNNs consist of multiple layers</a:t>
            </a:r>
          </a:p>
        </p:txBody>
      </p:sp>
      <p:sp>
        <p:nvSpPr>
          <p:cNvPr id="16" name="TextBox 15">
            <a:extLst>
              <a:ext uri="{FF2B5EF4-FFF2-40B4-BE49-F238E27FC236}">
                <a16:creationId xmlns:a16="http://schemas.microsoft.com/office/drawing/2014/main" id="{FE8DC23E-F01E-7252-2C0A-D205B4F86C74}"/>
              </a:ext>
            </a:extLst>
          </p:cNvPr>
          <p:cNvSpPr txBox="1"/>
          <p:nvPr/>
        </p:nvSpPr>
        <p:spPr>
          <a:xfrm>
            <a:off x="2502771" y="4378720"/>
            <a:ext cx="5865373" cy="1815882"/>
          </a:xfrm>
          <a:prstGeom prst="rect">
            <a:avLst/>
          </a:prstGeom>
          <a:noFill/>
        </p:spPr>
        <p:txBody>
          <a:bodyPr wrap="square">
            <a:spAutoFit/>
          </a:bodyPr>
          <a:lstStyle/>
          <a:p>
            <a:pPr marL="285750" indent="-285750" algn="just">
              <a:buFont typeface="Arial" panose="020B0604020202020204" pitchFamily="34" charset="0"/>
              <a:buChar char="•"/>
            </a:pPr>
            <a:r>
              <a:rPr lang="en-US" sz="1600" b="1" dirty="0"/>
              <a:t>Input Layer</a:t>
            </a:r>
            <a:r>
              <a:rPr lang="en-US" sz="1600" dirty="0"/>
              <a:t>: Receives input data (features).</a:t>
            </a:r>
          </a:p>
          <a:p>
            <a:pPr marL="285750" indent="-285750" algn="just">
              <a:buFont typeface="Arial" panose="020B0604020202020204" pitchFamily="34" charset="0"/>
              <a:buChar char="•"/>
            </a:pPr>
            <a:endParaRPr lang="en-US" sz="1600" dirty="0"/>
          </a:p>
          <a:p>
            <a:pPr marL="285750" indent="-285750" algn="just">
              <a:buFont typeface="Arial" panose="020B0604020202020204" pitchFamily="34" charset="0"/>
              <a:buChar char="•"/>
            </a:pPr>
            <a:r>
              <a:rPr lang="en-US" sz="1600" b="1" dirty="0"/>
              <a:t>Hidden Layers</a:t>
            </a:r>
            <a:r>
              <a:rPr lang="en-US" sz="1600" dirty="0"/>
              <a:t>: Process the input data using learned weights. These layers are where the network "learns" patterns.</a:t>
            </a:r>
          </a:p>
          <a:p>
            <a:pPr marL="285750" indent="-285750" algn="just">
              <a:buFont typeface="Arial" panose="020B0604020202020204" pitchFamily="34" charset="0"/>
              <a:buChar char="•"/>
            </a:pPr>
            <a:endParaRPr lang="en-US" sz="1600" dirty="0"/>
          </a:p>
          <a:p>
            <a:pPr marL="285750" indent="-285750" algn="just">
              <a:buFont typeface="Arial" panose="020B0604020202020204" pitchFamily="34" charset="0"/>
              <a:buChar char="•"/>
            </a:pPr>
            <a:r>
              <a:rPr lang="en-US" sz="1600" b="1" dirty="0"/>
              <a:t>Output Layer</a:t>
            </a:r>
            <a:r>
              <a:rPr lang="en-US" sz="1600" dirty="0"/>
              <a:t>: Produces the final prediction or classification based on the processed data.</a:t>
            </a:r>
          </a:p>
        </p:txBody>
      </p:sp>
    </p:spTree>
    <p:extLst>
      <p:ext uri="{BB962C8B-B14F-4D97-AF65-F5344CB8AC3E}">
        <p14:creationId xmlns:p14="http://schemas.microsoft.com/office/powerpoint/2010/main" val="13088987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114694-E9A8-99E8-DA71-997ACB4ED1FD}"/>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Feedforward Neural Networks</a:t>
            </a:r>
          </a:p>
        </p:txBody>
      </p:sp>
      <p:sp>
        <p:nvSpPr>
          <p:cNvPr id="3" name="TextBox 2">
            <a:extLst>
              <a:ext uri="{FF2B5EF4-FFF2-40B4-BE49-F238E27FC236}">
                <a16:creationId xmlns:a16="http://schemas.microsoft.com/office/drawing/2014/main" id="{C9436A09-8FEE-490C-0404-3F718E4D6691}"/>
              </a:ext>
            </a:extLst>
          </p:cNvPr>
          <p:cNvSpPr txBox="1"/>
          <p:nvPr/>
        </p:nvSpPr>
        <p:spPr>
          <a:xfrm>
            <a:off x="1071418" y="1832949"/>
            <a:ext cx="6096000" cy="369332"/>
          </a:xfrm>
          <a:prstGeom prst="rect">
            <a:avLst/>
          </a:prstGeom>
          <a:noFill/>
        </p:spPr>
        <p:txBody>
          <a:bodyPr wrap="square">
            <a:spAutoFit/>
          </a:bodyPr>
          <a:lstStyle/>
          <a:p>
            <a:r>
              <a:rPr lang="en-US" b="1" dirty="0"/>
              <a:t>Architecture of a Feedforward Neural Network</a:t>
            </a:r>
          </a:p>
        </p:txBody>
      </p:sp>
      <p:pic>
        <p:nvPicPr>
          <p:cNvPr id="5" name="Picture 4">
            <a:extLst>
              <a:ext uri="{FF2B5EF4-FFF2-40B4-BE49-F238E27FC236}">
                <a16:creationId xmlns:a16="http://schemas.microsoft.com/office/drawing/2014/main" id="{D56783F0-4390-B7D5-C03D-9266371F4A6B}"/>
              </a:ext>
            </a:extLst>
          </p:cNvPr>
          <p:cNvPicPr>
            <a:picLocks noChangeAspect="1"/>
          </p:cNvPicPr>
          <p:nvPr/>
        </p:nvPicPr>
        <p:blipFill>
          <a:blip r:embed="rId2"/>
          <a:stretch>
            <a:fillRect/>
          </a:stretch>
        </p:blipFill>
        <p:spPr>
          <a:xfrm>
            <a:off x="1910830" y="2497309"/>
            <a:ext cx="8370340" cy="2989407"/>
          </a:xfrm>
          <a:prstGeom prst="rect">
            <a:avLst/>
          </a:prstGeom>
        </p:spPr>
      </p:pic>
    </p:spTree>
    <p:extLst>
      <p:ext uri="{BB962C8B-B14F-4D97-AF65-F5344CB8AC3E}">
        <p14:creationId xmlns:p14="http://schemas.microsoft.com/office/powerpoint/2010/main" val="23244541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63B05A-A12F-60B6-F3A9-8838C1A88C59}"/>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Feedforward Neural Networks</a:t>
            </a:r>
          </a:p>
        </p:txBody>
      </p:sp>
      <p:sp>
        <p:nvSpPr>
          <p:cNvPr id="4" name="TextBox 3">
            <a:extLst>
              <a:ext uri="{FF2B5EF4-FFF2-40B4-BE49-F238E27FC236}">
                <a16:creationId xmlns:a16="http://schemas.microsoft.com/office/drawing/2014/main" id="{AD8C9DE8-F72F-DCCC-DC3A-5EDABFFB14D8}"/>
              </a:ext>
            </a:extLst>
          </p:cNvPr>
          <p:cNvSpPr txBox="1"/>
          <p:nvPr/>
        </p:nvSpPr>
        <p:spPr>
          <a:xfrm>
            <a:off x="1071418" y="1832949"/>
            <a:ext cx="6096000" cy="369332"/>
          </a:xfrm>
          <a:prstGeom prst="rect">
            <a:avLst/>
          </a:prstGeom>
          <a:noFill/>
        </p:spPr>
        <p:txBody>
          <a:bodyPr wrap="square">
            <a:spAutoFit/>
          </a:bodyPr>
          <a:lstStyle/>
          <a:p>
            <a:r>
              <a:rPr lang="en-US" b="1" dirty="0"/>
              <a:t>Architecture of a Feedforward Neural Network</a:t>
            </a:r>
          </a:p>
        </p:txBody>
      </p:sp>
      <p:sp>
        <p:nvSpPr>
          <p:cNvPr id="6" name="TextBox 5">
            <a:extLst>
              <a:ext uri="{FF2B5EF4-FFF2-40B4-BE49-F238E27FC236}">
                <a16:creationId xmlns:a16="http://schemas.microsoft.com/office/drawing/2014/main" id="{6A750390-1A7A-7C8F-6F75-249C4D026729}"/>
              </a:ext>
            </a:extLst>
          </p:cNvPr>
          <p:cNvSpPr txBox="1"/>
          <p:nvPr/>
        </p:nvSpPr>
        <p:spPr>
          <a:xfrm>
            <a:off x="1487055" y="2294614"/>
            <a:ext cx="6096000" cy="369332"/>
          </a:xfrm>
          <a:prstGeom prst="rect">
            <a:avLst/>
          </a:prstGeom>
          <a:noFill/>
        </p:spPr>
        <p:txBody>
          <a:bodyPr wrap="square">
            <a:spAutoFit/>
          </a:bodyPr>
          <a:lstStyle/>
          <a:p>
            <a:r>
              <a:rPr lang="en-US" b="1" dirty="0"/>
              <a:t>1. One-way Data Flow</a:t>
            </a:r>
          </a:p>
        </p:txBody>
      </p:sp>
      <p:sp>
        <p:nvSpPr>
          <p:cNvPr id="8" name="TextBox 7">
            <a:extLst>
              <a:ext uri="{FF2B5EF4-FFF2-40B4-BE49-F238E27FC236}">
                <a16:creationId xmlns:a16="http://schemas.microsoft.com/office/drawing/2014/main" id="{8BAF3711-95CB-E933-7176-A12BC4C7D1C4}"/>
              </a:ext>
            </a:extLst>
          </p:cNvPr>
          <p:cNvSpPr txBox="1"/>
          <p:nvPr/>
        </p:nvSpPr>
        <p:spPr>
          <a:xfrm>
            <a:off x="1766597" y="2663946"/>
            <a:ext cx="9483294" cy="1477328"/>
          </a:xfrm>
          <a:prstGeom prst="rect">
            <a:avLst/>
          </a:prstGeom>
          <a:noFill/>
        </p:spPr>
        <p:txBody>
          <a:bodyPr wrap="square">
            <a:spAutoFit/>
          </a:bodyPr>
          <a:lstStyle/>
          <a:p>
            <a:pPr marL="285750" indent="-285750" algn="just">
              <a:buFont typeface="Arial" panose="020B0604020202020204" pitchFamily="34" charset="0"/>
              <a:buChar char="•"/>
            </a:pPr>
            <a:r>
              <a:rPr lang="en-US" dirty="0"/>
              <a:t>In a </a:t>
            </a:r>
            <a:r>
              <a:rPr lang="en-US" b="1" dirty="0"/>
              <a:t>feedforward neural network</a:t>
            </a:r>
            <a:r>
              <a:rPr lang="en-US" dirty="0"/>
              <a:t>, data flows strictly in one direction—from the input layer to the output layer. There are no loops or feedback connections, meaning that information is only passed forward through the layers, never backwards. Once the input is received, it passes through each hidden layer sequentially until it reaches the output layer, where the final prediction is made.</a:t>
            </a:r>
          </a:p>
        </p:txBody>
      </p:sp>
    </p:spTree>
    <p:extLst>
      <p:ext uri="{BB962C8B-B14F-4D97-AF65-F5344CB8AC3E}">
        <p14:creationId xmlns:p14="http://schemas.microsoft.com/office/powerpoint/2010/main" val="38516013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D08C05E-11B3-EB2D-DCF4-9057E052429E}"/>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Feedforward Neural Networks</a:t>
            </a:r>
          </a:p>
        </p:txBody>
      </p:sp>
      <p:sp>
        <p:nvSpPr>
          <p:cNvPr id="5" name="TextBox 4">
            <a:extLst>
              <a:ext uri="{FF2B5EF4-FFF2-40B4-BE49-F238E27FC236}">
                <a16:creationId xmlns:a16="http://schemas.microsoft.com/office/drawing/2014/main" id="{7526B885-3748-1DBB-8A2C-9C4BC25B7CC8}"/>
              </a:ext>
            </a:extLst>
          </p:cNvPr>
          <p:cNvSpPr txBox="1"/>
          <p:nvPr/>
        </p:nvSpPr>
        <p:spPr>
          <a:xfrm>
            <a:off x="1071418" y="1832949"/>
            <a:ext cx="6096000" cy="369332"/>
          </a:xfrm>
          <a:prstGeom prst="rect">
            <a:avLst/>
          </a:prstGeom>
          <a:noFill/>
        </p:spPr>
        <p:txBody>
          <a:bodyPr wrap="square">
            <a:spAutoFit/>
          </a:bodyPr>
          <a:lstStyle/>
          <a:p>
            <a:r>
              <a:rPr lang="en-US" b="1" dirty="0"/>
              <a:t>Architecture of a Feedforward Neural Network</a:t>
            </a:r>
          </a:p>
        </p:txBody>
      </p:sp>
      <p:sp>
        <p:nvSpPr>
          <p:cNvPr id="6" name="TextBox 5">
            <a:extLst>
              <a:ext uri="{FF2B5EF4-FFF2-40B4-BE49-F238E27FC236}">
                <a16:creationId xmlns:a16="http://schemas.microsoft.com/office/drawing/2014/main" id="{3784BFC3-B2C3-89C3-90D4-224E68431C8C}"/>
              </a:ext>
            </a:extLst>
          </p:cNvPr>
          <p:cNvSpPr txBox="1"/>
          <p:nvPr/>
        </p:nvSpPr>
        <p:spPr>
          <a:xfrm>
            <a:off x="1487055" y="2294614"/>
            <a:ext cx="6096000" cy="369332"/>
          </a:xfrm>
          <a:prstGeom prst="rect">
            <a:avLst/>
          </a:prstGeom>
          <a:noFill/>
        </p:spPr>
        <p:txBody>
          <a:bodyPr wrap="square">
            <a:spAutoFit/>
          </a:bodyPr>
          <a:lstStyle/>
          <a:p>
            <a:r>
              <a:rPr lang="en-US" b="1" dirty="0"/>
              <a:t>1. One-way Data Flow</a:t>
            </a:r>
          </a:p>
        </p:txBody>
      </p:sp>
      <p:pic>
        <p:nvPicPr>
          <p:cNvPr id="7" name="Picture 2" descr="Neural Networks - Architecture">
            <a:extLst>
              <a:ext uri="{FF2B5EF4-FFF2-40B4-BE49-F238E27FC236}">
                <a16:creationId xmlns:a16="http://schemas.microsoft.com/office/drawing/2014/main" id="{E8A35746-49CD-9873-B4BA-7F530C3292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7055" y="2847109"/>
            <a:ext cx="7516957" cy="288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51553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28BA8A-A3C2-B9E8-C35D-230475812413}"/>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Feedforward Neural Networks</a:t>
            </a:r>
          </a:p>
        </p:txBody>
      </p:sp>
      <p:sp>
        <p:nvSpPr>
          <p:cNvPr id="3" name="TextBox 2">
            <a:extLst>
              <a:ext uri="{FF2B5EF4-FFF2-40B4-BE49-F238E27FC236}">
                <a16:creationId xmlns:a16="http://schemas.microsoft.com/office/drawing/2014/main" id="{7A1E5EF6-5D63-FAB9-15B9-03A833EF5772}"/>
              </a:ext>
            </a:extLst>
          </p:cNvPr>
          <p:cNvSpPr txBox="1"/>
          <p:nvPr/>
        </p:nvSpPr>
        <p:spPr>
          <a:xfrm>
            <a:off x="1071418" y="1832949"/>
            <a:ext cx="6096000" cy="369332"/>
          </a:xfrm>
          <a:prstGeom prst="rect">
            <a:avLst/>
          </a:prstGeom>
          <a:noFill/>
        </p:spPr>
        <p:txBody>
          <a:bodyPr wrap="square">
            <a:spAutoFit/>
          </a:bodyPr>
          <a:lstStyle/>
          <a:p>
            <a:r>
              <a:rPr lang="en-US" b="1" dirty="0"/>
              <a:t>Architecture of a Feedforward Neural Network</a:t>
            </a:r>
          </a:p>
        </p:txBody>
      </p:sp>
      <p:sp>
        <p:nvSpPr>
          <p:cNvPr id="4" name="TextBox 3">
            <a:extLst>
              <a:ext uri="{FF2B5EF4-FFF2-40B4-BE49-F238E27FC236}">
                <a16:creationId xmlns:a16="http://schemas.microsoft.com/office/drawing/2014/main" id="{102A7F4B-D1B0-EE07-58D9-C29788AA97BB}"/>
              </a:ext>
            </a:extLst>
          </p:cNvPr>
          <p:cNvSpPr txBox="1"/>
          <p:nvPr/>
        </p:nvSpPr>
        <p:spPr>
          <a:xfrm>
            <a:off x="1487055" y="2294614"/>
            <a:ext cx="6096000" cy="369332"/>
          </a:xfrm>
          <a:prstGeom prst="rect">
            <a:avLst/>
          </a:prstGeom>
          <a:noFill/>
        </p:spPr>
        <p:txBody>
          <a:bodyPr wrap="square">
            <a:spAutoFit/>
          </a:bodyPr>
          <a:lstStyle/>
          <a:p>
            <a:r>
              <a:rPr lang="en-US" b="1" dirty="0"/>
              <a:t>2. Fully Connected Neurons</a:t>
            </a:r>
          </a:p>
        </p:txBody>
      </p:sp>
      <p:sp>
        <p:nvSpPr>
          <p:cNvPr id="5" name="TextBox 4">
            <a:extLst>
              <a:ext uri="{FF2B5EF4-FFF2-40B4-BE49-F238E27FC236}">
                <a16:creationId xmlns:a16="http://schemas.microsoft.com/office/drawing/2014/main" id="{44B436A3-0D41-D896-50CC-029812705480}"/>
              </a:ext>
            </a:extLst>
          </p:cNvPr>
          <p:cNvSpPr txBox="1"/>
          <p:nvPr/>
        </p:nvSpPr>
        <p:spPr>
          <a:xfrm>
            <a:off x="1766597" y="2663946"/>
            <a:ext cx="9483294" cy="1200329"/>
          </a:xfrm>
          <a:prstGeom prst="rect">
            <a:avLst/>
          </a:prstGeom>
          <a:noFill/>
        </p:spPr>
        <p:txBody>
          <a:bodyPr wrap="square">
            <a:spAutoFit/>
          </a:bodyPr>
          <a:lstStyle/>
          <a:p>
            <a:pPr marL="285750" indent="-285750" algn="just">
              <a:buFont typeface="Arial" panose="020B0604020202020204" pitchFamily="34" charset="0"/>
              <a:buChar char="•"/>
            </a:pPr>
            <a:r>
              <a:rPr lang="en-US" dirty="0"/>
              <a:t>Each neuron in one layer is connected to </a:t>
            </a:r>
            <a:r>
              <a:rPr lang="en-US" b="1" dirty="0"/>
              <a:t>every neuron</a:t>
            </a:r>
            <a:r>
              <a:rPr lang="en-US" dirty="0"/>
              <a:t> in the previous layer. This is called a </a:t>
            </a:r>
            <a:r>
              <a:rPr lang="en-US" b="1" dirty="0"/>
              <a:t>fully connected layer</a:t>
            </a:r>
            <a:r>
              <a:rPr lang="en-US" dirty="0"/>
              <a:t>. Every neuron takes input from all the neurons in the previous layer and sends its output to every neuron in the next layer. This ensures that the network can fully utilize all information coming from previous layers to compute its next set of outputs.</a:t>
            </a:r>
          </a:p>
        </p:txBody>
      </p:sp>
    </p:spTree>
    <p:extLst>
      <p:ext uri="{BB962C8B-B14F-4D97-AF65-F5344CB8AC3E}">
        <p14:creationId xmlns:p14="http://schemas.microsoft.com/office/powerpoint/2010/main" val="9354591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26 Fully connected layer [77] | Download Scientific Diagram">
            <a:extLst>
              <a:ext uri="{FF2B5EF4-FFF2-40B4-BE49-F238E27FC236}">
                <a16:creationId xmlns:a16="http://schemas.microsoft.com/office/drawing/2014/main" id="{C09F87F5-CB45-8C0F-84FB-BD7A26A2CE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1283" y="2756279"/>
            <a:ext cx="2892492" cy="353368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932ED05-F5CE-739D-CB6C-DE2FBEDC30E1}"/>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Feedforward Neural Networks</a:t>
            </a:r>
          </a:p>
        </p:txBody>
      </p:sp>
      <p:sp>
        <p:nvSpPr>
          <p:cNvPr id="5" name="TextBox 4">
            <a:extLst>
              <a:ext uri="{FF2B5EF4-FFF2-40B4-BE49-F238E27FC236}">
                <a16:creationId xmlns:a16="http://schemas.microsoft.com/office/drawing/2014/main" id="{107ADABB-E0D9-659E-00AB-740E659D8B43}"/>
              </a:ext>
            </a:extLst>
          </p:cNvPr>
          <p:cNvSpPr txBox="1"/>
          <p:nvPr/>
        </p:nvSpPr>
        <p:spPr>
          <a:xfrm>
            <a:off x="1071418" y="1832949"/>
            <a:ext cx="6096000" cy="369332"/>
          </a:xfrm>
          <a:prstGeom prst="rect">
            <a:avLst/>
          </a:prstGeom>
          <a:noFill/>
        </p:spPr>
        <p:txBody>
          <a:bodyPr wrap="square">
            <a:spAutoFit/>
          </a:bodyPr>
          <a:lstStyle/>
          <a:p>
            <a:r>
              <a:rPr lang="en-US" b="1" dirty="0"/>
              <a:t>Architecture of a Feedforward Neural Network</a:t>
            </a:r>
          </a:p>
        </p:txBody>
      </p:sp>
      <p:sp>
        <p:nvSpPr>
          <p:cNvPr id="6" name="TextBox 5">
            <a:extLst>
              <a:ext uri="{FF2B5EF4-FFF2-40B4-BE49-F238E27FC236}">
                <a16:creationId xmlns:a16="http://schemas.microsoft.com/office/drawing/2014/main" id="{8654C11E-4BD9-5FB6-56D7-D1909E48AA58}"/>
              </a:ext>
            </a:extLst>
          </p:cNvPr>
          <p:cNvSpPr txBox="1"/>
          <p:nvPr/>
        </p:nvSpPr>
        <p:spPr>
          <a:xfrm>
            <a:off x="1487055" y="2294614"/>
            <a:ext cx="6096000" cy="369332"/>
          </a:xfrm>
          <a:prstGeom prst="rect">
            <a:avLst/>
          </a:prstGeom>
          <a:noFill/>
        </p:spPr>
        <p:txBody>
          <a:bodyPr wrap="square">
            <a:spAutoFit/>
          </a:bodyPr>
          <a:lstStyle/>
          <a:p>
            <a:r>
              <a:rPr lang="en-US" b="1" dirty="0"/>
              <a:t>2. Fully Connected Neurons</a:t>
            </a:r>
          </a:p>
        </p:txBody>
      </p:sp>
    </p:spTree>
    <p:extLst>
      <p:ext uri="{BB962C8B-B14F-4D97-AF65-F5344CB8AC3E}">
        <p14:creationId xmlns:p14="http://schemas.microsoft.com/office/powerpoint/2010/main" val="7859377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29269-85FA-A1B8-F699-64B781D941A4}"/>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Feedforward Neural Networks</a:t>
            </a:r>
          </a:p>
        </p:txBody>
      </p:sp>
      <p:sp>
        <p:nvSpPr>
          <p:cNvPr id="3" name="TextBox 2">
            <a:extLst>
              <a:ext uri="{FF2B5EF4-FFF2-40B4-BE49-F238E27FC236}">
                <a16:creationId xmlns:a16="http://schemas.microsoft.com/office/drawing/2014/main" id="{C2CC4219-0163-FF79-D4E3-70CE4243BD55}"/>
              </a:ext>
            </a:extLst>
          </p:cNvPr>
          <p:cNvSpPr txBox="1"/>
          <p:nvPr/>
        </p:nvSpPr>
        <p:spPr>
          <a:xfrm>
            <a:off x="1071418" y="1832949"/>
            <a:ext cx="6096000" cy="369332"/>
          </a:xfrm>
          <a:prstGeom prst="rect">
            <a:avLst/>
          </a:prstGeom>
          <a:noFill/>
        </p:spPr>
        <p:txBody>
          <a:bodyPr wrap="square">
            <a:spAutoFit/>
          </a:bodyPr>
          <a:lstStyle/>
          <a:p>
            <a:r>
              <a:rPr lang="en-US" b="1" dirty="0"/>
              <a:t>Architecture of a Feedforward Neural Network</a:t>
            </a:r>
          </a:p>
        </p:txBody>
      </p:sp>
      <p:sp>
        <p:nvSpPr>
          <p:cNvPr id="4" name="TextBox 3">
            <a:extLst>
              <a:ext uri="{FF2B5EF4-FFF2-40B4-BE49-F238E27FC236}">
                <a16:creationId xmlns:a16="http://schemas.microsoft.com/office/drawing/2014/main" id="{2AE9C634-6C99-8654-962D-3B83DA84B924}"/>
              </a:ext>
            </a:extLst>
          </p:cNvPr>
          <p:cNvSpPr txBox="1"/>
          <p:nvPr/>
        </p:nvSpPr>
        <p:spPr>
          <a:xfrm>
            <a:off x="1487055" y="2294614"/>
            <a:ext cx="6096000" cy="369332"/>
          </a:xfrm>
          <a:prstGeom prst="rect">
            <a:avLst/>
          </a:prstGeom>
          <a:noFill/>
        </p:spPr>
        <p:txBody>
          <a:bodyPr wrap="square">
            <a:spAutoFit/>
          </a:bodyPr>
          <a:lstStyle/>
          <a:p>
            <a:r>
              <a:rPr lang="en-US" b="1" dirty="0"/>
              <a:t>3. Neuron Operations</a:t>
            </a:r>
          </a:p>
        </p:txBody>
      </p:sp>
      <p:sp>
        <p:nvSpPr>
          <p:cNvPr id="7" name="TextBox 6">
            <a:extLst>
              <a:ext uri="{FF2B5EF4-FFF2-40B4-BE49-F238E27FC236}">
                <a16:creationId xmlns:a16="http://schemas.microsoft.com/office/drawing/2014/main" id="{A0EC3F58-8994-0A6E-3F0F-40FD2F6DE64F}"/>
              </a:ext>
            </a:extLst>
          </p:cNvPr>
          <p:cNvSpPr txBox="1"/>
          <p:nvPr/>
        </p:nvSpPr>
        <p:spPr>
          <a:xfrm>
            <a:off x="1766597" y="2663946"/>
            <a:ext cx="6096000" cy="369332"/>
          </a:xfrm>
          <a:prstGeom prst="rect">
            <a:avLst/>
          </a:prstGeom>
          <a:noFill/>
        </p:spPr>
        <p:txBody>
          <a:bodyPr wrap="square">
            <a:spAutoFit/>
          </a:bodyPr>
          <a:lstStyle/>
          <a:p>
            <a:r>
              <a:rPr lang="en-US" dirty="0"/>
              <a:t>Inside each neuron, the following steps occur</a:t>
            </a:r>
          </a:p>
        </p:txBody>
      </p:sp>
      <p:sp>
        <p:nvSpPr>
          <p:cNvPr id="9" name="TextBox 8">
            <a:extLst>
              <a:ext uri="{FF2B5EF4-FFF2-40B4-BE49-F238E27FC236}">
                <a16:creationId xmlns:a16="http://schemas.microsoft.com/office/drawing/2014/main" id="{0446B3B8-4BCF-2789-98F5-D613F4A68AB6}"/>
              </a:ext>
            </a:extLst>
          </p:cNvPr>
          <p:cNvSpPr txBox="1"/>
          <p:nvPr/>
        </p:nvSpPr>
        <p:spPr>
          <a:xfrm>
            <a:off x="2046139" y="3033278"/>
            <a:ext cx="9102152" cy="1754326"/>
          </a:xfrm>
          <a:prstGeom prst="rect">
            <a:avLst/>
          </a:prstGeom>
          <a:noFill/>
        </p:spPr>
        <p:txBody>
          <a:bodyPr wrap="square">
            <a:spAutoFit/>
          </a:bodyPr>
          <a:lstStyle/>
          <a:p>
            <a:pPr marL="285750" indent="-285750" algn="just">
              <a:buFont typeface="Arial" panose="020B0604020202020204" pitchFamily="34" charset="0"/>
              <a:buChar char="•"/>
            </a:pPr>
            <a:r>
              <a:rPr lang="en-US" b="1" dirty="0"/>
              <a:t>Input and Weights</a:t>
            </a:r>
            <a:r>
              <a:rPr lang="en-US" dirty="0"/>
              <a:t>: The neuron receives inputs from the previous layer. Each input is multiplied by a </a:t>
            </a:r>
            <a:r>
              <a:rPr lang="en-US" b="1" dirty="0"/>
              <a:t>weight</a:t>
            </a:r>
            <a:r>
              <a:rPr lang="en-US" dirty="0"/>
              <a:t>, which controls how much influence that input has on the neuron’s output. These weights are adjusted during training.</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Bias Addition</a:t>
            </a:r>
            <a:r>
              <a:rPr lang="en-US" dirty="0"/>
              <a:t>: A </a:t>
            </a:r>
            <a:r>
              <a:rPr lang="en-US" b="1" dirty="0"/>
              <a:t>bias</a:t>
            </a:r>
            <a:r>
              <a:rPr lang="en-US" dirty="0"/>
              <a:t> term is added to the weighted sum. Bias allows the network to shift the activation function, which helps improve the model's flexibility.</a:t>
            </a:r>
          </a:p>
        </p:txBody>
      </p:sp>
    </p:spTree>
    <p:extLst>
      <p:ext uri="{BB962C8B-B14F-4D97-AF65-F5344CB8AC3E}">
        <p14:creationId xmlns:p14="http://schemas.microsoft.com/office/powerpoint/2010/main" val="42337144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C43FE7-B428-DF71-3918-F95A68F78C2D}"/>
              </a:ext>
            </a:extLst>
          </p:cNvPr>
          <p:cNvSpPr txBox="1"/>
          <p:nvPr/>
        </p:nvSpPr>
        <p:spPr>
          <a:xfrm>
            <a:off x="190948" y="1371284"/>
            <a:ext cx="4623649" cy="461665"/>
          </a:xfrm>
          <a:prstGeom prst="rect">
            <a:avLst/>
          </a:prstGeom>
          <a:noFill/>
        </p:spPr>
        <p:txBody>
          <a:bodyPr wrap="square">
            <a:spAutoFit/>
          </a:bodyPr>
          <a:lstStyle/>
          <a:p>
            <a:pPr algn="ctr"/>
            <a:r>
              <a:rPr lang="en-US" sz="2400" b="1" dirty="0">
                <a:solidFill>
                  <a:srgbClr val="1869A6"/>
                </a:solidFill>
              </a:rPr>
              <a:t>Feedforward Neural Networks</a:t>
            </a:r>
          </a:p>
        </p:txBody>
      </p:sp>
      <p:sp>
        <p:nvSpPr>
          <p:cNvPr id="3" name="TextBox 2">
            <a:extLst>
              <a:ext uri="{FF2B5EF4-FFF2-40B4-BE49-F238E27FC236}">
                <a16:creationId xmlns:a16="http://schemas.microsoft.com/office/drawing/2014/main" id="{595CD4D8-E0B3-1A5F-F27A-5A3A7B497B2C}"/>
              </a:ext>
            </a:extLst>
          </p:cNvPr>
          <p:cNvSpPr txBox="1"/>
          <p:nvPr/>
        </p:nvSpPr>
        <p:spPr>
          <a:xfrm>
            <a:off x="1071418" y="1832949"/>
            <a:ext cx="6096000" cy="369332"/>
          </a:xfrm>
          <a:prstGeom prst="rect">
            <a:avLst/>
          </a:prstGeom>
          <a:noFill/>
        </p:spPr>
        <p:txBody>
          <a:bodyPr wrap="square">
            <a:spAutoFit/>
          </a:bodyPr>
          <a:lstStyle/>
          <a:p>
            <a:r>
              <a:rPr lang="en-US" b="1" dirty="0"/>
              <a:t>Architecture of a Feedforward Neural Network</a:t>
            </a:r>
          </a:p>
        </p:txBody>
      </p:sp>
      <p:sp>
        <p:nvSpPr>
          <p:cNvPr id="4" name="TextBox 3">
            <a:extLst>
              <a:ext uri="{FF2B5EF4-FFF2-40B4-BE49-F238E27FC236}">
                <a16:creationId xmlns:a16="http://schemas.microsoft.com/office/drawing/2014/main" id="{3627E64C-C3A1-258E-7386-D591947CABA9}"/>
              </a:ext>
            </a:extLst>
          </p:cNvPr>
          <p:cNvSpPr txBox="1"/>
          <p:nvPr/>
        </p:nvSpPr>
        <p:spPr>
          <a:xfrm>
            <a:off x="1487055" y="2294614"/>
            <a:ext cx="6096000" cy="369332"/>
          </a:xfrm>
          <a:prstGeom prst="rect">
            <a:avLst/>
          </a:prstGeom>
          <a:noFill/>
        </p:spPr>
        <p:txBody>
          <a:bodyPr wrap="square">
            <a:spAutoFit/>
          </a:bodyPr>
          <a:lstStyle/>
          <a:p>
            <a:r>
              <a:rPr lang="en-US" b="1" dirty="0"/>
              <a:t>3. Neuron Operations</a:t>
            </a:r>
          </a:p>
        </p:txBody>
      </p:sp>
      <p:sp>
        <p:nvSpPr>
          <p:cNvPr id="5" name="TextBox 4">
            <a:extLst>
              <a:ext uri="{FF2B5EF4-FFF2-40B4-BE49-F238E27FC236}">
                <a16:creationId xmlns:a16="http://schemas.microsoft.com/office/drawing/2014/main" id="{A3485B68-2930-66C1-B02A-98C2A41DCE18}"/>
              </a:ext>
            </a:extLst>
          </p:cNvPr>
          <p:cNvSpPr txBox="1"/>
          <p:nvPr/>
        </p:nvSpPr>
        <p:spPr>
          <a:xfrm>
            <a:off x="1766597" y="2663946"/>
            <a:ext cx="6096000" cy="369332"/>
          </a:xfrm>
          <a:prstGeom prst="rect">
            <a:avLst/>
          </a:prstGeom>
          <a:noFill/>
        </p:spPr>
        <p:txBody>
          <a:bodyPr wrap="square">
            <a:spAutoFit/>
          </a:bodyPr>
          <a:lstStyle/>
          <a:p>
            <a:r>
              <a:rPr lang="en-US" dirty="0"/>
              <a:t>Inside each neuron, the following steps occur</a:t>
            </a:r>
          </a:p>
        </p:txBody>
      </p:sp>
      <p:sp>
        <p:nvSpPr>
          <p:cNvPr id="6" name="TextBox 5">
            <a:extLst>
              <a:ext uri="{FF2B5EF4-FFF2-40B4-BE49-F238E27FC236}">
                <a16:creationId xmlns:a16="http://schemas.microsoft.com/office/drawing/2014/main" id="{4BF68291-F58B-828A-94E0-027106566170}"/>
              </a:ext>
            </a:extLst>
          </p:cNvPr>
          <p:cNvSpPr txBox="1"/>
          <p:nvPr/>
        </p:nvSpPr>
        <p:spPr>
          <a:xfrm>
            <a:off x="2046139" y="3033278"/>
            <a:ext cx="9314588" cy="1754326"/>
          </a:xfrm>
          <a:prstGeom prst="rect">
            <a:avLst/>
          </a:prstGeom>
          <a:noFill/>
        </p:spPr>
        <p:txBody>
          <a:bodyPr wrap="square">
            <a:spAutoFit/>
          </a:bodyPr>
          <a:lstStyle/>
          <a:p>
            <a:pPr marL="285750" indent="-285750" algn="just">
              <a:buFont typeface="Arial" panose="020B0604020202020204" pitchFamily="34" charset="0"/>
              <a:buChar char="•"/>
            </a:pPr>
            <a:r>
              <a:rPr lang="en-US" b="1" dirty="0"/>
              <a:t>Activation Function</a:t>
            </a:r>
            <a:r>
              <a:rPr lang="en-US" dirty="0"/>
              <a:t>: The neuron applies an </a:t>
            </a:r>
            <a:r>
              <a:rPr lang="en-US" b="1" dirty="0"/>
              <a:t>activation function</a:t>
            </a:r>
            <a:r>
              <a:rPr lang="en-US" dirty="0"/>
              <a:t> to the weighted sum + bias. This introduces non-linearity to the model, enabling it to learn complex relationships in the data. Common activation functions include </a:t>
            </a:r>
            <a:r>
              <a:rPr lang="en-US" b="1" dirty="0"/>
              <a:t>ReLU</a:t>
            </a:r>
            <a:r>
              <a:rPr lang="en-US" dirty="0"/>
              <a:t>, </a:t>
            </a:r>
            <a:r>
              <a:rPr lang="en-US" b="1" dirty="0"/>
              <a:t>Sigmoid</a:t>
            </a:r>
            <a:r>
              <a:rPr lang="en-US" dirty="0"/>
              <a:t>, and </a:t>
            </a:r>
            <a:r>
              <a:rPr lang="en-US" b="1" dirty="0"/>
              <a:t>Tanh</a:t>
            </a:r>
            <a:r>
              <a:rPr lang="en-US" dirty="0"/>
              <a: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Output</a:t>
            </a:r>
            <a:r>
              <a:rPr lang="en-US" dirty="0"/>
              <a:t>: The result of the activation function is passed as the output of that neuron, which becomes the input for neurons in the next layer.</a:t>
            </a:r>
          </a:p>
        </p:txBody>
      </p:sp>
    </p:spTree>
    <p:extLst>
      <p:ext uri="{BB962C8B-B14F-4D97-AF65-F5344CB8AC3E}">
        <p14:creationId xmlns:p14="http://schemas.microsoft.com/office/powerpoint/2010/main" val="17404159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D818E2-DF84-52FB-B481-3625971E18FC}"/>
              </a:ext>
            </a:extLst>
          </p:cNvPr>
          <p:cNvSpPr txBox="1"/>
          <p:nvPr/>
        </p:nvSpPr>
        <p:spPr>
          <a:xfrm>
            <a:off x="3177309" y="2828835"/>
            <a:ext cx="5837382" cy="1200329"/>
          </a:xfrm>
          <a:prstGeom prst="rect">
            <a:avLst/>
          </a:prstGeom>
          <a:noFill/>
        </p:spPr>
        <p:txBody>
          <a:bodyPr wrap="square">
            <a:spAutoFit/>
          </a:bodyPr>
          <a:lstStyle/>
          <a:p>
            <a:pPr algn="ctr"/>
            <a:r>
              <a:rPr lang="en-US" sz="3600" b="1" dirty="0">
                <a:solidFill>
                  <a:srgbClr val="2AAF82"/>
                </a:solidFill>
              </a:rPr>
              <a:t>Backpropagation and Gradient Descent</a:t>
            </a:r>
          </a:p>
        </p:txBody>
      </p:sp>
    </p:spTree>
    <p:extLst>
      <p:ext uri="{BB962C8B-B14F-4D97-AF65-F5344CB8AC3E}">
        <p14:creationId xmlns:p14="http://schemas.microsoft.com/office/powerpoint/2010/main" val="41076348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A411C6-6D52-8134-2D27-C9CD7374C095}"/>
              </a:ext>
            </a:extLst>
          </p:cNvPr>
          <p:cNvSpPr txBox="1"/>
          <p:nvPr/>
        </p:nvSpPr>
        <p:spPr>
          <a:xfrm>
            <a:off x="190948" y="1371284"/>
            <a:ext cx="5803452" cy="461665"/>
          </a:xfrm>
          <a:prstGeom prst="rect">
            <a:avLst/>
          </a:prstGeom>
          <a:noFill/>
        </p:spPr>
        <p:txBody>
          <a:bodyPr wrap="square">
            <a:spAutoFit/>
          </a:bodyPr>
          <a:lstStyle/>
          <a:p>
            <a:pPr algn="ctr"/>
            <a:r>
              <a:rPr lang="en-US" sz="2400" b="1" dirty="0">
                <a:solidFill>
                  <a:srgbClr val="1869A6"/>
                </a:solidFill>
              </a:rPr>
              <a:t>Backpropagation and Gradient Descent</a:t>
            </a:r>
          </a:p>
        </p:txBody>
      </p:sp>
      <p:sp>
        <p:nvSpPr>
          <p:cNvPr id="4" name="TextBox 3">
            <a:extLst>
              <a:ext uri="{FF2B5EF4-FFF2-40B4-BE49-F238E27FC236}">
                <a16:creationId xmlns:a16="http://schemas.microsoft.com/office/drawing/2014/main" id="{D833D6C8-D9D0-96CE-B470-39E848494D83}"/>
              </a:ext>
            </a:extLst>
          </p:cNvPr>
          <p:cNvSpPr txBox="1"/>
          <p:nvPr/>
        </p:nvSpPr>
        <p:spPr>
          <a:xfrm>
            <a:off x="1330036" y="1832949"/>
            <a:ext cx="10049163" cy="923330"/>
          </a:xfrm>
          <a:prstGeom prst="rect">
            <a:avLst/>
          </a:prstGeom>
          <a:noFill/>
        </p:spPr>
        <p:txBody>
          <a:bodyPr wrap="square">
            <a:spAutoFit/>
          </a:bodyPr>
          <a:lstStyle/>
          <a:p>
            <a:r>
              <a:rPr lang="en-US" dirty="0"/>
              <a:t>Backpropagation and Gradient Descent are essential techniques for training neural networks. Together, they allow a network to learn from data by adjusting the model's weights and biases to minimize errors and improve predictions.</a:t>
            </a:r>
          </a:p>
        </p:txBody>
      </p:sp>
      <p:pic>
        <p:nvPicPr>
          <p:cNvPr id="6146" name="Picture 2" descr="Gradient Descent vs. Backpropagation: What's the Difference?">
            <a:extLst>
              <a:ext uri="{FF2B5EF4-FFF2-40B4-BE49-F238E27FC236}">
                <a16:creationId xmlns:a16="http://schemas.microsoft.com/office/drawing/2014/main" id="{1AFBD89D-6143-29DD-2182-909FA6DF87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8996" y="2827845"/>
            <a:ext cx="6774007" cy="3354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38334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4BDA42-B67C-AB0D-33FA-6C890894B39B}"/>
              </a:ext>
            </a:extLst>
          </p:cNvPr>
          <p:cNvSpPr txBox="1"/>
          <p:nvPr/>
        </p:nvSpPr>
        <p:spPr>
          <a:xfrm>
            <a:off x="190948" y="1371284"/>
            <a:ext cx="5803452" cy="461665"/>
          </a:xfrm>
          <a:prstGeom prst="rect">
            <a:avLst/>
          </a:prstGeom>
          <a:noFill/>
        </p:spPr>
        <p:txBody>
          <a:bodyPr wrap="square">
            <a:spAutoFit/>
          </a:bodyPr>
          <a:lstStyle/>
          <a:p>
            <a:pPr algn="ctr"/>
            <a:r>
              <a:rPr lang="en-US" sz="2400" b="1" dirty="0">
                <a:solidFill>
                  <a:srgbClr val="1869A6"/>
                </a:solidFill>
              </a:rPr>
              <a:t>Backpropagation and Gradient Descent</a:t>
            </a:r>
          </a:p>
        </p:txBody>
      </p:sp>
      <p:sp>
        <p:nvSpPr>
          <p:cNvPr id="5" name="TextBox 4">
            <a:extLst>
              <a:ext uri="{FF2B5EF4-FFF2-40B4-BE49-F238E27FC236}">
                <a16:creationId xmlns:a16="http://schemas.microsoft.com/office/drawing/2014/main" id="{EADE1589-979D-3B7D-5D45-1214927D0D50}"/>
              </a:ext>
            </a:extLst>
          </p:cNvPr>
          <p:cNvSpPr txBox="1"/>
          <p:nvPr/>
        </p:nvSpPr>
        <p:spPr>
          <a:xfrm>
            <a:off x="979055" y="1935080"/>
            <a:ext cx="6096000" cy="369332"/>
          </a:xfrm>
          <a:prstGeom prst="rect">
            <a:avLst/>
          </a:prstGeom>
          <a:noFill/>
        </p:spPr>
        <p:txBody>
          <a:bodyPr wrap="square">
            <a:spAutoFit/>
          </a:bodyPr>
          <a:lstStyle/>
          <a:p>
            <a:r>
              <a:rPr lang="en-US" b="1" dirty="0"/>
              <a:t>What is Backpropagation?</a:t>
            </a:r>
          </a:p>
        </p:txBody>
      </p:sp>
      <p:sp>
        <p:nvSpPr>
          <p:cNvPr id="7" name="TextBox 6">
            <a:extLst>
              <a:ext uri="{FF2B5EF4-FFF2-40B4-BE49-F238E27FC236}">
                <a16:creationId xmlns:a16="http://schemas.microsoft.com/office/drawing/2014/main" id="{2660465C-1413-9636-8D88-959F1F095907}"/>
              </a:ext>
            </a:extLst>
          </p:cNvPr>
          <p:cNvSpPr txBox="1"/>
          <p:nvPr/>
        </p:nvSpPr>
        <p:spPr>
          <a:xfrm>
            <a:off x="1311564" y="2304412"/>
            <a:ext cx="10076872" cy="923330"/>
          </a:xfrm>
          <a:prstGeom prst="rect">
            <a:avLst/>
          </a:prstGeom>
          <a:noFill/>
        </p:spPr>
        <p:txBody>
          <a:bodyPr wrap="square">
            <a:spAutoFit/>
          </a:bodyPr>
          <a:lstStyle/>
          <a:p>
            <a:pPr marL="285750" indent="-285750">
              <a:buFont typeface="Arial" panose="020B0604020202020204" pitchFamily="34" charset="0"/>
              <a:buChar char="•"/>
            </a:pPr>
            <a:r>
              <a:rPr lang="en-US" b="1" dirty="0"/>
              <a:t>Backpropagation</a:t>
            </a:r>
            <a:r>
              <a:rPr lang="en-US" dirty="0"/>
              <a:t> is a method used in training neural networks to calculate the gradient of the loss function with respect to each weight in the network. It enables the network to </a:t>
            </a:r>
            <a:r>
              <a:rPr lang="en-US" b="1" dirty="0"/>
              <a:t>adjust the weights and biases</a:t>
            </a:r>
            <a:r>
              <a:rPr lang="en-US" dirty="0"/>
              <a:t> in order to reduce the prediction error over time.</a:t>
            </a:r>
          </a:p>
        </p:txBody>
      </p:sp>
      <p:pic>
        <p:nvPicPr>
          <p:cNvPr id="35842" name="Picture 2" descr="Backpropagation in Neural Network - GeeksforGeeks">
            <a:extLst>
              <a:ext uri="{FF2B5EF4-FFF2-40B4-BE49-F238E27FC236}">
                <a16:creationId xmlns:a16="http://schemas.microsoft.com/office/drawing/2014/main" id="{FCC3B5EC-52BC-19D4-3EAA-D4D7F4C198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256" y="3227742"/>
            <a:ext cx="5394180" cy="34479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07082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1CC441-280C-9EB8-7AAF-CB5AC93EE051}"/>
              </a:ext>
            </a:extLst>
          </p:cNvPr>
          <p:cNvSpPr txBox="1"/>
          <p:nvPr/>
        </p:nvSpPr>
        <p:spPr>
          <a:xfrm>
            <a:off x="190948" y="1371284"/>
            <a:ext cx="5803452" cy="461665"/>
          </a:xfrm>
          <a:prstGeom prst="rect">
            <a:avLst/>
          </a:prstGeom>
          <a:noFill/>
        </p:spPr>
        <p:txBody>
          <a:bodyPr wrap="square">
            <a:spAutoFit/>
          </a:bodyPr>
          <a:lstStyle/>
          <a:p>
            <a:pPr algn="ctr"/>
            <a:r>
              <a:rPr lang="en-US" sz="2400" b="1" dirty="0">
                <a:solidFill>
                  <a:srgbClr val="1869A6"/>
                </a:solidFill>
              </a:rPr>
              <a:t>Backpropagation and Gradient Descent</a:t>
            </a:r>
          </a:p>
        </p:txBody>
      </p:sp>
      <p:sp>
        <p:nvSpPr>
          <p:cNvPr id="4" name="TextBox 3">
            <a:extLst>
              <a:ext uri="{FF2B5EF4-FFF2-40B4-BE49-F238E27FC236}">
                <a16:creationId xmlns:a16="http://schemas.microsoft.com/office/drawing/2014/main" id="{4D43C559-166D-33D1-DDC8-30B8B6316C22}"/>
              </a:ext>
            </a:extLst>
          </p:cNvPr>
          <p:cNvSpPr txBox="1"/>
          <p:nvPr/>
        </p:nvSpPr>
        <p:spPr>
          <a:xfrm>
            <a:off x="1274618" y="1832949"/>
            <a:ext cx="6096000" cy="369332"/>
          </a:xfrm>
          <a:prstGeom prst="rect">
            <a:avLst/>
          </a:prstGeom>
          <a:noFill/>
        </p:spPr>
        <p:txBody>
          <a:bodyPr wrap="square">
            <a:spAutoFit/>
          </a:bodyPr>
          <a:lstStyle/>
          <a:p>
            <a:r>
              <a:rPr lang="en-US" b="1" dirty="0"/>
              <a:t>Key Steps in Backpropagation</a:t>
            </a:r>
          </a:p>
        </p:txBody>
      </p:sp>
      <p:sp>
        <p:nvSpPr>
          <p:cNvPr id="6" name="TextBox 5">
            <a:extLst>
              <a:ext uri="{FF2B5EF4-FFF2-40B4-BE49-F238E27FC236}">
                <a16:creationId xmlns:a16="http://schemas.microsoft.com/office/drawing/2014/main" id="{1FC3A17A-F84B-2ABE-EB9C-EAFAF76DA005}"/>
              </a:ext>
            </a:extLst>
          </p:cNvPr>
          <p:cNvSpPr txBox="1"/>
          <p:nvPr/>
        </p:nvSpPr>
        <p:spPr>
          <a:xfrm>
            <a:off x="1736436" y="2202281"/>
            <a:ext cx="9587345" cy="2862322"/>
          </a:xfrm>
          <a:prstGeom prst="rect">
            <a:avLst/>
          </a:prstGeom>
          <a:noFill/>
        </p:spPr>
        <p:txBody>
          <a:bodyPr wrap="square">
            <a:spAutoFit/>
          </a:bodyPr>
          <a:lstStyle/>
          <a:p>
            <a:pPr marL="342900" indent="-342900" algn="just">
              <a:buFont typeface="+mj-lt"/>
              <a:buAutoNum type="arabicPeriod"/>
            </a:pPr>
            <a:r>
              <a:rPr lang="en-US" b="1" dirty="0"/>
              <a:t>Forward Pass</a:t>
            </a:r>
            <a:r>
              <a:rPr lang="en-US" dirty="0"/>
              <a:t>: The network makes a prediction using the current weights and biases by calculating outputs at each layer (this is called the </a:t>
            </a:r>
            <a:r>
              <a:rPr lang="en-US" b="1" dirty="0"/>
              <a:t>forward pass</a:t>
            </a:r>
            <a:r>
              <a:rPr lang="en-US" dirty="0"/>
              <a:t>)</a:t>
            </a:r>
          </a:p>
          <a:p>
            <a:pPr marL="342900" indent="-342900" algn="just">
              <a:buFont typeface="+mj-lt"/>
              <a:buAutoNum type="arabicPeriod"/>
            </a:pPr>
            <a:endParaRPr lang="en-US" dirty="0"/>
          </a:p>
          <a:p>
            <a:pPr marL="342900" indent="-342900" algn="just">
              <a:buFont typeface="+mj-lt"/>
              <a:buAutoNum type="arabicPeriod"/>
            </a:pPr>
            <a:r>
              <a:rPr lang="en-US" b="1" dirty="0"/>
              <a:t>Compute Loss</a:t>
            </a:r>
            <a:r>
              <a:rPr lang="en-US" dirty="0"/>
              <a:t>: The loss (or error) is computed by comparing the network’s prediction (output) to the actual target using a </a:t>
            </a:r>
            <a:r>
              <a:rPr lang="en-US" b="1" dirty="0"/>
              <a:t>loss function</a:t>
            </a:r>
            <a:r>
              <a:rPr lang="en-US" dirty="0"/>
              <a:t> (e.g., Mean Squared Error for regression or Cross-Entropy for classification).</a:t>
            </a:r>
          </a:p>
          <a:p>
            <a:pPr marL="342900" indent="-342900" algn="just">
              <a:buFont typeface="+mj-lt"/>
              <a:buAutoNum type="arabicPeriod"/>
            </a:pPr>
            <a:endParaRPr lang="en-US" dirty="0"/>
          </a:p>
          <a:p>
            <a:pPr marL="342900" indent="-342900" algn="just">
              <a:buFont typeface="+mj-lt"/>
              <a:buAutoNum type="arabicPeriod"/>
            </a:pPr>
            <a:r>
              <a:rPr lang="en-US" b="1" dirty="0"/>
              <a:t>Backward Pass</a:t>
            </a:r>
            <a:r>
              <a:rPr lang="en-US" dirty="0"/>
              <a:t>: Using the chain rule of calculus, the error is propagated backward through the network to compute how much each weight contributed to the error. This backward process gives us the </a:t>
            </a:r>
            <a:r>
              <a:rPr lang="en-US" b="1" dirty="0"/>
              <a:t>gradients</a:t>
            </a:r>
            <a:r>
              <a:rPr lang="en-US" dirty="0"/>
              <a:t> of the loss with respect to each weight.</a:t>
            </a:r>
          </a:p>
        </p:txBody>
      </p:sp>
    </p:spTree>
    <p:extLst>
      <p:ext uri="{BB962C8B-B14F-4D97-AF65-F5344CB8AC3E}">
        <p14:creationId xmlns:p14="http://schemas.microsoft.com/office/powerpoint/2010/main" val="24128456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A89E23-5798-1AC3-DDBF-1450ADC435DD}"/>
              </a:ext>
            </a:extLst>
          </p:cNvPr>
          <p:cNvSpPr txBox="1"/>
          <p:nvPr/>
        </p:nvSpPr>
        <p:spPr>
          <a:xfrm>
            <a:off x="190948" y="1371284"/>
            <a:ext cx="5803452" cy="461665"/>
          </a:xfrm>
          <a:prstGeom prst="rect">
            <a:avLst/>
          </a:prstGeom>
          <a:noFill/>
        </p:spPr>
        <p:txBody>
          <a:bodyPr wrap="square">
            <a:spAutoFit/>
          </a:bodyPr>
          <a:lstStyle/>
          <a:p>
            <a:pPr algn="ctr"/>
            <a:r>
              <a:rPr lang="en-US" sz="2400" b="1" dirty="0">
                <a:solidFill>
                  <a:srgbClr val="1869A6"/>
                </a:solidFill>
              </a:rPr>
              <a:t>Backpropagation and Gradient Descent</a:t>
            </a:r>
          </a:p>
        </p:txBody>
      </p:sp>
      <p:sp>
        <p:nvSpPr>
          <p:cNvPr id="4" name="TextBox 3">
            <a:extLst>
              <a:ext uri="{FF2B5EF4-FFF2-40B4-BE49-F238E27FC236}">
                <a16:creationId xmlns:a16="http://schemas.microsoft.com/office/drawing/2014/main" id="{3C836EF7-30E9-8209-D7C1-69F2113F8790}"/>
              </a:ext>
            </a:extLst>
          </p:cNvPr>
          <p:cNvSpPr txBox="1"/>
          <p:nvPr/>
        </p:nvSpPr>
        <p:spPr>
          <a:xfrm>
            <a:off x="1228436" y="1832949"/>
            <a:ext cx="6096000" cy="369332"/>
          </a:xfrm>
          <a:prstGeom prst="rect">
            <a:avLst/>
          </a:prstGeom>
          <a:noFill/>
        </p:spPr>
        <p:txBody>
          <a:bodyPr wrap="square">
            <a:spAutoFit/>
          </a:bodyPr>
          <a:lstStyle/>
          <a:p>
            <a:r>
              <a:rPr lang="en-US" b="1" dirty="0"/>
              <a:t>What is Gradient Descent?</a:t>
            </a:r>
          </a:p>
        </p:txBody>
      </p:sp>
      <p:sp>
        <p:nvSpPr>
          <p:cNvPr id="6" name="TextBox 5">
            <a:extLst>
              <a:ext uri="{FF2B5EF4-FFF2-40B4-BE49-F238E27FC236}">
                <a16:creationId xmlns:a16="http://schemas.microsoft.com/office/drawing/2014/main" id="{F6FA71E0-D775-E74D-B3E2-51476CA517B7}"/>
              </a:ext>
            </a:extLst>
          </p:cNvPr>
          <p:cNvSpPr txBox="1"/>
          <p:nvPr/>
        </p:nvSpPr>
        <p:spPr>
          <a:xfrm>
            <a:off x="1653308" y="2202281"/>
            <a:ext cx="9430327" cy="923330"/>
          </a:xfrm>
          <a:prstGeom prst="rect">
            <a:avLst/>
          </a:prstGeom>
          <a:noFill/>
        </p:spPr>
        <p:txBody>
          <a:bodyPr wrap="square">
            <a:spAutoFit/>
          </a:bodyPr>
          <a:lstStyle/>
          <a:p>
            <a:pPr marL="285750" indent="-285750">
              <a:buFont typeface="Arial" panose="020B0604020202020204" pitchFamily="34" charset="0"/>
              <a:buChar char="•"/>
            </a:pPr>
            <a:r>
              <a:rPr lang="en-US" b="1" dirty="0"/>
              <a:t>Gradient Descent</a:t>
            </a:r>
            <a:r>
              <a:rPr lang="en-US" dirty="0"/>
              <a:t> is an optimization algorithm used to minimize the loss function. The idea is to find the set of weights and biases that minimize the error. This is done by updating the weights and biases in the direction that reduces the loss.</a:t>
            </a:r>
          </a:p>
        </p:txBody>
      </p:sp>
      <p:pic>
        <p:nvPicPr>
          <p:cNvPr id="41986" name="Picture 2" descr="What are gradient descent and stochastic gradient descent?">
            <a:extLst>
              <a:ext uri="{FF2B5EF4-FFF2-40B4-BE49-F238E27FC236}">
                <a16:creationId xmlns:a16="http://schemas.microsoft.com/office/drawing/2014/main" id="{0AFA335F-5C72-29E7-B018-389B1100A6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5491" y="3603081"/>
            <a:ext cx="5536165" cy="3000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35364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02BD38-A723-D7FB-1F91-1946904094FB}"/>
              </a:ext>
            </a:extLst>
          </p:cNvPr>
          <p:cNvSpPr txBox="1"/>
          <p:nvPr/>
        </p:nvSpPr>
        <p:spPr>
          <a:xfrm>
            <a:off x="190948" y="1371284"/>
            <a:ext cx="5803452" cy="461665"/>
          </a:xfrm>
          <a:prstGeom prst="rect">
            <a:avLst/>
          </a:prstGeom>
          <a:noFill/>
        </p:spPr>
        <p:txBody>
          <a:bodyPr wrap="square">
            <a:spAutoFit/>
          </a:bodyPr>
          <a:lstStyle/>
          <a:p>
            <a:pPr algn="ctr"/>
            <a:r>
              <a:rPr lang="en-US" sz="2400" b="1" dirty="0">
                <a:solidFill>
                  <a:srgbClr val="1869A6"/>
                </a:solidFill>
              </a:rPr>
              <a:t>Backpropagation and Gradient Descent</a:t>
            </a:r>
          </a:p>
        </p:txBody>
      </p:sp>
      <p:sp>
        <p:nvSpPr>
          <p:cNvPr id="3" name="TextBox 2">
            <a:extLst>
              <a:ext uri="{FF2B5EF4-FFF2-40B4-BE49-F238E27FC236}">
                <a16:creationId xmlns:a16="http://schemas.microsoft.com/office/drawing/2014/main" id="{64BAAF49-3D7F-C654-E18A-5A0176C2CEA2}"/>
              </a:ext>
            </a:extLst>
          </p:cNvPr>
          <p:cNvSpPr txBox="1"/>
          <p:nvPr/>
        </p:nvSpPr>
        <p:spPr>
          <a:xfrm>
            <a:off x="1228436" y="1832949"/>
            <a:ext cx="6096000" cy="369332"/>
          </a:xfrm>
          <a:prstGeom prst="rect">
            <a:avLst/>
          </a:prstGeom>
          <a:noFill/>
        </p:spPr>
        <p:txBody>
          <a:bodyPr wrap="square">
            <a:spAutoFit/>
          </a:bodyPr>
          <a:lstStyle/>
          <a:p>
            <a:r>
              <a:rPr lang="en-US" b="1" dirty="0"/>
              <a:t>How Gradient Descent Works</a:t>
            </a:r>
          </a:p>
        </p:txBody>
      </p:sp>
      <p:sp>
        <p:nvSpPr>
          <p:cNvPr id="5" name="TextBox 4">
            <a:extLst>
              <a:ext uri="{FF2B5EF4-FFF2-40B4-BE49-F238E27FC236}">
                <a16:creationId xmlns:a16="http://schemas.microsoft.com/office/drawing/2014/main" id="{17F72D2B-A3EC-C404-CE5D-044D821F05FF}"/>
              </a:ext>
            </a:extLst>
          </p:cNvPr>
          <p:cNvSpPr txBox="1"/>
          <p:nvPr/>
        </p:nvSpPr>
        <p:spPr>
          <a:xfrm>
            <a:off x="1514764" y="2202281"/>
            <a:ext cx="6096000" cy="369332"/>
          </a:xfrm>
          <a:prstGeom prst="rect">
            <a:avLst/>
          </a:prstGeom>
          <a:noFill/>
        </p:spPr>
        <p:txBody>
          <a:bodyPr wrap="square">
            <a:spAutoFit/>
          </a:bodyPr>
          <a:lstStyle/>
          <a:p>
            <a:r>
              <a:rPr lang="en-US" b="1" dirty="0"/>
              <a:t>1. Compute Gradient</a:t>
            </a:r>
          </a:p>
        </p:txBody>
      </p:sp>
      <p:sp>
        <p:nvSpPr>
          <p:cNvPr id="7" name="TextBox 6">
            <a:extLst>
              <a:ext uri="{FF2B5EF4-FFF2-40B4-BE49-F238E27FC236}">
                <a16:creationId xmlns:a16="http://schemas.microsoft.com/office/drawing/2014/main" id="{6A69189F-773E-2F79-3CD0-4D9089C92881}"/>
              </a:ext>
            </a:extLst>
          </p:cNvPr>
          <p:cNvSpPr txBox="1"/>
          <p:nvPr/>
        </p:nvSpPr>
        <p:spPr>
          <a:xfrm>
            <a:off x="1801092" y="2571613"/>
            <a:ext cx="8044872" cy="646331"/>
          </a:xfrm>
          <a:prstGeom prst="rect">
            <a:avLst/>
          </a:prstGeom>
          <a:noFill/>
        </p:spPr>
        <p:txBody>
          <a:bodyPr wrap="square">
            <a:spAutoFit/>
          </a:bodyPr>
          <a:lstStyle/>
          <a:p>
            <a:pPr marL="285750" indent="-285750">
              <a:buFont typeface="Arial" panose="020B0604020202020204" pitchFamily="34" charset="0"/>
              <a:buChar char="•"/>
            </a:pPr>
            <a:r>
              <a:rPr lang="en-US" dirty="0"/>
              <a:t>In the backward pass, we calculate the gradient of the loss function with respect to each weight and bias.</a:t>
            </a:r>
          </a:p>
        </p:txBody>
      </p:sp>
    </p:spTree>
    <p:extLst>
      <p:ext uri="{BB962C8B-B14F-4D97-AF65-F5344CB8AC3E}">
        <p14:creationId xmlns:p14="http://schemas.microsoft.com/office/powerpoint/2010/main" val="2249756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561FEB9B-8B6D-1E38-BFAC-55C2E6C90DC5}"/>
              </a:ext>
            </a:extLst>
          </p:cNvPr>
          <p:cNvPicPr>
            <a:picLocks noChangeAspect="1"/>
          </p:cNvPicPr>
          <p:nvPr/>
        </p:nvPicPr>
        <p:blipFill>
          <a:blip r:embed="rId2"/>
          <a:stretch>
            <a:fillRect/>
          </a:stretch>
        </p:blipFill>
        <p:spPr>
          <a:xfrm>
            <a:off x="2463221" y="4296011"/>
            <a:ext cx="6385215" cy="1701644"/>
          </a:xfrm>
          <a:prstGeom prst="rect">
            <a:avLst/>
          </a:prstGeom>
        </p:spPr>
      </p:pic>
      <p:sp>
        <p:nvSpPr>
          <p:cNvPr id="2" name="TextBox 1">
            <a:extLst>
              <a:ext uri="{FF2B5EF4-FFF2-40B4-BE49-F238E27FC236}">
                <a16:creationId xmlns:a16="http://schemas.microsoft.com/office/drawing/2014/main" id="{FF3979EB-631A-44AF-433A-C8C1278B39FE}"/>
              </a:ext>
            </a:extLst>
          </p:cNvPr>
          <p:cNvSpPr txBox="1"/>
          <p:nvPr/>
        </p:nvSpPr>
        <p:spPr>
          <a:xfrm>
            <a:off x="190948" y="1371284"/>
            <a:ext cx="5803452" cy="461665"/>
          </a:xfrm>
          <a:prstGeom prst="rect">
            <a:avLst/>
          </a:prstGeom>
          <a:noFill/>
        </p:spPr>
        <p:txBody>
          <a:bodyPr wrap="square">
            <a:spAutoFit/>
          </a:bodyPr>
          <a:lstStyle/>
          <a:p>
            <a:pPr algn="ctr"/>
            <a:r>
              <a:rPr lang="en-US" sz="2400" b="1" dirty="0">
                <a:solidFill>
                  <a:srgbClr val="1869A6"/>
                </a:solidFill>
              </a:rPr>
              <a:t>Backpropagation and Gradient Descent</a:t>
            </a:r>
          </a:p>
        </p:txBody>
      </p:sp>
      <p:sp>
        <p:nvSpPr>
          <p:cNvPr id="3" name="TextBox 2">
            <a:extLst>
              <a:ext uri="{FF2B5EF4-FFF2-40B4-BE49-F238E27FC236}">
                <a16:creationId xmlns:a16="http://schemas.microsoft.com/office/drawing/2014/main" id="{7BCF1521-58AA-A936-4502-BA4D55170C00}"/>
              </a:ext>
            </a:extLst>
          </p:cNvPr>
          <p:cNvSpPr txBox="1"/>
          <p:nvPr/>
        </p:nvSpPr>
        <p:spPr>
          <a:xfrm>
            <a:off x="1228436" y="1832949"/>
            <a:ext cx="6096000" cy="369332"/>
          </a:xfrm>
          <a:prstGeom prst="rect">
            <a:avLst/>
          </a:prstGeom>
          <a:noFill/>
        </p:spPr>
        <p:txBody>
          <a:bodyPr wrap="square">
            <a:spAutoFit/>
          </a:bodyPr>
          <a:lstStyle/>
          <a:p>
            <a:r>
              <a:rPr lang="en-US" b="1" dirty="0"/>
              <a:t>How Gradient Descent Works</a:t>
            </a:r>
          </a:p>
        </p:txBody>
      </p:sp>
      <p:pic>
        <p:nvPicPr>
          <p:cNvPr id="6" name="Picture 5">
            <a:extLst>
              <a:ext uri="{FF2B5EF4-FFF2-40B4-BE49-F238E27FC236}">
                <a16:creationId xmlns:a16="http://schemas.microsoft.com/office/drawing/2014/main" id="{A7821580-3604-973A-78ED-58D0D0869E33}"/>
              </a:ext>
            </a:extLst>
          </p:cNvPr>
          <p:cNvPicPr>
            <a:picLocks noChangeAspect="1"/>
          </p:cNvPicPr>
          <p:nvPr/>
        </p:nvPicPr>
        <p:blipFill>
          <a:blip r:embed="rId3"/>
          <a:stretch>
            <a:fillRect/>
          </a:stretch>
        </p:blipFill>
        <p:spPr>
          <a:xfrm>
            <a:off x="4054833" y="3221395"/>
            <a:ext cx="2917297" cy="856569"/>
          </a:xfrm>
          <a:prstGeom prst="rect">
            <a:avLst/>
          </a:prstGeom>
        </p:spPr>
      </p:pic>
      <p:sp>
        <p:nvSpPr>
          <p:cNvPr id="7" name="TextBox 6">
            <a:extLst>
              <a:ext uri="{FF2B5EF4-FFF2-40B4-BE49-F238E27FC236}">
                <a16:creationId xmlns:a16="http://schemas.microsoft.com/office/drawing/2014/main" id="{E95A7514-D723-E55C-2EAF-3DF512627137}"/>
              </a:ext>
            </a:extLst>
          </p:cNvPr>
          <p:cNvSpPr txBox="1"/>
          <p:nvPr/>
        </p:nvSpPr>
        <p:spPr>
          <a:xfrm>
            <a:off x="1514764" y="2202281"/>
            <a:ext cx="6096000" cy="369332"/>
          </a:xfrm>
          <a:prstGeom prst="rect">
            <a:avLst/>
          </a:prstGeom>
          <a:noFill/>
        </p:spPr>
        <p:txBody>
          <a:bodyPr wrap="square">
            <a:spAutoFit/>
          </a:bodyPr>
          <a:lstStyle/>
          <a:p>
            <a:r>
              <a:rPr lang="en-US" b="1" dirty="0"/>
              <a:t>2. Update Weights</a:t>
            </a:r>
          </a:p>
        </p:txBody>
      </p:sp>
      <p:sp>
        <p:nvSpPr>
          <p:cNvPr id="8" name="TextBox 7">
            <a:extLst>
              <a:ext uri="{FF2B5EF4-FFF2-40B4-BE49-F238E27FC236}">
                <a16:creationId xmlns:a16="http://schemas.microsoft.com/office/drawing/2014/main" id="{BFB7EE20-0E4F-ECEB-A948-B638A454E150}"/>
              </a:ext>
            </a:extLst>
          </p:cNvPr>
          <p:cNvSpPr txBox="1"/>
          <p:nvPr/>
        </p:nvSpPr>
        <p:spPr>
          <a:xfrm>
            <a:off x="1801092" y="2571613"/>
            <a:ext cx="7250544" cy="646331"/>
          </a:xfrm>
          <a:prstGeom prst="rect">
            <a:avLst/>
          </a:prstGeom>
          <a:noFill/>
        </p:spPr>
        <p:txBody>
          <a:bodyPr wrap="square">
            <a:spAutoFit/>
          </a:bodyPr>
          <a:lstStyle/>
          <a:p>
            <a:pPr marL="285750" indent="-285750">
              <a:buFont typeface="Arial" panose="020B0604020202020204" pitchFamily="34" charset="0"/>
              <a:buChar char="•"/>
            </a:pPr>
            <a:r>
              <a:rPr lang="en-US" dirty="0"/>
              <a:t>After obtaining the gradients, the weights are updated using the </a:t>
            </a:r>
            <a:r>
              <a:rPr lang="en-US" b="1" dirty="0"/>
              <a:t>gradient descent rule :</a:t>
            </a:r>
            <a:endParaRPr lang="en-US" dirty="0"/>
          </a:p>
        </p:txBody>
      </p:sp>
      <p:sp>
        <p:nvSpPr>
          <p:cNvPr id="10" name="TextBox 9">
            <a:extLst>
              <a:ext uri="{FF2B5EF4-FFF2-40B4-BE49-F238E27FC236}">
                <a16:creationId xmlns:a16="http://schemas.microsoft.com/office/drawing/2014/main" id="{55D61A87-00F3-E490-BB55-4B1909CA7F3C}"/>
              </a:ext>
            </a:extLst>
          </p:cNvPr>
          <p:cNvSpPr txBox="1"/>
          <p:nvPr/>
        </p:nvSpPr>
        <p:spPr>
          <a:xfrm>
            <a:off x="2093767" y="3926679"/>
            <a:ext cx="6096000" cy="369332"/>
          </a:xfrm>
          <a:prstGeom prst="rect">
            <a:avLst/>
          </a:prstGeom>
          <a:noFill/>
        </p:spPr>
        <p:txBody>
          <a:bodyPr wrap="square">
            <a:spAutoFit/>
          </a:bodyPr>
          <a:lstStyle/>
          <a:p>
            <a:r>
              <a:rPr lang="en-US" dirty="0"/>
              <a:t>Where :</a:t>
            </a:r>
          </a:p>
        </p:txBody>
      </p:sp>
    </p:spTree>
    <p:extLst>
      <p:ext uri="{BB962C8B-B14F-4D97-AF65-F5344CB8AC3E}">
        <p14:creationId xmlns:p14="http://schemas.microsoft.com/office/powerpoint/2010/main" val="42053500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01DB73E-94E0-2682-595A-B4B432EFC4FA}"/>
              </a:ext>
            </a:extLst>
          </p:cNvPr>
          <p:cNvSpPr txBox="1"/>
          <p:nvPr/>
        </p:nvSpPr>
        <p:spPr>
          <a:xfrm>
            <a:off x="190948" y="1371284"/>
            <a:ext cx="5803452" cy="461665"/>
          </a:xfrm>
          <a:prstGeom prst="rect">
            <a:avLst/>
          </a:prstGeom>
          <a:noFill/>
        </p:spPr>
        <p:txBody>
          <a:bodyPr wrap="square">
            <a:spAutoFit/>
          </a:bodyPr>
          <a:lstStyle/>
          <a:p>
            <a:pPr algn="ctr"/>
            <a:r>
              <a:rPr lang="en-US" sz="2400" b="1" dirty="0">
                <a:solidFill>
                  <a:srgbClr val="1869A6"/>
                </a:solidFill>
              </a:rPr>
              <a:t>Backpropagation and Gradient Descent</a:t>
            </a:r>
          </a:p>
        </p:txBody>
      </p:sp>
      <p:sp>
        <p:nvSpPr>
          <p:cNvPr id="3" name="TextBox 2">
            <a:extLst>
              <a:ext uri="{FF2B5EF4-FFF2-40B4-BE49-F238E27FC236}">
                <a16:creationId xmlns:a16="http://schemas.microsoft.com/office/drawing/2014/main" id="{EC17E3F4-00C0-1DD4-C124-3EBEF086B2E5}"/>
              </a:ext>
            </a:extLst>
          </p:cNvPr>
          <p:cNvSpPr txBox="1"/>
          <p:nvPr/>
        </p:nvSpPr>
        <p:spPr>
          <a:xfrm>
            <a:off x="1228436" y="1832949"/>
            <a:ext cx="6096000" cy="369332"/>
          </a:xfrm>
          <a:prstGeom prst="rect">
            <a:avLst/>
          </a:prstGeom>
          <a:noFill/>
        </p:spPr>
        <p:txBody>
          <a:bodyPr wrap="square">
            <a:spAutoFit/>
          </a:bodyPr>
          <a:lstStyle/>
          <a:p>
            <a:r>
              <a:rPr lang="en-US" b="1" dirty="0"/>
              <a:t>How Gradient Descent Works</a:t>
            </a:r>
          </a:p>
        </p:txBody>
      </p:sp>
      <p:sp>
        <p:nvSpPr>
          <p:cNvPr id="4" name="TextBox 3">
            <a:extLst>
              <a:ext uri="{FF2B5EF4-FFF2-40B4-BE49-F238E27FC236}">
                <a16:creationId xmlns:a16="http://schemas.microsoft.com/office/drawing/2014/main" id="{0B645939-A658-7613-09D5-4E1BE28ECC06}"/>
              </a:ext>
            </a:extLst>
          </p:cNvPr>
          <p:cNvSpPr txBox="1"/>
          <p:nvPr/>
        </p:nvSpPr>
        <p:spPr>
          <a:xfrm>
            <a:off x="1514764" y="2202281"/>
            <a:ext cx="6096000" cy="369332"/>
          </a:xfrm>
          <a:prstGeom prst="rect">
            <a:avLst/>
          </a:prstGeom>
          <a:noFill/>
        </p:spPr>
        <p:txBody>
          <a:bodyPr wrap="square">
            <a:spAutoFit/>
          </a:bodyPr>
          <a:lstStyle/>
          <a:p>
            <a:r>
              <a:rPr lang="en-US" b="1" dirty="0"/>
              <a:t>3. Repeat</a:t>
            </a:r>
          </a:p>
        </p:txBody>
      </p:sp>
      <p:sp>
        <p:nvSpPr>
          <p:cNvPr id="5" name="TextBox 4">
            <a:extLst>
              <a:ext uri="{FF2B5EF4-FFF2-40B4-BE49-F238E27FC236}">
                <a16:creationId xmlns:a16="http://schemas.microsoft.com/office/drawing/2014/main" id="{F22C6995-E57E-F3EB-29AE-7FCFDE348B21}"/>
              </a:ext>
            </a:extLst>
          </p:cNvPr>
          <p:cNvSpPr txBox="1"/>
          <p:nvPr/>
        </p:nvSpPr>
        <p:spPr>
          <a:xfrm>
            <a:off x="1801092" y="2571613"/>
            <a:ext cx="6696363" cy="1200329"/>
          </a:xfrm>
          <a:prstGeom prst="rect">
            <a:avLst/>
          </a:prstGeom>
          <a:noFill/>
        </p:spPr>
        <p:txBody>
          <a:bodyPr wrap="square">
            <a:spAutoFit/>
          </a:bodyPr>
          <a:lstStyle/>
          <a:p>
            <a:pPr marL="285750" indent="-285750" algn="just">
              <a:buFont typeface="Arial" panose="020B0604020202020204" pitchFamily="34" charset="0"/>
              <a:buChar char="•"/>
            </a:pPr>
            <a:r>
              <a:rPr lang="en-US" dirty="0"/>
              <a:t>This process is repeated for each layer of the network during training. As the network sees more data, the weights and biases are continually updated, and the loss decreases, leading to better predictions.</a:t>
            </a:r>
          </a:p>
        </p:txBody>
      </p:sp>
      <p:pic>
        <p:nvPicPr>
          <p:cNvPr id="7" name="Picture 6" descr="A blue and grey circular arrows&#10;&#10;Description automatically generated">
            <a:extLst>
              <a:ext uri="{FF2B5EF4-FFF2-40B4-BE49-F238E27FC236}">
                <a16:creationId xmlns:a16="http://schemas.microsoft.com/office/drawing/2014/main" id="{2D731E04-2E80-D78E-0238-D01C2DE05B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4165" y="1223503"/>
            <a:ext cx="3438234" cy="3438234"/>
          </a:xfrm>
          <a:prstGeom prst="rect">
            <a:avLst/>
          </a:prstGeom>
        </p:spPr>
      </p:pic>
    </p:spTree>
    <p:extLst>
      <p:ext uri="{BB962C8B-B14F-4D97-AF65-F5344CB8AC3E}">
        <p14:creationId xmlns:p14="http://schemas.microsoft.com/office/powerpoint/2010/main" val="13002896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2E32A1-A9F1-9913-D79A-D2F60609C8A1}"/>
              </a:ext>
            </a:extLst>
          </p:cNvPr>
          <p:cNvSpPr txBox="1"/>
          <p:nvPr/>
        </p:nvSpPr>
        <p:spPr>
          <a:xfrm>
            <a:off x="190948" y="1371284"/>
            <a:ext cx="5803452" cy="461665"/>
          </a:xfrm>
          <a:prstGeom prst="rect">
            <a:avLst/>
          </a:prstGeom>
          <a:noFill/>
        </p:spPr>
        <p:txBody>
          <a:bodyPr wrap="square">
            <a:spAutoFit/>
          </a:bodyPr>
          <a:lstStyle/>
          <a:p>
            <a:pPr algn="ctr"/>
            <a:r>
              <a:rPr lang="en-US" sz="2400" b="1" dirty="0">
                <a:solidFill>
                  <a:srgbClr val="1869A6"/>
                </a:solidFill>
              </a:rPr>
              <a:t>Backpropagation and Gradient Descent</a:t>
            </a:r>
          </a:p>
        </p:txBody>
      </p:sp>
      <p:sp>
        <p:nvSpPr>
          <p:cNvPr id="3" name="TextBox 2">
            <a:extLst>
              <a:ext uri="{FF2B5EF4-FFF2-40B4-BE49-F238E27FC236}">
                <a16:creationId xmlns:a16="http://schemas.microsoft.com/office/drawing/2014/main" id="{962DDFE9-3C1B-47B6-1A5D-1B83BAE366EF}"/>
              </a:ext>
            </a:extLst>
          </p:cNvPr>
          <p:cNvSpPr txBox="1"/>
          <p:nvPr/>
        </p:nvSpPr>
        <p:spPr>
          <a:xfrm>
            <a:off x="1228435" y="1832949"/>
            <a:ext cx="6825673" cy="369332"/>
          </a:xfrm>
          <a:prstGeom prst="rect">
            <a:avLst/>
          </a:prstGeom>
          <a:noFill/>
        </p:spPr>
        <p:txBody>
          <a:bodyPr wrap="square">
            <a:spAutoFit/>
          </a:bodyPr>
          <a:lstStyle/>
          <a:p>
            <a:r>
              <a:rPr lang="en-US" b="1" dirty="0"/>
              <a:t>How Backpropagation and Gradient Descent Work Together</a:t>
            </a:r>
          </a:p>
        </p:txBody>
      </p:sp>
      <p:sp>
        <p:nvSpPr>
          <p:cNvPr id="5" name="TextBox 4">
            <a:extLst>
              <a:ext uri="{FF2B5EF4-FFF2-40B4-BE49-F238E27FC236}">
                <a16:creationId xmlns:a16="http://schemas.microsoft.com/office/drawing/2014/main" id="{DEE83518-37D8-4285-C407-0E7D79EB7524}"/>
              </a:ext>
            </a:extLst>
          </p:cNvPr>
          <p:cNvSpPr txBox="1"/>
          <p:nvPr/>
        </p:nvSpPr>
        <p:spPr>
          <a:xfrm>
            <a:off x="1593271" y="2202281"/>
            <a:ext cx="9139384" cy="646331"/>
          </a:xfrm>
          <a:prstGeom prst="rect">
            <a:avLst/>
          </a:prstGeom>
          <a:noFill/>
        </p:spPr>
        <p:txBody>
          <a:bodyPr wrap="square">
            <a:spAutoFit/>
          </a:bodyPr>
          <a:lstStyle/>
          <a:p>
            <a:pPr marL="285750" indent="-285750">
              <a:buFont typeface="Arial" panose="020B0604020202020204" pitchFamily="34" charset="0"/>
              <a:buChar char="•"/>
            </a:pPr>
            <a:r>
              <a:rPr lang="en-US" dirty="0"/>
              <a:t>Backpropagation and Gradient Descent complement each other in training a neural network. Here’s how they fit together</a:t>
            </a:r>
          </a:p>
        </p:txBody>
      </p:sp>
      <p:sp>
        <p:nvSpPr>
          <p:cNvPr id="7" name="TextBox 6">
            <a:extLst>
              <a:ext uri="{FF2B5EF4-FFF2-40B4-BE49-F238E27FC236}">
                <a16:creationId xmlns:a16="http://schemas.microsoft.com/office/drawing/2014/main" id="{8C6D6018-06C0-3AE5-7B77-BB879483488F}"/>
              </a:ext>
            </a:extLst>
          </p:cNvPr>
          <p:cNvSpPr txBox="1"/>
          <p:nvPr/>
        </p:nvSpPr>
        <p:spPr>
          <a:xfrm>
            <a:off x="2235199" y="2848612"/>
            <a:ext cx="8774545" cy="3139321"/>
          </a:xfrm>
          <a:prstGeom prst="rect">
            <a:avLst/>
          </a:prstGeom>
          <a:noFill/>
        </p:spPr>
        <p:txBody>
          <a:bodyPr wrap="square">
            <a:spAutoFit/>
          </a:bodyPr>
          <a:lstStyle/>
          <a:p>
            <a:pPr marL="342900" indent="-342900" algn="just">
              <a:buFont typeface="+mj-lt"/>
              <a:buAutoNum type="arabicPeriod"/>
            </a:pPr>
            <a:r>
              <a:rPr lang="en-US" b="1" dirty="0"/>
              <a:t>Forward Pass</a:t>
            </a:r>
            <a:r>
              <a:rPr lang="en-US" dirty="0"/>
              <a:t>: The network makes a prediction, and we calculate the loss (error).</a:t>
            </a:r>
          </a:p>
          <a:p>
            <a:pPr marL="342900" indent="-342900" algn="just">
              <a:buFont typeface="+mj-lt"/>
              <a:buAutoNum type="arabicPeriod"/>
            </a:pPr>
            <a:endParaRPr lang="en-US" dirty="0"/>
          </a:p>
          <a:p>
            <a:pPr marL="342900" indent="-342900" algn="just">
              <a:buFont typeface="+mj-lt"/>
              <a:buAutoNum type="arabicPeriod"/>
            </a:pPr>
            <a:r>
              <a:rPr lang="en-US" b="1" dirty="0"/>
              <a:t>Backward Pass (Backpropagation)</a:t>
            </a:r>
            <a:r>
              <a:rPr lang="en-US" dirty="0"/>
              <a:t>: The error is propagated backward through the network to compute the gradients (partial derivatives) of the loss with respect to each weight and bias.</a:t>
            </a:r>
          </a:p>
          <a:p>
            <a:pPr marL="342900" indent="-342900" algn="just">
              <a:buFont typeface="+mj-lt"/>
              <a:buAutoNum type="arabicPeriod"/>
            </a:pPr>
            <a:endParaRPr lang="en-US" dirty="0"/>
          </a:p>
          <a:p>
            <a:pPr marL="342900" indent="-342900" algn="just">
              <a:buFont typeface="+mj-lt"/>
              <a:buAutoNum type="arabicPeriod"/>
            </a:pPr>
            <a:r>
              <a:rPr lang="en-US" b="1" dirty="0"/>
              <a:t>Weight Update (Gradient Descent)</a:t>
            </a:r>
            <a:r>
              <a:rPr lang="en-US" dirty="0"/>
              <a:t>: The weights are updated using the gradients, pushing them in the direction that reduces the loss.</a:t>
            </a:r>
          </a:p>
          <a:p>
            <a:pPr marL="342900" indent="-342900" algn="just">
              <a:buFont typeface="+mj-lt"/>
              <a:buAutoNum type="arabicPeriod"/>
            </a:pPr>
            <a:endParaRPr lang="en-US" dirty="0"/>
          </a:p>
          <a:p>
            <a:pPr marL="342900" indent="-342900" algn="just">
              <a:buFont typeface="+mj-lt"/>
              <a:buAutoNum type="arabicPeriod"/>
            </a:pPr>
            <a:r>
              <a:rPr lang="en-US" b="1" dirty="0"/>
              <a:t>Repeat</a:t>
            </a:r>
            <a:r>
              <a:rPr lang="en-US" dirty="0"/>
              <a:t>: The process is repeated over many iterations (or </a:t>
            </a:r>
            <a:r>
              <a:rPr lang="en-US" b="1" dirty="0"/>
              <a:t>epochs</a:t>
            </a:r>
            <a:r>
              <a:rPr lang="en-US" dirty="0"/>
              <a:t>) until the model converges, meaning that the loss function reaches a minimum.</a:t>
            </a:r>
          </a:p>
        </p:txBody>
      </p:sp>
    </p:spTree>
    <p:extLst>
      <p:ext uri="{BB962C8B-B14F-4D97-AF65-F5344CB8AC3E}">
        <p14:creationId xmlns:p14="http://schemas.microsoft.com/office/powerpoint/2010/main" val="35517784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E552BF8-15D7-596D-2DF2-362FF046AE10}"/>
              </a:ext>
            </a:extLst>
          </p:cNvPr>
          <p:cNvSpPr txBox="1"/>
          <p:nvPr/>
        </p:nvSpPr>
        <p:spPr>
          <a:xfrm>
            <a:off x="190948" y="1371284"/>
            <a:ext cx="5803452" cy="461665"/>
          </a:xfrm>
          <a:prstGeom prst="rect">
            <a:avLst/>
          </a:prstGeom>
          <a:noFill/>
        </p:spPr>
        <p:txBody>
          <a:bodyPr wrap="square">
            <a:spAutoFit/>
          </a:bodyPr>
          <a:lstStyle/>
          <a:p>
            <a:pPr algn="ctr"/>
            <a:r>
              <a:rPr lang="en-US" sz="2400" b="1" dirty="0">
                <a:solidFill>
                  <a:srgbClr val="1869A6"/>
                </a:solidFill>
              </a:rPr>
              <a:t>Backpropagation and Gradient Descent</a:t>
            </a:r>
          </a:p>
        </p:txBody>
      </p:sp>
      <p:sp>
        <p:nvSpPr>
          <p:cNvPr id="7" name="TextBox 6">
            <a:extLst>
              <a:ext uri="{FF2B5EF4-FFF2-40B4-BE49-F238E27FC236}">
                <a16:creationId xmlns:a16="http://schemas.microsoft.com/office/drawing/2014/main" id="{C66DEEE9-B00F-E5A2-DB4F-12FF9EF7769C}"/>
              </a:ext>
            </a:extLst>
          </p:cNvPr>
          <p:cNvSpPr txBox="1"/>
          <p:nvPr/>
        </p:nvSpPr>
        <p:spPr>
          <a:xfrm>
            <a:off x="1228435" y="1832949"/>
            <a:ext cx="6825673" cy="369332"/>
          </a:xfrm>
          <a:prstGeom prst="rect">
            <a:avLst/>
          </a:prstGeom>
          <a:noFill/>
        </p:spPr>
        <p:txBody>
          <a:bodyPr wrap="square">
            <a:spAutoFit/>
          </a:bodyPr>
          <a:lstStyle/>
          <a:p>
            <a:r>
              <a:rPr lang="en-US" b="1" dirty="0"/>
              <a:t>How Backpropagation and Gradient Descent Work Together</a:t>
            </a:r>
          </a:p>
        </p:txBody>
      </p:sp>
      <p:sp>
        <p:nvSpPr>
          <p:cNvPr id="9" name="TextBox 8">
            <a:extLst>
              <a:ext uri="{FF2B5EF4-FFF2-40B4-BE49-F238E27FC236}">
                <a16:creationId xmlns:a16="http://schemas.microsoft.com/office/drawing/2014/main" id="{B5D59112-8D32-8244-67E0-EBCE64225DF8}"/>
              </a:ext>
            </a:extLst>
          </p:cNvPr>
          <p:cNvSpPr txBox="1"/>
          <p:nvPr/>
        </p:nvSpPr>
        <p:spPr>
          <a:xfrm>
            <a:off x="1708728" y="2202281"/>
            <a:ext cx="6918036" cy="369332"/>
          </a:xfrm>
          <a:prstGeom prst="rect">
            <a:avLst/>
          </a:prstGeom>
          <a:noFill/>
        </p:spPr>
        <p:txBody>
          <a:bodyPr wrap="square">
            <a:spAutoFit/>
          </a:bodyPr>
          <a:lstStyle/>
          <a:p>
            <a:r>
              <a:rPr lang="en-US" dirty="0"/>
              <a:t>Let’s walk through a simple example with a small neural network</a:t>
            </a:r>
          </a:p>
        </p:txBody>
      </p:sp>
      <p:sp>
        <p:nvSpPr>
          <p:cNvPr id="11" name="TextBox 10">
            <a:extLst>
              <a:ext uri="{FF2B5EF4-FFF2-40B4-BE49-F238E27FC236}">
                <a16:creationId xmlns:a16="http://schemas.microsoft.com/office/drawing/2014/main" id="{235BECE9-27F5-DDA0-068F-C8D92AE88C18}"/>
              </a:ext>
            </a:extLst>
          </p:cNvPr>
          <p:cNvSpPr txBox="1"/>
          <p:nvPr/>
        </p:nvSpPr>
        <p:spPr>
          <a:xfrm>
            <a:off x="1958108" y="2571613"/>
            <a:ext cx="6096000" cy="369332"/>
          </a:xfrm>
          <a:prstGeom prst="rect">
            <a:avLst/>
          </a:prstGeom>
          <a:noFill/>
        </p:spPr>
        <p:txBody>
          <a:bodyPr wrap="square">
            <a:spAutoFit/>
          </a:bodyPr>
          <a:lstStyle/>
          <a:p>
            <a:r>
              <a:rPr lang="en-US" b="1" dirty="0"/>
              <a:t>1. Forward Pass</a:t>
            </a:r>
          </a:p>
        </p:txBody>
      </p:sp>
      <p:sp>
        <p:nvSpPr>
          <p:cNvPr id="13" name="TextBox 12">
            <a:extLst>
              <a:ext uri="{FF2B5EF4-FFF2-40B4-BE49-F238E27FC236}">
                <a16:creationId xmlns:a16="http://schemas.microsoft.com/office/drawing/2014/main" id="{C230F491-43D7-A2C2-693F-DBA92C366BE5}"/>
              </a:ext>
            </a:extLst>
          </p:cNvPr>
          <p:cNvSpPr txBox="1"/>
          <p:nvPr/>
        </p:nvSpPr>
        <p:spPr>
          <a:xfrm>
            <a:off x="2336800" y="2940945"/>
            <a:ext cx="6918036" cy="1477328"/>
          </a:xfrm>
          <a:prstGeom prst="rect">
            <a:avLst/>
          </a:prstGeom>
          <a:noFill/>
        </p:spPr>
        <p:txBody>
          <a:bodyPr wrap="square">
            <a:spAutoFit/>
          </a:bodyPr>
          <a:lstStyle/>
          <a:p>
            <a:pPr marL="285750" indent="-285750">
              <a:buFont typeface="Arial" panose="020B0604020202020204" pitchFamily="34" charset="0"/>
              <a:buChar char="•"/>
            </a:pPr>
            <a:r>
              <a:rPr lang="en-US" dirty="0"/>
              <a:t>Inputs: 𝑥1,𝑥2</a:t>
            </a:r>
          </a:p>
          <a:p>
            <a:pPr marL="285750" indent="-285750">
              <a:buFont typeface="Arial" panose="020B0604020202020204" pitchFamily="34" charset="0"/>
              <a:buChar char="•"/>
            </a:pPr>
            <a:r>
              <a:rPr lang="en-US" dirty="0"/>
              <a:t>Weights: 𝑤1,𝑤2</a:t>
            </a:r>
          </a:p>
          <a:p>
            <a:pPr marL="285750" indent="-285750">
              <a:buFont typeface="Arial" panose="020B0604020202020204" pitchFamily="34" charset="0"/>
              <a:buChar char="•"/>
            </a:pPr>
            <a:r>
              <a:rPr lang="en-US" dirty="0"/>
              <a:t>Bias: 𝑏</a:t>
            </a:r>
          </a:p>
          <a:p>
            <a:pPr marL="285750" indent="-285750">
              <a:buFont typeface="Arial" panose="020B0604020202020204" pitchFamily="34" charset="0"/>
              <a:buChar char="•"/>
            </a:pPr>
            <a:r>
              <a:rPr lang="en-US" dirty="0"/>
              <a:t>The output is calculated:                                                       and passed through the activation function to get 𝑦 pred. </a:t>
            </a:r>
          </a:p>
        </p:txBody>
      </p:sp>
      <p:pic>
        <p:nvPicPr>
          <p:cNvPr id="15" name="Picture 14">
            <a:extLst>
              <a:ext uri="{FF2B5EF4-FFF2-40B4-BE49-F238E27FC236}">
                <a16:creationId xmlns:a16="http://schemas.microsoft.com/office/drawing/2014/main" id="{556B29C2-0073-FE8F-C51B-143617BA1FFE}"/>
              </a:ext>
            </a:extLst>
          </p:cNvPr>
          <p:cNvPicPr>
            <a:picLocks noChangeAspect="1"/>
          </p:cNvPicPr>
          <p:nvPr/>
        </p:nvPicPr>
        <p:blipFill>
          <a:blip r:embed="rId2"/>
          <a:stretch>
            <a:fillRect/>
          </a:stretch>
        </p:blipFill>
        <p:spPr>
          <a:xfrm>
            <a:off x="5167746" y="3794413"/>
            <a:ext cx="2514600" cy="266700"/>
          </a:xfrm>
          <a:prstGeom prst="rect">
            <a:avLst/>
          </a:prstGeom>
        </p:spPr>
      </p:pic>
    </p:spTree>
    <p:extLst>
      <p:ext uri="{BB962C8B-B14F-4D97-AF65-F5344CB8AC3E}">
        <p14:creationId xmlns:p14="http://schemas.microsoft.com/office/powerpoint/2010/main" val="32806093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C8683E-44FB-941F-380A-D01A4E2A178A}"/>
              </a:ext>
            </a:extLst>
          </p:cNvPr>
          <p:cNvSpPr txBox="1"/>
          <p:nvPr/>
        </p:nvSpPr>
        <p:spPr>
          <a:xfrm>
            <a:off x="190948" y="1371284"/>
            <a:ext cx="5803452" cy="461665"/>
          </a:xfrm>
          <a:prstGeom prst="rect">
            <a:avLst/>
          </a:prstGeom>
          <a:noFill/>
        </p:spPr>
        <p:txBody>
          <a:bodyPr wrap="square">
            <a:spAutoFit/>
          </a:bodyPr>
          <a:lstStyle/>
          <a:p>
            <a:pPr algn="ctr"/>
            <a:r>
              <a:rPr lang="en-US" sz="2400" b="1" dirty="0">
                <a:solidFill>
                  <a:srgbClr val="1869A6"/>
                </a:solidFill>
              </a:rPr>
              <a:t>Backpropagation and Gradient Descent</a:t>
            </a:r>
          </a:p>
        </p:txBody>
      </p:sp>
      <p:sp>
        <p:nvSpPr>
          <p:cNvPr id="3" name="TextBox 2">
            <a:extLst>
              <a:ext uri="{FF2B5EF4-FFF2-40B4-BE49-F238E27FC236}">
                <a16:creationId xmlns:a16="http://schemas.microsoft.com/office/drawing/2014/main" id="{3081D610-C6E1-8A74-FD68-0BA034797DC7}"/>
              </a:ext>
            </a:extLst>
          </p:cNvPr>
          <p:cNvSpPr txBox="1"/>
          <p:nvPr/>
        </p:nvSpPr>
        <p:spPr>
          <a:xfrm>
            <a:off x="1228435" y="1832949"/>
            <a:ext cx="6825673" cy="369332"/>
          </a:xfrm>
          <a:prstGeom prst="rect">
            <a:avLst/>
          </a:prstGeom>
          <a:noFill/>
        </p:spPr>
        <p:txBody>
          <a:bodyPr wrap="square">
            <a:spAutoFit/>
          </a:bodyPr>
          <a:lstStyle/>
          <a:p>
            <a:r>
              <a:rPr lang="en-US" b="1" dirty="0"/>
              <a:t>How Backpropagation and Gradient Descent Work Together</a:t>
            </a:r>
          </a:p>
        </p:txBody>
      </p:sp>
      <p:sp>
        <p:nvSpPr>
          <p:cNvPr id="4" name="TextBox 3">
            <a:extLst>
              <a:ext uri="{FF2B5EF4-FFF2-40B4-BE49-F238E27FC236}">
                <a16:creationId xmlns:a16="http://schemas.microsoft.com/office/drawing/2014/main" id="{12F5D366-4E09-D23A-16A5-9A5D1BE8BC81}"/>
              </a:ext>
            </a:extLst>
          </p:cNvPr>
          <p:cNvSpPr txBox="1"/>
          <p:nvPr/>
        </p:nvSpPr>
        <p:spPr>
          <a:xfrm>
            <a:off x="1708728" y="2202281"/>
            <a:ext cx="6918036" cy="369332"/>
          </a:xfrm>
          <a:prstGeom prst="rect">
            <a:avLst/>
          </a:prstGeom>
          <a:noFill/>
        </p:spPr>
        <p:txBody>
          <a:bodyPr wrap="square">
            <a:spAutoFit/>
          </a:bodyPr>
          <a:lstStyle/>
          <a:p>
            <a:r>
              <a:rPr lang="en-US" dirty="0"/>
              <a:t>Let’s walk through a simple example with a small neural network</a:t>
            </a:r>
          </a:p>
        </p:txBody>
      </p:sp>
      <p:sp>
        <p:nvSpPr>
          <p:cNvPr id="5" name="TextBox 4">
            <a:extLst>
              <a:ext uri="{FF2B5EF4-FFF2-40B4-BE49-F238E27FC236}">
                <a16:creationId xmlns:a16="http://schemas.microsoft.com/office/drawing/2014/main" id="{689F6A52-0929-BDA0-1C31-87ADF3997E12}"/>
              </a:ext>
            </a:extLst>
          </p:cNvPr>
          <p:cNvSpPr txBox="1"/>
          <p:nvPr/>
        </p:nvSpPr>
        <p:spPr>
          <a:xfrm>
            <a:off x="1958108" y="2571613"/>
            <a:ext cx="6096000" cy="369332"/>
          </a:xfrm>
          <a:prstGeom prst="rect">
            <a:avLst/>
          </a:prstGeom>
          <a:noFill/>
        </p:spPr>
        <p:txBody>
          <a:bodyPr wrap="square">
            <a:spAutoFit/>
          </a:bodyPr>
          <a:lstStyle/>
          <a:p>
            <a:r>
              <a:rPr lang="en-US" b="1" dirty="0"/>
              <a:t>2. Compute Loss</a:t>
            </a:r>
          </a:p>
        </p:txBody>
      </p:sp>
      <p:sp>
        <p:nvSpPr>
          <p:cNvPr id="6" name="TextBox 5">
            <a:extLst>
              <a:ext uri="{FF2B5EF4-FFF2-40B4-BE49-F238E27FC236}">
                <a16:creationId xmlns:a16="http://schemas.microsoft.com/office/drawing/2014/main" id="{195373C5-7A0B-6908-D649-86C72F5F11BC}"/>
              </a:ext>
            </a:extLst>
          </p:cNvPr>
          <p:cNvSpPr txBox="1"/>
          <p:nvPr/>
        </p:nvSpPr>
        <p:spPr>
          <a:xfrm>
            <a:off x="2336800" y="2940945"/>
            <a:ext cx="6918036" cy="646331"/>
          </a:xfrm>
          <a:prstGeom prst="rect">
            <a:avLst/>
          </a:prstGeom>
          <a:noFill/>
        </p:spPr>
        <p:txBody>
          <a:bodyPr wrap="square">
            <a:spAutoFit/>
          </a:bodyPr>
          <a:lstStyle/>
          <a:p>
            <a:pPr marL="285750" indent="-285750">
              <a:buFont typeface="Arial" panose="020B0604020202020204" pitchFamily="34" charset="0"/>
              <a:buChar char="•"/>
            </a:pPr>
            <a:r>
              <a:rPr lang="en-US" dirty="0"/>
              <a:t>We compare the predicted output 𝑦 pred with the actual target 𝑦 actual using a loss function like Mean Squared Error.</a:t>
            </a:r>
          </a:p>
        </p:txBody>
      </p:sp>
    </p:spTree>
    <p:extLst>
      <p:ext uri="{BB962C8B-B14F-4D97-AF65-F5344CB8AC3E}">
        <p14:creationId xmlns:p14="http://schemas.microsoft.com/office/powerpoint/2010/main" val="10835886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350BF8-211F-EC8B-F9BA-6F64135C5C89}"/>
              </a:ext>
            </a:extLst>
          </p:cNvPr>
          <p:cNvSpPr txBox="1"/>
          <p:nvPr/>
        </p:nvSpPr>
        <p:spPr>
          <a:xfrm>
            <a:off x="190948" y="1371284"/>
            <a:ext cx="5803452" cy="461665"/>
          </a:xfrm>
          <a:prstGeom prst="rect">
            <a:avLst/>
          </a:prstGeom>
          <a:noFill/>
        </p:spPr>
        <p:txBody>
          <a:bodyPr wrap="square">
            <a:spAutoFit/>
          </a:bodyPr>
          <a:lstStyle/>
          <a:p>
            <a:pPr algn="ctr"/>
            <a:r>
              <a:rPr lang="en-US" sz="2400" b="1" dirty="0">
                <a:solidFill>
                  <a:srgbClr val="1869A6"/>
                </a:solidFill>
              </a:rPr>
              <a:t>Backpropagation and Gradient Descent</a:t>
            </a:r>
          </a:p>
        </p:txBody>
      </p:sp>
      <p:sp>
        <p:nvSpPr>
          <p:cNvPr id="3" name="TextBox 2">
            <a:extLst>
              <a:ext uri="{FF2B5EF4-FFF2-40B4-BE49-F238E27FC236}">
                <a16:creationId xmlns:a16="http://schemas.microsoft.com/office/drawing/2014/main" id="{F6BA85A6-B5B5-4939-BD15-437C433AC7AF}"/>
              </a:ext>
            </a:extLst>
          </p:cNvPr>
          <p:cNvSpPr txBox="1"/>
          <p:nvPr/>
        </p:nvSpPr>
        <p:spPr>
          <a:xfrm>
            <a:off x="1228435" y="1832949"/>
            <a:ext cx="6825673" cy="369332"/>
          </a:xfrm>
          <a:prstGeom prst="rect">
            <a:avLst/>
          </a:prstGeom>
          <a:noFill/>
        </p:spPr>
        <p:txBody>
          <a:bodyPr wrap="square">
            <a:spAutoFit/>
          </a:bodyPr>
          <a:lstStyle/>
          <a:p>
            <a:r>
              <a:rPr lang="en-US" b="1" dirty="0"/>
              <a:t>How Backpropagation and Gradient Descent Work Together</a:t>
            </a:r>
          </a:p>
        </p:txBody>
      </p:sp>
      <p:sp>
        <p:nvSpPr>
          <p:cNvPr id="4" name="TextBox 3">
            <a:extLst>
              <a:ext uri="{FF2B5EF4-FFF2-40B4-BE49-F238E27FC236}">
                <a16:creationId xmlns:a16="http://schemas.microsoft.com/office/drawing/2014/main" id="{0BA0CFF9-A634-B57E-5580-2A350E0C96F7}"/>
              </a:ext>
            </a:extLst>
          </p:cNvPr>
          <p:cNvSpPr txBox="1"/>
          <p:nvPr/>
        </p:nvSpPr>
        <p:spPr>
          <a:xfrm>
            <a:off x="1708728" y="2202281"/>
            <a:ext cx="6918036" cy="369332"/>
          </a:xfrm>
          <a:prstGeom prst="rect">
            <a:avLst/>
          </a:prstGeom>
          <a:noFill/>
        </p:spPr>
        <p:txBody>
          <a:bodyPr wrap="square">
            <a:spAutoFit/>
          </a:bodyPr>
          <a:lstStyle/>
          <a:p>
            <a:r>
              <a:rPr lang="en-US" dirty="0"/>
              <a:t>Let’s walk through a simple example with a small neural network</a:t>
            </a:r>
          </a:p>
        </p:txBody>
      </p:sp>
      <p:sp>
        <p:nvSpPr>
          <p:cNvPr id="5" name="TextBox 4">
            <a:extLst>
              <a:ext uri="{FF2B5EF4-FFF2-40B4-BE49-F238E27FC236}">
                <a16:creationId xmlns:a16="http://schemas.microsoft.com/office/drawing/2014/main" id="{182E60D7-1B06-B454-E0ED-41FE0685A435}"/>
              </a:ext>
            </a:extLst>
          </p:cNvPr>
          <p:cNvSpPr txBox="1"/>
          <p:nvPr/>
        </p:nvSpPr>
        <p:spPr>
          <a:xfrm>
            <a:off x="1958108" y="2571613"/>
            <a:ext cx="6096000" cy="369332"/>
          </a:xfrm>
          <a:prstGeom prst="rect">
            <a:avLst/>
          </a:prstGeom>
          <a:noFill/>
        </p:spPr>
        <p:txBody>
          <a:bodyPr wrap="square">
            <a:spAutoFit/>
          </a:bodyPr>
          <a:lstStyle/>
          <a:p>
            <a:r>
              <a:rPr lang="en-US" b="1" dirty="0"/>
              <a:t>3. Backpropagation</a:t>
            </a:r>
          </a:p>
        </p:txBody>
      </p:sp>
      <p:sp>
        <p:nvSpPr>
          <p:cNvPr id="6" name="TextBox 5">
            <a:extLst>
              <a:ext uri="{FF2B5EF4-FFF2-40B4-BE49-F238E27FC236}">
                <a16:creationId xmlns:a16="http://schemas.microsoft.com/office/drawing/2014/main" id="{E461FD7B-59E6-B36D-E265-48FDE35C7654}"/>
              </a:ext>
            </a:extLst>
          </p:cNvPr>
          <p:cNvSpPr txBox="1"/>
          <p:nvPr/>
        </p:nvSpPr>
        <p:spPr>
          <a:xfrm>
            <a:off x="2336800" y="2940945"/>
            <a:ext cx="6918036" cy="923330"/>
          </a:xfrm>
          <a:prstGeom prst="rect">
            <a:avLst/>
          </a:prstGeom>
          <a:noFill/>
        </p:spPr>
        <p:txBody>
          <a:bodyPr wrap="square">
            <a:spAutoFit/>
          </a:bodyPr>
          <a:lstStyle/>
          <a:p>
            <a:pPr marL="285750" indent="-285750">
              <a:buFont typeface="Arial" panose="020B0604020202020204" pitchFamily="34" charset="0"/>
              <a:buChar char="•"/>
            </a:pPr>
            <a:r>
              <a:rPr lang="en-US" dirty="0"/>
              <a:t>We calculate the gradient of the loss with respect to 𝑤1,𝑤2,𝑏</a:t>
            </a:r>
          </a:p>
          <a:p>
            <a:pPr marL="285750" indent="-285750">
              <a:buFont typeface="Arial" panose="020B0604020202020204" pitchFamily="34" charset="0"/>
              <a:buChar char="•"/>
            </a:pPr>
            <a:r>
              <a:rPr lang="en-US" dirty="0"/>
              <a:t>This gives us the direction in which we need to adjust the weights and bias to reduce the loss.</a:t>
            </a:r>
          </a:p>
        </p:txBody>
      </p:sp>
    </p:spTree>
    <p:extLst>
      <p:ext uri="{BB962C8B-B14F-4D97-AF65-F5344CB8AC3E}">
        <p14:creationId xmlns:p14="http://schemas.microsoft.com/office/powerpoint/2010/main" val="15775039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73A960-9193-96FF-C8AF-187750E5F0C7}"/>
              </a:ext>
            </a:extLst>
          </p:cNvPr>
          <p:cNvSpPr txBox="1"/>
          <p:nvPr/>
        </p:nvSpPr>
        <p:spPr>
          <a:xfrm>
            <a:off x="190948" y="1371284"/>
            <a:ext cx="5803452" cy="461665"/>
          </a:xfrm>
          <a:prstGeom prst="rect">
            <a:avLst/>
          </a:prstGeom>
          <a:noFill/>
        </p:spPr>
        <p:txBody>
          <a:bodyPr wrap="square">
            <a:spAutoFit/>
          </a:bodyPr>
          <a:lstStyle/>
          <a:p>
            <a:pPr algn="ctr"/>
            <a:r>
              <a:rPr lang="en-US" sz="2400" b="1" dirty="0">
                <a:solidFill>
                  <a:srgbClr val="1869A6"/>
                </a:solidFill>
              </a:rPr>
              <a:t>Backpropagation and Gradient Descent</a:t>
            </a:r>
          </a:p>
        </p:txBody>
      </p:sp>
      <p:sp>
        <p:nvSpPr>
          <p:cNvPr id="3" name="TextBox 2">
            <a:extLst>
              <a:ext uri="{FF2B5EF4-FFF2-40B4-BE49-F238E27FC236}">
                <a16:creationId xmlns:a16="http://schemas.microsoft.com/office/drawing/2014/main" id="{5D5F10BA-D001-DAA1-E4FA-293C7EBB7433}"/>
              </a:ext>
            </a:extLst>
          </p:cNvPr>
          <p:cNvSpPr txBox="1"/>
          <p:nvPr/>
        </p:nvSpPr>
        <p:spPr>
          <a:xfrm>
            <a:off x="1228435" y="1832949"/>
            <a:ext cx="6825673" cy="369332"/>
          </a:xfrm>
          <a:prstGeom prst="rect">
            <a:avLst/>
          </a:prstGeom>
          <a:noFill/>
        </p:spPr>
        <p:txBody>
          <a:bodyPr wrap="square">
            <a:spAutoFit/>
          </a:bodyPr>
          <a:lstStyle/>
          <a:p>
            <a:r>
              <a:rPr lang="en-US" b="1" dirty="0"/>
              <a:t>How Backpropagation and Gradient Descent Work Together</a:t>
            </a:r>
          </a:p>
        </p:txBody>
      </p:sp>
      <p:sp>
        <p:nvSpPr>
          <p:cNvPr id="4" name="TextBox 3">
            <a:extLst>
              <a:ext uri="{FF2B5EF4-FFF2-40B4-BE49-F238E27FC236}">
                <a16:creationId xmlns:a16="http://schemas.microsoft.com/office/drawing/2014/main" id="{4532B555-74E3-0BBF-1902-2E9EBAC9CB49}"/>
              </a:ext>
            </a:extLst>
          </p:cNvPr>
          <p:cNvSpPr txBox="1"/>
          <p:nvPr/>
        </p:nvSpPr>
        <p:spPr>
          <a:xfrm>
            <a:off x="1708728" y="2202281"/>
            <a:ext cx="6918036" cy="369332"/>
          </a:xfrm>
          <a:prstGeom prst="rect">
            <a:avLst/>
          </a:prstGeom>
          <a:noFill/>
        </p:spPr>
        <p:txBody>
          <a:bodyPr wrap="square">
            <a:spAutoFit/>
          </a:bodyPr>
          <a:lstStyle/>
          <a:p>
            <a:r>
              <a:rPr lang="en-US" dirty="0"/>
              <a:t>Let’s walk through a simple example with a small neural network</a:t>
            </a:r>
          </a:p>
        </p:txBody>
      </p:sp>
      <p:sp>
        <p:nvSpPr>
          <p:cNvPr id="5" name="TextBox 4">
            <a:extLst>
              <a:ext uri="{FF2B5EF4-FFF2-40B4-BE49-F238E27FC236}">
                <a16:creationId xmlns:a16="http://schemas.microsoft.com/office/drawing/2014/main" id="{2350915E-FE91-C354-AF8F-D91B29854A74}"/>
              </a:ext>
            </a:extLst>
          </p:cNvPr>
          <p:cNvSpPr txBox="1"/>
          <p:nvPr/>
        </p:nvSpPr>
        <p:spPr>
          <a:xfrm>
            <a:off x="1958108" y="2571613"/>
            <a:ext cx="6096000" cy="369332"/>
          </a:xfrm>
          <a:prstGeom prst="rect">
            <a:avLst/>
          </a:prstGeom>
          <a:noFill/>
        </p:spPr>
        <p:txBody>
          <a:bodyPr wrap="square">
            <a:spAutoFit/>
          </a:bodyPr>
          <a:lstStyle/>
          <a:p>
            <a:r>
              <a:rPr lang="en-US" b="1" dirty="0"/>
              <a:t>4. Gradient Descent</a:t>
            </a:r>
          </a:p>
        </p:txBody>
      </p:sp>
      <p:sp>
        <p:nvSpPr>
          <p:cNvPr id="6" name="TextBox 5">
            <a:extLst>
              <a:ext uri="{FF2B5EF4-FFF2-40B4-BE49-F238E27FC236}">
                <a16:creationId xmlns:a16="http://schemas.microsoft.com/office/drawing/2014/main" id="{A1E6709A-ED71-64C1-2274-CFD91B6FD4D5}"/>
              </a:ext>
            </a:extLst>
          </p:cNvPr>
          <p:cNvSpPr txBox="1"/>
          <p:nvPr/>
        </p:nvSpPr>
        <p:spPr>
          <a:xfrm>
            <a:off x="2336800" y="2940945"/>
            <a:ext cx="6918036" cy="369332"/>
          </a:xfrm>
          <a:prstGeom prst="rect">
            <a:avLst/>
          </a:prstGeom>
          <a:noFill/>
        </p:spPr>
        <p:txBody>
          <a:bodyPr wrap="square">
            <a:spAutoFit/>
          </a:bodyPr>
          <a:lstStyle/>
          <a:p>
            <a:pPr marL="285750" indent="-285750">
              <a:buFont typeface="Arial" panose="020B0604020202020204" pitchFamily="34" charset="0"/>
              <a:buChar char="•"/>
            </a:pPr>
            <a:r>
              <a:rPr lang="en-US" dirty="0"/>
              <a:t>Using the gradients, we update the weights and biases :</a:t>
            </a:r>
          </a:p>
        </p:txBody>
      </p:sp>
      <p:pic>
        <p:nvPicPr>
          <p:cNvPr id="8" name="Picture 7">
            <a:extLst>
              <a:ext uri="{FF2B5EF4-FFF2-40B4-BE49-F238E27FC236}">
                <a16:creationId xmlns:a16="http://schemas.microsoft.com/office/drawing/2014/main" id="{3125BA81-3BF8-830E-E049-764D505E20F2}"/>
              </a:ext>
            </a:extLst>
          </p:cNvPr>
          <p:cNvPicPr>
            <a:picLocks noChangeAspect="1"/>
          </p:cNvPicPr>
          <p:nvPr/>
        </p:nvPicPr>
        <p:blipFill>
          <a:blip r:embed="rId2"/>
          <a:stretch>
            <a:fillRect/>
          </a:stretch>
        </p:blipFill>
        <p:spPr>
          <a:xfrm>
            <a:off x="3149601" y="3429000"/>
            <a:ext cx="6906534" cy="653473"/>
          </a:xfrm>
          <a:prstGeom prst="rect">
            <a:avLst/>
          </a:prstGeom>
        </p:spPr>
      </p:pic>
    </p:spTree>
    <p:extLst>
      <p:ext uri="{BB962C8B-B14F-4D97-AF65-F5344CB8AC3E}">
        <p14:creationId xmlns:p14="http://schemas.microsoft.com/office/powerpoint/2010/main" val="28707638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9DFBE3-571D-9E6C-744A-32C0007C6576}"/>
              </a:ext>
            </a:extLst>
          </p:cNvPr>
          <p:cNvSpPr txBox="1"/>
          <p:nvPr/>
        </p:nvSpPr>
        <p:spPr>
          <a:xfrm>
            <a:off x="190948" y="1371284"/>
            <a:ext cx="5803452" cy="461665"/>
          </a:xfrm>
          <a:prstGeom prst="rect">
            <a:avLst/>
          </a:prstGeom>
          <a:noFill/>
        </p:spPr>
        <p:txBody>
          <a:bodyPr wrap="square">
            <a:spAutoFit/>
          </a:bodyPr>
          <a:lstStyle/>
          <a:p>
            <a:pPr algn="ctr"/>
            <a:r>
              <a:rPr lang="en-US" sz="2400" b="1" dirty="0">
                <a:solidFill>
                  <a:srgbClr val="1869A6"/>
                </a:solidFill>
              </a:rPr>
              <a:t>Backpropagation and Gradient Descent</a:t>
            </a:r>
          </a:p>
        </p:txBody>
      </p:sp>
      <p:sp>
        <p:nvSpPr>
          <p:cNvPr id="3" name="TextBox 2">
            <a:extLst>
              <a:ext uri="{FF2B5EF4-FFF2-40B4-BE49-F238E27FC236}">
                <a16:creationId xmlns:a16="http://schemas.microsoft.com/office/drawing/2014/main" id="{015BF90A-54E8-EF33-5FAC-CFAF1395B71C}"/>
              </a:ext>
            </a:extLst>
          </p:cNvPr>
          <p:cNvSpPr txBox="1"/>
          <p:nvPr/>
        </p:nvSpPr>
        <p:spPr>
          <a:xfrm>
            <a:off x="1228435" y="1832949"/>
            <a:ext cx="6825673" cy="369332"/>
          </a:xfrm>
          <a:prstGeom prst="rect">
            <a:avLst/>
          </a:prstGeom>
          <a:noFill/>
        </p:spPr>
        <p:txBody>
          <a:bodyPr wrap="square">
            <a:spAutoFit/>
          </a:bodyPr>
          <a:lstStyle/>
          <a:p>
            <a:r>
              <a:rPr lang="en-US" b="1" dirty="0"/>
              <a:t>How Backpropagation and Gradient Descent Work Together</a:t>
            </a:r>
          </a:p>
        </p:txBody>
      </p:sp>
      <p:sp>
        <p:nvSpPr>
          <p:cNvPr id="4" name="TextBox 3">
            <a:extLst>
              <a:ext uri="{FF2B5EF4-FFF2-40B4-BE49-F238E27FC236}">
                <a16:creationId xmlns:a16="http://schemas.microsoft.com/office/drawing/2014/main" id="{2FAAB005-E26D-FEAB-4822-E748F96480D5}"/>
              </a:ext>
            </a:extLst>
          </p:cNvPr>
          <p:cNvSpPr txBox="1"/>
          <p:nvPr/>
        </p:nvSpPr>
        <p:spPr>
          <a:xfrm>
            <a:off x="1708728" y="2202281"/>
            <a:ext cx="6918036" cy="369332"/>
          </a:xfrm>
          <a:prstGeom prst="rect">
            <a:avLst/>
          </a:prstGeom>
          <a:noFill/>
        </p:spPr>
        <p:txBody>
          <a:bodyPr wrap="square">
            <a:spAutoFit/>
          </a:bodyPr>
          <a:lstStyle/>
          <a:p>
            <a:r>
              <a:rPr lang="en-US" dirty="0"/>
              <a:t>Let’s walk through a simple example with a small neural network</a:t>
            </a:r>
          </a:p>
        </p:txBody>
      </p:sp>
      <p:sp>
        <p:nvSpPr>
          <p:cNvPr id="5" name="TextBox 4">
            <a:extLst>
              <a:ext uri="{FF2B5EF4-FFF2-40B4-BE49-F238E27FC236}">
                <a16:creationId xmlns:a16="http://schemas.microsoft.com/office/drawing/2014/main" id="{30085B8F-3F57-1162-959B-06CA7D95D102}"/>
              </a:ext>
            </a:extLst>
          </p:cNvPr>
          <p:cNvSpPr txBox="1"/>
          <p:nvPr/>
        </p:nvSpPr>
        <p:spPr>
          <a:xfrm>
            <a:off x="1958108" y="2571613"/>
            <a:ext cx="6096000" cy="369332"/>
          </a:xfrm>
          <a:prstGeom prst="rect">
            <a:avLst/>
          </a:prstGeom>
          <a:noFill/>
        </p:spPr>
        <p:txBody>
          <a:bodyPr wrap="square">
            <a:spAutoFit/>
          </a:bodyPr>
          <a:lstStyle/>
          <a:p>
            <a:r>
              <a:rPr lang="en-US" b="1" dirty="0"/>
              <a:t>5. Repeat</a:t>
            </a:r>
          </a:p>
        </p:txBody>
      </p:sp>
      <p:sp>
        <p:nvSpPr>
          <p:cNvPr id="6" name="TextBox 5">
            <a:extLst>
              <a:ext uri="{FF2B5EF4-FFF2-40B4-BE49-F238E27FC236}">
                <a16:creationId xmlns:a16="http://schemas.microsoft.com/office/drawing/2014/main" id="{F0A631F0-E768-C174-6E33-42B5E88653A7}"/>
              </a:ext>
            </a:extLst>
          </p:cNvPr>
          <p:cNvSpPr txBox="1"/>
          <p:nvPr/>
        </p:nvSpPr>
        <p:spPr>
          <a:xfrm>
            <a:off x="2336799" y="2940945"/>
            <a:ext cx="6918035" cy="923330"/>
          </a:xfrm>
          <a:prstGeom prst="rect">
            <a:avLst/>
          </a:prstGeom>
          <a:noFill/>
        </p:spPr>
        <p:txBody>
          <a:bodyPr wrap="square">
            <a:spAutoFit/>
          </a:bodyPr>
          <a:lstStyle/>
          <a:p>
            <a:pPr marL="285750" indent="-285750">
              <a:buFont typeface="Arial" panose="020B0604020202020204" pitchFamily="34" charset="0"/>
              <a:buChar char="•"/>
            </a:pPr>
            <a:r>
              <a:rPr lang="en-US" dirty="0"/>
              <a:t>We repeat the forward pass, loss calculation, backpropagation, and weight update steps until the model converges to a minimum loss.</a:t>
            </a:r>
          </a:p>
        </p:txBody>
      </p:sp>
    </p:spTree>
    <p:extLst>
      <p:ext uri="{BB962C8B-B14F-4D97-AF65-F5344CB8AC3E}">
        <p14:creationId xmlns:p14="http://schemas.microsoft.com/office/powerpoint/2010/main" val="32321759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842DDD-017C-A04C-115A-455B96780E8A}"/>
              </a:ext>
            </a:extLst>
          </p:cNvPr>
          <p:cNvSpPr txBox="1"/>
          <p:nvPr/>
        </p:nvSpPr>
        <p:spPr>
          <a:xfrm>
            <a:off x="190948" y="1371284"/>
            <a:ext cx="5803452" cy="461665"/>
          </a:xfrm>
          <a:prstGeom prst="rect">
            <a:avLst/>
          </a:prstGeom>
          <a:noFill/>
        </p:spPr>
        <p:txBody>
          <a:bodyPr wrap="square">
            <a:spAutoFit/>
          </a:bodyPr>
          <a:lstStyle/>
          <a:p>
            <a:pPr algn="ctr"/>
            <a:r>
              <a:rPr lang="en-US" sz="2400" b="1" dirty="0">
                <a:solidFill>
                  <a:srgbClr val="1869A6"/>
                </a:solidFill>
              </a:rPr>
              <a:t>Backpropagation and Gradient Descent</a:t>
            </a:r>
          </a:p>
        </p:txBody>
      </p:sp>
      <p:sp>
        <p:nvSpPr>
          <p:cNvPr id="4" name="TextBox 3">
            <a:extLst>
              <a:ext uri="{FF2B5EF4-FFF2-40B4-BE49-F238E27FC236}">
                <a16:creationId xmlns:a16="http://schemas.microsoft.com/office/drawing/2014/main" id="{B58BB3CA-4EC6-D0E8-07D5-C8F35D509C59}"/>
              </a:ext>
            </a:extLst>
          </p:cNvPr>
          <p:cNvSpPr txBox="1"/>
          <p:nvPr/>
        </p:nvSpPr>
        <p:spPr>
          <a:xfrm>
            <a:off x="1237673" y="1832949"/>
            <a:ext cx="6096000" cy="369332"/>
          </a:xfrm>
          <a:prstGeom prst="rect">
            <a:avLst/>
          </a:prstGeom>
          <a:noFill/>
        </p:spPr>
        <p:txBody>
          <a:bodyPr wrap="square">
            <a:spAutoFit/>
          </a:bodyPr>
          <a:lstStyle/>
          <a:p>
            <a:r>
              <a:rPr lang="en-US" b="1" dirty="0"/>
              <a:t>Key Takeaways</a:t>
            </a:r>
          </a:p>
        </p:txBody>
      </p:sp>
      <p:sp>
        <p:nvSpPr>
          <p:cNvPr id="6" name="TextBox 5">
            <a:extLst>
              <a:ext uri="{FF2B5EF4-FFF2-40B4-BE49-F238E27FC236}">
                <a16:creationId xmlns:a16="http://schemas.microsoft.com/office/drawing/2014/main" id="{87D04FE5-6426-9D2D-A93F-CA3F05A32F71}"/>
              </a:ext>
            </a:extLst>
          </p:cNvPr>
          <p:cNvSpPr txBox="1"/>
          <p:nvPr/>
        </p:nvSpPr>
        <p:spPr>
          <a:xfrm>
            <a:off x="1505527" y="2202281"/>
            <a:ext cx="8839200" cy="2862322"/>
          </a:xfrm>
          <a:prstGeom prst="rect">
            <a:avLst/>
          </a:prstGeom>
          <a:noFill/>
        </p:spPr>
        <p:txBody>
          <a:bodyPr wrap="square">
            <a:spAutoFit/>
          </a:bodyPr>
          <a:lstStyle/>
          <a:p>
            <a:pPr marL="285750" indent="-285750" algn="just">
              <a:buFont typeface="Arial" panose="020B0604020202020204" pitchFamily="34" charset="0"/>
              <a:buChar char="•"/>
            </a:pPr>
            <a:r>
              <a:rPr lang="en-US" b="1" dirty="0"/>
              <a:t>Backpropagation</a:t>
            </a:r>
            <a:r>
              <a:rPr lang="en-US" dirty="0"/>
              <a:t> computes the gradients (derivatives) of the loss with respect to each weight by applying the chain rule. This allows the network to understand how each weight contributes to the error.</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Gradient Descent</a:t>
            </a:r>
            <a:r>
              <a:rPr lang="en-US" dirty="0"/>
              <a:t> uses these gradients to update the weights, reducing the error step by step, in the direction of minimizing the loss.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Together, backpropagation and gradient descent form the core of the training process for neural networks, allowing the model to learn from data and improve its performance.</a:t>
            </a:r>
          </a:p>
        </p:txBody>
      </p:sp>
    </p:spTree>
    <p:extLst>
      <p:ext uri="{BB962C8B-B14F-4D97-AF65-F5344CB8AC3E}">
        <p14:creationId xmlns:p14="http://schemas.microsoft.com/office/powerpoint/2010/main" val="25942441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474</TotalTime>
  <Words>3439</Words>
  <Application>Microsoft Office PowerPoint</Application>
  <PresentationFormat>Widescreen</PresentationFormat>
  <Paragraphs>298</Paragraphs>
  <Slides>62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62</vt:i4>
      </vt:variant>
    </vt:vector>
  </HeadingPairs>
  <TitlesOfParts>
    <vt:vector size="66"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Nader Genidy</dc:creator>
  <cp:lastModifiedBy>Mahmoud Dy</cp:lastModifiedBy>
  <cp:revision>22</cp:revision>
  <dcterms:created xsi:type="dcterms:W3CDTF">2024-09-14T08:19:25Z</dcterms:created>
  <dcterms:modified xsi:type="dcterms:W3CDTF">2025-09-07T10:22:41Z</dcterms:modified>
</cp:coreProperties>
</file>