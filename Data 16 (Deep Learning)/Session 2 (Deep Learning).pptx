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305" r:id="rId6"/>
    <p:sldId id="260" r:id="rId7"/>
    <p:sldId id="261" r:id="rId8"/>
    <p:sldId id="262" r:id="rId9"/>
    <p:sldId id="263" r:id="rId10"/>
    <p:sldId id="264" r:id="rId11"/>
    <p:sldId id="265" r:id="rId12"/>
    <p:sldId id="266" r:id="rId13"/>
    <p:sldId id="267" r:id="rId14"/>
    <p:sldId id="268" r:id="rId15"/>
    <p:sldId id="269" r:id="rId16"/>
    <p:sldId id="274" r:id="rId17"/>
    <p:sldId id="270" r:id="rId18"/>
    <p:sldId id="271" r:id="rId19"/>
    <p:sldId id="272" r:id="rId20"/>
    <p:sldId id="273" r:id="rId21"/>
    <p:sldId id="275" r:id="rId22"/>
    <p:sldId id="276" r:id="rId23"/>
    <p:sldId id="277" r:id="rId24"/>
    <p:sldId id="278" r:id="rId25"/>
    <p:sldId id="279" r:id="rId26"/>
    <p:sldId id="280" r:id="rId27"/>
    <p:sldId id="281" r:id="rId28"/>
    <p:sldId id="282" r:id="rId29"/>
    <p:sldId id="283" r:id="rId30"/>
    <p:sldId id="308" r:id="rId31"/>
    <p:sldId id="284" r:id="rId32"/>
    <p:sldId id="285" r:id="rId33"/>
    <p:sldId id="286" r:id="rId34"/>
    <p:sldId id="287" r:id="rId35"/>
    <p:sldId id="288" r:id="rId36"/>
    <p:sldId id="289" r:id="rId37"/>
    <p:sldId id="290" r:id="rId38"/>
    <p:sldId id="309" r:id="rId39"/>
    <p:sldId id="291" r:id="rId40"/>
    <p:sldId id="310" r:id="rId41"/>
    <p:sldId id="292" r:id="rId42"/>
    <p:sldId id="293" r:id="rId43"/>
    <p:sldId id="311" r:id="rId44"/>
    <p:sldId id="294" r:id="rId45"/>
    <p:sldId id="312" r:id="rId46"/>
    <p:sldId id="295" r:id="rId47"/>
    <p:sldId id="296" r:id="rId48"/>
    <p:sldId id="297" r:id="rId49"/>
    <p:sldId id="298" r:id="rId50"/>
    <p:sldId id="299" r:id="rId51"/>
    <p:sldId id="300" r:id="rId52"/>
    <p:sldId id="302" r:id="rId53"/>
    <p:sldId id="301" r:id="rId54"/>
    <p:sldId id="303" r:id="rId55"/>
    <p:sldId id="304" r:id="rId56"/>
    <p:sldId id="306" r:id="rId57"/>
    <p:sldId id="307"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8D63E-9B95-49AF-B3E1-BBAE80983E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87528-567C-4D51-8062-F7AD4C4D77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DC2E29-5DB6-4485-B159-C1106760242C}"/>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4BDB5553-AC3E-4B97-A5F8-D130DD8D2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FEB3CE-9F08-4890-A8DF-A8BF8700FDC7}"/>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3935663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50C5-1194-459F-A1EA-69898AFFE6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104A21-83C8-4C61-B5B3-31ABC7311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FF848F-80FA-4820-B216-CF190AB6F036}"/>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EC951BFA-A77E-469E-A5D0-B349324224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2DCBD-3061-4917-92C2-9BB183F82BFE}"/>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119619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9091E-7792-4305-B75E-4F799D146D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F77782-261A-4966-85D2-C30A6918BC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DF5BFA-DBB9-419E-9EAD-8B87E1EC79C9}"/>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4CB39B77-EA95-4283-B158-DB9B055B1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4FCDB-22A8-458F-92C8-C4B7074DFB21}"/>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3382212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85C19-5778-4FD9-B29F-4ABE65DB2D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BB3F5A-C519-45D0-A91F-25215A39C3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8D7B6-02B6-4507-B5A0-2EFEC68BBE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74B1A3-E821-4B9E-AB67-A51EC15E10D4}"/>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6" name="Footer Placeholder 5">
            <a:extLst>
              <a:ext uri="{FF2B5EF4-FFF2-40B4-BE49-F238E27FC236}">
                <a16:creationId xmlns:a16="http://schemas.microsoft.com/office/drawing/2014/main" id="{ADE1FEB8-E132-44A8-AA17-4ECF80892A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1E462E-0210-4B92-B902-6419534DD183}"/>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2365009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4F607-9CF0-4E46-9DB0-B2323E676D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BAC2E5-F4D6-4728-8C5B-E2FDEE51ED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C63174-55C7-401E-886B-AB997D4BE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443E36-008B-471F-9D58-957B53F1B1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94F392-6957-4D27-A04E-83262EB999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6E5E98-795D-4C6A-A8CB-AB87EC26DFCC}"/>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8" name="Footer Placeholder 7">
            <a:extLst>
              <a:ext uri="{FF2B5EF4-FFF2-40B4-BE49-F238E27FC236}">
                <a16:creationId xmlns:a16="http://schemas.microsoft.com/office/drawing/2014/main" id="{48E5A4DE-CE46-438E-9F24-92970640A9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8306FF-B293-4AC0-A8B1-C7BA67CED1AC}"/>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2794798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815E4-C448-42F3-967F-2B8AE763AF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36EF80-9E0C-479B-9B4D-1FF81857EE04}"/>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4" name="Footer Placeholder 3">
            <a:extLst>
              <a:ext uri="{FF2B5EF4-FFF2-40B4-BE49-F238E27FC236}">
                <a16:creationId xmlns:a16="http://schemas.microsoft.com/office/drawing/2014/main" id="{D7B03173-821E-48F5-8482-D5A2C47FBF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2657CC-1C8A-41F2-9A08-72915EC634EA}"/>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1558549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F0166E-B390-410F-A2DD-10178FEDBC56}"/>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3" name="Footer Placeholder 2">
            <a:extLst>
              <a:ext uri="{FF2B5EF4-FFF2-40B4-BE49-F238E27FC236}">
                <a16:creationId xmlns:a16="http://schemas.microsoft.com/office/drawing/2014/main" id="{FC2F3D3D-2677-4293-B4F7-EADC1CEEF0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160A79-F6D0-47E7-B55F-F10A9E01A94E}"/>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423721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8DAFC-5E62-434F-885F-6BDBB97783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0A161D-1172-4C92-B270-364B8A46AF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AFB2FB-855F-456D-8117-409214E47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432E09-B2A1-43E8-AAF0-6CC0C404E0E5}"/>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6" name="Footer Placeholder 5">
            <a:extLst>
              <a:ext uri="{FF2B5EF4-FFF2-40B4-BE49-F238E27FC236}">
                <a16:creationId xmlns:a16="http://schemas.microsoft.com/office/drawing/2014/main" id="{C3FC21CC-CE2C-4219-81DE-2F8A940A57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A2CC22-0A15-4241-9492-8C92A71ECD9E}"/>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191475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C784D-2A77-4F5D-AC7E-8BC2A57D2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E3012C-ADC3-4E4E-A60F-756B969F80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D62D65-3833-471C-A9CD-7EBDA0A9C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4792C-58F6-4ECE-972B-093D8E00EB6F}"/>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6" name="Footer Placeholder 5">
            <a:extLst>
              <a:ext uri="{FF2B5EF4-FFF2-40B4-BE49-F238E27FC236}">
                <a16:creationId xmlns:a16="http://schemas.microsoft.com/office/drawing/2014/main" id="{D66C6EF2-A97F-451E-A152-0E4C24751D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912869-424D-4957-BE56-9A4BAFCADE94}"/>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4293822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F473-DF3D-42D3-9307-DFA0800226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511EC3-C225-47AC-964A-0E577F6BDF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A5541B-E463-477F-A040-3F7949DED008}"/>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7A24C121-4AE7-465C-9CFF-E691193802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FA4DE-085C-4A0B-A880-A51C590E217B}"/>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265769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1ED24C-2DD4-4D16-9084-165AA127F5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B5428C-4650-4963-AF1B-1E513EDBB6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E30896-628B-4C46-B8CB-C1A5B5C41BDE}"/>
              </a:ext>
            </a:extLst>
          </p:cNvPr>
          <p:cNvSpPr>
            <a:spLocks noGrp="1"/>
          </p:cNvSpPr>
          <p:nvPr>
            <p:ph type="dt" sz="half" idx="10"/>
          </p:nvPr>
        </p:nvSpPr>
        <p:spPr/>
        <p:txBody>
          <a:body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A859FED3-8EEE-4245-8FE5-E699445459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81C66A-FA55-490F-B7B1-F08243351F7C}"/>
              </a:ext>
            </a:extLst>
          </p:cNvPr>
          <p:cNvSpPr>
            <a:spLocks noGrp="1"/>
          </p:cNvSpPr>
          <p:nvPr>
            <p:ph type="sldNum" sz="quarter" idx="12"/>
          </p:nvPr>
        </p:nvSpPr>
        <p:spPr/>
        <p:txBody>
          <a:bodyPr/>
          <a:lstStyle/>
          <a:p>
            <a:fld id="{A3D4B0B7-6741-4F56-81E1-E72AC8409DBE}" type="slidenum">
              <a:rPr lang="en-US" smtClean="0"/>
              <a:t>‹#›</a:t>
            </a:fld>
            <a:endParaRPr lang="en-US"/>
          </a:p>
        </p:txBody>
      </p:sp>
    </p:spTree>
    <p:extLst>
      <p:ext uri="{BB962C8B-B14F-4D97-AF65-F5344CB8AC3E}">
        <p14:creationId xmlns:p14="http://schemas.microsoft.com/office/powerpoint/2010/main" val="3094421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77E19-CB80-496C-A201-00D4DC6A1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88C1C1-A013-4AD3-8C51-C34348408C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1D5209-1094-4EC4-A7A5-2DC658DC40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9693F2-D6E5-4C3B-AAC8-4837C190676D}" type="datetimeFigureOut">
              <a:rPr lang="en-US" smtClean="0"/>
              <a:t>9/7/2025</a:t>
            </a:fld>
            <a:endParaRPr lang="en-US"/>
          </a:p>
        </p:txBody>
      </p:sp>
      <p:sp>
        <p:nvSpPr>
          <p:cNvPr id="5" name="Footer Placeholder 4">
            <a:extLst>
              <a:ext uri="{FF2B5EF4-FFF2-40B4-BE49-F238E27FC236}">
                <a16:creationId xmlns:a16="http://schemas.microsoft.com/office/drawing/2014/main" id="{BBD95CD2-967F-4509-8E80-67C7DFDE8E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6AE489-46E5-46A8-9BF0-A6F0C363A8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D4B0B7-6741-4F56-81E1-E72AC8409DBE}" type="slidenum">
              <a:rPr lang="en-US" smtClean="0"/>
              <a:t>‹#›</a:t>
            </a:fld>
            <a:endParaRPr lang="en-US"/>
          </a:p>
        </p:txBody>
      </p:sp>
    </p:spTree>
    <p:extLst>
      <p:ext uri="{BB962C8B-B14F-4D97-AF65-F5344CB8AC3E}">
        <p14:creationId xmlns:p14="http://schemas.microsoft.com/office/powerpoint/2010/main" val="2786201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006798-83D7-DC88-7373-E10073A66AF4}"/>
              </a:ext>
            </a:extLst>
          </p:cNvPr>
          <p:cNvSpPr txBox="1"/>
          <p:nvPr/>
        </p:nvSpPr>
        <p:spPr>
          <a:xfrm>
            <a:off x="2147598" y="2782669"/>
            <a:ext cx="7896800" cy="646331"/>
          </a:xfrm>
          <a:prstGeom prst="rect">
            <a:avLst/>
          </a:prstGeom>
          <a:noFill/>
        </p:spPr>
        <p:txBody>
          <a:bodyPr wrap="square">
            <a:spAutoFit/>
          </a:bodyPr>
          <a:lstStyle/>
          <a:p>
            <a:pPr algn="ctr"/>
            <a:r>
              <a:rPr lang="en-US" sz="3600" b="1" dirty="0">
                <a:solidFill>
                  <a:srgbClr val="2AAF82"/>
                </a:solidFill>
              </a:rPr>
              <a:t>Deep Learning</a:t>
            </a:r>
          </a:p>
        </p:txBody>
      </p:sp>
      <p:sp>
        <p:nvSpPr>
          <p:cNvPr id="5" name="TextBox 4">
            <a:extLst>
              <a:ext uri="{FF2B5EF4-FFF2-40B4-BE49-F238E27FC236}">
                <a16:creationId xmlns:a16="http://schemas.microsoft.com/office/drawing/2014/main" id="{FB8288BE-339E-6C1B-4F62-D348C17DE6C0}"/>
              </a:ext>
            </a:extLst>
          </p:cNvPr>
          <p:cNvSpPr txBox="1"/>
          <p:nvPr/>
        </p:nvSpPr>
        <p:spPr>
          <a:xfrm>
            <a:off x="3930313" y="3429000"/>
            <a:ext cx="4331369" cy="307777"/>
          </a:xfrm>
          <a:prstGeom prst="rect">
            <a:avLst/>
          </a:prstGeom>
          <a:noFill/>
        </p:spPr>
        <p:txBody>
          <a:bodyPr wrap="square">
            <a:spAutoFit/>
          </a:bodyPr>
          <a:lstStyle/>
          <a:p>
            <a:pPr algn="ctr"/>
            <a:r>
              <a:rPr lang="en-US" sz="1400" b="1" dirty="0">
                <a:solidFill>
                  <a:srgbClr val="2AAF82"/>
                </a:solidFill>
              </a:rPr>
              <a:t>Session 2</a:t>
            </a:r>
          </a:p>
        </p:txBody>
      </p:sp>
    </p:spTree>
    <p:extLst>
      <p:ext uri="{BB962C8B-B14F-4D97-AF65-F5344CB8AC3E}">
        <p14:creationId xmlns:p14="http://schemas.microsoft.com/office/powerpoint/2010/main" val="268592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9BA4EE-8EBF-C5B0-B821-C39C353D91D7}"/>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3" name="Table 2">
            <a:extLst>
              <a:ext uri="{FF2B5EF4-FFF2-40B4-BE49-F238E27FC236}">
                <a16:creationId xmlns:a16="http://schemas.microsoft.com/office/drawing/2014/main" id="{54A01552-1CA5-80F2-6AED-1FE844E9E7D0}"/>
              </a:ext>
            </a:extLst>
          </p:cNvPr>
          <p:cNvGraphicFramePr>
            <a:graphicFrameLocks noGrp="1"/>
          </p:cNvGraphicFramePr>
          <p:nvPr>
            <p:extLst>
              <p:ext uri="{D42A27DB-BD31-4B8C-83A1-F6EECF244321}">
                <p14:modId xmlns:p14="http://schemas.microsoft.com/office/powerpoint/2010/main" val="2155301670"/>
              </p:ext>
            </p:extLst>
          </p:nvPr>
        </p:nvGraphicFramePr>
        <p:xfrm>
          <a:off x="2596378" y="2225964"/>
          <a:ext cx="6999244" cy="1474963"/>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Deeper Neural Networks and Hidden Layers</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Overfitting and Regularization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Optimization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545105015"/>
                  </a:ext>
                </a:extLst>
              </a:tr>
            </a:tbl>
          </a:graphicData>
        </a:graphic>
      </p:graphicFrame>
    </p:spTree>
    <p:extLst>
      <p:ext uri="{BB962C8B-B14F-4D97-AF65-F5344CB8AC3E}">
        <p14:creationId xmlns:p14="http://schemas.microsoft.com/office/powerpoint/2010/main" val="31521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C8B9B7-9523-0DEC-128A-397DAC28667D}"/>
              </a:ext>
            </a:extLst>
          </p:cNvPr>
          <p:cNvSpPr txBox="1"/>
          <p:nvPr/>
        </p:nvSpPr>
        <p:spPr>
          <a:xfrm>
            <a:off x="2752436" y="2828835"/>
            <a:ext cx="6687127" cy="1200329"/>
          </a:xfrm>
          <a:prstGeom prst="rect">
            <a:avLst/>
          </a:prstGeom>
          <a:noFill/>
        </p:spPr>
        <p:txBody>
          <a:bodyPr wrap="square">
            <a:spAutoFit/>
          </a:bodyPr>
          <a:lstStyle/>
          <a:p>
            <a:pPr algn="ctr"/>
            <a:r>
              <a:rPr lang="en-US" sz="3600" b="1" dirty="0">
                <a:solidFill>
                  <a:srgbClr val="2AAF82"/>
                </a:solidFill>
              </a:rPr>
              <a:t>Deeper Neural Networks and Hidden Layers</a:t>
            </a:r>
          </a:p>
        </p:txBody>
      </p:sp>
    </p:spTree>
    <p:extLst>
      <p:ext uri="{BB962C8B-B14F-4D97-AF65-F5344CB8AC3E}">
        <p14:creationId xmlns:p14="http://schemas.microsoft.com/office/powerpoint/2010/main" val="2581460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4A646-82F5-F44A-3EEA-80246DAF373B}"/>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4" name="TextBox 3">
            <a:extLst>
              <a:ext uri="{FF2B5EF4-FFF2-40B4-BE49-F238E27FC236}">
                <a16:creationId xmlns:a16="http://schemas.microsoft.com/office/drawing/2014/main" id="{DC4A37CD-F5FA-8186-B8B2-A4FBEB8CAB8C}"/>
              </a:ext>
            </a:extLst>
          </p:cNvPr>
          <p:cNvSpPr txBox="1"/>
          <p:nvPr/>
        </p:nvSpPr>
        <p:spPr>
          <a:xfrm>
            <a:off x="1209963" y="1840391"/>
            <a:ext cx="6096000" cy="369332"/>
          </a:xfrm>
          <a:prstGeom prst="rect">
            <a:avLst/>
          </a:prstGeom>
          <a:noFill/>
        </p:spPr>
        <p:txBody>
          <a:bodyPr wrap="square">
            <a:spAutoFit/>
          </a:bodyPr>
          <a:lstStyle/>
          <a:p>
            <a:r>
              <a:rPr lang="en-US" b="1" dirty="0"/>
              <a:t>What is a Deep Neural Network (DNN)?</a:t>
            </a:r>
          </a:p>
        </p:txBody>
      </p:sp>
      <p:sp>
        <p:nvSpPr>
          <p:cNvPr id="6" name="TextBox 5">
            <a:extLst>
              <a:ext uri="{FF2B5EF4-FFF2-40B4-BE49-F238E27FC236}">
                <a16:creationId xmlns:a16="http://schemas.microsoft.com/office/drawing/2014/main" id="{58C2515A-AFC5-2884-F938-49DFE57BD64F}"/>
              </a:ext>
            </a:extLst>
          </p:cNvPr>
          <p:cNvSpPr txBox="1"/>
          <p:nvPr/>
        </p:nvSpPr>
        <p:spPr>
          <a:xfrm>
            <a:off x="1514764" y="2209723"/>
            <a:ext cx="9467273"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A </a:t>
            </a:r>
            <a:r>
              <a:rPr lang="en-US" b="1" dirty="0"/>
              <a:t>Deep Neural Network (DNN)</a:t>
            </a:r>
            <a:r>
              <a:rPr lang="en-US" dirty="0"/>
              <a:t> is simply a neural network with more than one hidden layer between the input and output layers. These hidden layers enable the network to learn more complex patterns and features from the data. The addition of more layers allows the network to model hierarchical patterns, making DNNs powerful for tasks like image classification, speech recognition, and natural language processing.</a:t>
            </a:r>
          </a:p>
        </p:txBody>
      </p:sp>
    </p:spTree>
    <p:extLst>
      <p:ext uri="{BB962C8B-B14F-4D97-AF65-F5344CB8AC3E}">
        <p14:creationId xmlns:p14="http://schemas.microsoft.com/office/powerpoint/2010/main" val="420439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53CC24-EB2E-77B0-E710-E3B6EE63BE0C}"/>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5" name="TextBox 4">
            <a:extLst>
              <a:ext uri="{FF2B5EF4-FFF2-40B4-BE49-F238E27FC236}">
                <a16:creationId xmlns:a16="http://schemas.microsoft.com/office/drawing/2014/main" id="{9323B37F-3968-19EC-4DDC-46056A39C829}"/>
              </a:ext>
            </a:extLst>
          </p:cNvPr>
          <p:cNvSpPr txBox="1"/>
          <p:nvPr/>
        </p:nvSpPr>
        <p:spPr>
          <a:xfrm>
            <a:off x="1209963" y="1840391"/>
            <a:ext cx="6096000" cy="369332"/>
          </a:xfrm>
          <a:prstGeom prst="rect">
            <a:avLst/>
          </a:prstGeom>
          <a:noFill/>
        </p:spPr>
        <p:txBody>
          <a:bodyPr wrap="square">
            <a:spAutoFit/>
          </a:bodyPr>
          <a:lstStyle/>
          <a:p>
            <a:r>
              <a:rPr lang="en-US" b="1" dirty="0"/>
              <a:t>What is a Deep Neural Network (DNN)?</a:t>
            </a:r>
          </a:p>
        </p:txBody>
      </p:sp>
      <p:pic>
        <p:nvPicPr>
          <p:cNvPr id="1026" name="Picture 2" descr="Training Deep Neural Networks. Deep Learning Accessories | by Ravindra  Parmar | Towards Data Science">
            <a:extLst>
              <a:ext uri="{FF2B5EF4-FFF2-40B4-BE49-F238E27FC236}">
                <a16:creationId xmlns:a16="http://schemas.microsoft.com/office/drawing/2014/main" id="{45ECCC88-BC77-0A00-FD79-93991FDBD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4192" y="2302056"/>
            <a:ext cx="9003616" cy="394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284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AF2FE8-4532-8271-3185-DF3A12C105CF}"/>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4" name="TextBox 3">
            <a:extLst>
              <a:ext uri="{FF2B5EF4-FFF2-40B4-BE49-F238E27FC236}">
                <a16:creationId xmlns:a16="http://schemas.microsoft.com/office/drawing/2014/main" id="{DD8966BB-E955-9FA3-2A67-B46F4B92D575}"/>
              </a:ext>
            </a:extLst>
          </p:cNvPr>
          <p:cNvSpPr txBox="1"/>
          <p:nvPr/>
        </p:nvSpPr>
        <p:spPr>
          <a:xfrm>
            <a:off x="1283855" y="1840391"/>
            <a:ext cx="6096000" cy="369332"/>
          </a:xfrm>
          <a:prstGeom prst="rect">
            <a:avLst/>
          </a:prstGeom>
          <a:noFill/>
        </p:spPr>
        <p:txBody>
          <a:bodyPr wrap="square">
            <a:spAutoFit/>
          </a:bodyPr>
          <a:lstStyle/>
          <a:p>
            <a:r>
              <a:rPr lang="en-US" b="1" dirty="0"/>
              <a:t>Why Add More Hidden Layers?</a:t>
            </a:r>
          </a:p>
        </p:txBody>
      </p:sp>
      <p:sp>
        <p:nvSpPr>
          <p:cNvPr id="6" name="TextBox 5">
            <a:extLst>
              <a:ext uri="{FF2B5EF4-FFF2-40B4-BE49-F238E27FC236}">
                <a16:creationId xmlns:a16="http://schemas.microsoft.com/office/drawing/2014/main" id="{A7D1CD09-DB0A-7D16-8CFD-C2FD15679BC7}"/>
              </a:ext>
            </a:extLst>
          </p:cNvPr>
          <p:cNvSpPr txBox="1"/>
          <p:nvPr/>
        </p:nvSpPr>
        <p:spPr>
          <a:xfrm>
            <a:off x="1671781" y="2209723"/>
            <a:ext cx="9319491" cy="923330"/>
          </a:xfrm>
          <a:prstGeom prst="rect">
            <a:avLst/>
          </a:prstGeom>
          <a:noFill/>
        </p:spPr>
        <p:txBody>
          <a:bodyPr wrap="square">
            <a:spAutoFit/>
          </a:bodyPr>
          <a:lstStyle/>
          <a:p>
            <a:pPr marL="285750" indent="-285750">
              <a:buFont typeface="Arial" panose="020B0604020202020204" pitchFamily="34" charset="0"/>
              <a:buChar char="•"/>
            </a:pPr>
            <a:r>
              <a:rPr lang="en-US" b="1" dirty="0"/>
              <a:t>Simple Patterns in Shallow Networks</a:t>
            </a:r>
            <a:r>
              <a:rPr lang="en-US" dirty="0"/>
              <a:t>: A shallow neural network (with only one or two hidden layers) can only learn relatively simple patterns. For example, it may be able to differentiate between basic shapes in images.</a:t>
            </a:r>
          </a:p>
        </p:txBody>
      </p:sp>
      <p:pic>
        <p:nvPicPr>
          <p:cNvPr id="1026" name="Picture 2" descr="Schematic of shallow neural network and deep neural network. | Download  Scientific Diagram">
            <a:extLst>
              <a:ext uri="{FF2B5EF4-FFF2-40B4-BE49-F238E27FC236}">
                <a16:creationId xmlns:a16="http://schemas.microsoft.com/office/drawing/2014/main" id="{71D5BBE3-05B9-9510-ED0F-7B4858AF6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3133053"/>
            <a:ext cx="8096250" cy="308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5890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B2B2E2-8F14-EAE0-BCC2-3875D0D38EA6}"/>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B51EAC0F-18A3-8C16-CEA0-F75193929F01}"/>
              </a:ext>
            </a:extLst>
          </p:cNvPr>
          <p:cNvSpPr txBox="1"/>
          <p:nvPr/>
        </p:nvSpPr>
        <p:spPr>
          <a:xfrm>
            <a:off x="1283855" y="1840391"/>
            <a:ext cx="6096000" cy="369332"/>
          </a:xfrm>
          <a:prstGeom prst="rect">
            <a:avLst/>
          </a:prstGeom>
          <a:noFill/>
        </p:spPr>
        <p:txBody>
          <a:bodyPr wrap="square">
            <a:spAutoFit/>
          </a:bodyPr>
          <a:lstStyle/>
          <a:p>
            <a:r>
              <a:rPr lang="en-US" b="1" dirty="0"/>
              <a:t>Why Add More Hidden Layers?</a:t>
            </a:r>
          </a:p>
        </p:txBody>
      </p:sp>
      <p:sp>
        <p:nvSpPr>
          <p:cNvPr id="4" name="TextBox 3">
            <a:extLst>
              <a:ext uri="{FF2B5EF4-FFF2-40B4-BE49-F238E27FC236}">
                <a16:creationId xmlns:a16="http://schemas.microsoft.com/office/drawing/2014/main" id="{F9B8D7AA-32A2-E0AF-6718-3974DE23E0D6}"/>
              </a:ext>
            </a:extLst>
          </p:cNvPr>
          <p:cNvSpPr txBox="1"/>
          <p:nvPr/>
        </p:nvSpPr>
        <p:spPr>
          <a:xfrm>
            <a:off x="1671781" y="2209723"/>
            <a:ext cx="9319491" cy="923330"/>
          </a:xfrm>
          <a:prstGeom prst="rect">
            <a:avLst/>
          </a:prstGeom>
          <a:noFill/>
        </p:spPr>
        <p:txBody>
          <a:bodyPr wrap="square">
            <a:spAutoFit/>
          </a:bodyPr>
          <a:lstStyle/>
          <a:p>
            <a:pPr marL="285750" indent="-285750">
              <a:buFont typeface="Arial" panose="020B0604020202020204" pitchFamily="34" charset="0"/>
              <a:buChar char="•"/>
            </a:pPr>
            <a:r>
              <a:rPr lang="en-US" b="1" dirty="0"/>
              <a:t>Complex Patterns in Deep Networks</a:t>
            </a:r>
            <a:r>
              <a:rPr lang="en-US" dirty="0"/>
              <a:t>: Adding more hidden layers enables the network to learn complex hierarchical representations. Each layer builds on features learned in previous layers :</a:t>
            </a:r>
          </a:p>
        </p:txBody>
      </p:sp>
      <p:sp>
        <p:nvSpPr>
          <p:cNvPr id="6" name="TextBox 5">
            <a:extLst>
              <a:ext uri="{FF2B5EF4-FFF2-40B4-BE49-F238E27FC236}">
                <a16:creationId xmlns:a16="http://schemas.microsoft.com/office/drawing/2014/main" id="{96ED52DF-F9AB-151A-AD32-58A0AD567764}"/>
              </a:ext>
            </a:extLst>
          </p:cNvPr>
          <p:cNvSpPr txBox="1"/>
          <p:nvPr/>
        </p:nvSpPr>
        <p:spPr>
          <a:xfrm>
            <a:off x="2189018" y="3133053"/>
            <a:ext cx="5865091" cy="1200329"/>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first layer</a:t>
            </a:r>
            <a:r>
              <a:rPr lang="en-US" dirty="0"/>
              <a:t> may detect edges or basic features.</a:t>
            </a:r>
          </a:p>
          <a:p>
            <a:pPr marL="285750" indent="-285750">
              <a:buFont typeface="Arial" panose="020B0604020202020204" pitchFamily="34" charset="0"/>
              <a:buChar char="•"/>
            </a:pPr>
            <a:r>
              <a:rPr lang="en-US" dirty="0"/>
              <a:t>The </a:t>
            </a:r>
            <a:r>
              <a:rPr lang="en-US" b="1" dirty="0"/>
              <a:t>second layer</a:t>
            </a:r>
            <a:r>
              <a:rPr lang="en-US" dirty="0"/>
              <a:t> may detect shapes and contours.</a:t>
            </a:r>
          </a:p>
          <a:p>
            <a:pPr marL="285750" indent="-285750">
              <a:buFont typeface="Arial" panose="020B0604020202020204" pitchFamily="34" charset="0"/>
              <a:buChar char="•"/>
            </a:pPr>
            <a:r>
              <a:rPr lang="en-US" dirty="0"/>
              <a:t>The </a:t>
            </a:r>
            <a:r>
              <a:rPr lang="en-US" b="1" dirty="0"/>
              <a:t>deeper layers</a:t>
            </a:r>
            <a:r>
              <a:rPr lang="en-US" dirty="0"/>
              <a:t> may detect more complex features like objects or faces.</a:t>
            </a:r>
          </a:p>
        </p:txBody>
      </p:sp>
      <p:sp>
        <p:nvSpPr>
          <p:cNvPr id="8" name="TextBox 7">
            <a:extLst>
              <a:ext uri="{FF2B5EF4-FFF2-40B4-BE49-F238E27FC236}">
                <a16:creationId xmlns:a16="http://schemas.microsoft.com/office/drawing/2014/main" id="{1A77C442-7E98-F3AB-FFB6-0485C3EE827A}"/>
              </a:ext>
            </a:extLst>
          </p:cNvPr>
          <p:cNvSpPr txBox="1"/>
          <p:nvPr/>
        </p:nvSpPr>
        <p:spPr>
          <a:xfrm>
            <a:off x="1958109" y="4333382"/>
            <a:ext cx="6096000" cy="646331"/>
          </a:xfrm>
          <a:prstGeom prst="rect">
            <a:avLst/>
          </a:prstGeom>
          <a:noFill/>
        </p:spPr>
        <p:txBody>
          <a:bodyPr wrap="square">
            <a:spAutoFit/>
          </a:bodyPr>
          <a:lstStyle/>
          <a:p>
            <a:r>
              <a:rPr lang="en-US" dirty="0"/>
              <a:t>The deeper the network, the more complex and abstract the learned features become.</a:t>
            </a:r>
          </a:p>
        </p:txBody>
      </p:sp>
    </p:spTree>
    <p:extLst>
      <p:ext uri="{BB962C8B-B14F-4D97-AF65-F5344CB8AC3E}">
        <p14:creationId xmlns:p14="http://schemas.microsoft.com/office/powerpoint/2010/main" val="1875934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BAF8CD-5BAE-E0FE-C11F-1528A249F9FF}"/>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4" name="TextBox 3">
            <a:extLst>
              <a:ext uri="{FF2B5EF4-FFF2-40B4-BE49-F238E27FC236}">
                <a16:creationId xmlns:a16="http://schemas.microsoft.com/office/drawing/2014/main" id="{EA36EC67-7478-9C64-1282-A9C20629FF57}"/>
              </a:ext>
            </a:extLst>
          </p:cNvPr>
          <p:cNvSpPr txBox="1"/>
          <p:nvPr/>
        </p:nvSpPr>
        <p:spPr>
          <a:xfrm>
            <a:off x="1274618" y="1840391"/>
            <a:ext cx="6096000" cy="369332"/>
          </a:xfrm>
          <a:prstGeom prst="rect">
            <a:avLst/>
          </a:prstGeom>
          <a:noFill/>
        </p:spPr>
        <p:txBody>
          <a:bodyPr wrap="square">
            <a:spAutoFit/>
          </a:bodyPr>
          <a:lstStyle/>
          <a:p>
            <a:r>
              <a:rPr lang="en-US" b="1" dirty="0"/>
              <a:t>How Data Passes Through a Deep Neural Network</a:t>
            </a:r>
          </a:p>
        </p:txBody>
      </p:sp>
      <p:sp>
        <p:nvSpPr>
          <p:cNvPr id="6" name="TextBox 5">
            <a:extLst>
              <a:ext uri="{FF2B5EF4-FFF2-40B4-BE49-F238E27FC236}">
                <a16:creationId xmlns:a16="http://schemas.microsoft.com/office/drawing/2014/main" id="{715D1C73-A0D0-B113-6E3D-42734AE6D5C2}"/>
              </a:ext>
            </a:extLst>
          </p:cNvPr>
          <p:cNvSpPr txBox="1"/>
          <p:nvPr/>
        </p:nvSpPr>
        <p:spPr>
          <a:xfrm>
            <a:off x="1745673" y="2209723"/>
            <a:ext cx="8349672" cy="646331"/>
          </a:xfrm>
          <a:prstGeom prst="rect">
            <a:avLst/>
          </a:prstGeom>
          <a:noFill/>
        </p:spPr>
        <p:txBody>
          <a:bodyPr wrap="square">
            <a:spAutoFit/>
          </a:bodyPr>
          <a:lstStyle/>
          <a:p>
            <a:pPr marL="285750" indent="-285750">
              <a:buFont typeface="Arial" panose="020B0604020202020204" pitchFamily="34" charset="0"/>
              <a:buChar char="•"/>
            </a:pPr>
            <a:r>
              <a:rPr lang="en-US" dirty="0"/>
              <a:t>In a </a:t>
            </a:r>
            <a:r>
              <a:rPr lang="en-US" b="1" dirty="0"/>
              <a:t>deep neural network</a:t>
            </a:r>
            <a:r>
              <a:rPr lang="en-US" dirty="0"/>
              <a:t>, data passes through multiple layers of neurons. Each layer performs the following :</a:t>
            </a:r>
          </a:p>
        </p:txBody>
      </p:sp>
      <p:sp>
        <p:nvSpPr>
          <p:cNvPr id="8" name="TextBox 7">
            <a:extLst>
              <a:ext uri="{FF2B5EF4-FFF2-40B4-BE49-F238E27FC236}">
                <a16:creationId xmlns:a16="http://schemas.microsoft.com/office/drawing/2014/main" id="{BF6F8061-2CF9-6C73-DFA6-B6E6ED54D7EB}"/>
              </a:ext>
            </a:extLst>
          </p:cNvPr>
          <p:cNvSpPr txBox="1"/>
          <p:nvPr/>
        </p:nvSpPr>
        <p:spPr>
          <a:xfrm>
            <a:off x="2281381" y="2951079"/>
            <a:ext cx="6096000" cy="369332"/>
          </a:xfrm>
          <a:prstGeom prst="rect">
            <a:avLst/>
          </a:prstGeom>
          <a:noFill/>
        </p:spPr>
        <p:txBody>
          <a:bodyPr wrap="square">
            <a:spAutoFit/>
          </a:bodyPr>
          <a:lstStyle/>
          <a:p>
            <a:r>
              <a:rPr lang="en-US" b="1" dirty="0"/>
              <a:t>1. Weighted Sum</a:t>
            </a:r>
          </a:p>
        </p:txBody>
      </p:sp>
      <p:sp>
        <p:nvSpPr>
          <p:cNvPr id="10" name="TextBox 9">
            <a:extLst>
              <a:ext uri="{FF2B5EF4-FFF2-40B4-BE49-F238E27FC236}">
                <a16:creationId xmlns:a16="http://schemas.microsoft.com/office/drawing/2014/main" id="{F62D5C60-7F70-2942-833A-4DEEFD3B96CC}"/>
              </a:ext>
            </a:extLst>
          </p:cNvPr>
          <p:cNvSpPr txBox="1"/>
          <p:nvPr/>
        </p:nvSpPr>
        <p:spPr>
          <a:xfrm>
            <a:off x="2660073" y="3325029"/>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Each neuron receives inputs from the previous layer and calculates a weighted sum.</a:t>
            </a:r>
          </a:p>
        </p:txBody>
      </p:sp>
      <p:pic>
        <p:nvPicPr>
          <p:cNvPr id="12" name="Picture 11">
            <a:extLst>
              <a:ext uri="{FF2B5EF4-FFF2-40B4-BE49-F238E27FC236}">
                <a16:creationId xmlns:a16="http://schemas.microsoft.com/office/drawing/2014/main" id="{CB67C503-051D-7626-9D43-BCE6455FA493}"/>
              </a:ext>
            </a:extLst>
          </p:cNvPr>
          <p:cNvPicPr>
            <a:picLocks noChangeAspect="1"/>
          </p:cNvPicPr>
          <p:nvPr/>
        </p:nvPicPr>
        <p:blipFill>
          <a:blip r:embed="rId2"/>
          <a:stretch>
            <a:fillRect/>
          </a:stretch>
        </p:blipFill>
        <p:spPr>
          <a:xfrm>
            <a:off x="4178917" y="4124051"/>
            <a:ext cx="5016420" cy="477754"/>
          </a:xfrm>
          <a:prstGeom prst="rect">
            <a:avLst/>
          </a:prstGeom>
        </p:spPr>
      </p:pic>
    </p:spTree>
    <p:extLst>
      <p:ext uri="{BB962C8B-B14F-4D97-AF65-F5344CB8AC3E}">
        <p14:creationId xmlns:p14="http://schemas.microsoft.com/office/powerpoint/2010/main" val="1045983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ECA01-3EB4-A9F4-0956-248B677A49F7}"/>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0F1E7599-CE6D-53B2-A0C9-A593A2A64DFE}"/>
              </a:ext>
            </a:extLst>
          </p:cNvPr>
          <p:cNvSpPr txBox="1"/>
          <p:nvPr/>
        </p:nvSpPr>
        <p:spPr>
          <a:xfrm>
            <a:off x="1274618" y="1840391"/>
            <a:ext cx="6096000" cy="369332"/>
          </a:xfrm>
          <a:prstGeom prst="rect">
            <a:avLst/>
          </a:prstGeom>
          <a:noFill/>
        </p:spPr>
        <p:txBody>
          <a:bodyPr wrap="square">
            <a:spAutoFit/>
          </a:bodyPr>
          <a:lstStyle/>
          <a:p>
            <a:r>
              <a:rPr lang="en-US" b="1" dirty="0"/>
              <a:t>How Data Passes Through a Deep Neural Network</a:t>
            </a:r>
          </a:p>
        </p:txBody>
      </p:sp>
      <p:sp>
        <p:nvSpPr>
          <p:cNvPr id="4" name="TextBox 3">
            <a:extLst>
              <a:ext uri="{FF2B5EF4-FFF2-40B4-BE49-F238E27FC236}">
                <a16:creationId xmlns:a16="http://schemas.microsoft.com/office/drawing/2014/main" id="{F92C4C3A-0B4F-F500-6F09-DF5CCE07AFEC}"/>
              </a:ext>
            </a:extLst>
          </p:cNvPr>
          <p:cNvSpPr txBox="1"/>
          <p:nvPr/>
        </p:nvSpPr>
        <p:spPr>
          <a:xfrm>
            <a:off x="1745673" y="2209723"/>
            <a:ext cx="8349672" cy="646331"/>
          </a:xfrm>
          <a:prstGeom prst="rect">
            <a:avLst/>
          </a:prstGeom>
          <a:noFill/>
        </p:spPr>
        <p:txBody>
          <a:bodyPr wrap="square">
            <a:spAutoFit/>
          </a:bodyPr>
          <a:lstStyle/>
          <a:p>
            <a:pPr marL="285750" indent="-285750">
              <a:buFont typeface="Arial" panose="020B0604020202020204" pitchFamily="34" charset="0"/>
              <a:buChar char="•"/>
            </a:pPr>
            <a:r>
              <a:rPr lang="en-US" dirty="0"/>
              <a:t>In a </a:t>
            </a:r>
            <a:r>
              <a:rPr lang="en-US" b="1" dirty="0"/>
              <a:t>deep neural network</a:t>
            </a:r>
            <a:r>
              <a:rPr lang="en-US" dirty="0"/>
              <a:t>, data passes through multiple layers of neurons. Each layer performs the following :</a:t>
            </a:r>
          </a:p>
        </p:txBody>
      </p:sp>
      <p:sp>
        <p:nvSpPr>
          <p:cNvPr id="5" name="TextBox 4">
            <a:extLst>
              <a:ext uri="{FF2B5EF4-FFF2-40B4-BE49-F238E27FC236}">
                <a16:creationId xmlns:a16="http://schemas.microsoft.com/office/drawing/2014/main" id="{68B48D27-5961-AB95-790A-A14D0023404C}"/>
              </a:ext>
            </a:extLst>
          </p:cNvPr>
          <p:cNvSpPr txBox="1"/>
          <p:nvPr/>
        </p:nvSpPr>
        <p:spPr>
          <a:xfrm>
            <a:off x="2281381" y="2951079"/>
            <a:ext cx="6096000" cy="369332"/>
          </a:xfrm>
          <a:prstGeom prst="rect">
            <a:avLst/>
          </a:prstGeom>
          <a:noFill/>
        </p:spPr>
        <p:txBody>
          <a:bodyPr wrap="square">
            <a:spAutoFit/>
          </a:bodyPr>
          <a:lstStyle/>
          <a:p>
            <a:r>
              <a:rPr lang="en-US" b="1" dirty="0"/>
              <a:t>2. Activation Function</a:t>
            </a:r>
          </a:p>
        </p:txBody>
      </p:sp>
      <p:sp>
        <p:nvSpPr>
          <p:cNvPr id="6" name="TextBox 5">
            <a:extLst>
              <a:ext uri="{FF2B5EF4-FFF2-40B4-BE49-F238E27FC236}">
                <a16:creationId xmlns:a16="http://schemas.microsoft.com/office/drawing/2014/main" id="{801DB479-D3DE-3D22-C221-DEA1DE19496C}"/>
              </a:ext>
            </a:extLst>
          </p:cNvPr>
          <p:cNvSpPr txBox="1"/>
          <p:nvPr/>
        </p:nvSpPr>
        <p:spPr>
          <a:xfrm>
            <a:off x="2660073" y="3325029"/>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The weighted sum is passed through an activation function (e.g., ReLU, Sigmoid, Tanh) to introduce non-linearity.</a:t>
            </a:r>
          </a:p>
        </p:txBody>
      </p:sp>
    </p:spTree>
    <p:extLst>
      <p:ext uri="{BB962C8B-B14F-4D97-AF65-F5344CB8AC3E}">
        <p14:creationId xmlns:p14="http://schemas.microsoft.com/office/powerpoint/2010/main" val="228720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C2FDCC-9893-E49A-6521-A8A52BBF684A}"/>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D57278D6-3009-F062-25E0-41332A25A96D}"/>
              </a:ext>
            </a:extLst>
          </p:cNvPr>
          <p:cNvSpPr txBox="1"/>
          <p:nvPr/>
        </p:nvSpPr>
        <p:spPr>
          <a:xfrm>
            <a:off x="1274618" y="1840391"/>
            <a:ext cx="6096000" cy="369332"/>
          </a:xfrm>
          <a:prstGeom prst="rect">
            <a:avLst/>
          </a:prstGeom>
          <a:noFill/>
        </p:spPr>
        <p:txBody>
          <a:bodyPr wrap="square">
            <a:spAutoFit/>
          </a:bodyPr>
          <a:lstStyle/>
          <a:p>
            <a:r>
              <a:rPr lang="en-US" b="1" dirty="0"/>
              <a:t>How Data Passes Through a Deep Neural Network</a:t>
            </a:r>
          </a:p>
        </p:txBody>
      </p:sp>
      <p:sp>
        <p:nvSpPr>
          <p:cNvPr id="4" name="TextBox 3">
            <a:extLst>
              <a:ext uri="{FF2B5EF4-FFF2-40B4-BE49-F238E27FC236}">
                <a16:creationId xmlns:a16="http://schemas.microsoft.com/office/drawing/2014/main" id="{083C998E-5D55-05C7-9986-6F745B2E318D}"/>
              </a:ext>
            </a:extLst>
          </p:cNvPr>
          <p:cNvSpPr txBox="1"/>
          <p:nvPr/>
        </p:nvSpPr>
        <p:spPr>
          <a:xfrm>
            <a:off x="1745673" y="2209723"/>
            <a:ext cx="8349672" cy="646331"/>
          </a:xfrm>
          <a:prstGeom prst="rect">
            <a:avLst/>
          </a:prstGeom>
          <a:noFill/>
        </p:spPr>
        <p:txBody>
          <a:bodyPr wrap="square">
            <a:spAutoFit/>
          </a:bodyPr>
          <a:lstStyle/>
          <a:p>
            <a:pPr marL="285750" indent="-285750">
              <a:buFont typeface="Arial" panose="020B0604020202020204" pitchFamily="34" charset="0"/>
              <a:buChar char="•"/>
            </a:pPr>
            <a:r>
              <a:rPr lang="en-US" dirty="0"/>
              <a:t>In a </a:t>
            </a:r>
            <a:r>
              <a:rPr lang="en-US" b="1" dirty="0"/>
              <a:t>deep neural network</a:t>
            </a:r>
            <a:r>
              <a:rPr lang="en-US" dirty="0"/>
              <a:t>, data passes through multiple layers of neurons. Each layer performs the following :</a:t>
            </a:r>
          </a:p>
        </p:txBody>
      </p:sp>
      <p:sp>
        <p:nvSpPr>
          <p:cNvPr id="5" name="TextBox 4">
            <a:extLst>
              <a:ext uri="{FF2B5EF4-FFF2-40B4-BE49-F238E27FC236}">
                <a16:creationId xmlns:a16="http://schemas.microsoft.com/office/drawing/2014/main" id="{DEACE529-CDEB-C25D-BC4E-15F5A75836C3}"/>
              </a:ext>
            </a:extLst>
          </p:cNvPr>
          <p:cNvSpPr txBox="1"/>
          <p:nvPr/>
        </p:nvSpPr>
        <p:spPr>
          <a:xfrm>
            <a:off x="2281381" y="2951079"/>
            <a:ext cx="6096000" cy="369332"/>
          </a:xfrm>
          <a:prstGeom prst="rect">
            <a:avLst/>
          </a:prstGeom>
          <a:noFill/>
        </p:spPr>
        <p:txBody>
          <a:bodyPr wrap="square">
            <a:spAutoFit/>
          </a:bodyPr>
          <a:lstStyle/>
          <a:p>
            <a:r>
              <a:rPr lang="en-US" b="1" dirty="0"/>
              <a:t>3. Output of Layer</a:t>
            </a:r>
          </a:p>
        </p:txBody>
      </p:sp>
      <p:sp>
        <p:nvSpPr>
          <p:cNvPr id="6" name="TextBox 5">
            <a:extLst>
              <a:ext uri="{FF2B5EF4-FFF2-40B4-BE49-F238E27FC236}">
                <a16:creationId xmlns:a16="http://schemas.microsoft.com/office/drawing/2014/main" id="{9AAB59A4-369F-0204-5A29-86A449D3EDB4}"/>
              </a:ext>
            </a:extLst>
          </p:cNvPr>
          <p:cNvSpPr txBox="1"/>
          <p:nvPr/>
        </p:nvSpPr>
        <p:spPr>
          <a:xfrm>
            <a:off x="2660073" y="3325029"/>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The result is passed to the next layer as input, and this continues until the output layer.</a:t>
            </a:r>
          </a:p>
        </p:txBody>
      </p:sp>
    </p:spTree>
    <p:extLst>
      <p:ext uri="{BB962C8B-B14F-4D97-AF65-F5344CB8AC3E}">
        <p14:creationId xmlns:p14="http://schemas.microsoft.com/office/powerpoint/2010/main" val="423882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2D418B-E078-3768-2296-91D0BE857A94}"/>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6" name="TextBox 5">
            <a:extLst>
              <a:ext uri="{FF2B5EF4-FFF2-40B4-BE49-F238E27FC236}">
                <a16:creationId xmlns:a16="http://schemas.microsoft.com/office/drawing/2014/main" id="{7F427BC5-EC08-6720-7604-E024BF3F6B8A}"/>
              </a:ext>
            </a:extLst>
          </p:cNvPr>
          <p:cNvSpPr txBox="1"/>
          <p:nvPr/>
        </p:nvSpPr>
        <p:spPr>
          <a:xfrm>
            <a:off x="1376218" y="1840391"/>
            <a:ext cx="6096000" cy="369332"/>
          </a:xfrm>
          <a:prstGeom prst="rect">
            <a:avLst/>
          </a:prstGeom>
          <a:noFill/>
        </p:spPr>
        <p:txBody>
          <a:bodyPr wrap="square">
            <a:spAutoFit/>
          </a:bodyPr>
          <a:lstStyle/>
          <a:p>
            <a:r>
              <a:rPr lang="en-US" b="1" dirty="0"/>
              <a:t>Vanishing Gradient Problem</a:t>
            </a:r>
          </a:p>
        </p:txBody>
      </p:sp>
      <p:sp>
        <p:nvSpPr>
          <p:cNvPr id="8" name="TextBox 7">
            <a:extLst>
              <a:ext uri="{FF2B5EF4-FFF2-40B4-BE49-F238E27FC236}">
                <a16:creationId xmlns:a16="http://schemas.microsoft.com/office/drawing/2014/main" id="{3F297910-AA7B-09C2-0223-1D82419C94D1}"/>
              </a:ext>
            </a:extLst>
          </p:cNvPr>
          <p:cNvSpPr txBox="1"/>
          <p:nvPr/>
        </p:nvSpPr>
        <p:spPr>
          <a:xfrm>
            <a:off x="1727199" y="2209723"/>
            <a:ext cx="8783783" cy="1754326"/>
          </a:xfrm>
          <a:prstGeom prst="rect">
            <a:avLst/>
          </a:prstGeom>
          <a:noFill/>
        </p:spPr>
        <p:txBody>
          <a:bodyPr wrap="square">
            <a:spAutoFit/>
          </a:bodyPr>
          <a:lstStyle/>
          <a:p>
            <a:pPr marL="285750" indent="-285750" algn="just">
              <a:buFont typeface="Arial" panose="020B0604020202020204" pitchFamily="34" charset="0"/>
              <a:buChar char="•"/>
            </a:pPr>
            <a:r>
              <a:rPr lang="en-US" dirty="0"/>
              <a:t>The </a:t>
            </a:r>
            <a:r>
              <a:rPr lang="en-US" b="1" dirty="0"/>
              <a:t>Vanishing Gradient Problem</a:t>
            </a:r>
            <a:r>
              <a:rPr lang="en-US" dirty="0"/>
              <a:t> occurs during the training of deep neural networks, especially when using certain activation functions. It happens when the gradients of the loss function become very small (close to zero) as they are propagated back through the layers. As a result, the earlier layers in the network receive extremely small updates during training, making it difficult for the model to learn effectively in those layers.</a:t>
            </a:r>
          </a:p>
        </p:txBody>
      </p:sp>
      <p:pic>
        <p:nvPicPr>
          <p:cNvPr id="2050" name="Picture 2" descr="Vanishing Gradient Problem: Causes &amp; Methods | BotPenguin">
            <a:extLst>
              <a:ext uri="{FF2B5EF4-FFF2-40B4-BE49-F238E27FC236}">
                <a16:creationId xmlns:a16="http://schemas.microsoft.com/office/drawing/2014/main" id="{286E591C-2CAA-EE7C-B669-24710A8CD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3770084"/>
            <a:ext cx="2854125" cy="285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9982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Vanishing and Exploding Gradients in Deep Neural Networks">
            <a:extLst>
              <a:ext uri="{FF2B5EF4-FFF2-40B4-BE49-F238E27FC236}">
                <a16:creationId xmlns:a16="http://schemas.microsoft.com/office/drawing/2014/main" id="{7CFA9C5B-6D3F-515B-982A-0CF8BD6E95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618" y="2138218"/>
            <a:ext cx="7102764" cy="40840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ADCFC3-F1B6-1C0E-3282-586D3659D91E}"/>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0EB72C09-81ED-5B1E-9222-0BEB208B10A2}"/>
              </a:ext>
            </a:extLst>
          </p:cNvPr>
          <p:cNvSpPr txBox="1"/>
          <p:nvPr/>
        </p:nvSpPr>
        <p:spPr>
          <a:xfrm>
            <a:off x="1376218" y="1840391"/>
            <a:ext cx="6096000" cy="369332"/>
          </a:xfrm>
          <a:prstGeom prst="rect">
            <a:avLst/>
          </a:prstGeom>
          <a:noFill/>
        </p:spPr>
        <p:txBody>
          <a:bodyPr wrap="square">
            <a:spAutoFit/>
          </a:bodyPr>
          <a:lstStyle/>
          <a:p>
            <a:r>
              <a:rPr lang="en-US" b="1" dirty="0"/>
              <a:t>Vanishing Gradient Problem</a:t>
            </a:r>
          </a:p>
        </p:txBody>
      </p:sp>
    </p:spTree>
    <p:extLst>
      <p:ext uri="{BB962C8B-B14F-4D97-AF65-F5344CB8AC3E}">
        <p14:creationId xmlns:p14="http://schemas.microsoft.com/office/powerpoint/2010/main" val="3672762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CEE8F2-4871-6E97-4BE9-7D92E98D9769}"/>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11C43FBA-C878-8334-04F5-33964243D1CE}"/>
              </a:ext>
            </a:extLst>
          </p:cNvPr>
          <p:cNvSpPr txBox="1"/>
          <p:nvPr/>
        </p:nvSpPr>
        <p:spPr>
          <a:xfrm>
            <a:off x="1376217" y="1840391"/>
            <a:ext cx="7019637" cy="369332"/>
          </a:xfrm>
          <a:prstGeom prst="rect">
            <a:avLst/>
          </a:prstGeom>
          <a:noFill/>
        </p:spPr>
        <p:txBody>
          <a:bodyPr wrap="square">
            <a:spAutoFit/>
          </a:bodyPr>
          <a:lstStyle/>
          <a:p>
            <a:r>
              <a:rPr lang="en-US" b="1" dirty="0"/>
              <a:t>How Activation Functions Affect the Vanishing Gradient Problem ?</a:t>
            </a:r>
          </a:p>
        </p:txBody>
      </p:sp>
      <p:sp>
        <p:nvSpPr>
          <p:cNvPr id="5" name="TextBox 4">
            <a:extLst>
              <a:ext uri="{FF2B5EF4-FFF2-40B4-BE49-F238E27FC236}">
                <a16:creationId xmlns:a16="http://schemas.microsoft.com/office/drawing/2014/main" id="{F24188E7-D44F-851D-6F51-4C44CFFBE71E}"/>
              </a:ext>
            </a:extLst>
          </p:cNvPr>
          <p:cNvSpPr txBox="1"/>
          <p:nvPr/>
        </p:nvSpPr>
        <p:spPr>
          <a:xfrm>
            <a:off x="1838035" y="2209723"/>
            <a:ext cx="8765310" cy="923330"/>
          </a:xfrm>
          <a:prstGeom prst="rect">
            <a:avLst/>
          </a:prstGeom>
          <a:noFill/>
        </p:spPr>
        <p:txBody>
          <a:bodyPr wrap="square">
            <a:spAutoFit/>
          </a:bodyPr>
          <a:lstStyle/>
          <a:p>
            <a:pPr marL="285750" indent="-285750">
              <a:buFont typeface="Arial" panose="020B0604020202020204" pitchFamily="34" charset="0"/>
              <a:buChar char="•"/>
            </a:pPr>
            <a:r>
              <a:rPr lang="en-US" dirty="0"/>
              <a:t>Different activation functions have varying effects on the vanishing gradient problem. Let's break down how common activation functions like </a:t>
            </a:r>
            <a:r>
              <a:rPr lang="en-US" b="1" dirty="0"/>
              <a:t>Sigmoid</a:t>
            </a:r>
            <a:r>
              <a:rPr lang="en-US" dirty="0"/>
              <a:t>, </a:t>
            </a:r>
            <a:r>
              <a:rPr lang="en-US" b="1" dirty="0"/>
              <a:t>Tanh</a:t>
            </a:r>
            <a:r>
              <a:rPr lang="en-US" dirty="0"/>
              <a:t>, and </a:t>
            </a:r>
            <a:r>
              <a:rPr lang="en-US" b="1" dirty="0"/>
              <a:t>ReLU</a:t>
            </a:r>
            <a:r>
              <a:rPr lang="en-US" dirty="0"/>
              <a:t> handle this issue.</a:t>
            </a:r>
          </a:p>
        </p:txBody>
      </p:sp>
      <p:pic>
        <p:nvPicPr>
          <p:cNvPr id="3074" name="Picture 2" descr="The Problem of Vanishing Gradients | by Animesh Agarwal | Towards Data  Science">
            <a:extLst>
              <a:ext uri="{FF2B5EF4-FFF2-40B4-BE49-F238E27FC236}">
                <a16:creationId xmlns:a16="http://schemas.microsoft.com/office/drawing/2014/main" id="{4ECB799A-E8F0-F6D0-F77B-5BBEB97645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510" y="3177117"/>
            <a:ext cx="6032500" cy="2942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131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46320F-D9F7-3837-408F-3CE0141DF0BA}"/>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4" name="TextBox 3">
            <a:extLst>
              <a:ext uri="{FF2B5EF4-FFF2-40B4-BE49-F238E27FC236}">
                <a16:creationId xmlns:a16="http://schemas.microsoft.com/office/drawing/2014/main" id="{91D6E9D1-3D38-C1AB-B3F1-5DCAF49B8AA2}"/>
              </a:ext>
            </a:extLst>
          </p:cNvPr>
          <p:cNvSpPr txBox="1"/>
          <p:nvPr/>
        </p:nvSpPr>
        <p:spPr>
          <a:xfrm>
            <a:off x="1348510" y="1840391"/>
            <a:ext cx="6096000" cy="369332"/>
          </a:xfrm>
          <a:prstGeom prst="rect">
            <a:avLst/>
          </a:prstGeom>
          <a:noFill/>
        </p:spPr>
        <p:txBody>
          <a:bodyPr wrap="square">
            <a:spAutoFit/>
          </a:bodyPr>
          <a:lstStyle/>
          <a:p>
            <a:r>
              <a:rPr lang="en-US" b="1" dirty="0"/>
              <a:t>Sigmoid Activation Function</a:t>
            </a:r>
          </a:p>
        </p:txBody>
      </p:sp>
      <p:sp>
        <p:nvSpPr>
          <p:cNvPr id="6" name="TextBox 5">
            <a:extLst>
              <a:ext uri="{FF2B5EF4-FFF2-40B4-BE49-F238E27FC236}">
                <a16:creationId xmlns:a16="http://schemas.microsoft.com/office/drawing/2014/main" id="{636A5C69-4F65-C5D6-29CA-034AAFAD5DA9}"/>
              </a:ext>
            </a:extLst>
          </p:cNvPr>
          <p:cNvSpPr txBox="1"/>
          <p:nvPr/>
        </p:nvSpPr>
        <p:spPr>
          <a:xfrm>
            <a:off x="1791855" y="2209723"/>
            <a:ext cx="6096000" cy="369332"/>
          </a:xfrm>
          <a:prstGeom prst="rect">
            <a:avLst/>
          </a:prstGeom>
          <a:noFill/>
        </p:spPr>
        <p:txBody>
          <a:bodyPr wrap="square">
            <a:spAutoFit/>
          </a:bodyPr>
          <a:lstStyle/>
          <a:p>
            <a:r>
              <a:rPr lang="en-US" dirty="0"/>
              <a:t>What is Sigmoid?</a:t>
            </a:r>
          </a:p>
        </p:txBody>
      </p:sp>
      <p:sp>
        <p:nvSpPr>
          <p:cNvPr id="8" name="TextBox 7">
            <a:extLst>
              <a:ext uri="{FF2B5EF4-FFF2-40B4-BE49-F238E27FC236}">
                <a16:creationId xmlns:a16="http://schemas.microsoft.com/office/drawing/2014/main" id="{85741C11-B26A-D77B-77EF-6F2E9B78DCFE}"/>
              </a:ext>
            </a:extLst>
          </p:cNvPr>
          <p:cNvSpPr txBox="1"/>
          <p:nvPr/>
        </p:nvSpPr>
        <p:spPr>
          <a:xfrm>
            <a:off x="2133600" y="2579055"/>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sigmoid function</a:t>
            </a:r>
            <a:r>
              <a:rPr lang="en-US" dirty="0"/>
              <a:t> maps any input to a value between 0 and 1, and is defined as :</a:t>
            </a:r>
          </a:p>
        </p:txBody>
      </p:sp>
      <p:pic>
        <p:nvPicPr>
          <p:cNvPr id="10" name="Picture 9">
            <a:extLst>
              <a:ext uri="{FF2B5EF4-FFF2-40B4-BE49-F238E27FC236}">
                <a16:creationId xmlns:a16="http://schemas.microsoft.com/office/drawing/2014/main" id="{D8D95167-72DF-2C1D-FD99-7056C2757D34}"/>
              </a:ext>
            </a:extLst>
          </p:cNvPr>
          <p:cNvPicPr>
            <a:picLocks noChangeAspect="1"/>
          </p:cNvPicPr>
          <p:nvPr/>
        </p:nvPicPr>
        <p:blipFill>
          <a:blip r:embed="rId2"/>
          <a:stretch>
            <a:fillRect/>
          </a:stretch>
        </p:blipFill>
        <p:spPr>
          <a:xfrm>
            <a:off x="4970614" y="3201753"/>
            <a:ext cx="2250772" cy="861724"/>
          </a:xfrm>
          <a:prstGeom prst="rect">
            <a:avLst/>
          </a:prstGeom>
        </p:spPr>
      </p:pic>
      <p:sp>
        <p:nvSpPr>
          <p:cNvPr id="12" name="TextBox 11">
            <a:extLst>
              <a:ext uri="{FF2B5EF4-FFF2-40B4-BE49-F238E27FC236}">
                <a16:creationId xmlns:a16="http://schemas.microsoft.com/office/drawing/2014/main" id="{5363FD62-C3A9-3B0C-164D-9A273213B9E5}"/>
              </a:ext>
            </a:extLst>
          </p:cNvPr>
          <p:cNvSpPr txBox="1"/>
          <p:nvPr/>
        </p:nvSpPr>
        <p:spPr>
          <a:xfrm>
            <a:off x="2392219" y="4174314"/>
            <a:ext cx="7592290" cy="369332"/>
          </a:xfrm>
          <a:prstGeom prst="rect">
            <a:avLst/>
          </a:prstGeom>
          <a:noFill/>
        </p:spPr>
        <p:txBody>
          <a:bodyPr wrap="square">
            <a:spAutoFit/>
          </a:bodyPr>
          <a:lstStyle/>
          <a:p>
            <a:r>
              <a:rPr lang="en-US" dirty="0"/>
              <a:t>Where 𝑧 is the input (usually the weighted sum of inputs in a neuron).</a:t>
            </a:r>
          </a:p>
        </p:txBody>
      </p:sp>
    </p:spTree>
    <p:extLst>
      <p:ext uri="{BB962C8B-B14F-4D97-AF65-F5344CB8AC3E}">
        <p14:creationId xmlns:p14="http://schemas.microsoft.com/office/powerpoint/2010/main" val="2323206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73EA44-C546-D1BB-0E21-699461C61C39}"/>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F7F9F467-619B-9EFE-8615-2F63B1A09CE6}"/>
              </a:ext>
            </a:extLst>
          </p:cNvPr>
          <p:cNvSpPr txBox="1"/>
          <p:nvPr/>
        </p:nvSpPr>
        <p:spPr>
          <a:xfrm>
            <a:off x="1348510" y="1840391"/>
            <a:ext cx="6096000" cy="369332"/>
          </a:xfrm>
          <a:prstGeom prst="rect">
            <a:avLst/>
          </a:prstGeom>
          <a:noFill/>
        </p:spPr>
        <p:txBody>
          <a:bodyPr wrap="square">
            <a:spAutoFit/>
          </a:bodyPr>
          <a:lstStyle/>
          <a:p>
            <a:r>
              <a:rPr lang="en-US" b="1" dirty="0"/>
              <a:t>How Does Sigmoid Cause Vanishing Gradients?</a:t>
            </a:r>
          </a:p>
        </p:txBody>
      </p:sp>
      <p:sp>
        <p:nvSpPr>
          <p:cNvPr id="5" name="TextBox 4">
            <a:extLst>
              <a:ext uri="{FF2B5EF4-FFF2-40B4-BE49-F238E27FC236}">
                <a16:creationId xmlns:a16="http://schemas.microsoft.com/office/drawing/2014/main" id="{115E6A35-B1AA-5587-5073-EEA1F5F99AD4}"/>
              </a:ext>
            </a:extLst>
          </p:cNvPr>
          <p:cNvSpPr txBox="1"/>
          <p:nvPr/>
        </p:nvSpPr>
        <p:spPr>
          <a:xfrm>
            <a:off x="1717963" y="2209723"/>
            <a:ext cx="8913091" cy="1477328"/>
          </a:xfrm>
          <a:prstGeom prst="rect">
            <a:avLst/>
          </a:prstGeom>
          <a:noFill/>
        </p:spPr>
        <p:txBody>
          <a:bodyPr wrap="square">
            <a:spAutoFit/>
          </a:bodyPr>
          <a:lstStyle/>
          <a:p>
            <a:pPr marL="285750" indent="-285750">
              <a:buFont typeface="Arial" panose="020B0604020202020204" pitchFamily="34" charset="0"/>
              <a:buChar char="•"/>
            </a:pPr>
            <a:r>
              <a:rPr lang="en-US" b="1" dirty="0"/>
              <a:t>Output Saturation</a:t>
            </a:r>
            <a:r>
              <a:rPr lang="en-US" dirty="0"/>
              <a:t>: The sigmoid function </a:t>
            </a:r>
            <a:r>
              <a:rPr lang="en-US" b="1" dirty="0"/>
              <a:t>saturates</a:t>
            </a:r>
            <a:r>
              <a:rPr lang="en-US" dirty="0"/>
              <a:t> at both ends of its range. When the input z is large and positive, the output is close to 1. When z is large and negative, the output is close to 0.</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Gradient</a:t>
            </a:r>
            <a:r>
              <a:rPr lang="en-US" dirty="0"/>
              <a:t>: The derivative of the sigmoid function is:</a:t>
            </a:r>
          </a:p>
        </p:txBody>
      </p:sp>
      <p:pic>
        <p:nvPicPr>
          <p:cNvPr id="7" name="Picture 6">
            <a:extLst>
              <a:ext uri="{FF2B5EF4-FFF2-40B4-BE49-F238E27FC236}">
                <a16:creationId xmlns:a16="http://schemas.microsoft.com/office/drawing/2014/main" id="{22EBEF41-834E-48C0-B43F-35F07CCB3BAC}"/>
              </a:ext>
            </a:extLst>
          </p:cNvPr>
          <p:cNvPicPr>
            <a:picLocks noChangeAspect="1"/>
          </p:cNvPicPr>
          <p:nvPr/>
        </p:nvPicPr>
        <p:blipFill>
          <a:blip r:embed="rId2"/>
          <a:stretch>
            <a:fillRect/>
          </a:stretch>
        </p:blipFill>
        <p:spPr>
          <a:xfrm>
            <a:off x="4983027" y="3758165"/>
            <a:ext cx="3408200" cy="596435"/>
          </a:xfrm>
          <a:prstGeom prst="rect">
            <a:avLst/>
          </a:prstGeom>
        </p:spPr>
      </p:pic>
      <p:sp>
        <p:nvSpPr>
          <p:cNvPr id="9" name="TextBox 8">
            <a:extLst>
              <a:ext uri="{FF2B5EF4-FFF2-40B4-BE49-F238E27FC236}">
                <a16:creationId xmlns:a16="http://schemas.microsoft.com/office/drawing/2014/main" id="{A6A9ECF1-279F-F50F-E67A-F8C11B41361D}"/>
              </a:ext>
            </a:extLst>
          </p:cNvPr>
          <p:cNvSpPr txBox="1"/>
          <p:nvPr/>
        </p:nvSpPr>
        <p:spPr>
          <a:xfrm>
            <a:off x="1935027" y="4347351"/>
            <a:ext cx="8622137" cy="646331"/>
          </a:xfrm>
          <a:prstGeom prst="rect">
            <a:avLst/>
          </a:prstGeom>
          <a:noFill/>
        </p:spPr>
        <p:txBody>
          <a:bodyPr wrap="square">
            <a:spAutoFit/>
          </a:bodyPr>
          <a:lstStyle/>
          <a:p>
            <a:r>
              <a:rPr lang="en-US" dirty="0"/>
              <a:t>This derivative is very small when z is large in magnitude (either positive or negative), meaning that the gradient for neurons in these regions becomes very small.</a:t>
            </a:r>
          </a:p>
        </p:txBody>
      </p:sp>
      <p:sp>
        <p:nvSpPr>
          <p:cNvPr id="11" name="TextBox 10">
            <a:extLst>
              <a:ext uri="{FF2B5EF4-FFF2-40B4-BE49-F238E27FC236}">
                <a16:creationId xmlns:a16="http://schemas.microsoft.com/office/drawing/2014/main" id="{03F83D21-9CDB-E183-1198-C8163D766289}"/>
              </a:ext>
            </a:extLst>
          </p:cNvPr>
          <p:cNvSpPr txBox="1"/>
          <p:nvPr/>
        </p:nvSpPr>
        <p:spPr>
          <a:xfrm>
            <a:off x="1717962" y="5121203"/>
            <a:ext cx="7435273" cy="646331"/>
          </a:xfrm>
          <a:prstGeom prst="rect">
            <a:avLst/>
          </a:prstGeom>
          <a:noFill/>
        </p:spPr>
        <p:txBody>
          <a:bodyPr wrap="square">
            <a:spAutoFit/>
          </a:bodyPr>
          <a:lstStyle/>
          <a:p>
            <a:pPr marL="285750" indent="-285750">
              <a:buFont typeface="Arial" panose="020B0604020202020204" pitchFamily="34" charset="0"/>
              <a:buChar char="•"/>
            </a:pPr>
            <a:r>
              <a:rPr lang="en-US" dirty="0"/>
              <a:t>For inputs far from 0, the gradient of sigmoid becomes very close to 0, leading to </a:t>
            </a:r>
            <a:r>
              <a:rPr lang="en-US" b="1" dirty="0"/>
              <a:t>vanishing gradients</a:t>
            </a:r>
            <a:r>
              <a:rPr lang="en-US" dirty="0"/>
              <a:t> during backpropagation.</a:t>
            </a:r>
          </a:p>
        </p:txBody>
      </p:sp>
    </p:spTree>
    <p:extLst>
      <p:ext uri="{BB962C8B-B14F-4D97-AF65-F5344CB8AC3E}">
        <p14:creationId xmlns:p14="http://schemas.microsoft.com/office/powerpoint/2010/main" val="3497195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BA6C49-8FF1-6ED6-759F-2D2BC794DD0E}"/>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83BE7CDB-98E3-4AA2-6980-9DF09EEFE35C}"/>
              </a:ext>
            </a:extLst>
          </p:cNvPr>
          <p:cNvSpPr txBox="1"/>
          <p:nvPr/>
        </p:nvSpPr>
        <p:spPr>
          <a:xfrm>
            <a:off x="1348510" y="1840391"/>
            <a:ext cx="6096000" cy="369332"/>
          </a:xfrm>
          <a:prstGeom prst="rect">
            <a:avLst/>
          </a:prstGeom>
          <a:noFill/>
        </p:spPr>
        <p:txBody>
          <a:bodyPr wrap="square">
            <a:spAutoFit/>
          </a:bodyPr>
          <a:lstStyle/>
          <a:p>
            <a:r>
              <a:rPr lang="en-US" b="1" dirty="0"/>
              <a:t>How Does Sigmoid Cause Vanishing Gradients?</a:t>
            </a:r>
          </a:p>
        </p:txBody>
      </p:sp>
      <p:sp>
        <p:nvSpPr>
          <p:cNvPr id="4" name="TextBox 3">
            <a:extLst>
              <a:ext uri="{FF2B5EF4-FFF2-40B4-BE49-F238E27FC236}">
                <a16:creationId xmlns:a16="http://schemas.microsoft.com/office/drawing/2014/main" id="{4D22DE79-D8F5-BBCA-7EE7-78BE9D5B9670}"/>
              </a:ext>
            </a:extLst>
          </p:cNvPr>
          <p:cNvSpPr txBox="1"/>
          <p:nvPr/>
        </p:nvSpPr>
        <p:spPr>
          <a:xfrm>
            <a:off x="1782618" y="2209723"/>
            <a:ext cx="6096000" cy="369332"/>
          </a:xfrm>
          <a:prstGeom prst="rect">
            <a:avLst/>
          </a:prstGeom>
          <a:noFill/>
        </p:spPr>
        <p:txBody>
          <a:bodyPr wrap="square">
            <a:spAutoFit/>
          </a:bodyPr>
          <a:lstStyle/>
          <a:p>
            <a:r>
              <a:rPr lang="en-US" dirty="0"/>
              <a:t>Effect on Deep Networks</a:t>
            </a:r>
          </a:p>
        </p:txBody>
      </p:sp>
      <p:sp>
        <p:nvSpPr>
          <p:cNvPr id="5" name="TextBox 4">
            <a:extLst>
              <a:ext uri="{FF2B5EF4-FFF2-40B4-BE49-F238E27FC236}">
                <a16:creationId xmlns:a16="http://schemas.microsoft.com/office/drawing/2014/main" id="{D14D3D7B-39E2-A4BD-7F2A-FBA7E8E0EC2D}"/>
              </a:ext>
            </a:extLst>
          </p:cNvPr>
          <p:cNvSpPr txBox="1"/>
          <p:nvPr/>
        </p:nvSpPr>
        <p:spPr>
          <a:xfrm>
            <a:off x="2235199" y="2579055"/>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In deep networks, layers closer to the input receive much smaller gradient updates, slowing down the training process significantly or even stopping learning altogether.</a:t>
            </a:r>
          </a:p>
        </p:txBody>
      </p:sp>
    </p:spTree>
    <p:extLst>
      <p:ext uri="{BB962C8B-B14F-4D97-AF65-F5344CB8AC3E}">
        <p14:creationId xmlns:p14="http://schemas.microsoft.com/office/powerpoint/2010/main" val="339355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9C3EC8-3064-42C2-4E91-F660C6A0E98D}"/>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166F437F-A9AA-D8E8-BA2A-FF2235E05B66}"/>
              </a:ext>
            </a:extLst>
          </p:cNvPr>
          <p:cNvSpPr txBox="1"/>
          <p:nvPr/>
        </p:nvSpPr>
        <p:spPr>
          <a:xfrm>
            <a:off x="1348510" y="1840391"/>
            <a:ext cx="6096000" cy="369332"/>
          </a:xfrm>
          <a:prstGeom prst="rect">
            <a:avLst/>
          </a:prstGeom>
          <a:noFill/>
        </p:spPr>
        <p:txBody>
          <a:bodyPr wrap="square">
            <a:spAutoFit/>
          </a:bodyPr>
          <a:lstStyle/>
          <a:p>
            <a:r>
              <a:rPr lang="en-US" b="1" dirty="0"/>
              <a:t>How Does Sigmoid Cause Vanishing Gradients?</a:t>
            </a:r>
          </a:p>
        </p:txBody>
      </p:sp>
      <p:pic>
        <p:nvPicPr>
          <p:cNvPr id="5" name="Picture 4" descr="A graph of a function&#10;&#10;Description automatically generated">
            <a:extLst>
              <a:ext uri="{FF2B5EF4-FFF2-40B4-BE49-F238E27FC236}">
                <a16:creationId xmlns:a16="http://schemas.microsoft.com/office/drawing/2014/main" id="{C88D3DF5-61FF-A925-3261-A0A2C0749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472" y="2302056"/>
            <a:ext cx="4750302" cy="3757088"/>
          </a:xfrm>
          <a:prstGeom prst="rect">
            <a:avLst/>
          </a:prstGeom>
        </p:spPr>
      </p:pic>
      <p:sp>
        <p:nvSpPr>
          <p:cNvPr id="7" name="TextBox 6">
            <a:extLst>
              <a:ext uri="{FF2B5EF4-FFF2-40B4-BE49-F238E27FC236}">
                <a16:creationId xmlns:a16="http://schemas.microsoft.com/office/drawing/2014/main" id="{BCC77E7C-A36D-3450-82C8-A87742587724}"/>
              </a:ext>
            </a:extLst>
          </p:cNvPr>
          <p:cNvSpPr txBox="1"/>
          <p:nvPr/>
        </p:nvSpPr>
        <p:spPr>
          <a:xfrm>
            <a:off x="5883564" y="2410885"/>
            <a:ext cx="4378036" cy="3539430"/>
          </a:xfrm>
          <a:prstGeom prst="rect">
            <a:avLst/>
          </a:prstGeom>
          <a:noFill/>
        </p:spPr>
        <p:txBody>
          <a:bodyPr wrap="square">
            <a:spAutoFit/>
          </a:bodyPr>
          <a:lstStyle/>
          <a:p>
            <a:pPr marL="285750" indent="-285750" algn="just">
              <a:buFont typeface="Arial" panose="020B0604020202020204" pitchFamily="34" charset="0"/>
              <a:buChar char="•"/>
            </a:pPr>
            <a:r>
              <a:rPr lang="en-US" sz="1600" dirty="0"/>
              <a:t>The plot shows the </a:t>
            </a:r>
            <a:r>
              <a:rPr lang="en-US" sz="1600" b="1" dirty="0"/>
              <a:t>Sigmoid Function </a:t>
            </a:r>
            <a:r>
              <a:rPr lang="en-US" sz="1600" dirty="0"/>
              <a:t>(blue) and its </a:t>
            </a:r>
            <a:r>
              <a:rPr lang="en-US" sz="1600" b="1" dirty="0"/>
              <a:t>Derivative</a:t>
            </a:r>
            <a:r>
              <a:rPr lang="en-US" sz="1600" dirty="0"/>
              <a:t> (orange).</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The </a:t>
            </a:r>
            <a:r>
              <a:rPr lang="en-US" sz="1600" b="1" dirty="0"/>
              <a:t>gradient (derivative) </a:t>
            </a:r>
            <a:r>
              <a:rPr lang="en-US" sz="1600" dirty="0"/>
              <a:t>becomes very small when input values are far from 0 (both negative and positive).</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For large positive or negative input values, the derivative approaches zero.</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This behavior leads to the </a:t>
            </a:r>
            <a:r>
              <a:rPr lang="en-US" sz="1600" b="1" dirty="0"/>
              <a:t>vanishing gradient problem</a:t>
            </a:r>
            <a:r>
              <a:rPr lang="en-US" sz="1600" dirty="0"/>
              <a:t>, where gradients become too small during backpropagation, slowing down learning in deep neural networks.</a:t>
            </a:r>
          </a:p>
        </p:txBody>
      </p:sp>
    </p:spTree>
    <p:extLst>
      <p:ext uri="{BB962C8B-B14F-4D97-AF65-F5344CB8AC3E}">
        <p14:creationId xmlns:p14="http://schemas.microsoft.com/office/powerpoint/2010/main" val="2629667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7149D4D-8968-036F-8CDF-9D41EA29D56C}"/>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8" name="TextBox 7">
            <a:extLst>
              <a:ext uri="{FF2B5EF4-FFF2-40B4-BE49-F238E27FC236}">
                <a16:creationId xmlns:a16="http://schemas.microsoft.com/office/drawing/2014/main" id="{AFC67E65-B491-4561-0193-65602C564EFF}"/>
              </a:ext>
            </a:extLst>
          </p:cNvPr>
          <p:cNvSpPr txBox="1"/>
          <p:nvPr/>
        </p:nvSpPr>
        <p:spPr>
          <a:xfrm>
            <a:off x="1348510" y="1840391"/>
            <a:ext cx="6096000" cy="369332"/>
          </a:xfrm>
          <a:prstGeom prst="rect">
            <a:avLst/>
          </a:prstGeom>
          <a:noFill/>
        </p:spPr>
        <p:txBody>
          <a:bodyPr wrap="square">
            <a:spAutoFit/>
          </a:bodyPr>
          <a:lstStyle/>
          <a:p>
            <a:r>
              <a:rPr lang="en-US" b="1" dirty="0"/>
              <a:t>Tanh Activation Function</a:t>
            </a:r>
          </a:p>
        </p:txBody>
      </p:sp>
      <p:sp>
        <p:nvSpPr>
          <p:cNvPr id="10" name="TextBox 9">
            <a:extLst>
              <a:ext uri="{FF2B5EF4-FFF2-40B4-BE49-F238E27FC236}">
                <a16:creationId xmlns:a16="http://schemas.microsoft.com/office/drawing/2014/main" id="{9587FFB3-AD8E-1B06-4B48-5B23FD52913F}"/>
              </a:ext>
            </a:extLst>
          </p:cNvPr>
          <p:cNvSpPr txBox="1"/>
          <p:nvPr/>
        </p:nvSpPr>
        <p:spPr>
          <a:xfrm>
            <a:off x="1690254" y="2209723"/>
            <a:ext cx="6096000" cy="369332"/>
          </a:xfrm>
          <a:prstGeom prst="rect">
            <a:avLst/>
          </a:prstGeom>
          <a:noFill/>
        </p:spPr>
        <p:txBody>
          <a:bodyPr wrap="square">
            <a:spAutoFit/>
          </a:bodyPr>
          <a:lstStyle/>
          <a:p>
            <a:r>
              <a:rPr lang="en-US" dirty="0"/>
              <a:t>What is Tanh?</a:t>
            </a:r>
          </a:p>
        </p:txBody>
      </p:sp>
      <p:sp>
        <p:nvSpPr>
          <p:cNvPr id="12" name="TextBox 11">
            <a:extLst>
              <a:ext uri="{FF2B5EF4-FFF2-40B4-BE49-F238E27FC236}">
                <a16:creationId xmlns:a16="http://schemas.microsoft.com/office/drawing/2014/main" id="{CC776CC8-C194-27B0-E38E-6434D7EBB57E}"/>
              </a:ext>
            </a:extLst>
          </p:cNvPr>
          <p:cNvSpPr txBox="1"/>
          <p:nvPr/>
        </p:nvSpPr>
        <p:spPr>
          <a:xfrm>
            <a:off x="1976581" y="2625221"/>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The Tanh (hyperbolic tangent) function maps any input to a value between -1 and 1. It is defined as :</a:t>
            </a:r>
          </a:p>
        </p:txBody>
      </p:sp>
      <p:pic>
        <p:nvPicPr>
          <p:cNvPr id="14" name="Picture 13">
            <a:extLst>
              <a:ext uri="{FF2B5EF4-FFF2-40B4-BE49-F238E27FC236}">
                <a16:creationId xmlns:a16="http://schemas.microsoft.com/office/drawing/2014/main" id="{073E26F8-B1C5-F18C-F507-168074295272}"/>
              </a:ext>
            </a:extLst>
          </p:cNvPr>
          <p:cNvPicPr>
            <a:picLocks noChangeAspect="1"/>
          </p:cNvPicPr>
          <p:nvPr/>
        </p:nvPicPr>
        <p:blipFill>
          <a:blip r:embed="rId2"/>
          <a:stretch>
            <a:fillRect/>
          </a:stretch>
        </p:blipFill>
        <p:spPr>
          <a:xfrm>
            <a:off x="5024581" y="3533771"/>
            <a:ext cx="2454531" cy="854220"/>
          </a:xfrm>
          <a:prstGeom prst="rect">
            <a:avLst/>
          </a:prstGeom>
        </p:spPr>
      </p:pic>
    </p:spTree>
    <p:extLst>
      <p:ext uri="{BB962C8B-B14F-4D97-AF65-F5344CB8AC3E}">
        <p14:creationId xmlns:p14="http://schemas.microsoft.com/office/powerpoint/2010/main" val="3815214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4BF75C-FB56-DD6F-3FC2-F1F7BB207193}"/>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26BC00F1-F404-170F-FF42-0290030F19D3}"/>
              </a:ext>
            </a:extLst>
          </p:cNvPr>
          <p:cNvSpPr txBox="1"/>
          <p:nvPr/>
        </p:nvSpPr>
        <p:spPr>
          <a:xfrm>
            <a:off x="1348510" y="1840391"/>
            <a:ext cx="6096000" cy="369332"/>
          </a:xfrm>
          <a:prstGeom prst="rect">
            <a:avLst/>
          </a:prstGeom>
          <a:noFill/>
        </p:spPr>
        <p:txBody>
          <a:bodyPr wrap="square">
            <a:spAutoFit/>
          </a:bodyPr>
          <a:lstStyle/>
          <a:p>
            <a:r>
              <a:rPr lang="en-US" b="1" dirty="0"/>
              <a:t>How Does Tanh Handle Vanishing Gradients?</a:t>
            </a:r>
          </a:p>
        </p:txBody>
      </p:sp>
      <p:sp>
        <p:nvSpPr>
          <p:cNvPr id="5" name="TextBox 4">
            <a:extLst>
              <a:ext uri="{FF2B5EF4-FFF2-40B4-BE49-F238E27FC236}">
                <a16:creationId xmlns:a16="http://schemas.microsoft.com/office/drawing/2014/main" id="{5A0C205E-F253-19BD-FC47-FF1785BA42DB}"/>
              </a:ext>
            </a:extLst>
          </p:cNvPr>
          <p:cNvSpPr txBox="1"/>
          <p:nvPr/>
        </p:nvSpPr>
        <p:spPr>
          <a:xfrm>
            <a:off x="1847273" y="2209723"/>
            <a:ext cx="9301018" cy="1200329"/>
          </a:xfrm>
          <a:prstGeom prst="rect">
            <a:avLst/>
          </a:prstGeom>
          <a:noFill/>
        </p:spPr>
        <p:txBody>
          <a:bodyPr wrap="square">
            <a:spAutoFit/>
          </a:bodyPr>
          <a:lstStyle/>
          <a:p>
            <a:pPr marL="285750" indent="-285750">
              <a:buFont typeface="Arial" panose="020B0604020202020204" pitchFamily="34" charset="0"/>
              <a:buChar char="•"/>
            </a:pPr>
            <a:r>
              <a:rPr lang="en-US" b="1" dirty="0"/>
              <a:t>Output Range</a:t>
            </a:r>
            <a:r>
              <a:rPr lang="en-US" dirty="0"/>
              <a:t>: Like the sigmoid function, </a:t>
            </a:r>
            <a:r>
              <a:rPr lang="en-US" b="1" dirty="0"/>
              <a:t>tanh</a:t>
            </a:r>
            <a:r>
              <a:rPr lang="en-US" dirty="0"/>
              <a:t> can suffer from the vanishing gradient problem, but it does better than sigmoid in some cases because its output is centered around zero (-1 to 1), which helps to maintain a mean of zero for activations, allowing for faster convergence.</a:t>
            </a:r>
          </a:p>
        </p:txBody>
      </p:sp>
      <p:sp>
        <p:nvSpPr>
          <p:cNvPr id="7" name="TextBox 6">
            <a:extLst>
              <a:ext uri="{FF2B5EF4-FFF2-40B4-BE49-F238E27FC236}">
                <a16:creationId xmlns:a16="http://schemas.microsoft.com/office/drawing/2014/main" id="{DCF66355-D9DD-6FAB-62D6-497C4652ACF1}"/>
              </a:ext>
            </a:extLst>
          </p:cNvPr>
          <p:cNvSpPr txBox="1"/>
          <p:nvPr/>
        </p:nvSpPr>
        <p:spPr>
          <a:xfrm>
            <a:off x="1847273" y="3447949"/>
            <a:ext cx="6096000" cy="369332"/>
          </a:xfrm>
          <a:prstGeom prst="rect">
            <a:avLst/>
          </a:prstGeom>
          <a:noFill/>
        </p:spPr>
        <p:txBody>
          <a:bodyPr wrap="square">
            <a:spAutoFit/>
          </a:bodyPr>
          <a:lstStyle/>
          <a:p>
            <a:pPr marL="285750" indent="-285750">
              <a:buFont typeface="Arial" panose="020B0604020202020204" pitchFamily="34" charset="0"/>
              <a:buChar char="•"/>
            </a:pPr>
            <a:r>
              <a:rPr lang="en-US" b="1" dirty="0"/>
              <a:t>Gradient</a:t>
            </a:r>
            <a:r>
              <a:rPr lang="en-US" dirty="0"/>
              <a:t>: The derivative of the tanh function is :</a:t>
            </a:r>
          </a:p>
        </p:txBody>
      </p:sp>
      <p:pic>
        <p:nvPicPr>
          <p:cNvPr id="9" name="Picture 8">
            <a:extLst>
              <a:ext uri="{FF2B5EF4-FFF2-40B4-BE49-F238E27FC236}">
                <a16:creationId xmlns:a16="http://schemas.microsoft.com/office/drawing/2014/main" id="{0A73E739-F373-3D8B-FBF6-1A4F4C201849}"/>
              </a:ext>
            </a:extLst>
          </p:cNvPr>
          <p:cNvPicPr>
            <a:picLocks noChangeAspect="1"/>
          </p:cNvPicPr>
          <p:nvPr/>
        </p:nvPicPr>
        <p:blipFill>
          <a:blip r:embed="rId2"/>
          <a:stretch>
            <a:fillRect/>
          </a:stretch>
        </p:blipFill>
        <p:spPr>
          <a:xfrm>
            <a:off x="4895273" y="3953307"/>
            <a:ext cx="3225417" cy="574222"/>
          </a:xfrm>
          <a:prstGeom prst="rect">
            <a:avLst/>
          </a:prstGeom>
        </p:spPr>
      </p:pic>
      <p:sp>
        <p:nvSpPr>
          <p:cNvPr id="11" name="TextBox 10">
            <a:extLst>
              <a:ext uri="{FF2B5EF4-FFF2-40B4-BE49-F238E27FC236}">
                <a16:creationId xmlns:a16="http://schemas.microsoft.com/office/drawing/2014/main" id="{8DB9A028-DC01-FB40-956E-7A4485664477}"/>
              </a:ext>
            </a:extLst>
          </p:cNvPr>
          <p:cNvSpPr txBox="1"/>
          <p:nvPr/>
        </p:nvSpPr>
        <p:spPr>
          <a:xfrm>
            <a:off x="2024690" y="4527529"/>
            <a:ext cx="8634074" cy="923330"/>
          </a:xfrm>
          <a:prstGeom prst="rect">
            <a:avLst/>
          </a:prstGeom>
          <a:noFill/>
        </p:spPr>
        <p:txBody>
          <a:bodyPr wrap="square">
            <a:spAutoFit/>
          </a:bodyPr>
          <a:lstStyle/>
          <a:p>
            <a:r>
              <a:rPr lang="en-US" dirty="0"/>
              <a:t>Like sigmoid, the gradient becomes very small for inputs with large magnitudes, resulting in the same issue of vanishing gradients. However, because its output range is [-1, 1] instead of [0, 1], it tends to perform slightly better in deeper networks.</a:t>
            </a:r>
          </a:p>
        </p:txBody>
      </p:sp>
    </p:spTree>
    <p:extLst>
      <p:ext uri="{BB962C8B-B14F-4D97-AF65-F5344CB8AC3E}">
        <p14:creationId xmlns:p14="http://schemas.microsoft.com/office/powerpoint/2010/main" val="1367134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867828-0EE1-AB33-4CC9-BCFB5B3DE876}"/>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6A3ADD3E-5CD0-7AE6-CD4B-58235D10B888}"/>
              </a:ext>
            </a:extLst>
          </p:cNvPr>
          <p:cNvSpPr txBox="1"/>
          <p:nvPr/>
        </p:nvSpPr>
        <p:spPr>
          <a:xfrm>
            <a:off x="1348510" y="1840391"/>
            <a:ext cx="6096000" cy="369332"/>
          </a:xfrm>
          <a:prstGeom prst="rect">
            <a:avLst/>
          </a:prstGeom>
          <a:noFill/>
        </p:spPr>
        <p:txBody>
          <a:bodyPr wrap="square">
            <a:spAutoFit/>
          </a:bodyPr>
          <a:lstStyle/>
          <a:p>
            <a:r>
              <a:rPr lang="en-US" b="1" dirty="0"/>
              <a:t>How Does Tanh Handle Vanishing Gradients?</a:t>
            </a:r>
          </a:p>
        </p:txBody>
      </p:sp>
      <p:sp>
        <p:nvSpPr>
          <p:cNvPr id="5" name="TextBox 4">
            <a:extLst>
              <a:ext uri="{FF2B5EF4-FFF2-40B4-BE49-F238E27FC236}">
                <a16:creationId xmlns:a16="http://schemas.microsoft.com/office/drawing/2014/main" id="{A77767F8-A059-2AA8-DD06-921A5D698844}"/>
              </a:ext>
            </a:extLst>
          </p:cNvPr>
          <p:cNvSpPr txBox="1"/>
          <p:nvPr/>
        </p:nvSpPr>
        <p:spPr>
          <a:xfrm>
            <a:off x="1782618" y="2209723"/>
            <a:ext cx="6096000" cy="369332"/>
          </a:xfrm>
          <a:prstGeom prst="rect">
            <a:avLst/>
          </a:prstGeom>
          <a:noFill/>
        </p:spPr>
        <p:txBody>
          <a:bodyPr wrap="square">
            <a:spAutoFit/>
          </a:bodyPr>
          <a:lstStyle/>
          <a:p>
            <a:r>
              <a:rPr lang="en-US" dirty="0"/>
              <a:t>Effect on Deep Networks</a:t>
            </a:r>
          </a:p>
        </p:txBody>
      </p:sp>
      <p:sp>
        <p:nvSpPr>
          <p:cNvPr id="7" name="TextBox 6">
            <a:extLst>
              <a:ext uri="{FF2B5EF4-FFF2-40B4-BE49-F238E27FC236}">
                <a16:creationId xmlns:a16="http://schemas.microsoft.com/office/drawing/2014/main" id="{9D5CF6A5-8646-702F-81C7-71D7422C9D97}"/>
              </a:ext>
            </a:extLst>
          </p:cNvPr>
          <p:cNvSpPr txBox="1"/>
          <p:nvPr/>
        </p:nvSpPr>
        <p:spPr>
          <a:xfrm>
            <a:off x="2235199" y="2579055"/>
            <a:ext cx="6096000" cy="1477328"/>
          </a:xfrm>
          <a:prstGeom prst="rect">
            <a:avLst/>
          </a:prstGeom>
          <a:noFill/>
        </p:spPr>
        <p:txBody>
          <a:bodyPr wrap="square">
            <a:spAutoFit/>
          </a:bodyPr>
          <a:lstStyle/>
          <a:p>
            <a:pPr marL="285750" indent="-285750">
              <a:buFont typeface="Arial" panose="020B0604020202020204" pitchFamily="34" charset="0"/>
              <a:buChar char="•"/>
            </a:pPr>
            <a:r>
              <a:rPr lang="en-US" dirty="0"/>
              <a:t>While tanh is an improvement over sigmoid due to its zero-centered output, it still suffers from vanishing gradients for deep networks. The further from 0 the inputs are, the smaller the gradients, and the slower the training becomes for earlier layers.</a:t>
            </a:r>
          </a:p>
        </p:txBody>
      </p:sp>
    </p:spTree>
    <p:extLst>
      <p:ext uri="{BB962C8B-B14F-4D97-AF65-F5344CB8AC3E}">
        <p14:creationId xmlns:p14="http://schemas.microsoft.com/office/powerpoint/2010/main" val="1241245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7F32BB-51EB-0D90-A27C-217CC95E67DF}"/>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6E741117-D8AE-3F18-031B-F47CB8D34432}"/>
              </a:ext>
            </a:extLst>
          </p:cNvPr>
          <p:cNvSpPr txBox="1"/>
          <p:nvPr/>
        </p:nvSpPr>
        <p:spPr>
          <a:xfrm>
            <a:off x="1348510" y="1840391"/>
            <a:ext cx="6096000" cy="369332"/>
          </a:xfrm>
          <a:prstGeom prst="rect">
            <a:avLst/>
          </a:prstGeom>
          <a:noFill/>
        </p:spPr>
        <p:txBody>
          <a:bodyPr wrap="square">
            <a:spAutoFit/>
          </a:bodyPr>
          <a:lstStyle/>
          <a:p>
            <a:r>
              <a:rPr lang="en-US" b="1" dirty="0"/>
              <a:t>How Does Tanh Handle Vanishing Gradients?</a:t>
            </a:r>
          </a:p>
        </p:txBody>
      </p:sp>
      <p:pic>
        <p:nvPicPr>
          <p:cNvPr id="5" name="Picture 4" descr="A graph of a function&#10;&#10;Description automatically generated">
            <a:extLst>
              <a:ext uri="{FF2B5EF4-FFF2-40B4-BE49-F238E27FC236}">
                <a16:creationId xmlns:a16="http://schemas.microsoft.com/office/drawing/2014/main" id="{0F688E16-37CB-7440-7254-B2CEB63246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407" y="2209723"/>
            <a:ext cx="5176156" cy="3954209"/>
          </a:xfrm>
          <a:prstGeom prst="rect">
            <a:avLst/>
          </a:prstGeom>
        </p:spPr>
      </p:pic>
      <p:sp>
        <p:nvSpPr>
          <p:cNvPr id="8" name="TextBox 7">
            <a:extLst>
              <a:ext uri="{FF2B5EF4-FFF2-40B4-BE49-F238E27FC236}">
                <a16:creationId xmlns:a16="http://schemas.microsoft.com/office/drawing/2014/main" id="{B980F183-A0E8-C261-2057-F0735E338D8F}"/>
              </a:ext>
            </a:extLst>
          </p:cNvPr>
          <p:cNvSpPr txBox="1"/>
          <p:nvPr/>
        </p:nvSpPr>
        <p:spPr>
          <a:xfrm>
            <a:off x="6391563" y="2367370"/>
            <a:ext cx="4585030" cy="3416320"/>
          </a:xfrm>
          <a:prstGeom prst="rect">
            <a:avLst/>
          </a:prstGeom>
          <a:noFill/>
        </p:spPr>
        <p:txBody>
          <a:bodyPr wrap="square">
            <a:spAutoFit/>
          </a:bodyPr>
          <a:lstStyle/>
          <a:p>
            <a:pPr marL="285750" indent="-285750" algn="just">
              <a:buFont typeface="Arial" panose="020B0604020202020204" pitchFamily="34" charset="0"/>
              <a:buChar char="•"/>
            </a:pPr>
            <a:r>
              <a:rPr lang="en-US" b="1" dirty="0"/>
              <a:t>Tanh Function </a:t>
            </a:r>
            <a:r>
              <a:rPr lang="en-US" dirty="0"/>
              <a:t>ranges between -1 and 1, which helps maintain a mean of zero for activations.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a:t>
            </a:r>
            <a:r>
              <a:rPr lang="en-US" b="1" dirty="0"/>
              <a:t>Derivative of Tanh </a:t>
            </a:r>
            <a:r>
              <a:rPr lang="en-US" dirty="0"/>
              <a:t>becomes very small for inputs with large magnitudes, leading to </a:t>
            </a:r>
            <a:r>
              <a:rPr lang="en-US" b="1" dirty="0"/>
              <a:t>vanishing gradients </a:t>
            </a:r>
            <a:r>
              <a:rPr lang="en-US" dirty="0"/>
              <a:t>for large positive or negative inputs, similar to the Sigmoid function. However, since its output is centered around zero, it tends to perform better than Sigmoid in deeper networks</a:t>
            </a:r>
          </a:p>
        </p:txBody>
      </p:sp>
    </p:spTree>
    <p:extLst>
      <p:ext uri="{BB962C8B-B14F-4D97-AF65-F5344CB8AC3E}">
        <p14:creationId xmlns:p14="http://schemas.microsoft.com/office/powerpoint/2010/main" val="1608909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4FDB86-033E-F6F0-DA83-054FA8923BAA}"/>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91C10FF2-D46A-6059-AE4A-3BF3A41BFCBD}"/>
              </a:ext>
            </a:extLst>
          </p:cNvPr>
          <p:cNvSpPr txBox="1"/>
          <p:nvPr/>
        </p:nvSpPr>
        <p:spPr>
          <a:xfrm>
            <a:off x="1348510" y="1840391"/>
            <a:ext cx="6096000" cy="369332"/>
          </a:xfrm>
          <a:prstGeom prst="rect">
            <a:avLst/>
          </a:prstGeom>
          <a:noFill/>
        </p:spPr>
        <p:txBody>
          <a:bodyPr wrap="square">
            <a:spAutoFit/>
          </a:bodyPr>
          <a:lstStyle/>
          <a:p>
            <a:r>
              <a:rPr lang="en-US" b="1" dirty="0"/>
              <a:t>ReLU (Rectified Linear Unit) Activation Function</a:t>
            </a:r>
          </a:p>
        </p:txBody>
      </p:sp>
      <p:sp>
        <p:nvSpPr>
          <p:cNvPr id="4" name="TextBox 3">
            <a:extLst>
              <a:ext uri="{FF2B5EF4-FFF2-40B4-BE49-F238E27FC236}">
                <a16:creationId xmlns:a16="http://schemas.microsoft.com/office/drawing/2014/main" id="{46DCC881-562D-A337-63EC-B6440FA85A20}"/>
              </a:ext>
            </a:extLst>
          </p:cNvPr>
          <p:cNvSpPr txBox="1"/>
          <p:nvPr/>
        </p:nvSpPr>
        <p:spPr>
          <a:xfrm>
            <a:off x="1690254" y="2209723"/>
            <a:ext cx="6096000" cy="369332"/>
          </a:xfrm>
          <a:prstGeom prst="rect">
            <a:avLst/>
          </a:prstGeom>
          <a:noFill/>
        </p:spPr>
        <p:txBody>
          <a:bodyPr wrap="square">
            <a:spAutoFit/>
          </a:bodyPr>
          <a:lstStyle/>
          <a:p>
            <a:r>
              <a:rPr lang="en-US" dirty="0"/>
              <a:t>What is ReLU?</a:t>
            </a:r>
          </a:p>
        </p:txBody>
      </p:sp>
      <p:sp>
        <p:nvSpPr>
          <p:cNvPr id="5" name="TextBox 4">
            <a:extLst>
              <a:ext uri="{FF2B5EF4-FFF2-40B4-BE49-F238E27FC236}">
                <a16:creationId xmlns:a16="http://schemas.microsoft.com/office/drawing/2014/main" id="{5BED6F66-02A0-051E-D207-5464F7FA78B9}"/>
              </a:ext>
            </a:extLst>
          </p:cNvPr>
          <p:cNvSpPr txBox="1"/>
          <p:nvPr/>
        </p:nvSpPr>
        <p:spPr>
          <a:xfrm>
            <a:off x="1976581" y="2625221"/>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The </a:t>
            </a:r>
            <a:r>
              <a:rPr lang="en-US" b="1" dirty="0"/>
              <a:t>ReLU</a:t>
            </a:r>
            <a:r>
              <a:rPr lang="en-US" dirty="0"/>
              <a:t> activation function is defined as :</a:t>
            </a:r>
          </a:p>
        </p:txBody>
      </p:sp>
      <p:pic>
        <p:nvPicPr>
          <p:cNvPr id="8" name="Picture 7">
            <a:extLst>
              <a:ext uri="{FF2B5EF4-FFF2-40B4-BE49-F238E27FC236}">
                <a16:creationId xmlns:a16="http://schemas.microsoft.com/office/drawing/2014/main" id="{EDC707B2-9DE1-9A18-A779-750E5BF8684E}"/>
              </a:ext>
            </a:extLst>
          </p:cNvPr>
          <p:cNvPicPr>
            <a:picLocks noChangeAspect="1"/>
          </p:cNvPicPr>
          <p:nvPr/>
        </p:nvPicPr>
        <p:blipFill>
          <a:blip r:embed="rId2"/>
          <a:stretch>
            <a:fillRect/>
          </a:stretch>
        </p:blipFill>
        <p:spPr>
          <a:xfrm>
            <a:off x="4948237" y="3157537"/>
            <a:ext cx="2984641" cy="705911"/>
          </a:xfrm>
          <a:prstGeom prst="rect">
            <a:avLst/>
          </a:prstGeom>
        </p:spPr>
      </p:pic>
      <p:sp>
        <p:nvSpPr>
          <p:cNvPr id="10" name="TextBox 9">
            <a:extLst>
              <a:ext uri="{FF2B5EF4-FFF2-40B4-BE49-F238E27FC236}">
                <a16:creationId xmlns:a16="http://schemas.microsoft.com/office/drawing/2014/main" id="{5B16DEE4-CA88-B68D-CF59-9E6E7ADF7FB0}"/>
              </a:ext>
            </a:extLst>
          </p:cNvPr>
          <p:cNvSpPr txBox="1"/>
          <p:nvPr/>
        </p:nvSpPr>
        <p:spPr>
          <a:xfrm>
            <a:off x="1976581" y="3864012"/>
            <a:ext cx="6096000" cy="646331"/>
          </a:xfrm>
          <a:prstGeom prst="rect">
            <a:avLst/>
          </a:prstGeom>
          <a:noFill/>
        </p:spPr>
        <p:txBody>
          <a:bodyPr wrap="square">
            <a:spAutoFit/>
          </a:bodyPr>
          <a:lstStyle/>
          <a:p>
            <a:r>
              <a:rPr lang="en-US" dirty="0"/>
              <a:t>ReLU is a piecewise linear function that returns the input value if it is positive, and 0 if the input is negative.</a:t>
            </a:r>
          </a:p>
        </p:txBody>
      </p:sp>
    </p:spTree>
    <p:extLst>
      <p:ext uri="{BB962C8B-B14F-4D97-AF65-F5344CB8AC3E}">
        <p14:creationId xmlns:p14="http://schemas.microsoft.com/office/powerpoint/2010/main" val="2820320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51D569-AE10-1521-FF08-33B29EE6CDAD}"/>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F44EB5D0-BE05-149D-4C67-BEB72EAD4245}"/>
              </a:ext>
            </a:extLst>
          </p:cNvPr>
          <p:cNvSpPr txBox="1"/>
          <p:nvPr/>
        </p:nvSpPr>
        <p:spPr>
          <a:xfrm>
            <a:off x="1348510" y="1840391"/>
            <a:ext cx="6096000" cy="369332"/>
          </a:xfrm>
          <a:prstGeom prst="rect">
            <a:avLst/>
          </a:prstGeom>
          <a:noFill/>
        </p:spPr>
        <p:txBody>
          <a:bodyPr wrap="square">
            <a:spAutoFit/>
          </a:bodyPr>
          <a:lstStyle/>
          <a:p>
            <a:r>
              <a:rPr lang="en-US" b="1" dirty="0"/>
              <a:t>How Does ReLU Handle Vanishing Gradients?</a:t>
            </a:r>
          </a:p>
        </p:txBody>
      </p:sp>
      <p:sp>
        <p:nvSpPr>
          <p:cNvPr id="5" name="TextBox 4">
            <a:extLst>
              <a:ext uri="{FF2B5EF4-FFF2-40B4-BE49-F238E27FC236}">
                <a16:creationId xmlns:a16="http://schemas.microsoft.com/office/drawing/2014/main" id="{DCB78D9B-D3D9-C3AC-BC2E-EE1EE72344D7}"/>
              </a:ext>
            </a:extLst>
          </p:cNvPr>
          <p:cNvSpPr txBox="1"/>
          <p:nvPr/>
        </p:nvSpPr>
        <p:spPr>
          <a:xfrm>
            <a:off x="1789144" y="2209723"/>
            <a:ext cx="8549174" cy="646331"/>
          </a:xfrm>
          <a:prstGeom prst="rect">
            <a:avLst/>
          </a:prstGeom>
          <a:noFill/>
        </p:spPr>
        <p:txBody>
          <a:bodyPr wrap="square">
            <a:spAutoFit/>
          </a:bodyPr>
          <a:lstStyle/>
          <a:p>
            <a:pPr marL="285750" indent="-285750">
              <a:buFont typeface="Arial" panose="020B0604020202020204" pitchFamily="34" charset="0"/>
              <a:buChar char="•"/>
            </a:pPr>
            <a:r>
              <a:rPr lang="en-US" b="1" dirty="0"/>
              <a:t>No Saturation for Positive Inputs</a:t>
            </a:r>
            <a:r>
              <a:rPr lang="en-US" dirty="0"/>
              <a:t>: The key difference with ReLU is that it </a:t>
            </a:r>
            <a:r>
              <a:rPr lang="en-US" b="1" dirty="0"/>
              <a:t>does not saturate</a:t>
            </a:r>
            <a:r>
              <a:rPr lang="en-US" dirty="0"/>
              <a:t> for positive values. The gradient of ReLU is :</a:t>
            </a:r>
          </a:p>
        </p:txBody>
      </p:sp>
      <p:pic>
        <p:nvPicPr>
          <p:cNvPr id="7" name="Picture 6">
            <a:extLst>
              <a:ext uri="{FF2B5EF4-FFF2-40B4-BE49-F238E27FC236}">
                <a16:creationId xmlns:a16="http://schemas.microsoft.com/office/drawing/2014/main" id="{976DC78B-76BC-A83D-F159-DD0C484F86FB}"/>
              </a:ext>
            </a:extLst>
          </p:cNvPr>
          <p:cNvPicPr>
            <a:picLocks noChangeAspect="1"/>
          </p:cNvPicPr>
          <p:nvPr/>
        </p:nvPicPr>
        <p:blipFill>
          <a:blip r:embed="rId2"/>
          <a:stretch>
            <a:fillRect/>
          </a:stretch>
        </p:blipFill>
        <p:spPr>
          <a:xfrm>
            <a:off x="5675540" y="2967335"/>
            <a:ext cx="3351346" cy="923330"/>
          </a:xfrm>
          <a:prstGeom prst="rect">
            <a:avLst/>
          </a:prstGeom>
        </p:spPr>
      </p:pic>
      <p:sp>
        <p:nvSpPr>
          <p:cNvPr id="9" name="TextBox 8">
            <a:extLst>
              <a:ext uri="{FF2B5EF4-FFF2-40B4-BE49-F238E27FC236}">
                <a16:creationId xmlns:a16="http://schemas.microsoft.com/office/drawing/2014/main" id="{CC48E76B-1F3A-8538-FD7B-B87BC05A4361}"/>
              </a:ext>
            </a:extLst>
          </p:cNvPr>
          <p:cNvSpPr txBox="1"/>
          <p:nvPr/>
        </p:nvSpPr>
        <p:spPr>
          <a:xfrm>
            <a:off x="2010747" y="4124331"/>
            <a:ext cx="6097554" cy="923330"/>
          </a:xfrm>
          <a:prstGeom prst="rect">
            <a:avLst/>
          </a:prstGeom>
          <a:noFill/>
        </p:spPr>
        <p:txBody>
          <a:bodyPr wrap="square">
            <a:spAutoFit/>
          </a:bodyPr>
          <a:lstStyle/>
          <a:p>
            <a:r>
              <a:rPr lang="en-US" dirty="0"/>
              <a:t>This means that for positive inputs, the gradient remains 1, preventing the vanishing gradient problem and allowing for faster learning.</a:t>
            </a:r>
          </a:p>
        </p:txBody>
      </p:sp>
    </p:spTree>
    <p:extLst>
      <p:ext uri="{BB962C8B-B14F-4D97-AF65-F5344CB8AC3E}">
        <p14:creationId xmlns:p14="http://schemas.microsoft.com/office/powerpoint/2010/main" val="599211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529C13-049E-3773-C17E-98DB16434F19}"/>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94F372C2-16F8-A3DA-573D-DBC38950C097}"/>
              </a:ext>
            </a:extLst>
          </p:cNvPr>
          <p:cNvSpPr txBox="1"/>
          <p:nvPr/>
        </p:nvSpPr>
        <p:spPr>
          <a:xfrm>
            <a:off x="1348510" y="1840391"/>
            <a:ext cx="6096000" cy="369332"/>
          </a:xfrm>
          <a:prstGeom prst="rect">
            <a:avLst/>
          </a:prstGeom>
          <a:noFill/>
        </p:spPr>
        <p:txBody>
          <a:bodyPr wrap="square">
            <a:spAutoFit/>
          </a:bodyPr>
          <a:lstStyle/>
          <a:p>
            <a:r>
              <a:rPr lang="en-US" b="1" dirty="0"/>
              <a:t>Advantages of ReLU</a:t>
            </a:r>
          </a:p>
        </p:txBody>
      </p:sp>
      <p:sp>
        <p:nvSpPr>
          <p:cNvPr id="5" name="TextBox 4">
            <a:extLst>
              <a:ext uri="{FF2B5EF4-FFF2-40B4-BE49-F238E27FC236}">
                <a16:creationId xmlns:a16="http://schemas.microsoft.com/office/drawing/2014/main" id="{9E35356A-2B63-B8EB-FC41-96693CA53541}"/>
              </a:ext>
            </a:extLst>
          </p:cNvPr>
          <p:cNvSpPr txBox="1"/>
          <p:nvPr/>
        </p:nvSpPr>
        <p:spPr>
          <a:xfrm>
            <a:off x="1856508" y="2302056"/>
            <a:ext cx="8497455" cy="2031325"/>
          </a:xfrm>
          <a:prstGeom prst="rect">
            <a:avLst/>
          </a:prstGeom>
          <a:noFill/>
        </p:spPr>
        <p:txBody>
          <a:bodyPr wrap="square">
            <a:spAutoFit/>
          </a:bodyPr>
          <a:lstStyle/>
          <a:p>
            <a:pPr marL="285750" indent="-285750">
              <a:buFont typeface="Arial" panose="020B0604020202020204" pitchFamily="34" charset="0"/>
              <a:buChar char="•"/>
            </a:pPr>
            <a:r>
              <a:rPr lang="en-US" b="1" dirty="0"/>
              <a:t>Efficient Gradient Flow</a:t>
            </a:r>
            <a:r>
              <a:rPr lang="en-US" dirty="0"/>
              <a:t>: Because ReLU has a gradient of 1 for positive inputs, the gradient does not shrink as it propagates through the network, enabling more effective weight updates.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Sparsity</a:t>
            </a:r>
            <a:r>
              <a:rPr lang="en-US" dirty="0"/>
              <a:t>: ReLU sets negative values to 0, which introduces sparsity in the network. Sparse representations can make the network more efficient and can also help prevent overfitting.</a:t>
            </a:r>
          </a:p>
        </p:txBody>
      </p:sp>
    </p:spTree>
    <p:extLst>
      <p:ext uri="{BB962C8B-B14F-4D97-AF65-F5344CB8AC3E}">
        <p14:creationId xmlns:p14="http://schemas.microsoft.com/office/powerpoint/2010/main" val="1063816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FB1558-EBD2-1B14-272C-B8C6305D19A8}"/>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14ADAE2C-009A-C65B-D0BF-21E126D46F0B}"/>
              </a:ext>
            </a:extLst>
          </p:cNvPr>
          <p:cNvSpPr txBox="1"/>
          <p:nvPr/>
        </p:nvSpPr>
        <p:spPr>
          <a:xfrm>
            <a:off x="1348510" y="1840391"/>
            <a:ext cx="6096000" cy="369332"/>
          </a:xfrm>
          <a:prstGeom prst="rect">
            <a:avLst/>
          </a:prstGeom>
          <a:noFill/>
        </p:spPr>
        <p:txBody>
          <a:bodyPr wrap="square">
            <a:spAutoFit/>
          </a:bodyPr>
          <a:lstStyle/>
          <a:p>
            <a:r>
              <a:rPr lang="en-US" b="1" dirty="0"/>
              <a:t>Potential Issue: Dying ReLU Problem</a:t>
            </a:r>
          </a:p>
        </p:txBody>
      </p:sp>
      <p:sp>
        <p:nvSpPr>
          <p:cNvPr id="5" name="TextBox 4">
            <a:extLst>
              <a:ext uri="{FF2B5EF4-FFF2-40B4-BE49-F238E27FC236}">
                <a16:creationId xmlns:a16="http://schemas.microsoft.com/office/drawing/2014/main" id="{DD0AA694-7C69-B0D8-CA6D-6FB245D263EB}"/>
              </a:ext>
            </a:extLst>
          </p:cNvPr>
          <p:cNvSpPr txBox="1"/>
          <p:nvPr/>
        </p:nvSpPr>
        <p:spPr>
          <a:xfrm>
            <a:off x="1874981" y="2302056"/>
            <a:ext cx="8525163" cy="2031325"/>
          </a:xfrm>
          <a:prstGeom prst="rect">
            <a:avLst/>
          </a:prstGeom>
          <a:noFill/>
        </p:spPr>
        <p:txBody>
          <a:bodyPr wrap="square">
            <a:spAutoFit/>
          </a:bodyPr>
          <a:lstStyle/>
          <a:p>
            <a:pPr marL="285750" indent="-285750">
              <a:buFont typeface="Arial" panose="020B0604020202020204" pitchFamily="34" charset="0"/>
              <a:buChar char="•"/>
            </a:pPr>
            <a:r>
              <a:rPr lang="en-US" dirty="0"/>
              <a:t>While ReLU solves the vanishing gradient problem, it has its own issue called the </a:t>
            </a:r>
            <a:r>
              <a:rPr lang="en-US" b="1" dirty="0"/>
              <a:t>Dying ReLU Problem</a:t>
            </a:r>
            <a:r>
              <a:rPr lang="en-US" dirty="0"/>
              <a:t>. If a neuron consistently receives negative inputs, its output will be 0, and its gradient will be 0. Once this happens, the neuron may stop learning entirely.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 address this, variants of ReLU like </a:t>
            </a:r>
            <a:r>
              <a:rPr lang="en-US" b="1" dirty="0"/>
              <a:t>Leaky ReLU</a:t>
            </a:r>
            <a:r>
              <a:rPr lang="en-US" dirty="0"/>
              <a:t> or </a:t>
            </a:r>
            <a:r>
              <a:rPr lang="en-US" b="1" dirty="0"/>
              <a:t>Parametric ReLU</a:t>
            </a:r>
            <a:r>
              <a:rPr lang="en-US" dirty="0"/>
              <a:t> introduce a small negative slope for negative inputs, preventing neurons from "dying."</a:t>
            </a:r>
          </a:p>
        </p:txBody>
      </p:sp>
    </p:spTree>
    <p:extLst>
      <p:ext uri="{BB962C8B-B14F-4D97-AF65-F5344CB8AC3E}">
        <p14:creationId xmlns:p14="http://schemas.microsoft.com/office/powerpoint/2010/main" val="867880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62FAC5-9813-F7A6-737F-EF1A54082AF2}"/>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BF9205E8-01F7-43FC-E9E8-CFF35B61F19B}"/>
              </a:ext>
            </a:extLst>
          </p:cNvPr>
          <p:cNvSpPr txBox="1"/>
          <p:nvPr/>
        </p:nvSpPr>
        <p:spPr>
          <a:xfrm>
            <a:off x="1662545" y="2212092"/>
            <a:ext cx="6096000" cy="369332"/>
          </a:xfrm>
          <a:prstGeom prst="rect">
            <a:avLst/>
          </a:prstGeom>
          <a:noFill/>
        </p:spPr>
        <p:txBody>
          <a:bodyPr wrap="square">
            <a:spAutoFit/>
          </a:bodyPr>
          <a:lstStyle/>
          <a:p>
            <a:r>
              <a:rPr lang="en-US" dirty="0"/>
              <a:t>Effect on Deep Networks</a:t>
            </a:r>
          </a:p>
        </p:txBody>
      </p:sp>
      <p:sp>
        <p:nvSpPr>
          <p:cNvPr id="5" name="TextBox 4">
            <a:extLst>
              <a:ext uri="{FF2B5EF4-FFF2-40B4-BE49-F238E27FC236}">
                <a16:creationId xmlns:a16="http://schemas.microsoft.com/office/drawing/2014/main" id="{7A5BC857-96A0-74BA-6F91-D69383C98745}"/>
              </a:ext>
            </a:extLst>
          </p:cNvPr>
          <p:cNvSpPr txBox="1"/>
          <p:nvPr/>
        </p:nvSpPr>
        <p:spPr>
          <a:xfrm>
            <a:off x="2142836" y="2581424"/>
            <a:ext cx="9088581"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ReLU has become the most commonly used activation function in deep networks because it </a:t>
            </a:r>
            <a:r>
              <a:rPr lang="en-US" b="1" dirty="0"/>
              <a:t>avoids the vanishing gradient problem</a:t>
            </a:r>
            <a:r>
              <a:rPr lang="en-US" dirty="0"/>
              <a:t>. It allows gradients to flow efficiently through the network, leading to faster and more reliable training, especially for deep architectures.</a:t>
            </a:r>
          </a:p>
        </p:txBody>
      </p:sp>
      <p:sp>
        <p:nvSpPr>
          <p:cNvPr id="7" name="TextBox 6">
            <a:extLst>
              <a:ext uri="{FF2B5EF4-FFF2-40B4-BE49-F238E27FC236}">
                <a16:creationId xmlns:a16="http://schemas.microsoft.com/office/drawing/2014/main" id="{2EB05BFE-F6FF-F7BE-BB58-0D5DFEC9E811}"/>
              </a:ext>
            </a:extLst>
          </p:cNvPr>
          <p:cNvSpPr txBox="1"/>
          <p:nvPr/>
        </p:nvSpPr>
        <p:spPr>
          <a:xfrm>
            <a:off x="868218" y="1842760"/>
            <a:ext cx="6096000" cy="369332"/>
          </a:xfrm>
          <a:prstGeom prst="rect">
            <a:avLst/>
          </a:prstGeom>
          <a:noFill/>
        </p:spPr>
        <p:txBody>
          <a:bodyPr wrap="square">
            <a:spAutoFit/>
          </a:bodyPr>
          <a:lstStyle/>
          <a:p>
            <a:r>
              <a:rPr lang="en-US" b="1" dirty="0"/>
              <a:t>How Does ReLU Handle Vanishing Gradients?</a:t>
            </a:r>
          </a:p>
        </p:txBody>
      </p:sp>
    </p:spTree>
    <p:extLst>
      <p:ext uri="{BB962C8B-B14F-4D97-AF65-F5344CB8AC3E}">
        <p14:creationId xmlns:p14="http://schemas.microsoft.com/office/powerpoint/2010/main" val="1415374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E4EC90-2B71-BCDD-4896-514DAA3A7EC1}"/>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Deeper Neural Networks and Hidden Layers</a:t>
            </a:r>
          </a:p>
        </p:txBody>
      </p:sp>
      <p:sp>
        <p:nvSpPr>
          <p:cNvPr id="3" name="TextBox 2">
            <a:extLst>
              <a:ext uri="{FF2B5EF4-FFF2-40B4-BE49-F238E27FC236}">
                <a16:creationId xmlns:a16="http://schemas.microsoft.com/office/drawing/2014/main" id="{24ECA819-CA23-B2E7-170D-FEC2F1B29389}"/>
              </a:ext>
            </a:extLst>
          </p:cNvPr>
          <p:cNvSpPr txBox="1"/>
          <p:nvPr/>
        </p:nvSpPr>
        <p:spPr>
          <a:xfrm>
            <a:off x="868218" y="1842760"/>
            <a:ext cx="6096000" cy="369332"/>
          </a:xfrm>
          <a:prstGeom prst="rect">
            <a:avLst/>
          </a:prstGeom>
          <a:noFill/>
        </p:spPr>
        <p:txBody>
          <a:bodyPr wrap="square">
            <a:spAutoFit/>
          </a:bodyPr>
          <a:lstStyle/>
          <a:p>
            <a:r>
              <a:rPr lang="en-US" b="1" dirty="0"/>
              <a:t>How Does ReLU Handle Vanishing Gradients?</a:t>
            </a:r>
          </a:p>
        </p:txBody>
      </p:sp>
      <p:pic>
        <p:nvPicPr>
          <p:cNvPr id="5" name="Picture 4" descr="A graph with a red line&#10;&#10;Description automatically generated">
            <a:extLst>
              <a:ext uri="{FF2B5EF4-FFF2-40B4-BE49-F238E27FC236}">
                <a16:creationId xmlns:a16="http://schemas.microsoft.com/office/drawing/2014/main" id="{4857B49A-EC77-6BBF-CA62-1E980959B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059" y="2212092"/>
            <a:ext cx="4757196" cy="3851398"/>
          </a:xfrm>
          <a:prstGeom prst="rect">
            <a:avLst/>
          </a:prstGeom>
        </p:spPr>
      </p:pic>
      <p:sp>
        <p:nvSpPr>
          <p:cNvPr id="7" name="TextBox 6">
            <a:extLst>
              <a:ext uri="{FF2B5EF4-FFF2-40B4-BE49-F238E27FC236}">
                <a16:creationId xmlns:a16="http://schemas.microsoft.com/office/drawing/2014/main" id="{02CF0F95-9339-3A2A-D80B-BBD583286012}"/>
              </a:ext>
            </a:extLst>
          </p:cNvPr>
          <p:cNvSpPr txBox="1"/>
          <p:nvPr/>
        </p:nvSpPr>
        <p:spPr>
          <a:xfrm>
            <a:off x="5883096" y="2461643"/>
            <a:ext cx="5061993" cy="2308324"/>
          </a:xfrm>
          <a:prstGeom prst="rect">
            <a:avLst/>
          </a:prstGeom>
          <a:noFill/>
        </p:spPr>
        <p:txBody>
          <a:bodyPr wrap="square">
            <a:spAutoFit/>
          </a:bodyPr>
          <a:lstStyle/>
          <a:p>
            <a:pPr marL="285750" indent="-285750" algn="just">
              <a:buFont typeface="Arial" panose="020B0604020202020204" pitchFamily="34" charset="0"/>
              <a:buChar char="•"/>
            </a:pPr>
            <a:r>
              <a:rPr lang="en-US" b="1" dirty="0"/>
              <a:t>ReLU Function</a:t>
            </a:r>
            <a:r>
              <a:rPr lang="en-US" dirty="0"/>
              <a:t> does not saturate for positive inputs, meaning it continues to grow linearly as input values increase.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a:t>
            </a:r>
            <a:r>
              <a:rPr lang="en-US" b="1" dirty="0"/>
              <a:t>Derivative of ReLU</a:t>
            </a:r>
            <a:r>
              <a:rPr lang="en-US" dirty="0"/>
              <a:t> is 1 for positive inputs and 0 for negative inputs. This prevents the vanishing gradient problem for positive values, allowing for faster learning in deep networks.</a:t>
            </a:r>
          </a:p>
        </p:txBody>
      </p:sp>
    </p:spTree>
    <p:extLst>
      <p:ext uri="{BB962C8B-B14F-4D97-AF65-F5344CB8AC3E}">
        <p14:creationId xmlns:p14="http://schemas.microsoft.com/office/powerpoint/2010/main" val="2077003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1E1011-378B-E337-015B-10E661A3B2F8}"/>
              </a:ext>
            </a:extLst>
          </p:cNvPr>
          <p:cNvSpPr txBox="1"/>
          <p:nvPr/>
        </p:nvSpPr>
        <p:spPr>
          <a:xfrm>
            <a:off x="2752436" y="2828835"/>
            <a:ext cx="6687127" cy="1200329"/>
          </a:xfrm>
          <a:prstGeom prst="rect">
            <a:avLst/>
          </a:prstGeom>
          <a:noFill/>
        </p:spPr>
        <p:txBody>
          <a:bodyPr wrap="square">
            <a:spAutoFit/>
          </a:bodyPr>
          <a:lstStyle/>
          <a:p>
            <a:pPr algn="ctr"/>
            <a:r>
              <a:rPr lang="en-US" sz="3600" b="1" dirty="0">
                <a:solidFill>
                  <a:srgbClr val="2AAF82"/>
                </a:solidFill>
              </a:rPr>
              <a:t>Overfitting and Regularization Techniques</a:t>
            </a:r>
          </a:p>
        </p:txBody>
      </p:sp>
    </p:spTree>
    <p:extLst>
      <p:ext uri="{BB962C8B-B14F-4D97-AF65-F5344CB8AC3E}">
        <p14:creationId xmlns:p14="http://schemas.microsoft.com/office/powerpoint/2010/main" val="3191551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0F7E7C-A6BD-7FE3-DA73-B63BC4366EB1}"/>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4" name="TextBox 3">
            <a:extLst>
              <a:ext uri="{FF2B5EF4-FFF2-40B4-BE49-F238E27FC236}">
                <a16:creationId xmlns:a16="http://schemas.microsoft.com/office/drawing/2014/main" id="{C458560A-4B05-FF4B-154D-59343325163F}"/>
              </a:ext>
            </a:extLst>
          </p:cNvPr>
          <p:cNvSpPr txBox="1"/>
          <p:nvPr/>
        </p:nvSpPr>
        <p:spPr>
          <a:xfrm>
            <a:off x="1570182" y="1840391"/>
            <a:ext cx="6096000" cy="369332"/>
          </a:xfrm>
          <a:prstGeom prst="rect">
            <a:avLst/>
          </a:prstGeom>
          <a:noFill/>
        </p:spPr>
        <p:txBody>
          <a:bodyPr wrap="square">
            <a:spAutoFit/>
          </a:bodyPr>
          <a:lstStyle/>
          <a:p>
            <a:r>
              <a:rPr lang="en-US" b="1" dirty="0"/>
              <a:t>What is Overfitting?</a:t>
            </a:r>
          </a:p>
        </p:txBody>
      </p:sp>
      <p:sp>
        <p:nvSpPr>
          <p:cNvPr id="6" name="TextBox 5">
            <a:extLst>
              <a:ext uri="{FF2B5EF4-FFF2-40B4-BE49-F238E27FC236}">
                <a16:creationId xmlns:a16="http://schemas.microsoft.com/office/drawing/2014/main" id="{14117D04-9AD9-A273-A964-E784FA9749CE}"/>
              </a:ext>
            </a:extLst>
          </p:cNvPr>
          <p:cNvSpPr txBox="1"/>
          <p:nvPr/>
        </p:nvSpPr>
        <p:spPr>
          <a:xfrm>
            <a:off x="1995054" y="2209723"/>
            <a:ext cx="8626763" cy="1200329"/>
          </a:xfrm>
          <a:prstGeom prst="rect">
            <a:avLst/>
          </a:prstGeom>
          <a:noFill/>
        </p:spPr>
        <p:txBody>
          <a:bodyPr wrap="square">
            <a:spAutoFit/>
          </a:bodyPr>
          <a:lstStyle/>
          <a:p>
            <a:pPr marL="285750" indent="-285750" algn="just">
              <a:buFont typeface="Arial" panose="020B0604020202020204" pitchFamily="34" charset="0"/>
              <a:buChar char="•"/>
            </a:pPr>
            <a:r>
              <a:rPr lang="en-US" b="1" dirty="0"/>
              <a:t>Overfitting</a:t>
            </a:r>
            <a:r>
              <a:rPr lang="en-US" dirty="0"/>
              <a:t> occurs when a neural network learns not only the underlying patterns in the training data but also the noise and outliers. As a result, the network performs very well on the training data but fails to generalize to new, unseen data (test or validation data).</a:t>
            </a:r>
          </a:p>
        </p:txBody>
      </p:sp>
      <p:sp>
        <p:nvSpPr>
          <p:cNvPr id="8" name="TextBox 7">
            <a:extLst>
              <a:ext uri="{FF2B5EF4-FFF2-40B4-BE49-F238E27FC236}">
                <a16:creationId xmlns:a16="http://schemas.microsoft.com/office/drawing/2014/main" id="{B78C5A66-E466-F72E-C653-34CC55E22A09}"/>
              </a:ext>
            </a:extLst>
          </p:cNvPr>
          <p:cNvSpPr txBox="1"/>
          <p:nvPr/>
        </p:nvSpPr>
        <p:spPr>
          <a:xfrm>
            <a:off x="1995053" y="3447949"/>
            <a:ext cx="8626763" cy="923330"/>
          </a:xfrm>
          <a:prstGeom prst="rect">
            <a:avLst/>
          </a:prstGeom>
          <a:noFill/>
        </p:spPr>
        <p:txBody>
          <a:bodyPr wrap="square">
            <a:spAutoFit/>
          </a:bodyPr>
          <a:lstStyle/>
          <a:p>
            <a:pPr marL="285750" indent="-285750" algn="just">
              <a:buFont typeface="Arial" panose="020B0604020202020204" pitchFamily="34" charset="0"/>
              <a:buChar char="•"/>
            </a:pPr>
            <a:r>
              <a:rPr lang="en-US" dirty="0"/>
              <a:t>In simple terms, overfitting happens when the network is too complex (e.g., too many parameters) for the available training data, leading it to memorize the data rather than generalize it.</a:t>
            </a:r>
          </a:p>
        </p:txBody>
      </p:sp>
    </p:spTree>
    <p:extLst>
      <p:ext uri="{BB962C8B-B14F-4D97-AF65-F5344CB8AC3E}">
        <p14:creationId xmlns:p14="http://schemas.microsoft.com/office/powerpoint/2010/main" val="109950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6E66D7-A47F-C594-657A-474E49F003AC}"/>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5" name="TextBox 4">
            <a:extLst>
              <a:ext uri="{FF2B5EF4-FFF2-40B4-BE49-F238E27FC236}">
                <a16:creationId xmlns:a16="http://schemas.microsoft.com/office/drawing/2014/main" id="{CA5569F0-1D42-B02A-D1B9-1EBAFC59F2A2}"/>
              </a:ext>
            </a:extLst>
          </p:cNvPr>
          <p:cNvSpPr txBox="1"/>
          <p:nvPr/>
        </p:nvSpPr>
        <p:spPr>
          <a:xfrm>
            <a:off x="1570182" y="1840391"/>
            <a:ext cx="6096000" cy="369332"/>
          </a:xfrm>
          <a:prstGeom prst="rect">
            <a:avLst/>
          </a:prstGeom>
          <a:noFill/>
        </p:spPr>
        <p:txBody>
          <a:bodyPr wrap="square">
            <a:spAutoFit/>
          </a:bodyPr>
          <a:lstStyle/>
          <a:p>
            <a:r>
              <a:rPr lang="en-US" b="1" dirty="0"/>
              <a:t>What is Overfitting?</a:t>
            </a:r>
          </a:p>
        </p:txBody>
      </p:sp>
      <p:pic>
        <p:nvPicPr>
          <p:cNvPr id="6" name="Picture 5" descr="A screen shot of a graph&#10;&#10;Description automatically generated">
            <a:extLst>
              <a:ext uri="{FF2B5EF4-FFF2-40B4-BE49-F238E27FC236}">
                <a16:creationId xmlns:a16="http://schemas.microsoft.com/office/drawing/2014/main" id="{50F9BFA2-22F8-8DD1-1264-577380153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171" y="1609558"/>
            <a:ext cx="5847629" cy="5155147"/>
          </a:xfrm>
          <a:prstGeom prst="rect">
            <a:avLst/>
          </a:prstGeom>
        </p:spPr>
      </p:pic>
    </p:spTree>
    <p:extLst>
      <p:ext uri="{BB962C8B-B14F-4D97-AF65-F5344CB8AC3E}">
        <p14:creationId xmlns:p14="http://schemas.microsoft.com/office/powerpoint/2010/main" val="3260036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7BCA2D-8F7A-ABB9-5140-881E28E0A87D}"/>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4" name="TextBox 3">
            <a:extLst>
              <a:ext uri="{FF2B5EF4-FFF2-40B4-BE49-F238E27FC236}">
                <a16:creationId xmlns:a16="http://schemas.microsoft.com/office/drawing/2014/main" id="{AFA14CE4-B5DD-58D3-A70D-CEAD6D517463}"/>
              </a:ext>
            </a:extLst>
          </p:cNvPr>
          <p:cNvSpPr txBox="1"/>
          <p:nvPr/>
        </p:nvSpPr>
        <p:spPr>
          <a:xfrm>
            <a:off x="1754909" y="1944316"/>
            <a:ext cx="6096000" cy="369332"/>
          </a:xfrm>
          <a:prstGeom prst="rect">
            <a:avLst/>
          </a:prstGeom>
          <a:noFill/>
        </p:spPr>
        <p:txBody>
          <a:bodyPr wrap="square">
            <a:spAutoFit/>
          </a:bodyPr>
          <a:lstStyle/>
          <a:p>
            <a:r>
              <a:rPr lang="en-US" b="1" dirty="0"/>
              <a:t>Signs of Overfitting</a:t>
            </a:r>
          </a:p>
        </p:txBody>
      </p:sp>
      <p:sp>
        <p:nvSpPr>
          <p:cNvPr id="6" name="TextBox 5">
            <a:extLst>
              <a:ext uri="{FF2B5EF4-FFF2-40B4-BE49-F238E27FC236}">
                <a16:creationId xmlns:a16="http://schemas.microsoft.com/office/drawing/2014/main" id="{4103C210-6C86-6695-787D-23DD36D66308}"/>
              </a:ext>
            </a:extLst>
          </p:cNvPr>
          <p:cNvSpPr txBox="1"/>
          <p:nvPr/>
        </p:nvSpPr>
        <p:spPr>
          <a:xfrm>
            <a:off x="6124464" y="2790027"/>
            <a:ext cx="4395753" cy="1477328"/>
          </a:xfrm>
          <a:prstGeom prst="rect">
            <a:avLst/>
          </a:prstGeom>
          <a:noFill/>
        </p:spPr>
        <p:txBody>
          <a:bodyPr wrap="square">
            <a:spAutoFit/>
          </a:bodyPr>
          <a:lstStyle/>
          <a:p>
            <a:pPr marL="285750" indent="-285750">
              <a:buFont typeface="Arial" panose="020B0604020202020204" pitchFamily="34" charset="0"/>
              <a:buChar char="•"/>
            </a:pPr>
            <a:r>
              <a:rPr lang="en-US" b="1" dirty="0"/>
              <a:t>Low training error</a:t>
            </a:r>
            <a:r>
              <a:rPr lang="en-US" dirty="0"/>
              <a:t>, but </a:t>
            </a:r>
            <a:r>
              <a:rPr lang="en-US" b="1" dirty="0"/>
              <a:t>high validation/test error</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network performs very well on the training data but poorly on unseen data.</a:t>
            </a:r>
          </a:p>
        </p:txBody>
      </p:sp>
      <p:pic>
        <p:nvPicPr>
          <p:cNvPr id="4098" name="Picture 2" descr="Machine Learning: Can training error and validation (testing) error be  equal? - Cross Validated">
            <a:extLst>
              <a:ext uri="{FF2B5EF4-FFF2-40B4-BE49-F238E27FC236}">
                <a16:creationId xmlns:a16="http://schemas.microsoft.com/office/drawing/2014/main" id="{30BABFCE-885C-A536-0DAE-AD52D003B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52" y="2401409"/>
            <a:ext cx="4996543" cy="3747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1126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CE7F2C-60CD-DF16-E032-9BFE4587CBCF}"/>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4" name="TextBox 3">
            <a:extLst>
              <a:ext uri="{FF2B5EF4-FFF2-40B4-BE49-F238E27FC236}">
                <a16:creationId xmlns:a16="http://schemas.microsoft.com/office/drawing/2014/main" id="{15BB2859-06E9-DD78-A1E4-C994C594AC83}"/>
              </a:ext>
            </a:extLst>
          </p:cNvPr>
          <p:cNvSpPr txBox="1"/>
          <p:nvPr/>
        </p:nvSpPr>
        <p:spPr>
          <a:xfrm>
            <a:off x="1376218" y="1840391"/>
            <a:ext cx="6096000" cy="369332"/>
          </a:xfrm>
          <a:prstGeom prst="rect">
            <a:avLst/>
          </a:prstGeom>
          <a:noFill/>
        </p:spPr>
        <p:txBody>
          <a:bodyPr wrap="square">
            <a:spAutoFit/>
          </a:bodyPr>
          <a:lstStyle/>
          <a:p>
            <a:r>
              <a:rPr lang="en-US" b="1" dirty="0"/>
              <a:t>Regularization Techniques to Combat Overfitting</a:t>
            </a:r>
          </a:p>
        </p:txBody>
      </p:sp>
      <p:sp>
        <p:nvSpPr>
          <p:cNvPr id="6" name="TextBox 5">
            <a:extLst>
              <a:ext uri="{FF2B5EF4-FFF2-40B4-BE49-F238E27FC236}">
                <a16:creationId xmlns:a16="http://schemas.microsoft.com/office/drawing/2014/main" id="{2524B912-1F82-246C-F48B-B2F8B1740530}"/>
              </a:ext>
            </a:extLst>
          </p:cNvPr>
          <p:cNvSpPr txBox="1"/>
          <p:nvPr/>
        </p:nvSpPr>
        <p:spPr>
          <a:xfrm>
            <a:off x="1939636" y="2228671"/>
            <a:ext cx="8331199" cy="923330"/>
          </a:xfrm>
          <a:prstGeom prst="rect">
            <a:avLst/>
          </a:prstGeom>
          <a:noFill/>
        </p:spPr>
        <p:txBody>
          <a:bodyPr wrap="square">
            <a:spAutoFit/>
          </a:bodyPr>
          <a:lstStyle/>
          <a:p>
            <a:pPr marL="285750" indent="-285750">
              <a:buFont typeface="Arial" panose="020B0604020202020204" pitchFamily="34" charset="0"/>
              <a:buChar char="•"/>
            </a:pPr>
            <a:r>
              <a:rPr lang="en-US" dirty="0"/>
              <a:t>To prevent overfitting, we can use several </a:t>
            </a:r>
            <a:r>
              <a:rPr lang="en-US" b="1" dirty="0"/>
              <a:t>regularization techniques</a:t>
            </a:r>
            <a:r>
              <a:rPr lang="en-US" dirty="0"/>
              <a:t>. These techniques prevent the model from being too complex and help it generalize better to new data.</a:t>
            </a:r>
          </a:p>
        </p:txBody>
      </p:sp>
      <p:pic>
        <p:nvPicPr>
          <p:cNvPr id="6146" name="Picture 2" descr="What is L1 and L2 regularization in Deep Learning? - Nomidl">
            <a:extLst>
              <a:ext uri="{FF2B5EF4-FFF2-40B4-BE49-F238E27FC236}">
                <a16:creationId xmlns:a16="http://schemas.microsoft.com/office/drawing/2014/main" id="{1F6D2424-1BB9-4BA5-C888-8E8D24B3EE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9340" y="3281218"/>
            <a:ext cx="4751789" cy="27859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57396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A55A37-9CF1-26CA-2F1A-DE6C658F2EF8}"/>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E6B00A6E-B0A1-FEE4-8F5E-12E20B629D2D}"/>
              </a:ext>
            </a:extLst>
          </p:cNvPr>
          <p:cNvSpPr txBox="1"/>
          <p:nvPr/>
        </p:nvSpPr>
        <p:spPr>
          <a:xfrm>
            <a:off x="1376218" y="1840391"/>
            <a:ext cx="6096000" cy="369332"/>
          </a:xfrm>
          <a:prstGeom prst="rect">
            <a:avLst/>
          </a:prstGeom>
          <a:noFill/>
        </p:spPr>
        <p:txBody>
          <a:bodyPr wrap="square">
            <a:spAutoFit/>
          </a:bodyPr>
          <a:lstStyle/>
          <a:p>
            <a:r>
              <a:rPr lang="en-US" b="1" dirty="0"/>
              <a:t>1.  L2 Regularization (Weight Decay)</a:t>
            </a:r>
          </a:p>
        </p:txBody>
      </p:sp>
      <p:sp>
        <p:nvSpPr>
          <p:cNvPr id="7" name="TextBox 6">
            <a:extLst>
              <a:ext uri="{FF2B5EF4-FFF2-40B4-BE49-F238E27FC236}">
                <a16:creationId xmlns:a16="http://schemas.microsoft.com/office/drawing/2014/main" id="{E7801102-6B19-DB92-C0D4-66071A6FE265}"/>
              </a:ext>
            </a:extLst>
          </p:cNvPr>
          <p:cNvSpPr txBox="1"/>
          <p:nvPr/>
        </p:nvSpPr>
        <p:spPr>
          <a:xfrm>
            <a:off x="2013527" y="2209723"/>
            <a:ext cx="6096000" cy="369332"/>
          </a:xfrm>
          <a:prstGeom prst="rect">
            <a:avLst/>
          </a:prstGeom>
          <a:noFill/>
        </p:spPr>
        <p:txBody>
          <a:bodyPr wrap="square">
            <a:spAutoFit/>
          </a:bodyPr>
          <a:lstStyle/>
          <a:p>
            <a:r>
              <a:rPr lang="en-US" b="1" dirty="0"/>
              <a:t>How it works ?</a:t>
            </a:r>
          </a:p>
        </p:txBody>
      </p:sp>
      <p:sp>
        <p:nvSpPr>
          <p:cNvPr id="9" name="TextBox 8">
            <a:extLst>
              <a:ext uri="{FF2B5EF4-FFF2-40B4-BE49-F238E27FC236}">
                <a16:creationId xmlns:a16="http://schemas.microsoft.com/office/drawing/2014/main" id="{F445D76E-D183-2686-E2F0-A868CD3E5357}"/>
              </a:ext>
            </a:extLst>
          </p:cNvPr>
          <p:cNvSpPr txBox="1"/>
          <p:nvPr/>
        </p:nvSpPr>
        <p:spPr>
          <a:xfrm>
            <a:off x="2299853" y="2579055"/>
            <a:ext cx="7010401" cy="646331"/>
          </a:xfrm>
          <a:prstGeom prst="rect">
            <a:avLst/>
          </a:prstGeom>
          <a:noFill/>
        </p:spPr>
        <p:txBody>
          <a:bodyPr wrap="square">
            <a:spAutoFit/>
          </a:bodyPr>
          <a:lstStyle/>
          <a:p>
            <a:pPr marL="285750" indent="-285750">
              <a:buFont typeface="Arial" panose="020B0604020202020204" pitchFamily="34" charset="0"/>
              <a:buChar char="•"/>
            </a:pPr>
            <a:r>
              <a:rPr lang="en-US" dirty="0"/>
              <a:t>L2 regularization adds a penalty to the loss function based on the sum of the squared weights.</a:t>
            </a:r>
          </a:p>
        </p:txBody>
      </p:sp>
      <p:sp>
        <p:nvSpPr>
          <p:cNvPr id="11" name="TextBox 10">
            <a:extLst>
              <a:ext uri="{FF2B5EF4-FFF2-40B4-BE49-F238E27FC236}">
                <a16:creationId xmlns:a16="http://schemas.microsoft.com/office/drawing/2014/main" id="{CEF57E58-92E1-07D9-3CD2-677A8BAC6520}"/>
              </a:ext>
            </a:extLst>
          </p:cNvPr>
          <p:cNvSpPr txBox="1"/>
          <p:nvPr/>
        </p:nvSpPr>
        <p:spPr>
          <a:xfrm>
            <a:off x="2013527" y="3263283"/>
            <a:ext cx="6096000" cy="369332"/>
          </a:xfrm>
          <a:prstGeom prst="rect">
            <a:avLst/>
          </a:prstGeom>
          <a:noFill/>
        </p:spPr>
        <p:txBody>
          <a:bodyPr wrap="square">
            <a:spAutoFit/>
          </a:bodyPr>
          <a:lstStyle/>
          <a:p>
            <a:r>
              <a:rPr lang="en-US" b="1" dirty="0"/>
              <a:t>Why it helps ?</a:t>
            </a:r>
          </a:p>
        </p:txBody>
      </p:sp>
      <p:sp>
        <p:nvSpPr>
          <p:cNvPr id="13" name="TextBox 12">
            <a:extLst>
              <a:ext uri="{FF2B5EF4-FFF2-40B4-BE49-F238E27FC236}">
                <a16:creationId xmlns:a16="http://schemas.microsoft.com/office/drawing/2014/main" id="{078ECA9C-252B-7E8C-A31B-697652446BFA}"/>
              </a:ext>
            </a:extLst>
          </p:cNvPr>
          <p:cNvSpPr txBox="1"/>
          <p:nvPr/>
        </p:nvSpPr>
        <p:spPr>
          <a:xfrm>
            <a:off x="2299852" y="3670512"/>
            <a:ext cx="7010401" cy="923330"/>
          </a:xfrm>
          <a:prstGeom prst="rect">
            <a:avLst/>
          </a:prstGeom>
          <a:noFill/>
        </p:spPr>
        <p:txBody>
          <a:bodyPr wrap="square">
            <a:spAutoFit/>
          </a:bodyPr>
          <a:lstStyle/>
          <a:p>
            <a:pPr marL="285750" indent="-285750">
              <a:buFont typeface="Arial" panose="020B0604020202020204" pitchFamily="34" charset="0"/>
              <a:buChar char="•"/>
            </a:pPr>
            <a:r>
              <a:rPr lang="en-US" dirty="0"/>
              <a:t>This discourages the network from assigning very high values to weights, effectively reducing the model complexity and preventing overfitting.</a:t>
            </a:r>
          </a:p>
        </p:txBody>
      </p:sp>
    </p:spTree>
    <p:extLst>
      <p:ext uri="{BB962C8B-B14F-4D97-AF65-F5344CB8AC3E}">
        <p14:creationId xmlns:p14="http://schemas.microsoft.com/office/powerpoint/2010/main" val="2509096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8C42D4-B0A0-0678-734E-909FE10B9798}"/>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AFF3F12F-FBFC-DC1B-1BEE-4B5AACD24AA1}"/>
              </a:ext>
            </a:extLst>
          </p:cNvPr>
          <p:cNvSpPr txBox="1"/>
          <p:nvPr/>
        </p:nvSpPr>
        <p:spPr>
          <a:xfrm>
            <a:off x="1376218" y="1840391"/>
            <a:ext cx="6096000" cy="369332"/>
          </a:xfrm>
          <a:prstGeom prst="rect">
            <a:avLst/>
          </a:prstGeom>
          <a:noFill/>
        </p:spPr>
        <p:txBody>
          <a:bodyPr wrap="square">
            <a:spAutoFit/>
          </a:bodyPr>
          <a:lstStyle/>
          <a:p>
            <a:r>
              <a:rPr lang="en-US" b="1" dirty="0"/>
              <a:t>1.  L2 Regularization (Weight Decay)</a:t>
            </a:r>
          </a:p>
        </p:txBody>
      </p:sp>
      <p:sp>
        <p:nvSpPr>
          <p:cNvPr id="5" name="TextBox 4">
            <a:extLst>
              <a:ext uri="{FF2B5EF4-FFF2-40B4-BE49-F238E27FC236}">
                <a16:creationId xmlns:a16="http://schemas.microsoft.com/office/drawing/2014/main" id="{C35DEDE2-7D6A-5114-5C7A-EFF80D00FE06}"/>
              </a:ext>
            </a:extLst>
          </p:cNvPr>
          <p:cNvSpPr txBox="1"/>
          <p:nvPr/>
        </p:nvSpPr>
        <p:spPr>
          <a:xfrm>
            <a:off x="1967346" y="2209723"/>
            <a:ext cx="6096000" cy="369332"/>
          </a:xfrm>
          <a:prstGeom prst="rect">
            <a:avLst/>
          </a:prstGeom>
          <a:noFill/>
        </p:spPr>
        <p:txBody>
          <a:bodyPr wrap="square">
            <a:spAutoFit/>
          </a:bodyPr>
          <a:lstStyle/>
          <a:p>
            <a:r>
              <a:rPr lang="en-US" b="1" dirty="0"/>
              <a:t>Loss Function with L2 Regularization</a:t>
            </a:r>
          </a:p>
        </p:txBody>
      </p:sp>
      <p:pic>
        <p:nvPicPr>
          <p:cNvPr id="7" name="Picture 6">
            <a:extLst>
              <a:ext uri="{FF2B5EF4-FFF2-40B4-BE49-F238E27FC236}">
                <a16:creationId xmlns:a16="http://schemas.microsoft.com/office/drawing/2014/main" id="{0EFE98A4-3F86-B7BD-06F0-ACAE7F18374D}"/>
              </a:ext>
            </a:extLst>
          </p:cNvPr>
          <p:cNvPicPr>
            <a:picLocks noChangeAspect="1"/>
          </p:cNvPicPr>
          <p:nvPr/>
        </p:nvPicPr>
        <p:blipFill>
          <a:blip r:embed="rId2"/>
          <a:stretch>
            <a:fillRect/>
          </a:stretch>
        </p:blipFill>
        <p:spPr>
          <a:xfrm>
            <a:off x="4229821" y="2752636"/>
            <a:ext cx="3965680" cy="763155"/>
          </a:xfrm>
          <a:prstGeom prst="rect">
            <a:avLst/>
          </a:prstGeom>
        </p:spPr>
      </p:pic>
      <p:sp>
        <p:nvSpPr>
          <p:cNvPr id="9" name="TextBox 8">
            <a:extLst>
              <a:ext uri="{FF2B5EF4-FFF2-40B4-BE49-F238E27FC236}">
                <a16:creationId xmlns:a16="http://schemas.microsoft.com/office/drawing/2014/main" id="{21AE79D3-215C-1290-526C-FAC563DACBDE}"/>
              </a:ext>
            </a:extLst>
          </p:cNvPr>
          <p:cNvSpPr txBox="1"/>
          <p:nvPr/>
        </p:nvSpPr>
        <p:spPr>
          <a:xfrm>
            <a:off x="1967346" y="3515791"/>
            <a:ext cx="6096000" cy="369332"/>
          </a:xfrm>
          <a:prstGeom prst="rect">
            <a:avLst/>
          </a:prstGeom>
          <a:noFill/>
        </p:spPr>
        <p:txBody>
          <a:bodyPr wrap="square">
            <a:spAutoFit/>
          </a:bodyPr>
          <a:lstStyle/>
          <a:p>
            <a:r>
              <a:rPr lang="en-US" dirty="0"/>
              <a:t>Where :</a:t>
            </a:r>
          </a:p>
        </p:txBody>
      </p:sp>
      <p:pic>
        <p:nvPicPr>
          <p:cNvPr id="11" name="Picture 10">
            <a:extLst>
              <a:ext uri="{FF2B5EF4-FFF2-40B4-BE49-F238E27FC236}">
                <a16:creationId xmlns:a16="http://schemas.microsoft.com/office/drawing/2014/main" id="{31B79D3B-9FAD-F564-02A7-C4ADD0C3B5E9}"/>
              </a:ext>
            </a:extLst>
          </p:cNvPr>
          <p:cNvPicPr>
            <a:picLocks noChangeAspect="1"/>
          </p:cNvPicPr>
          <p:nvPr/>
        </p:nvPicPr>
        <p:blipFill>
          <a:blip r:embed="rId3"/>
          <a:stretch>
            <a:fillRect/>
          </a:stretch>
        </p:blipFill>
        <p:spPr>
          <a:xfrm>
            <a:off x="2400444" y="4058704"/>
            <a:ext cx="7077075" cy="1171575"/>
          </a:xfrm>
          <a:prstGeom prst="rect">
            <a:avLst/>
          </a:prstGeom>
        </p:spPr>
      </p:pic>
    </p:spTree>
    <p:extLst>
      <p:ext uri="{BB962C8B-B14F-4D97-AF65-F5344CB8AC3E}">
        <p14:creationId xmlns:p14="http://schemas.microsoft.com/office/powerpoint/2010/main" val="3786232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945404-AEED-FC3C-C079-E2F8420CDDB8}"/>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48E2095D-F5D4-14CD-9919-833E734B4D63}"/>
              </a:ext>
            </a:extLst>
          </p:cNvPr>
          <p:cNvSpPr txBox="1"/>
          <p:nvPr/>
        </p:nvSpPr>
        <p:spPr>
          <a:xfrm>
            <a:off x="1376218" y="1840391"/>
            <a:ext cx="6096000" cy="369332"/>
          </a:xfrm>
          <a:prstGeom prst="rect">
            <a:avLst/>
          </a:prstGeom>
          <a:noFill/>
        </p:spPr>
        <p:txBody>
          <a:bodyPr wrap="square">
            <a:spAutoFit/>
          </a:bodyPr>
          <a:lstStyle/>
          <a:p>
            <a:r>
              <a:rPr lang="en-US" b="1" dirty="0"/>
              <a:t>2. L1 Regularization</a:t>
            </a:r>
          </a:p>
        </p:txBody>
      </p:sp>
      <p:sp>
        <p:nvSpPr>
          <p:cNvPr id="4" name="TextBox 3">
            <a:extLst>
              <a:ext uri="{FF2B5EF4-FFF2-40B4-BE49-F238E27FC236}">
                <a16:creationId xmlns:a16="http://schemas.microsoft.com/office/drawing/2014/main" id="{6DC007C2-2DBB-A1AA-F95C-C47398DC76B6}"/>
              </a:ext>
            </a:extLst>
          </p:cNvPr>
          <p:cNvSpPr txBox="1"/>
          <p:nvPr/>
        </p:nvSpPr>
        <p:spPr>
          <a:xfrm>
            <a:off x="2013527" y="2209723"/>
            <a:ext cx="6096000" cy="369332"/>
          </a:xfrm>
          <a:prstGeom prst="rect">
            <a:avLst/>
          </a:prstGeom>
          <a:noFill/>
        </p:spPr>
        <p:txBody>
          <a:bodyPr wrap="square">
            <a:spAutoFit/>
          </a:bodyPr>
          <a:lstStyle/>
          <a:p>
            <a:r>
              <a:rPr lang="en-US" b="1" dirty="0"/>
              <a:t>How it works ?</a:t>
            </a:r>
          </a:p>
        </p:txBody>
      </p:sp>
      <p:sp>
        <p:nvSpPr>
          <p:cNvPr id="5" name="TextBox 4">
            <a:extLst>
              <a:ext uri="{FF2B5EF4-FFF2-40B4-BE49-F238E27FC236}">
                <a16:creationId xmlns:a16="http://schemas.microsoft.com/office/drawing/2014/main" id="{B3E51263-0ACA-4269-F0D1-D84EF8F96E71}"/>
              </a:ext>
            </a:extLst>
          </p:cNvPr>
          <p:cNvSpPr txBox="1"/>
          <p:nvPr/>
        </p:nvSpPr>
        <p:spPr>
          <a:xfrm>
            <a:off x="2299853" y="2579055"/>
            <a:ext cx="7010401" cy="646331"/>
          </a:xfrm>
          <a:prstGeom prst="rect">
            <a:avLst/>
          </a:prstGeom>
          <a:noFill/>
        </p:spPr>
        <p:txBody>
          <a:bodyPr wrap="square">
            <a:spAutoFit/>
          </a:bodyPr>
          <a:lstStyle/>
          <a:p>
            <a:pPr marL="285750" indent="-285750">
              <a:buFont typeface="Arial" panose="020B0604020202020204" pitchFamily="34" charset="0"/>
              <a:buChar char="•"/>
            </a:pPr>
            <a:r>
              <a:rPr lang="en-US" dirty="0"/>
              <a:t>L1 regularization adds the sum of the absolute values of the weights to the loss function.</a:t>
            </a:r>
          </a:p>
        </p:txBody>
      </p:sp>
      <p:sp>
        <p:nvSpPr>
          <p:cNvPr id="6" name="TextBox 5">
            <a:extLst>
              <a:ext uri="{FF2B5EF4-FFF2-40B4-BE49-F238E27FC236}">
                <a16:creationId xmlns:a16="http://schemas.microsoft.com/office/drawing/2014/main" id="{1537CBF6-03AF-A9FA-B22C-1A24171FE254}"/>
              </a:ext>
            </a:extLst>
          </p:cNvPr>
          <p:cNvSpPr txBox="1"/>
          <p:nvPr/>
        </p:nvSpPr>
        <p:spPr>
          <a:xfrm>
            <a:off x="2013527" y="3263283"/>
            <a:ext cx="6096000" cy="369332"/>
          </a:xfrm>
          <a:prstGeom prst="rect">
            <a:avLst/>
          </a:prstGeom>
          <a:noFill/>
        </p:spPr>
        <p:txBody>
          <a:bodyPr wrap="square">
            <a:spAutoFit/>
          </a:bodyPr>
          <a:lstStyle/>
          <a:p>
            <a:r>
              <a:rPr lang="en-US" b="1" dirty="0"/>
              <a:t>Why it helps ?</a:t>
            </a:r>
          </a:p>
        </p:txBody>
      </p:sp>
      <p:sp>
        <p:nvSpPr>
          <p:cNvPr id="7" name="TextBox 6">
            <a:extLst>
              <a:ext uri="{FF2B5EF4-FFF2-40B4-BE49-F238E27FC236}">
                <a16:creationId xmlns:a16="http://schemas.microsoft.com/office/drawing/2014/main" id="{47BE2C3B-5C11-8C25-FB08-D83044700B5C}"/>
              </a:ext>
            </a:extLst>
          </p:cNvPr>
          <p:cNvSpPr txBox="1"/>
          <p:nvPr/>
        </p:nvSpPr>
        <p:spPr>
          <a:xfrm>
            <a:off x="2299852" y="3670512"/>
            <a:ext cx="7010401" cy="923330"/>
          </a:xfrm>
          <a:prstGeom prst="rect">
            <a:avLst/>
          </a:prstGeom>
          <a:noFill/>
        </p:spPr>
        <p:txBody>
          <a:bodyPr wrap="square">
            <a:spAutoFit/>
          </a:bodyPr>
          <a:lstStyle/>
          <a:p>
            <a:pPr marL="285750" indent="-285750">
              <a:buFont typeface="Arial" panose="020B0604020202020204" pitchFamily="34" charset="0"/>
              <a:buChar char="•"/>
            </a:pPr>
            <a:r>
              <a:rPr lang="en-US" dirty="0"/>
              <a:t>It can lead to sparse models, where some weights become zero, effectively simplifying the model by selecting important features and eliminating unnecessary ones.</a:t>
            </a:r>
          </a:p>
        </p:txBody>
      </p:sp>
    </p:spTree>
    <p:extLst>
      <p:ext uri="{BB962C8B-B14F-4D97-AF65-F5344CB8AC3E}">
        <p14:creationId xmlns:p14="http://schemas.microsoft.com/office/powerpoint/2010/main" val="60226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0A5976-EC3E-4FA2-0B9E-2C021D0263F8}"/>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B4C070AD-323B-5668-EFBA-0BF8E3AB86E8}"/>
              </a:ext>
            </a:extLst>
          </p:cNvPr>
          <p:cNvSpPr txBox="1"/>
          <p:nvPr/>
        </p:nvSpPr>
        <p:spPr>
          <a:xfrm>
            <a:off x="1376218" y="1840391"/>
            <a:ext cx="6096000" cy="369332"/>
          </a:xfrm>
          <a:prstGeom prst="rect">
            <a:avLst/>
          </a:prstGeom>
          <a:noFill/>
        </p:spPr>
        <p:txBody>
          <a:bodyPr wrap="square">
            <a:spAutoFit/>
          </a:bodyPr>
          <a:lstStyle/>
          <a:p>
            <a:r>
              <a:rPr lang="en-US" b="1" dirty="0"/>
              <a:t>2. L1 Regularization</a:t>
            </a:r>
          </a:p>
        </p:txBody>
      </p:sp>
      <p:sp>
        <p:nvSpPr>
          <p:cNvPr id="4" name="TextBox 3">
            <a:extLst>
              <a:ext uri="{FF2B5EF4-FFF2-40B4-BE49-F238E27FC236}">
                <a16:creationId xmlns:a16="http://schemas.microsoft.com/office/drawing/2014/main" id="{00EA1B1E-C824-A994-F7DE-60DB95A07E15}"/>
              </a:ext>
            </a:extLst>
          </p:cNvPr>
          <p:cNvSpPr txBox="1"/>
          <p:nvPr/>
        </p:nvSpPr>
        <p:spPr>
          <a:xfrm>
            <a:off x="1967346" y="2209723"/>
            <a:ext cx="6096000" cy="369332"/>
          </a:xfrm>
          <a:prstGeom prst="rect">
            <a:avLst/>
          </a:prstGeom>
          <a:noFill/>
        </p:spPr>
        <p:txBody>
          <a:bodyPr wrap="square">
            <a:spAutoFit/>
          </a:bodyPr>
          <a:lstStyle/>
          <a:p>
            <a:r>
              <a:rPr lang="en-US" b="1" dirty="0"/>
              <a:t>Loss Function with L1 Regularization</a:t>
            </a:r>
          </a:p>
        </p:txBody>
      </p:sp>
      <p:pic>
        <p:nvPicPr>
          <p:cNvPr id="9" name="Picture 8">
            <a:extLst>
              <a:ext uri="{FF2B5EF4-FFF2-40B4-BE49-F238E27FC236}">
                <a16:creationId xmlns:a16="http://schemas.microsoft.com/office/drawing/2014/main" id="{33F0A5E4-6427-5C8A-D59C-EA2B8CBBFDEF}"/>
              </a:ext>
            </a:extLst>
          </p:cNvPr>
          <p:cNvPicPr>
            <a:picLocks noChangeAspect="1"/>
          </p:cNvPicPr>
          <p:nvPr/>
        </p:nvPicPr>
        <p:blipFill>
          <a:blip r:embed="rId2"/>
          <a:stretch>
            <a:fillRect/>
          </a:stretch>
        </p:blipFill>
        <p:spPr>
          <a:xfrm>
            <a:off x="4203471" y="2671388"/>
            <a:ext cx="3685333" cy="757612"/>
          </a:xfrm>
          <a:prstGeom prst="rect">
            <a:avLst/>
          </a:prstGeom>
        </p:spPr>
      </p:pic>
    </p:spTree>
    <p:extLst>
      <p:ext uri="{BB962C8B-B14F-4D97-AF65-F5344CB8AC3E}">
        <p14:creationId xmlns:p14="http://schemas.microsoft.com/office/powerpoint/2010/main" val="3897225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29D18-DD15-0D94-E5B9-F5A34D5BF13E}"/>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54E7C1A2-DDF6-A34E-FE9E-8A099163D2F6}"/>
              </a:ext>
            </a:extLst>
          </p:cNvPr>
          <p:cNvSpPr txBox="1"/>
          <p:nvPr/>
        </p:nvSpPr>
        <p:spPr>
          <a:xfrm>
            <a:off x="1376218" y="1840391"/>
            <a:ext cx="6096000" cy="369332"/>
          </a:xfrm>
          <a:prstGeom prst="rect">
            <a:avLst/>
          </a:prstGeom>
          <a:noFill/>
        </p:spPr>
        <p:txBody>
          <a:bodyPr wrap="square">
            <a:spAutoFit/>
          </a:bodyPr>
          <a:lstStyle/>
          <a:p>
            <a:r>
              <a:rPr lang="en-US" b="1" dirty="0"/>
              <a:t>3. Dropout</a:t>
            </a:r>
          </a:p>
        </p:txBody>
      </p:sp>
      <p:sp>
        <p:nvSpPr>
          <p:cNvPr id="4" name="TextBox 3">
            <a:extLst>
              <a:ext uri="{FF2B5EF4-FFF2-40B4-BE49-F238E27FC236}">
                <a16:creationId xmlns:a16="http://schemas.microsoft.com/office/drawing/2014/main" id="{822A3B5B-9EE9-2C9A-9CA1-766A9F657C79}"/>
              </a:ext>
            </a:extLst>
          </p:cNvPr>
          <p:cNvSpPr txBox="1"/>
          <p:nvPr/>
        </p:nvSpPr>
        <p:spPr>
          <a:xfrm>
            <a:off x="2013527" y="2209723"/>
            <a:ext cx="6096000" cy="369332"/>
          </a:xfrm>
          <a:prstGeom prst="rect">
            <a:avLst/>
          </a:prstGeom>
          <a:noFill/>
        </p:spPr>
        <p:txBody>
          <a:bodyPr wrap="square">
            <a:spAutoFit/>
          </a:bodyPr>
          <a:lstStyle/>
          <a:p>
            <a:r>
              <a:rPr lang="en-US" b="1" dirty="0"/>
              <a:t>How it works ?</a:t>
            </a:r>
          </a:p>
        </p:txBody>
      </p:sp>
      <p:sp>
        <p:nvSpPr>
          <p:cNvPr id="5" name="TextBox 4">
            <a:extLst>
              <a:ext uri="{FF2B5EF4-FFF2-40B4-BE49-F238E27FC236}">
                <a16:creationId xmlns:a16="http://schemas.microsoft.com/office/drawing/2014/main" id="{E30FC33F-72F8-10C1-2E61-DA55BE9E8DB6}"/>
              </a:ext>
            </a:extLst>
          </p:cNvPr>
          <p:cNvSpPr txBox="1"/>
          <p:nvPr/>
        </p:nvSpPr>
        <p:spPr>
          <a:xfrm>
            <a:off x="2299853" y="2579055"/>
            <a:ext cx="7010401" cy="1200329"/>
          </a:xfrm>
          <a:prstGeom prst="rect">
            <a:avLst/>
          </a:prstGeom>
          <a:noFill/>
        </p:spPr>
        <p:txBody>
          <a:bodyPr wrap="square">
            <a:spAutoFit/>
          </a:bodyPr>
          <a:lstStyle/>
          <a:p>
            <a:pPr marL="285750" indent="-285750">
              <a:buFont typeface="Arial" panose="020B0604020202020204" pitchFamily="34" charset="0"/>
              <a:buChar char="•"/>
            </a:pPr>
            <a:r>
              <a:rPr lang="en-US" dirty="0"/>
              <a:t>Dropout randomly "drops" (sets to zero) a fraction of neurons during each forward pass of training. This prevents neurons from relying too much on each other and forces the network to learn more robust representations.</a:t>
            </a:r>
          </a:p>
        </p:txBody>
      </p:sp>
      <p:sp>
        <p:nvSpPr>
          <p:cNvPr id="6" name="TextBox 5">
            <a:extLst>
              <a:ext uri="{FF2B5EF4-FFF2-40B4-BE49-F238E27FC236}">
                <a16:creationId xmlns:a16="http://schemas.microsoft.com/office/drawing/2014/main" id="{034DB724-77A2-83E0-CD0A-D660F3D6FE4F}"/>
              </a:ext>
            </a:extLst>
          </p:cNvPr>
          <p:cNvSpPr txBox="1"/>
          <p:nvPr/>
        </p:nvSpPr>
        <p:spPr>
          <a:xfrm>
            <a:off x="2013527" y="3779384"/>
            <a:ext cx="6096000" cy="369332"/>
          </a:xfrm>
          <a:prstGeom prst="rect">
            <a:avLst/>
          </a:prstGeom>
          <a:noFill/>
        </p:spPr>
        <p:txBody>
          <a:bodyPr wrap="square">
            <a:spAutoFit/>
          </a:bodyPr>
          <a:lstStyle/>
          <a:p>
            <a:r>
              <a:rPr lang="en-US" b="1" dirty="0"/>
              <a:t>Why it helps ?</a:t>
            </a:r>
          </a:p>
        </p:txBody>
      </p:sp>
      <p:sp>
        <p:nvSpPr>
          <p:cNvPr id="7" name="TextBox 6">
            <a:extLst>
              <a:ext uri="{FF2B5EF4-FFF2-40B4-BE49-F238E27FC236}">
                <a16:creationId xmlns:a16="http://schemas.microsoft.com/office/drawing/2014/main" id="{E0CBBD65-0704-0F5B-C7CE-9ABCE3C252F4}"/>
              </a:ext>
            </a:extLst>
          </p:cNvPr>
          <p:cNvSpPr txBox="1"/>
          <p:nvPr/>
        </p:nvSpPr>
        <p:spPr>
          <a:xfrm>
            <a:off x="2299852" y="4186613"/>
            <a:ext cx="7010401" cy="1754326"/>
          </a:xfrm>
          <a:prstGeom prst="rect">
            <a:avLst/>
          </a:prstGeom>
          <a:noFill/>
        </p:spPr>
        <p:txBody>
          <a:bodyPr wrap="square">
            <a:spAutoFit/>
          </a:bodyPr>
          <a:lstStyle/>
          <a:p>
            <a:pPr marL="285750" indent="-285750">
              <a:buFont typeface="Arial" panose="020B0604020202020204" pitchFamily="34" charset="0"/>
              <a:buChar char="•"/>
            </a:pPr>
            <a:r>
              <a:rPr lang="en-US" dirty="0"/>
              <a:t>Dropout introduces redundancy, which makes the network more robust to noise and less likely to overfit the training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During training, a dropout rate (e.g., 0.5) is set, and during each training iteration, random neurons are deactivated with that probability.</a:t>
            </a:r>
          </a:p>
        </p:txBody>
      </p:sp>
    </p:spTree>
    <p:extLst>
      <p:ext uri="{BB962C8B-B14F-4D97-AF65-F5344CB8AC3E}">
        <p14:creationId xmlns:p14="http://schemas.microsoft.com/office/powerpoint/2010/main" val="2886125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ypes of Regularization in Machine Learning | by Aqeel Anwar | Towards Data  Science">
            <a:extLst>
              <a:ext uri="{FF2B5EF4-FFF2-40B4-BE49-F238E27FC236}">
                <a16:creationId xmlns:a16="http://schemas.microsoft.com/office/drawing/2014/main" id="{8DB00C01-3857-54F4-EEB4-173111864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6291" y="2302056"/>
            <a:ext cx="8518136" cy="309115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29837F2-DEAD-457A-4112-0B85186999A3}"/>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5" name="TextBox 4">
            <a:extLst>
              <a:ext uri="{FF2B5EF4-FFF2-40B4-BE49-F238E27FC236}">
                <a16:creationId xmlns:a16="http://schemas.microsoft.com/office/drawing/2014/main" id="{94846F2D-FF77-3436-A77B-8779748CA1DC}"/>
              </a:ext>
            </a:extLst>
          </p:cNvPr>
          <p:cNvSpPr txBox="1"/>
          <p:nvPr/>
        </p:nvSpPr>
        <p:spPr>
          <a:xfrm>
            <a:off x="1376218" y="1840391"/>
            <a:ext cx="6096000" cy="369332"/>
          </a:xfrm>
          <a:prstGeom prst="rect">
            <a:avLst/>
          </a:prstGeom>
          <a:noFill/>
        </p:spPr>
        <p:txBody>
          <a:bodyPr wrap="square">
            <a:spAutoFit/>
          </a:bodyPr>
          <a:lstStyle/>
          <a:p>
            <a:r>
              <a:rPr lang="en-US" b="1" dirty="0"/>
              <a:t>3. Dropout</a:t>
            </a:r>
          </a:p>
        </p:txBody>
      </p:sp>
    </p:spTree>
    <p:extLst>
      <p:ext uri="{BB962C8B-B14F-4D97-AF65-F5344CB8AC3E}">
        <p14:creationId xmlns:p14="http://schemas.microsoft.com/office/powerpoint/2010/main" val="2374164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130471-0E8E-9723-2B77-697D62F994AF}"/>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3" name="TextBox 2">
            <a:extLst>
              <a:ext uri="{FF2B5EF4-FFF2-40B4-BE49-F238E27FC236}">
                <a16:creationId xmlns:a16="http://schemas.microsoft.com/office/drawing/2014/main" id="{27BB22DB-9FDF-B25B-89DA-1DAC48E2E592}"/>
              </a:ext>
            </a:extLst>
          </p:cNvPr>
          <p:cNvSpPr txBox="1"/>
          <p:nvPr/>
        </p:nvSpPr>
        <p:spPr>
          <a:xfrm>
            <a:off x="1413164" y="1840391"/>
            <a:ext cx="6096000" cy="369332"/>
          </a:xfrm>
          <a:prstGeom prst="rect">
            <a:avLst/>
          </a:prstGeom>
          <a:noFill/>
        </p:spPr>
        <p:txBody>
          <a:bodyPr wrap="square">
            <a:spAutoFit/>
          </a:bodyPr>
          <a:lstStyle/>
          <a:p>
            <a:r>
              <a:rPr lang="en-US" b="1" dirty="0"/>
              <a:t>4. Early Stopping</a:t>
            </a:r>
          </a:p>
        </p:txBody>
      </p:sp>
      <p:sp>
        <p:nvSpPr>
          <p:cNvPr id="4" name="TextBox 3">
            <a:extLst>
              <a:ext uri="{FF2B5EF4-FFF2-40B4-BE49-F238E27FC236}">
                <a16:creationId xmlns:a16="http://schemas.microsoft.com/office/drawing/2014/main" id="{0E931CB2-BB15-ACA4-4435-D6B3E648A0B7}"/>
              </a:ext>
            </a:extLst>
          </p:cNvPr>
          <p:cNvSpPr txBox="1"/>
          <p:nvPr/>
        </p:nvSpPr>
        <p:spPr>
          <a:xfrm>
            <a:off x="2013527" y="2209723"/>
            <a:ext cx="6096000" cy="369332"/>
          </a:xfrm>
          <a:prstGeom prst="rect">
            <a:avLst/>
          </a:prstGeom>
          <a:noFill/>
        </p:spPr>
        <p:txBody>
          <a:bodyPr wrap="square">
            <a:spAutoFit/>
          </a:bodyPr>
          <a:lstStyle/>
          <a:p>
            <a:r>
              <a:rPr lang="en-US" b="1" dirty="0"/>
              <a:t>How it works ?</a:t>
            </a:r>
          </a:p>
        </p:txBody>
      </p:sp>
      <p:sp>
        <p:nvSpPr>
          <p:cNvPr id="5" name="TextBox 4">
            <a:extLst>
              <a:ext uri="{FF2B5EF4-FFF2-40B4-BE49-F238E27FC236}">
                <a16:creationId xmlns:a16="http://schemas.microsoft.com/office/drawing/2014/main" id="{359C0575-B7AD-F5C2-2F66-BB534A9F8217}"/>
              </a:ext>
            </a:extLst>
          </p:cNvPr>
          <p:cNvSpPr txBox="1"/>
          <p:nvPr/>
        </p:nvSpPr>
        <p:spPr>
          <a:xfrm>
            <a:off x="2299853" y="2579055"/>
            <a:ext cx="7010401" cy="923330"/>
          </a:xfrm>
          <a:prstGeom prst="rect">
            <a:avLst/>
          </a:prstGeom>
          <a:noFill/>
        </p:spPr>
        <p:txBody>
          <a:bodyPr wrap="square">
            <a:spAutoFit/>
          </a:bodyPr>
          <a:lstStyle/>
          <a:p>
            <a:pPr marL="285750" indent="-285750">
              <a:buFont typeface="Arial" panose="020B0604020202020204" pitchFamily="34" charset="0"/>
              <a:buChar char="•"/>
            </a:pPr>
            <a:r>
              <a:rPr lang="en-US" dirty="0"/>
              <a:t>Early stopping is a simple yet effective technique where training is stopped when the validation error starts to increase, even if the training error continues to decrease.</a:t>
            </a:r>
          </a:p>
        </p:txBody>
      </p:sp>
      <p:sp>
        <p:nvSpPr>
          <p:cNvPr id="6" name="TextBox 5">
            <a:extLst>
              <a:ext uri="{FF2B5EF4-FFF2-40B4-BE49-F238E27FC236}">
                <a16:creationId xmlns:a16="http://schemas.microsoft.com/office/drawing/2014/main" id="{31A4817B-C250-593B-977F-D74C7AFC143D}"/>
              </a:ext>
            </a:extLst>
          </p:cNvPr>
          <p:cNvSpPr txBox="1"/>
          <p:nvPr/>
        </p:nvSpPr>
        <p:spPr>
          <a:xfrm>
            <a:off x="2013527" y="3779384"/>
            <a:ext cx="6096000" cy="369332"/>
          </a:xfrm>
          <a:prstGeom prst="rect">
            <a:avLst/>
          </a:prstGeom>
          <a:noFill/>
        </p:spPr>
        <p:txBody>
          <a:bodyPr wrap="square">
            <a:spAutoFit/>
          </a:bodyPr>
          <a:lstStyle/>
          <a:p>
            <a:r>
              <a:rPr lang="en-US" b="1" dirty="0"/>
              <a:t>Why it helps ?</a:t>
            </a:r>
          </a:p>
        </p:txBody>
      </p:sp>
      <p:sp>
        <p:nvSpPr>
          <p:cNvPr id="7" name="TextBox 6">
            <a:extLst>
              <a:ext uri="{FF2B5EF4-FFF2-40B4-BE49-F238E27FC236}">
                <a16:creationId xmlns:a16="http://schemas.microsoft.com/office/drawing/2014/main" id="{C4BCB83E-FC06-9736-FF74-B24AC71826CE}"/>
              </a:ext>
            </a:extLst>
          </p:cNvPr>
          <p:cNvSpPr txBox="1"/>
          <p:nvPr/>
        </p:nvSpPr>
        <p:spPr>
          <a:xfrm>
            <a:off x="2299852" y="4186613"/>
            <a:ext cx="7010401" cy="1477328"/>
          </a:xfrm>
          <a:prstGeom prst="rect">
            <a:avLst/>
          </a:prstGeom>
          <a:noFill/>
        </p:spPr>
        <p:txBody>
          <a:bodyPr wrap="square">
            <a:spAutoFit/>
          </a:bodyPr>
          <a:lstStyle/>
          <a:p>
            <a:pPr marL="285750" indent="-285750">
              <a:buFont typeface="Arial" panose="020B0604020202020204" pitchFamily="34" charset="0"/>
              <a:buChar char="•"/>
            </a:pPr>
            <a:r>
              <a:rPr lang="en-US" dirty="0"/>
              <a:t>This prevents the model from continuing to learn noise and overfit the training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Typically, the validation loss is monitored, and when it starts increasing for several epochs, training is stopped.</a:t>
            </a:r>
          </a:p>
        </p:txBody>
      </p:sp>
    </p:spTree>
    <p:extLst>
      <p:ext uri="{BB962C8B-B14F-4D97-AF65-F5344CB8AC3E}">
        <p14:creationId xmlns:p14="http://schemas.microsoft.com/office/powerpoint/2010/main" val="3652729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Keras EarlyStopping Callback to train the Neural Networks Perfectly | by  Muttineni Sai Rohith | Towards AI">
            <a:extLst>
              <a:ext uri="{FF2B5EF4-FFF2-40B4-BE49-F238E27FC236}">
                <a16:creationId xmlns:a16="http://schemas.microsoft.com/office/drawing/2014/main" id="{DB6AB490-619C-328C-67EA-A26FE9ECC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3459" y="2209723"/>
            <a:ext cx="6743700" cy="41052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132F6C-6A2F-252E-9972-E88D000AE675}"/>
              </a:ext>
            </a:extLst>
          </p:cNvPr>
          <p:cNvSpPr txBox="1"/>
          <p:nvPr/>
        </p:nvSpPr>
        <p:spPr>
          <a:xfrm>
            <a:off x="0" y="1378726"/>
            <a:ext cx="6687127" cy="461665"/>
          </a:xfrm>
          <a:prstGeom prst="rect">
            <a:avLst/>
          </a:prstGeom>
          <a:noFill/>
        </p:spPr>
        <p:txBody>
          <a:bodyPr wrap="square">
            <a:spAutoFit/>
          </a:bodyPr>
          <a:lstStyle/>
          <a:p>
            <a:pPr algn="ctr"/>
            <a:r>
              <a:rPr lang="en-US" sz="2400" b="1" dirty="0">
                <a:solidFill>
                  <a:srgbClr val="1869A6"/>
                </a:solidFill>
              </a:rPr>
              <a:t>Overfitting and Regularization Techniques</a:t>
            </a:r>
          </a:p>
        </p:txBody>
      </p:sp>
      <p:sp>
        <p:nvSpPr>
          <p:cNvPr id="5" name="TextBox 4">
            <a:extLst>
              <a:ext uri="{FF2B5EF4-FFF2-40B4-BE49-F238E27FC236}">
                <a16:creationId xmlns:a16="http://schemas.microsoft.com/office/drawing/2014/main" id="{B83DB241-C292-17C4-8CA7-46FA37C48A67}"/>
              </a:ext>
            </a:extLst>
          </p:cNvPr>
          <p:cNvSpPr txBox="1"/>
          <p:nvPr/>
        </p:nvSpPr>
        <p:spPr>
          <a:xfrm>
            <a:off x="1413164" y="1840391"/>
            <a:ext cx="6096000" cy="369332"/>
          </a:xfrm>
          <a:prstGeom prst="rect">
            <a:avLst/>
          </a:prstGeom>
          <a:noFill/>
        </p:spPr>
        <p:txBody>
          <a:bodyPr wrap="square">
            <a:spAutoFit/>
          </a:bodyPr>
          <a:lstStyle/>
          <a:p>
            <a:r>
              <a:rPr lang="en-US" b="1" dirty="0"/>
              <a:t>4. Early Stopping</a:t>
            </a:r>
          </a:p>
        </p:txBody>
      </p:sp>
    </p:spTree>
    <p:extLst>
      <p:ext uri="{BB962C8B-B14F-4D97-AF65-F5344CB8AC3E}">
        <p14:creationId xmlns:p14="http://schemas.microsoft.com/office/powerpoint/2010/main" val="35138064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18D427-B9AC-D18D-FD11-5BA9A8323757}"/>
              </a:ext>
            </a:extLst>
          </p:cNvPr>
          <p:cNvSpPr txBox="1"/>
          <p:nvPr/>
        </p:nvSpPr>
        <p:spPr>
          <a:xfrm>
            <a:off x="2752436" y="2828835"/>
            <a:ext cx="6687127" cy="646331"/>
          </a:xfrm>
          <a:prstGeom prst="rect">
            <a:avLst/>
          </a:prstGeom>
          <a:noFill/>
        </p:spPr>
        <p:txBody>
          <a:bodyPr wrap="square">
            <a:spAutoFit/>
          </a:bodyPr>
          <a:lstStyle/>
          <a:p>
            <a:pPr algn="ctr"/>
            <a:r>
              <a:rPr lang="en-US" sz="3600" b="1" dirty="0">
                <a:solidFill>
                  <a:srgbClr val="2AAF82"/>
                </a:solidFill>
              </a:rPr>
              <a:t>Optimization Techniques</a:t>
            </a:r>
          </a:p>
        </p:txBody>
      </p:sp>
    </p:spTree>
    <p:extLst>
      <p:ext uri="{BB962C8B-B14F-4D97-AF65-F5344CB8AC3E}">
        <p14:creationId xmlns:p14="http://schemas.microsoft.com/office/powerpoint/2010/main" val="3123784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C5DC6-CD6B-7C6C-09AB-D21B47CBB41B}"/>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6" name="TextBox 5">
            <a:extLst>
              <a:ext uri="{FF2B5EF4-FFF2-40B4-BE49-F238E27FC236}">
                <a16:creationId xmlns:a16="http://schemas.microsoft.com/office/drawing/2014/main" id="{2D46CF51-4972-84DF-5859-B198A5143914}"/>
              </a:ext>
            </a:extLst>
          </p:cNvPr>
          <p:cNvSpPr txBox="1"/>
          <p:nvPr/>
        </p:nvSpPr>
        <p:spPr>
          <a:xfrm>
            <a:off x="1542472" y="1840391"/>
            <a:ext cx="9892145" cy="923330"/>
          </a:xfrm>
          <a:prstGeom prst="rect">
            <a:avLst/>
          </a:prstGeom>
          <a:noFill/>
        </p:spPr>
        <p:txBody>
          <a:bodyPr wrap="square">
            <a:spAutoFit/>
          </a:bodyPr>
          <a:lstStyle/>
          <a:p>
            <a:r>
              <a:rPr lang="en-US" dirty="0"/>
              <a:t>The goal of optimization is to minimize the loss function and improve the network's predictions. Gradient Descent is a widely used optimization algorithm, but several variants exist that can speed up and improve the training process.</a:t>
            </a:r>
          </a:p>
        </p:txBody>
      </p:sp>
    </p:spTree>
    <p:extLst>
      <p:ext uri="{BB962C8B-B14F-4D97-AF65-F5344CB8AC3E}">
        <p14:creationId xmlns:p14="http://schemas.microsoft.com/office/powerpoint/2010/main" val="6525491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949DE1-B37D-2CAD-1002-89D29A79DD34}"/>
              </a:ext>
            </a:extLst>
          </p:cNvPr>
          <p:cNvSpPr txBox="1"/>
          <p:nvPr/>
        </p:nvSpPr>
        <p:spPr>
          <a:xfrm>
            <a:off x="3800762" y="59363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pic>
        <p:nvPicPr>
          <p:cNvPr id="8194" name="Picture 2" descr="Various Optimization Algorithms For Training Neural Network | by Sanket  Doshi | Towards Data Science">
            <a:extLst>
              <a:ext uri="{FF2B5EF4-FFF2-40B4-BE49-F238E27FC236}">
                <a16:creationId xmlns:a16="http://schemas.microsoft.com/office/drawing/2014/main" id="{51BEF09B-AB54-227D-DBC1-5463C1F5D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8908" y="1357745"/>
            <a:ext cx="5671752" cy="519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548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750923-C0E2-27EE-54A2-7C9810920EE7}"/>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4" name="TextBox 3">
            <a:extLst>
              <a:ext uri="{FF2B5EF4-FFF2-40B4-BE49-F238E27FC236}">
                <a16:creationId xmlns:a16="http://schemas.microsoft.com/office/drawing/2014/main" id="{142B4277-6692-5D1A-302A-B70B465A00A2}"/>
              </a:ext>
            </a:extLst>
          </p:cNvPr>
          <p:cNvSpPr txBox="1"/>
          <p:nvPr/>
        </p:nvSpPr>
        <p:spPr>
          <a:xfrm>
            <a:off x="1874982" y="2209723"/>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In mathematics and optimization problems, </a:t>
            </a:r>
            <a:r>
              <a:rPr lang="en-US" b="1" dirty="0"/>
              <a:t>Maxima</a:t>
            </a:r>
            <a:r>
              <a:rPr lang="en-US" dirty="0"/>
              <a:t> and </a:t>
            </a:r>
            <a:r>
              <a:rPr lang="en-US" b="1" dirty="0"/>
              <a:t>Minima</a:t>
            </a:r>
            <a:r>
              <a:rPr lang="en-US" dirty="0"/>
              <a:t> refer to the highest and lowest values that a function can take, respectively.</a:t>
            </a:r>
          </a:p>
        </p:txBody>
      </p:sp>
      <p:sp>
        <p:nvSpPr>
          <p:cNvPr id="6" name="TextBox 5">
            <a:extLst>
              <a:ext uri="{FF2B5EF4-FFF2-40B4-BE49-F238E27FC236}">
                <a16:creationId xmlns:a16="http://schemas.microsoft.com/office/drawing/2014/main" id="{05F0BD74-EFD9-11C1-AC46-83FA17E7B01C}"/>
              </a:ext>
            </a:extLst>
          </p:cNvPr>
          <p:cNvSpPr txBox="1"/>
          <p:nvPr/>
        </p:nvSpPr>
        <p:spPr>
          <a:xfrm>
            <a:off x="1311564" y="1840391"/>
            <a:ext cx="6096000" cy="369332"/>
          </a:xfrm>
          <a:prstGeom prst="rect">
            <a:avLst/>
          </a:prstGeom>
          <a:noFill/>
        </p:spPr>
        <p:txBody>
          <a:bodyPr wrap="square">
            <a:spAutoFit/>
          </a:bodyPr>
          <a:lstStyle/>
          <a:p>
            <a:r>
              <a:rPr lang="en-US" b="1" dirty="0"/>
              <a:t>Explanation of Maxima and Minima</a:t>
            </a:r>
          </a:p>
        </p:txBody>
      </p:sp>
      <p:sp>
        <p:nvSpPr>
          <p:cNvPr id="8" name="TextBox 7">
            <a:extLst>
              <a:ext uri="{FF2B5EF4-FFF2-40B4-BE49-F238E27FC236}">
                <a16:creationId xmlns:a16="http://schemas.microsoft.com/office/drawing/2014/main" id="{1BDE33F6-A103-9946-AD8F-8EC08105C747}"/>
              </a:ext>
            </a:extLst>
          </p:cNvPr>
          <p:cNvSpPr txBox="1"/>
          <p:nvPr/>
        </p:nvSpPr>
        <p:spPr>
          <a:xfrm>
            <a:off x="2382981" y="3162688"/>
            <a:ext cx="8571345" cy="646331"/>
          </a:xfrm>
          <a:prstGeom prst="rect">
            <a:avLst/>
          </a:prstGeom>
          <a:noFill/>
        </p:spPr>
        <p:txBody>
          <a:bodyPr wrap="square">
            <a:spAutoFit/>
          </a:bodyPr>
          <a:lstStyle/>
          <a:p>
            <a:pPr marL="285750" indent="-285750">
              <a:buFont typeface="Arial" panose="020B0604020202020204" pitchFamily="34" charset="0"/>
              <a:buChar char="•"/>
            </a:pPr>
            <a:r>
              <a:rPr lang="en-US" b="1" dirty="0"/>
              <a:t>Maxima</a:t>
            </a:r>
            <a:r>
              <a:rPr lang="en-US" dirty="0"/>
              <a:t>: The </a:t>
            </a:r>
            <a:r>
              <a:rPr lang="en-US" b="1" dirty="0"/>
              <a:t>largest</a:t>
            </a:r>
            <a:r>
              <a:rPr lang="en-US" dirty="0"/>
              <a:t> value a function reaches within a given domain or range.</a:t>
            </a:r>
          </a:p>
          <a:p>
            <a:pPr marL="285750" indent="-285750">
              <a:buFont typeface="Arial" panose="020B0604020202020204" pitchFamily="34" charset="0"/>
              <a:buChar char="•"/>
            </a:pPr>
            <a:r>
              <a:rPr lang="en-US" b="1" dirty="0"/>
              <a:t>Minima</a:t>
            </a:r>
            <a:r>
              <a:rPr lang="en-US" dirty="0"/>
              <a:t>: The </a:t>
            </a:r>
            <a:r>
              <a:rPr lang="en-US" b="1" dirty="0"/>
              <a:t>smallest</a:t>
            </a:r>
            <a:r>
              <a:rPr lang="en-US" dirty="0"/>
              <a:t> value a function reaches within a given domain or range.</a:t>
            </a:r>
          </a:p>
        </p:txBody>
      </p:sp>
    </p:spTree>
    <p:extLst>
      <p:ext uri="{BB962C8B-B14F-4D97-AF65-F5344CB8AC3E}">
        <p14:creationId xmlns:p14="http://schemas.microsoft.com/office/powerpoint/2010/main" val="95400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35D0A5-F1B1-8DE2-1988-0E3EC1E3EB9D}"/>
              </a:ext>
            </a:extLst>
          </p:cNvPr>
          <p:cNvPicPr>
            <a:picLocks noChangeAspect="1"/>
          </p:cNvPicPr>
          <p:nvPr/>
        </p:nvPicPr>
        <p:blipFill>
          <a:blip r:embed="rId2"/>
          <a:stretch>
            <a:fillRect/>
          </a:stretch>
        </p:blipFill>
        <p:spPr>
          <a:xfrm>
            <a:off x="2803538" y="2400299"/>
            <a:ext cx="6584923" cy="3749533"/>
          </a:xfrm>
          <a:prstGeom prst="rect">
            <a:avLst/>
          </a:prstGeom>
        </p:spPr>
      </p:pic>
      <p:sp>
        <p:nvSpPr>
          <p:cNvPr id="6" name="TextBox 5">
            <a:extLst>
              <a:ext uri="{FF2B5EF4-FFF2-40B4-BE49-F238E27FC236}">
                <a16:creationId xmlns:a16="http://schemas.microsoft.com/office/drawing/2014/main" id="{C33319DF-BE56-1FAD-7040-20CA32A86A8D}"/>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7" name="TextBox 6">
            <a:extLst>
              <a:ext uri="{FF2B5EF4-FFF2-40B4-BE49-F238E27FC236}">
                <a16:creationId xmlns:a16="http://schemas.microsoft.com/office/drawing/2014/main" id="{89E674C1-4126-EB7B-7B20-332003F1DC18}"/>
              </a:ext>
            </a:extLst>
          </p:cNvPr>
          <p:cNvSpPr txBox="1"/>
          <p:nvPr/>
        </p:nvSpPr>
        <p:spPr>
          <a:xfrm>
            <a:off x="1311564" y="1840391"/>
            <a:ext cx="6096000" cy="369332"/>
          </a:xfrm>
          <a:prstGeom prst="rect">
            <a:avLst/>
          </a:prstGeom>
          <a:noFill/>
        </p:spPr>
        <p:txBody>
          <a:bodyPr wrap="square">
            <a:spAutoFit/>
          </a:bodyPr>
          <a:lstStyle/>
          <a:p>
            <a:r>
              <a:rPr lang="en-US" b="1" dirty="0"/>
              <a:t>Explanation of Maxima and Minima</a:t>
            </a:r>
          </a:p>
        </p:txBody>
      </p:sp>
    </p:spTree>
    <p:extLst>
      <p:ext uri="{BB962C8B-B14F-4D97-AF65-F5344CB8AC3E}">
        <p14:creationId xmlns:p14="http://schemas.microsoft.com/office/powerpoint/2010/main" val="39077762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0878B1-0426-D29F-175E-AAB7F7E82142}"/>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CC36ED9D-1A16-E735-9B73-7789A39D7805}"/>
              </a:ext>
            </a:extLst>
          </p:cNvPr>
          <p:cNvSpPr txBox="1"/>
          <p:nvPr/>
        </p:nvSpPr>
        <p:spPr>
          <a:xfrm>
            <a:off x="1311564" y="1840391"/>
            <a:ext cx="6096000" cy="369332"/>
          </a:xfrm>
          <a:prstGeom prst="rect">
            <a:avLst/>
          </a:prstGeom>
          <a:noFill/>
        </p:spPr>
        <p:txBody>
          <a:bodyPr wrap="square">
            <a:spAutoFit/>
          </a:bodyPr>
          <a:lstStyle/>
          <a:p>
            <a:r>
              <a:rPr lang="en-US" b="1" dirty="0"/>
              <a:t>Global Maxima and Minima</a:t>
            </a:r>
          </a:p>
        </p:txBody>
      </p:sp>
      <p:sp>
        <p:nvSpPr>
          <p:cNvPr id="5" name="TextBox 4">
            <a:extLst>
              <a:ext uri="{FF2B5EF4-FFF2-40B4-BE49-F238E27FC236}">
                <a16:creationId xmlns:a16="http://schemas.microsoft.com/office/drawing/2014/main" id="{90633C98-C353-DEF0-BCEF-F032C8207066}"/>
              </a:ext>
            </a:extLst>
          </p:cNvPr>
          <p:cNvSpPr txBox="1"/>
          <p:nvPr/>
        </p:nvSpPr>
        <p:spPr>
          <a:xfrm>
            <a:off x="1745673" y="2302056"/>
            <a:ext cx="6096000" cy="923330"/>
          </a:xfrm>
          <a:prstGeom prst="rect">
            <a:avLst/>
          </a:prstGeom>
          <a:noFill/>
        </p:spPr>
        <p:txBody>
          <a:bodyPr wrap="square">
            <a:spAutoFit/>
          </a:bodyPr>
          <a:lstStyle/>
          <a:p>
            <a:pPr marL="285750" indent="-285750">
              <a:buFont typeface="Arial" panose="020B0604020202020204" pitchFamily="34" charset="0"/>
              <a:buChar char="•"/>
            </a:pPr>
            <a:r>
              <a:rPr lang="en-US" b="1" dirty="0"/>
              <a:t>Global Maximum</a:t>
            </a:r>
            <a:r>
              <a:rPr lang="en-US" dirty="0"/>
              <a:t>: The </a:t>
            </a:r>
            <a:r>
              <a:rPr lang="en-US" b="1" dirty="0"/>
              <a:t>highest point</a:t>
            </a:r>
            <a:r>
              <a:rPr lang="en-US" dirty="0"/>
              <a:t> of a function over the entire domain. No other value in the function is greater than this.</a:t>
            </a:r>
          </a:p>
        </p:txBody>
      </p:sp>
      <p:sp>
        <p:nvSpPr>
          <p:cNvPr id="7" name="TextBox 6">
            <a:extLst>
              <a:ext uri="{FF2B5EF4-FFF2-40B4-BE49-F238E27FC236}">
                <a16:creationId xmlns:a16="http://schemas.microsoft.com/office/drawing/2014/main" id="{534CFA48-3BF1-110D-5D03-7630C8428F55}"/>
              </a:ext>
            </a:extLst>
          </p:cNvPr>
          <p:cNvSpPr txBox="1"/>
          <p:nvPr/>
        </p:nvSpPr>
        <p:spPr>
          <a:xfrm>
            <a:off x="1745673" y="3317719"/>
            <a:ext cx="6096000" cy="923330"/>
          </a:xfrm>
          <a:prstGeom prst="rect">
            <a:avLst/>
          </a:prstGeom>
          <a:noFill/>
        </p:spPr>
        <p:txBody>
          <a:bodyPr wrap="square">
            <a:spAutoFit/>
          </a:bodyPr>
          <a:lstStyle/>
          <a:p>
            <a:pPr marL="285750" indent="-285750">
              <a:buFont typeface="Arial" panose="020B0604020202020204" pitchFamily="34" charset="0"/>
              <a:buChar char="•"/>
            </a:pPr>
            <a:r>
              <a:rPr lang="en-US" b="1" dirty="0"/>
              <a:t>Global Minimum</a:t>
            </a:r>
            <a:r>
              <a:rPr lang="en-US" dirty="0"/>
              <a:t>: The </a:t>
            </a:r>
            <a:r>
              <a:rPr lang="en-US" b="1" dirty="0"/>
              <a:t>lowest point</a:t>
            </a:r>
            <a:r>
              <a:rPr lang="en-US" dirty="0"/>
              <a:t> of a function over the entire domain. No other value in the function is smaller than this.</a:t>
            </a:r>
          </a:p>
        </p:txBody>
      </p:sp>
    </p:spTree>
    <p:extLst>
      <p:ext uri="{BB962C8B-B14F-4D97-AF65-F5344CB8AC3E}">
        <p14:creationId xmlns:p14="http://schemas.microsoft.com/office/powerpoint/2010/main" val="3264045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A819E0-3076-97BA-1642-FFCC41A98A97}"/>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33A6B799-C027-90F7-0B4F-398B9657FDCD}"/>
              </a:ext>
            </a:extLst>
          </p:cNvPr>
          <p:cNvSpPr txBox="1"/>
          <p:nvPr/>
        </p:nvSpPr>
        <p:spPr>
          <a:xfrm>
            <a:off x="1311564" y="1840391"/>
            <a:ext cx="6096000" cy="369332"/>
          </a:xfrm>
          <a:prstGeom prst="rect">
            <a:avLst/>
          </a:prstGeom>
          <a:noFill/>
        </p:spPr>
        <p:txBody>
          <a:bodyPr wrap="square">
            <a:spAutoFit/>
          </a:bodyPr>
          <a:lstStyle/>
          <a:p>
            <a:r>
              <a:rPr lang="en-US" b="1" dirty="0"/>
              <a:t>Local Maxima and Minima</a:t>
            </a:r>
          </a:p>
        </p:txBody>
      </p:sp>
      <p:sp>
        <p:nvSpPr>
          <p:cNvPr id="4" name="TextBox 3">
            <a:extLst>
              <a:ext uri="{FF2B5EF4-FFF2-40B4-BE49-F238E27FC236}">
                <a16:creationId xmlns:a16="http://schemas.microsoft.com/office/drawing/2014/main" id="{E60530B7-BD78-7956-5B97-C15313E827B7}"/>
              </a:ext>
            </a:extLst>
          </p:cNvPr>
          <p:cNvSpPr txBox="1"/>
          <p:nvPr/>
        </p:nvSpPr>
        <p:spPr>
          <a:xfrm>
            <a:off x="1745673" y="2302056"/>
            <a:ext cx="6096000" cy="923330"/>
          </a:xfrm>
          <a:prstGeom prst="rect">
            <a:avLst/>
          </a:prstGeom>
          <a:noFill/>
        </p:spPr>
        <p:txBody>
          <a:bodyPr wrap="square">
            <a:spAutoFit/>
          </a:bodyPr>
          <a:lstStyle/>
          <a:p>
            <a:pPr marL="285750" indent="-285750">
              <a:buFont typeface="Arial" panose="020B0604020202020204" pitchFamily="34" charset="0"/>
              <a:buChar char="•"/>
            </a:pPr>
            <a:r>
              <a:rPr lang="en-US" b="1" dirty="0"/>
              <a:t>Local Maximum</a:t>
            </a:r>
            <a:r>
              <a:rPr lang="en-US" dirty="0"/>
              <a:t>: A point where the function reaches a peak within a specific region or range, but there may be higher points elsewhere in the function.</a:t>
            </a:r>
          </a:p>
        </p:txBody>
      </p:sp>
      <p:sp>
        <p:nvSpPr>
          <p:cNvPr id="5" name="TextBox 4">
            <a:extLst>
              <a:ext uri="{FF2B5EF4-FFF2-40B4-BE49-F238E27FC236}">
                <a16:creationId xmlns:a16="http://schemas.microsoft.com/office/drawing/2014/main" id="{08DF33B4-863D-D7B1-D422-0480938863F6}"/>
              </a:ext>
            </a:extLst>
          </p:cNvPr>
          <p:cNvSpPr txBox="1"/>
          <p:nvPr/>
        </p:nvSpPr>
        <p:spPr>
          <a:xfrm>
            <a:off x="1745673" y="3317719"/>
            <a:ext cx="6096000" cy="923330"/>
          </a:xfrm>
          <a:prstGeom prst="rect">
            <a:avLst/>
          </a:prstGeom>
          <a:noFill/>
        </p:spPr>
        <p:txBody>
          <a:bodyPr wrap="square">
            <a:spAutoFit/>
          </a:bodyPr>
          <a:lstStyle/>
          <a:p>
            <a:pPr marL="285750" indent="-285750">
              <a:buFont typeface="Arial" panose="020B0604020202020204" pitchFamily="34" charset="0"/>
              <a:buChar char="•"/>
            </a:pPr>
            <a:r>
              <a:rPr lang="en-US" b="1" dirty="0"/>
              <a:t>Local Minimum</a:t>
            </a:r>
            <a:r>
              <a:rPr lang="en-US" dirty="0"/>
              <a:t>: A point where the function reaches a trough within a specific region, but there may be lower points elsewhere.</a:t>
            </a:r>
          </a:p>
        </p:txBody>
      </p:sp>
    </p:spTree>
    <p:extLst>
      <p:ext uri="{BB962C8B-B14F-4D97-AF65-F5344CB8AC3E}">
        <p14:creationId xmlns:p14="http://schemas.microsoft.com/office/powerpoint/2010/main" val="895929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C104EF-E82C-2CA4-DAF5-B50B5D873AE8}"/>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70BDABDD-C05D-2D53-CAAD-CE8E7D62F416}"/>
              </a:ext>
            </a:extLst>
          </p:cNvPr>
          <p:cNvSpPr txBox="1"/>
          <p:nvPr/>
        </p:nvSpPr>
        <p:spPr>
          <a:xfrm>
            <a:off x="1311564" y="1840391"/>
            <a:ext cx="6096000" cy="369332"/>
          </a:xfrm>
          <a:prstGeom prst="rect">
            <a:avLst/>
          </a:prstGeom>
          <a:noFill/>
        </p:spPr>
        <p:txBody>
          <a:bodyPr wrap="square">
            <a:spAutoFit/>
          </a:bodyPr>
          <a:lstStyle/>
          <a:p>
            <a:r>
              <a:rPr lang="en-US" b="1" dirty="0"/>
              <a:t>Global  &amp; Local Maxima and Minima</a:t>
            </a:r>
          </a:p>
        </p:txBody>
      </p:sp>
      <p:pic>
        <p:nvPicPr>
          <p:cNvPr id="20482" name="Picture 2" descr="Maximum and minimum - Wikipedia">
            <a:extLst>
              <a:ext uri="{FF2B5EF4-FFF2-40B4-BE49-F238E27FC236}">
                <a16:creationId xmlns:a16="http://schemas.microsoft.com/office/drawing/2014/main" id="{F036C55E-BE16-D634-9BE4-371F769D7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569" y="2248978"/>
            <a:ext cx="5013901" cy="401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469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60D635-8E9D-0F6E-8BC0-8F9DFDA0A945}"/>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4" name="TextBox 3">
            <a:extLst>
              <a:ext uri="{FF2B5EF4-FFF2-40B4-BE49-F238E27FC236}">
                <a16:creationId xmlns:a16="http://schemas.microsoft.com/office/drawing/2014/main" id="{A9EA9DA8-D7A4-D6BB-435C-51D5BFE11462}"/>
              </a:ext>
            </a:extLst>
          </p:cNvPr>
          <p:cNvSpPr txBox="1"/>
          <p:nvPr/>
        </p:nvSpPr>
        <p:spPr>
          <a:xfrm>
            <a:off x="1542473" y="1840391"/>
            <a:ext cx="6096000" cy="369332"/>
          </a:xfrm>
          <a:prstGeom prst="rect">
            <a:avLst/>
          </a:prstGeom>
          <a:noFill/>
        </p:spPr>
        <p:txBody>
          <a:bodyPr wrap="square">
            <a:spAutoFit/>
          </a:bodyPr>
          <a:lstStyle/>
          <a:p>
            <a:r>
              <a:rPr lang="en-US" b="1" dirty="0"/>
              <a:t>Gradient Descent Variants</a:t>
            </a:r>
          </a:p>
        </p:txBody>
      </p:sp>
      <p:sp>
        <p:nvSpPr>
          <p:cNvPr id="6" name="TextBox 5">
            <a:extLst>
              <a:ext uri="{FF2B5EF4-FFF2-40B4-BE49-F238E27FC236}">
                <a16:creationId xmlns:a16="http://schemas.microsoft.com/office/drawing/2014/main" id="{9B327EDA-02EC-B85D-2142-BC2F2C005163}"/>
              </a:ext>
            </a:extLst>
          </p:cNvPr>
          <p:cNvSpPr txBox="1"/>
          <p:nvPr/>
        </p:nvSpPr>
        <p:spPr>
          <a:xfrm>
            <a:off x="2032000" y="2209723"/>
            <a:ext cx="6096000" cy="369332"/>
          </a:xfrm>
          <a:prstGeom prst="rect">
            <a:avLst/>
          </a:prstGeom>
          <a:noFill/>
        </p:spPr>
        <p:txBody>
          <a:bodyPr wrap="square">
            <a:spAutoFit/>
          </a:bodyPr>
          <a:lstStyle/>
          <a:p>
            <a:r>
              <a:rPr lang="en-US" b="1" dirty="0"/>
              <a:t>1. Batch Gradient Descent</a:t>
            </a:r>
          </a:p>
        </p:txBody>
      </p:sp>
      <p:sp>
        <p:nvSpPr>
          <p:cNvPr id="8" name="TextBox 7">
            <a:extLst>
              <a:ext uri="{FF2B5EF4-FFF2-40B4-BE49-F238E27FC236}">
                <a16:creationId xmlns:a16="http://schemas.microsoft.com/office/drawing/2014/main" id="{9057DA42-C6E1-0180-BF0B-C5350D9A7471}"/>
              </a:ext>
            </a:extLst>
          </p:cNvPr>
          <p:cNvSpPr txBox="1"/>
          <p:nvPr/>
        </p:nvSpPr>
        <p:spPr>
          <a:xfrm>
            <a:off x="2373746" y="2579055"/>
            <a:ext cx="6096000" cy="369332"/>
          </a:xfrm>
          <a:prstGeom prst="rect">
            <a:avLst/>
          </a:prstGeom>
          <a:noFill/>
        </p:spPr>
        <p:txBody>
          <a:bodyPr wrap="square">
            <a:spAutoFit/>
          </a:bodyPr>
          <a:lstStyle/>
          <a:p>
            <a:r>
              <a:rPr lang="en-US" dirty="0"/>
              <a:t>How it works ?</a:t>
            </a:r>
          </a:p>
        </p:txBody>
      </p:sp>
      <p:sp>
        <p:nvSpPr>
          <p:cNvPr id="10" name="TextBox 9">
            <a:extLst>
              <a:ext uri="{FF2B5EF4-FFF2-40B4-BE49-F238E27FC236}">
                <a16:creationId xmlns:a16="http://schemas.microsoft.com/office/drawing/2014/main" id="{31538327-EB17-BC68-586E-0F4DDA3FAA06}"/>
              </a:ext>
            </a:extLst>
          </p:cNvPr>
          <p:cNvSpPr txBox="1"/>
          <p:nvPr/>
        </p:nvSpPr>
        <p:spPr>
          <a:xfrm>
            <a:off x="2715492" y="2948387"/>
            <a:ext cx="5273963"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The entire training dataset is used to compute the gradient and update the weights. This method is computationally expensive for large datasets.</a:t>
            </a:r>
          </a:p>
        </p:txBody>
      </p:sp>
      <p:sp>
        <p:nvSpPr>
          <p:cNvPr id="12" name="TextBox 11">
            <a:extLst>
              <a:ext uri="{FF2B5EF4-FFF2-40B4-BE49-F238E27FC236}">
                <a16:creationId xmlns:a16="http://schemas.microsoft.com/office/drawing/2014/main" id="{EB76E682-C794-0A5E-FF80-CB639796E10A}"/>
              </a:ext>
            </a:extLst>
          </p:cNvPr>
          <p:cNvSpPr txBox="1"/>
          <p:nvPr/>
        </p:nvSpPr>
        <p:spPr>
          <a:xfrm>
            <a:off x="2295236" y="4148716"/>
            <a:ext cx="6096000" cy="923330"/>
          </a:xfrm>
          <a:prstGeom prst="rect">
            <a:avLst/>
          </a:prstGeom>
          <a:noFill/>
        </p:spPr>
        <p:txBody>
          <a:bodyPr wrap="square">
            <a:spAutoFit/>
          </a:bodyPr>
          <a:lstStyle/>
          <a:p>
            <a:r>
              <a:rPr lang="en-US" b="1" dirty="0"/>
              <a:t>Pros</a:t>
            </a:r>
            <a:r>
              <a:rPr lang="en-US" dirty="0"/>
              <a:t>: Accurate gradient computation.</a:t>
            </a:r>
          </a:p>
          <a:p>
            <a:endParaRPr lang="en-US" dirty="0"/>
          </a:p>
          <a:p>
            <a:r>
              <a:rPr lang="en-US" b="1" dirty="0"/>
              <a:t>Cons</a:t>
            </a:r>
            <a:r>
              <a:rPr lang="en-US" dirty="0"/>
              <a:t>: Slow and resource-intensive for large datasets.</a:t>
            </a:r>
          </a:p>
        </p:txBody>
      </p:sp>
      <p:pic>
        <p:nvPicPr>
          <p:cNvPr id="14" name="Picture 13">
            <a:extLst>
              <a:ext uri="{FF2B5EF4-FFF2-40B4-BE49-F238E27FC236}">
                <a16:creationId xmlns:a16="http://schemas.microsoft.com/office/drawing/2014/main" id="{961E0B36-C3F5-7415-B2F8-0F7AF3676EDD}"/>
              </a:ext>
            </a:extLst>
          </p:cNvPr>
          <p:cNvPicPr>
            <a:picLocks noChangeAspect="1"/>
          </p:cNvPicPr>
          <p:nvPr/>
        </p:nvPicPr>
        <p:blipFill>
          <a:blip r:embed="rId2"/>
          <a:stretch>
            <a:fillRect/>
          </a:stretch>
        </p:blipFill>
        <p:spPr>
          <a:xfrm>
            <a:off x="8358909" y="3435659"/>
            <a:ext cx="3337502" cy="2332903"/>
          </a:xfrm>
          <a:prstGeom prst="rect">
            <a:avLst/>
          </a:prstGeom>
        </p:spPr>
      </p:pic>
    </p:spTree>
    <p:extLst>
      <p:ext uri="{BB962C8B-B14F-4D97-AF65-F5344CB8AC3E}">
        <p14:creationId xmlns:p14="http://schemas.microsoft.com/office/powerpoint/2010/main" val="2219048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E879E4-F569-B7D9-C9AB-06934153722A}"/>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C69067A7-C851-F3FD-F0B2-612FB254C8A2}"/>
              </a:ext>
            </a:extLst>
          </p:cNvPr>
          <p:cNvSpPr txBox="1"/>
          <p:nvPr/>
        </p:nvSpPr>
        <p:spPr>
          <a:xfrm>
            <a:off x="1542473" y="1840391"/>
            <a:ext cx="6096000" cy="369332"/>
          </a:xfrm>
          <a:prstGeom prst="rect">
            <a:avLst/>
          </a:prstGeom>
          <a:noFill/>
        </p:spPr>
        <p:txBody>
          <a:bodyPr wrap="square">
            <a:spAutoFit/>
          </a:bodyPr>
          <a:lstStyle/>
          <a:p>
            <a:r>
              <a:rPr lang="en-US" b="1" dirty="0"/>
              <a:t>Gradient Descent Variants</a:t>
            </a:r>
          </a:p>
        </p:txBody>
      </p:sp>
      <p:sp>
        <p:nvSpPr>
          <p:cNvPr id="4" name="TextBox 3">
            <a:extLst>
              <a:ext uri="{FF2B5EF4-FFF2-40B4-BE49-F238E27FC236}">
                <a16:creationId xmlns:a16="http://schemas.microsoft.com/office/drawing/2014/main" id="{E8A901BB-4BD7-5958-A6F2-2E98695FB2F1}"/>
              </a:ext>
            </a:extLst>
          </p:cNvPr>
          <p:cNvSpPr txBox="1"/>
          <p:nvPr/>
        </p:nvSpPr>
        <p:spPr>
          <a:xfrm>
            <a:off x="2032000" y="2209723"/>
            <a:ext cx="6096000" cy="369332"/>
          </a:xfrm>
          <a:prstGeom prst="rect">
            <a:avLst/>
          </a:prstGeom>
          <a:noFill/>
        </p:spPr>
        <p:txBody>
          <a:bodyPr wrap="square">
            <a:spAutoFit/>
          </a:bodyPr>
          <a:lstStyle/>
          <a:p>
            <a:r>
              <a:rPr lang="en-US" b="1" dirty="0"/>
              <a:t>2. Stochastic Gradient Descent (SGD)</a:t>
            </a:r>
          </a:p>
        </p:txBody>
      </p:sp>
      <p:sp>
        <p:nvSpPr>
          <p:cNvPr id="5" name="TextBox 4">
            <a:extLst>
              <a:ext uri="{FF2B5EF4-FFF2-40B4-BE49-F238E27FC236}">
                <a16:creationId xmlns:a16="http://schemas.microsoft.com/office/drawing/2014/main" id="{CA78A31D-8CE5-43CC-5698-6123B5389CBD}"/>
              </a:ext>
            </a:extLst>
          </p:cNvPr>
          <p:cNvSpPr txBox="1"/>
          <p:nvPr/>
        </p:nvSpPr>
        <p:spPr>
          <a:xfrm>
            <a:off x="2373746" y="2579055"/>
            <a:ext cx="6096000" cy="369332"/>
          </a:xfrm>
          <a:prstGeom prst="rect">
            <a:avLst/>
          </a:prstGeom>
          <a:noFill/>
        </p:spPr>
        <p:txBody>
          <a:bodyPr wrap="square">
            <a:spAutoFit/>
          </a:bodyPr>
          <a:lstStyle/>
          <a:p>
            <a:r>
              <a:rPr lang="en-US" dirty="0"/>
              <a:t>How it works ?</a:t>
            </a:r>
          </a:p>
        </p:txBody>
      </p:sp>
      <p:sp>
        <p:nvSpPr>
          <p:cNvPr id="6" name="TextBox 5">
            <a:extLst>
              <a:ext uri="{FF2B5EF4-FFF2-40B4-BE49-F238E27FC236}">
                <a16:creationId xmlns:a16="http://schemas.microsoft.com/office/drawing/2014/main" id="{094C0AD4-317A-2478-19F1-4A60A2AD454C}"/>
              </a:ext>
            </a:extLst>
          </p:cNvPr>
          <p:cNvSpPr txBox="1"/>
          <p:nvPr/>
        </p:nvSpPr>
        <p:spPr>
          <a:xfrm>
            <a:off x="2715492" y="2948387"/>
            <a:ext cx="6096000" cy="923330"/>
          </a:xfrm>
          <a:prstGeom prst="rect">
            <a:avLst/>
          </a:prstGeom>
          <a:noFill/>
        </p:spPr>
        <p:txBody>
          <a:bodyPr wrap="square">
            <a:spAutoFit/>
          </a:bodyPr>
          <a:lstStyle/>
          <a:p>
            <a:pPr marL="285750" indent="-285750" algn="just">
              <a:buFont typeface="Arial" panose="020B0604020202020204" pitchFamily="34" charset="0"/>
              <a:buChar char="•"/>
            </a:pPr>
            <a:r>
              <a:rPr lang="en-US" dirty="0"/>
              <a:t>SGD updates the weights after each training sample. Instead of using the entire dataset, it uses one sample at a time to compute the gradient and update the weights.</a:t>
            </a:r>
          </a:p>
        </p:txBody>
      </p:sp>
      <p:sp>
        <p:nvSpPr>
          <p:cNvPr id="7" name="TextBox 6">
            <a:extLst>
              <a:ext uri="{FF2B5EF4-FFF2-40B4-BE49-F238E27FC236}">
                <a16:creationId xmlns:a16="http://schemas.microsoft.com/office/drawing/2014/main" id="{1AC960DC-81CE-CD3D-71FB-E48BEC61EEC5}"/>
              </a:ext>
            </a:extLst>
          </p:cNvPr>
          <p:cNvSpPr txBox="1"/>
          <p:nvPr/>
        </p:nvSpPr>
        <p:spPr>
          <a:xfrm>
            <a:off x="2295235" y="3955780"/>
            <a:ext cx="6377709" cy="1477328"/>
          </a:xfrm>
          <a:prstGeom prst="rect">
            <a:avLst/>
          </a:prstGeom>
          <a:noFill/>
        </p:spPr>
        <p:txBody>
          <a:bodyPr wrap="square">
            <a:spAutoFit/>
          </a:bodyPr>
          <a:lstStyle/>
          <a:p>
            <a:pPr algn="just"/>
            <a:r>
              <a:rPr lang="en-US" b="1" dirty="0"/>
              <a:t>Pros</a:t>
            </a:r>
            <a:r>
              <a:rPr lang="en-US" dirty="0"/>
              <a:t>: Faster than Batch Gradient Descent, and it introduces noise into the updates, which helps escape local minima.</a:t>
            </a:r>
          </a:p>
          <a:p>
            <a:pPr algn="just"/>
            <a:endParaRPr lang="en-US" b="1" dirty="0"/>
          </a:p>
          <a:p>
            <a:pPr algn="just"/>
            <a:r>
              <a:rPr lang="en-US" b="1" dirty="0"/>
              <a:t>Cons</a:t>
            </a:r>
            <a:r>
              <a:rPr lang="en-US" dirty="0"/>
              <a:t>: The gradient estimates are noisy, and it can take longer to converge.</a:t>
            </a:r>
          </a:p>
        </p:txBody>
      </p:sp>
      <p:pic>
        <p:nvPicPr>
          <p:cNvPr id="9" name="Picture 8">
            <a:extLst>
              <a:ext uri="{FF2B5EF4-FFF2-40B4-BE49-F238E27FC236}">
                <a16:creationId xmlns:a16="http://schemas.microsoft.com/office/drawing/2014/main" id="{15B9D4BF-71B8-D2D8-9B92-DDFE8B89E6F0}"/>
              </a:ext>
            </a:extLst>
          </p:cNvPr>
          <p:cNvPicPr>
            <a:picLocks noChangeAspect="1"/>
          </p:cNvPicPr>
          <p:nvPr/>
        </p:nvPicPr>
        <p:blipFill>
          <a:blip r:embed="rId2"/>
          <a:stretch>
            <a:fillRect/>
          </a:stretch>
        </p:blipFill>
        <p:spPr>
          <a:xfrm>
            <a:off x="8811492" y="3758333"/>
            <a:ext cx="3189577" cy="2208963"/>
          </a:xfrm>
          <a:prstGeom prst="rect">
            <a:avLst/>
          </a:prstGeom>
        </p:spPr>
      </p:pic>
    </p:spTree>
    <p:extLst>
      <p:ext uri="{BB962C8B-B14F-4D97-AF65-F5344CB8AC3E}">
        <p14:creationId xmlns:p14="http://schemas.microsoft.com/office/powerpoint/2010/main" val="19988841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B8190-C538-82DA-DE96-A8D006614778}"/>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E0D91985-D1F8-9151-11F6-C3BAE247A2C2}"/>
              </a:ext>
            </a:extLst>
          </p:cNvPr>
          <p:cNvSpPr txBox="1"/>
          <p:nvPr/>
        </p:nvSpPr>
        <p:spPr>
          <a:xfrm>
            <a:off x="1542473" y="1840391"/>
            <a:ext cx="6096000" cy="369332"/>
          </a:xfrm>
          <a:prstGeom prst="rect">
            <a:avLst/>
          </a:prstGeom>
          <a:noFill/>
        </p:spPr>
        <p:txBody>
          <a:bodyPr wrap="square">
            <a:spAutoFit/>
          </a:bodyPr>
          <a:lstStyle/>
          <a:p>
            <a:r>
              <a:rPr lang="en-US" b="1" dirty="0"/>
              <a:t>Gradient Descent Variants</a:t>
            </a:r>
          </a:p>
        </p:txBody>
      </p:sp>
      <p:sp>
        <p:nvSpPr>
          <p:cNvPr id="4" name="TextBox 3">
            <a:extLst>
              <a:ext uri="{FF2B5EF4-FFF2-40B4-BE49-F238E27FC236}">
                <a16:creationId xmlns:a16="http://schemas.microsoft.com/office/drawing/2014/main" id="{5AD11F04-ABA1-0644-8BD1-BB6E8CA37F79}"/>
              </a:ext>
            </a:extLst>
          </p:cNvPr>
          <p:cNvSpPr txBox="1"/>
          <p:nvPr/>
        </p:nvSpPr>
        <p:spPr>
          <a:xfrm>
            <a:off x="2032000" y="2209723"/>
            <a:ext cx="6096000" cy="369332"/>
          </a:xfrm>
          <a:prstGeom prst="rect">
            <a:avLst/>
          </a:prstGeom>
          <a:noFill/>
        </p:spPr>
        <p:txBody>
          <a:bodyPr wrap="square">
            <a:spAutoFit/>
          </a:bodyPr>
          <a:lstStyle/>
          <a:p>
            <a:r>
              <a:rPr lang="en-US" b="1" dirty="0"/>
              <a:t>3. Mini-batch Gradient Descent</a:t>
            </a:r>
          </a:p>
        </p:txBody>
      </p:sp>
      <p:sp>
        <p:nvSpPr>
          <p:cNvPr id="5" name="TextBox 4">
            <a:extLst>
              <a:ext uri="{FF2B5EF4-FFF2-40B4-BE49-F238E27FC236}">
                <a16:creationId xmlns:a16="http://schemas.microsoft.com/office/drawing/2014/main" id="{D780B648-72C4-5945-D7BD-8EE96DB0A67E}"/>
              </a:ext>
            </a:extLst>
          </p:cNvPr>
          <p:cNvSpPr txBox="1"/>
          <p:nvPr/>
        </p:nvSpPr>
        <p:spPr>
          <a:xfrm>
            <a:off x="2373746" y="2579055"/>
            <a:ext cx="6096000" cy="369332"/>
          </a:xfrm>
          <a:prstGeom prst="rect">
            <a:avLst/>
          </a:prstGeom>
          <a:noFill/>
        </p:spPr>
        <p:txBody>
          <a:bodyPr wrap="square">
            <a:spAutoFit/>
          </a:bodyPr>
          <a:lstStyle/>
          <a:p>
            <a:r>
              <a:rPr lang="en-US" dirty="0"/>
              <a:t>How it works ?</a:t>
            </a:r>
          </a:p>
        </p:txBody>
      </p:sp>
      <p:sp>
        <p:nvSpPr>
          <p:cNvPr id="6" name="TextBox 5">
            <a:extLst>
              <a:ext uri="{FF2B5EF4-FFF2-40B4-BE49-F238E27FC236}">
                <a16:creationId xmlns:a16="http://schemas.microsoft.com/office/drawing/2014/main" id="{3DFA3E4F-80C2-6F00-A3B7-9C3A12549F90}"/>
              </a:ext>
            </a:extLst>
          </p:cNvPr>
          <p:cNvSpPr txBox="1"/>
          <p:nvPr/>
        </p:nvSpPr>
        <p:spPr>
          <a:xfrm>
            <a:off x="2715492" y="2948387"/>
            <a:ext cx="5486399"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Instead of using the entire dataset or a single sample, mini-batch gradient descent uses a small random subset (or batch) of data to compute the gradient and update the weights.</a:t>
            </a:r>
          </a:p>
        </p:txBody>
      </p:sp>
      <p:sp>
        <p:nvSpPr>
          <p:cNvPr id="7" name="TextBox 6">
            <a:extLst>
              <a:ext uri="{FF2B5EF4-FFF2-40B4-BE49-F238E27FC236}">
                <a16:creationId xmlns:a16="http://schemas.microsoft.com/office/drawing/2014/main" id="{E7F3CE50-0F31-DDE9-43E0-C96AE43944A7}"/>
              </a:ext>
            </a:extLst>
          </p:cNvPr>
          <p:cNvSpPr txBox="1"/>
          <p:nvPr/>
        </p:nvSpPr>
        <p:spPr>
          <a:xfrm>
            <a:off x="2295236" y="4148716"/>
            <a:ext cx="5906655" cy="1477328"/>
          </a:xfrm>
          <a:prstGeom prst="rect">
            <a:avLst/>
          </a:prstGeom>
          <a:noFill/>
        </p:spPr>
        <p:txBody>
          <a:bodyPr wrap="square">
            <a:spAutoFit/>
          </a:bodyPr>
          <a:lstStyle/>
          <a:p>
            <a:pPr algn="just"/>
            <a:r>
              <a:rPr lang="en-US" b="1" dirty="0"/>
              <a:t>Pros</a:t>
            </a:r>
            <a:r>
              <a:rPr lang="en-US" dirty="0"/>
              <a:t>: A balance between efficiency and speed, commonly used in </a:t>
            </a:r>
            <a:r>
              <a:rPr lang="en-US"/>
              <a:t>practice.</a:t>
            </a:r>
          </a:p>
          <a:p>
            <a:pPr algn="just"/>
            <a:endParaRPr lang="en-US" b="1" dirty="0"/>
          </a:p>
          <a:p>
            <a:pPr algn="just"/>
            <a:r>
              <a:rPr lang="en-US" b="1" dirty="0"/>
              <a:t>Cons</a:t>
            </a:r>
            <a:r>
              <a:rPr lang="en-US" dirty="0"/>
              <a:t>: The batch size needs to be carefully chosen (too small = noisy, too large = slow).</a:t>
            </a:r>
          </a:p>
        </p:txBody>
      </p:sp>
      <p:pic>
        <p:nvPicPr>
          <p:cNvPr id="9" name="Picture 8">
            <a:extLst>
              <a:ext uri="{FF2B5EF4-FFF2-40B4-BE49-F238E27FC236}">
                <a16:creationId xmlns:a16="http://schemas.microsoft.com/office/drawing/2014/main" id="{7907A221-D5A6-7AB5-B523-D0785E9CAFBF}"/>
              </a:ext>
            </a:extLst>
          </p:cNvPr>
          <p:cNvPicPr>
            <a:picLocks noChangeAspect="1"/>
          </p:cNvPicPr>
          <p:nvPr/>
        </p:nvPicPr>
        <p:blipFill>
          <a:blip r:embed="rId2"/>
          <a:stretch>
            <a:fillRect/>
          </a:stretch>
        </p:blipFill>
        <p:spPr>
          <a:xfrm>
            <a:off x="8622147" y="3449184"/>
            <a:ext cx="3048000" cy="2363056"/>
          </a:xfrm>
          <a:prstGeom prst="rect">
            <a:avLst/>
          </a:prstGeom>
        </p:spPr>
      </p:pic>
    </p:spTree>
    <p:extLst>
      <p:ext uri="{BB962C8B-B14F-4D97-AF65-F5344CB8AC3E}">
        <p14:creationId xmlns:p14="http://schemas.microsoft.com/office/powerpoint/2010/main" val="14240545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Gradient Descent Algorithm and Its Variants | by Imad Dabbura | Towards  Data Science">
            <a:extLst>
              <a:ext uri="{FF2B5EF4-FFF2-40B4-BE49-F238E27FC236}">
                <a16:creationId xmlns:a16="http://schemas.microsoft.com/office/drawing/2014/main" id="{847ED1F1-DBBD-6CC1-31E7-8EA86EE35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523" y="1840391"/>
            <a:ext cx="8648700" cy="42862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96D685-9614-F214-95FD-D0105C3D5B43}"/>
              </a:ext>
            </a:extLst>
          </p:cNvPr>
          <p:cNvSpPr txBox="1"/>
          <p:nvPr/>
        </p:nvSpPr>
        <p:spPr>
          <a:xfrm>
            <a:off x="1542473" y="1840391"/>
            <a:ext cx="6096000" cy="369332"/>
          </a:xfrm>
          <a:prstGeom prst="rect">
            <a:avLst/>
          </a:prstGeom>
          <a:noFill/>
        </p:spPr>
        <p:txBody>
          <a:bodyPr wrap="square">
            <a:spAutoFit/>
          </a:bodyPr>
          <a:lstStyle/>
          <a:p>
            <a:r>
              <a:rPr lang="en-US" b="1" dirty="0"/>
              <a:t>Gradient Descent Variants</a:t>
            </a:r>
          </a:p>
        </p:txBody>
      </p:sp>
      <p:sp>
        <p:nvSpPr>
          <p:cNvPr id="3" name="TextBox 2">
            <a:extLst>
              <a:ext uri="{FF2B5EF4-FFF2-40B4-BE49-F238E27FC236}">
                <a16:creationId xmlns:a16="http://schemas.microsoft.com/office/drawing/2014/main" id="{84289440-0E92-9894-84D3-7A612E386B08}"/>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Tree>
    <p:extLst>
      <p:ext uri="{BB962C8B-B14F-4D97-AF65-F5344CB8AC3E}">
        <p14:creationId xmlns:p14="http://schemas.microsoft.com/office/powerpoint/2010/main" val="3373449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CD2109-2591-FBD4-C573-C52DACD791E6}"/>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4" name="TextBox 3">
            <a:extLst>
              <a:ext uri="{FF2B5EF4-FFF2-40B4-BE49-F238E27FC236}">
                <a16:creationId xmlns:a16="http://schemas.microsoft.com/office/drawing/2014/main" id="{0BA4AA27-1898-6913-8ADD-E90AF3B60B41}"/>
              </a:ext>
            </a:extLst>
          </p:cNvPr>
          <p:cNvSpPr txBox="1"/>
          <p:nvPr/>
        </p:nvSpPr>
        <p:spPr>
          <a:xfrm>
            <a:off x="1283855" y="1840391"/>
            <a:ext cx="6096000" cy="369332"/>
          </a:xfrm>
          <a:prstGeom prst="rect">
            <a:avLst/>
          </a:prstGeom>
          <a:noFill/>
        </p:spPr>
        <p:txBody>
          <a:bodyPr wrap="square">
            <a:spAutoFit/>
          </a:bodyPr>
          <a:lstStyle/>
          <a:p>
            <a:r>
              <a:rPr lang="en-US" b="1" dirty="0"/>
              <a:t>Advanced Optimization Algorithms</a:t>
            </a:r>
          </a:p>
        </p:txBody>
      </p:sp>
      <p:sp>
        <p:nvSpPr>
          <p:cNvPr id="8" name="TextBox 7">
            <a:extLst>
              <a:ext uri="{FF2B5EF4-FFF2-40B4-BE49-F238E27FC236}">
                <a16:creationId xmlns:a16="http://schemas.microsoft.com/office/drawing/2014/main" id="{26189656-D281-F07C-9AF2-9B406A0D1559}"/>
              </a:ext>
            </a:extLst>
          </p:cNvPr>
          <p:cNvSpPr txBox="1"/>
          <p:nvPr/>
        </p:nvSpPr>
        <p:spPr>
          <a:xfrm>
            <a:off x="1773381" y="2302056"/>
            <a:ext cx="6096000" cy="369332"/>
          </a:xfrm>
          <a:prstGeom prst="rect">
            <a:avLst/>
          </a:prstGeom>
          <a:noFill/>
        </p:spPr>
        <p:txBody>
          <a:bodyPr wrap="square">
            <a:spAutoFit/>
          </a:bodyPr>
          <a:lstStyle/>
          <a:p>
            <a:r>
              <a:rPr lang="en-US" b="1" dirty="0"/>
              <a:t>1.  Momentum</a:t>
            </a:r>
          </a:p>
        </p:txBody>
      </p:sp>
      <p:sp>
        <p:nvSpPr>
          <p:cNvPr id="10" name="TextBox 9">
            <a:extLst>
              <a:ext uri="{FF2B5EF4-FFF2-40B4-BE49-F238E27FC236}">
                <a16:creationId xmlns:a16="http://schemas.microsoft.com/office/drawing/2014/main" id="{612D6D2F-C36C-7A9B-0049-7487138D9286}"/>
              </a:ext>
            </a:extLst>
          </p:cNvPr>
          <p:cNvSpPr txBox="1"/>
          <p:nvPr/>
        </p:nvSpPr>
        <p:spPr>
          <a:xfrm>
            <a:off x="2295236" y="2671388"/>
            <a:ext cx="6096000" cy="369332"/>
          </a:xfrm>
          <a:prstGeom prst="rect">
            <a:avLst/>
          </a:prstGeom>
          <a:noFill/>
        </p:spPr>
        <p:txBody>
          <a:bodyPr wrap="square">
            <a:spAutoFit/>
          </a:bodyPr>
          <a:lstStyle/>
          <a:p>
            <a:r>
              <a:rPr lang="en-US" b="1" dirty="0"/>
              <a:t>How it works ?</a:t>
            </a:r>
          </a:p>
        </p:txBody>
      </p:sp>
      <p:sp>
        <p:nvSpPr>
          <p:cNvPr id="12" name="TextBox 11">
            <a:extLst>
              <a:ext uri="{FF2B5EF4-FFF2-40B4-BE49-F238E27FC236}">
                <a16:creationId xmlns:a16="http://schemas.microsoft.com/office/drawing/2014/main" id="{3B523B16-4DCB-11EA-7E6C-853D55CB5E55}"/>
              </a:ext>
            </a:extLst>
          </p:cNvPr>
          <p:cNvSpPr txBox="1"/>
          <p:nvPr/>
        </p:nvSpPr>
        <p:spPr>
          <a:xfrm>
            <a:off x="2641600" y="2996586"/>
            <a:ext cx="6096000" cy="1200329"/>
          </a:xfrm>
          <a:prstGeom prst="rect">
            <a:avLst/>
          </a:prstGeom>
          <a:noFill/>
        </p:spPr>
        <p:txBody>
          <a:bodyPr wrap="square">
            <a:spAutoFit/>
          </a:bodyPr>
          <a:lstStyle/>
          <a:p>
            <a:pPr marL="285750" indent="-285750">
              <a:buFont typeface="Arial" panose="020B0604020202020204" pitchFamily="34" charset="0"/>
              <a:buChar char="•"/>
            </a:pPr>
            <a:r>
              <a:rPr lang="en-US" dirty="0"/>
              <a:t>Momentum helps accelerate gradient descent by adding a fraction of the previous update to the current update. This helps the algorithm converge faster, especially in regions with high curvature.</a:t>
            </a:r>
          </a:p>
        </p:txBody>
      </p:sp>
      <p:sp>
        <p:nvSpPr>
          <p:cNvPr id="14" name="TextBox 13">
            <a:extLst>
              <a:ext uri="{FF2B5EF4-FFF2-40B4-BE49-F238E27FC236}">
                <a16:creationId xmlns:a16="http://schemas.microsoft.com/office/drawing/2014/main" id="{D54C45DC-70B6-E36F-1D9E-250FB40A7389}"/>
              </a:ext>
            </a:extLst>
          </p:cNvPr>
          <p:cNvSpPr txBox="1"/>
          <p:nvPr/>
        </p:nvSpPr>
        <p:spPr>
          <a:xfrm>
            <a:off x="2295236" y="4152781"/>
            <a:ext cx="6096000" cy="369332"/>
          </a:xfrm>
          <a:prstGeom prst="rect">
            <a:avLst/>
          </a:prstGeom>
          <a:noFill/>
        </p:spPr>
        <p:txBody>
          <a:bodyPr wrap="square">
            <a:spAutoFit/>
          </a:bodyPr>
          <a:lstStyle/>
          <a:p>
            <a:r>
              <a:rPr lang="en-US" b="1" dirty="0"/>
              <a:t>Why it helps ?</a:t>
            </a:r>
          </a:p>
        </p:txBody>
      </p:sp>
      <p:sp>
        <p:nvSpPr>
          <p:cNvPr id="16" name="TextBox 15">
            <a:extLst>
              <a:ext uri="{FF2B5EF4-FFF2-40B4-BE49-F238E27FC236}">
                <a16:creationId xmlns:a16="http://schemas.microsoft.com/office/drawing/2014/main" id="{2A94B62B-71E6-6BE5-57D3-27BA73825007}"/>
              </a:ext>
            </a:extLst>
          </p:cNvPr>
          <p:cNvSpPr txBox="1"/>
          <p:nvPr/>
        </p:nvSpPr>
        <p:spPr>
          <a:xfrm>
            <a:off x="2687782" y="4522113"/>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Momentum helps smooth out the updates and prevents oscillations, leading to faster convergence</a:t>
            </a:r>
          </a:p>
        </p:txBody>
      </p:sp>
    </p:spTree>
    <p:extLst>
      <p:ext uri="{BB962C8B-B14F-4D97-AF65-F5344CB8AC3E}">
        <p14:creationId xmlns:p14="http://schemas.microsoft.com/office/powerpoint/2010/main" val="664262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AD44DA-6502-677A-7093-FBC72566450F}"/>
              </a:ext>
            </a:extLst>
          </p:cNvPr>
          <p:cNvSpPr txBox="1"/>
          <p:nvPr/>
        </p:nvSpPr>
        <p:spPr>
          <a:xfrm>
            <a:off x="214604" y="1378726"/>
            <a:ext cx="3978706"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2A9BEFF6-802F-26B4-62CB-3A405E855CFF}"/>
              </a:ext>
            </a:extLst>
          </p:cNvPr>
          <p:cNvSpPr txBox="1"/>
          <p:nvPr/>
        </p:nvSpPr>
        <p:spPr>
          <a:xfrm>
            <a:off x="886692" y="1840391"/>
            <a:ext cx="6096000" cy="369332"/>
          </a:xfrm>
          <a:prstGeom prst="rect">
            <a:avLst/>
          </a:prstGeom>
          <a:noFill/>
        </p:spPr>
        <p:txBody>
          <a:bodyPr wrap="square">
            <a:spAutoFit/>
          </a:bodyPr>
          <a:lstStyle/>
          <a:p>
            <a:r>
              <a:rPr lang="en-US" b="1" dirty="0"/>
              <a:t>Advanced Optimization Algorithms</a:t>
            </a:r>
          </a:p>
        </p:txBody>
      </p:sp>
      <p:sp>
        <p:nvSpPr>
          <p:cNvPr id="4" name="TextBox 3">
            <a:extLst>
              <a:ext uri="{FF2B5EF4-FFF2-40B4-BE49-F238E27FC236}">
                <a16:creationId xmlns:a16="http://schemas.microsoft.com/office/drawing/2014/main" id="{7C7C5A3D-7F60-4415-1F1C-F507273047AB}"/>
              </a:ext>
            </a:extLst>
          </p:cNvPr>
          <p:cNvSpPr txBox="1"/>
          <p:nvPr/>
        </p:nvSpPr>
        <p:spPr>
          <a:xfrm>
            <a:off x="1376218" y="2302056"/>
            <a:ext cx="6096000" cy="369332"/>
          </a:xfrm>
          <a:prstGeom prst="rect">
            <a:avLst/>
          </a:prstGeom>
          <a:noFill/>
        </p:spPr>
        <p:txBody>
          <a:bodyPr wrap="square">
            <a:spAutoFit/>
          </a:bodyPr>
          <a:lstStyle/>
          <a:p>
            <a:r>
              <a:rPr lang="en-US" b="1" dirty="0"/>
              <a:t>1.  Momentum</a:t>
            </a:r>
          </a:p>
        </p:txBody>
      </p:sp>
      <p:pic>
        <p:nvPicPr>
          <p:cNvPr id="47106" name="Picture 2" descr="Accelerate Convergence: Mini-batch Momentum in Deep Learning">
            <a:extLst>
              <a:ext uri="{FF2B5EF4-FFF2-40B4-BE49-F238E27FC236}">
                <a16:creationId xmlns:a16="http://schemas.microsoft.com/office/drawing/2014/main" id="{8286033D-1FF2-C865-6429-B2FF1407D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8335" y="1840391"/>
            <a:ext cx="5631873" cy="37545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219B34C-CB23-2DD5-01D9-12B179E2C755}"/>
              </a:ext>
            </a:extLst>
          </p:cNvPr>
          <p:cNvSpPr txBox="1"/>
          <p:nvPr/>
        </p:nvSpPr>
        <p:spPr>
          <a:xfrm>
            <a:off x="1616364" y="2671388"/>
            <a:ext cx="4479636" cy="1323439"/>
          </a:xfrm>
          <a:prstGeom prst="rect">
            <a:avLst/>
          </a:prstGeom>
          <a:noFill/>
        </p:spPr>
        <p:txBody>
          <a:bodyPr wrap="square">
            <a:spAutoFit/>
          </a:bodyPr>
          <a:lstStyle/>
          <a:p>
            <a:pPr marL="285750" indent="-285750" algn="just">
              <a:buFont typeface="Arial" panose="020B0604020202020204" pitchFamily="34" charset="0"/>
              <a:buChar char="•"/>
            </a:pPr>
            <a:r>
              <a:rPr lang="en-US" sz="1600" dirty="0"/>
              <a:t>Momentum in gradient descent accelerates convergence by adding a speed parameter, reducing fluctuations, and smoothing the path toward the global minima, but it can overshoot if the learning rate is too high.</a:t>
            </a:r>
          </a:p>
        </p:txBody>
      </p:sp>
    </p:spTree>
    <p:extLst>
      <p:ext uri="{BB962C8B-B14F-4D97-AF65-F5344CB8AC3E}">
        <p14:creationId xmlns:p14="http://schemas.microsoft.com/office/powerpoint/2010/main" val="19691745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C0A296-600D-8057-F5CE-E0F0CC85D59E}"/>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3" name="TextBox 2">
            <a:extLst>
              <a:ext uri="{FF2B5EF4-FFF2-40B4-BE49-F238E27FC236}">
                <a16:creationId xmlns:a16="http://schemas.microsoft.com/office/drawing/2014/main" id="{93A57A7C-D43C-2FD6-B6C3-5F5779CDBF91}"/>
              </a:ext>
            </a:extLst>
          </p:cNvPr>
          <p:cNvSpPr txBox="1"/>
          <p:nvPr/>
        </p:nvSpPr>
        <p:spPr>
          <a:xfrm>
            <a:off x="1283855" y="1840391"/>
            <a:ext cx="6096000" cy="369332"/>
          </a:xfrm>
          <a:prstGeom prst="rect">
            <a:avLst/>
          </a:prstGeom>
          <a:noFill/>
        </p:spPr>
        <p:txBody>
          <a:bodyPr wrap="square">
            <a:spAutoFit/>
          </a:bodyPr>
          <a:lstStyle/>
          <a:p>
            <a:r>
              <a:rPr lang="en-US" b="1" dirty="0"/>
              <a:t>Advanced Optimization Algorithms</a:t>
            </a:r>
          </a:p>
        </p:txBody>
      </p:sp>
      <p:sp>
        <p:nvSpPr>
          <p:cNvPr id="4" name="TextBox 3">
            <a:extLst>
              <a:ext uri="{FF2B5EF4-FFF2-40B4-BE49-F238E27FC236}">
                <a16:creationId xmlns:a16="http://schemas.microsoft.com/office/drawing/2014/main" id="{FD8E1728-86ED-20D5-F0C6-1FC6F4FA8AD1}"/>
              </a:ext>
            </a:extLst>
          </p:cNvPr>
          <p:cNvSpPr txBox="1"/>
          <p:nvPr/>
        </p:nvSpPr>
        <p:spPr>
          <a:xfrm>
            <a:off x="1773381" y="2302056"/>
            <a:ext cx="6096000" cy="369332"/>
          </a:xfrm>
          <a:prstGeom prst="rect">
            <a:avLst/>
          </a:prstGeom>
          <a:noFill/>
        </p:spPr>
        <p:txBody>
          <a:bodyPr wrap="square">
            <a:spAutoFit/>
          </a:bodyPr>
          <a:lstStyle/>
          <a:p>
            <a:r>
              <a:rPr lang="en-US" b="1" dirty="0"/>
              <a:t>2. Adam (Adaptive Moment Estimation)</a:t>
            </a:r>
          </a:p>
        </p:txBody>
      </p:sp>
      <p:sp>
        <p:nvSpPr>
          <p:cNvPr id="5" name="TextBox 4">
            <a:extLst>
              <a:ext uri="{FF2B5EF4-FFF2-40B4-BE49-F238E27FC236}">
                <a16:creationId xmlns:a16="http://schemas.microsoft.com/office/drawing/2014/main" id="{B3156B6A-1749-CC9A-CFAB-A8FAE50FA5CC}"/>
              </a:ext>
            </a:extLst>
          </p:cNvPr>
          <p:cNvSpPr txBox="1"/>
          <p:nvPr/>
        </p:nvSpPr>
        <p:spPr>
          <a:xfrm>
            <a:off x="2295236" y="2671388"/>
            <a:ext cx="6096000" cy="369332"/>
          </a:xfrm>
          <a:prstGeom prst="rect">
            <a:avLst/>
          </a:prstGeom>
          <a:noFill/>
        </p:spPr>
        <p:txBody>
          <a:bodyPr wrap="square">
            <a:spAutoFit/>
          </a:bodyPr>
          <a:lstStyle/>
          <a:p>
            <a:r>
              <a:rPr lang="en-US" b="1" dirty="0"/>
              <a:t>How it works ?</a:t>
            </a:r>
          </a:p>
        </p:txBody>
      </p:sp>
      <p:sp>
        <p:nvSpPr>
          <p:cNvPr id="6" name="TextBox 5">
            <a:extLst>
              <a:ext uri="{FF2B5EF4-FFF2-40B4-BE49-F238E27FC236}">
                <a16:creationId xmlns:a16="http://schemas.microsoft.com/office/drawing/2014/main" id="{EB96696C-07BC-ED17-503D-B002E2886A5A}"/>
              </a:ext>
            </a:extLst>
          </p:cNvPr>
          <p:cNvSpPr txBox="1"/>
          <p:nvPr/>
        </p:nvSpPr>
        <p:spPr>
          <a:xfrm>
            <a:off x="2641600" y="2996586"/>
            <a:ext cx="6613236" cy="1200329"/>
          </a:xfrm>
          <a:prstGeom prst="rect">
            <a:avLst/>
          </a:prstGeom>
          <a:noFill/>
        </p:spPr>
        <p:txBody>
          <a:bodyPr wrap="square">
            <a:spAutoFit/>
          </a:bodyPr>
          <a:lstStyle/>
          <a:p>
            <a:pPr marL="285750" indent="-285750">
              <a:buFont typeface="Arial" panose="020B0604020202020204" pitchFamily="34" charset="0"/>
              <a:buChar char="•"/>
            </a:pPr>
            <a:r>
              <a:rPr lang="en-US" dirty="0"/>
              <a:t>Adam combines the advantages of both </a:t>
            </a:r>
            <a:r>
              <a:rPr lang="en-US" b="1" dirty="0"/>
              <a:t>RMSProp</a:t>
            </a:r>
            <a:r>
              <a:rPr lang="en-US" dirty="0"/>
              <a:t> and </a:t>
            </a:r>
            <a:r>
              <a:rPr lang="en-US" b="1" dirty="0"/>
              <a:t>Momentum</a:t>
            </a:r>
            <a:r>
              <a:rPr lang="en-US" dirty="0"/>
              <a:t>. It uses an adaptive learning rate and maintains per-parameter learning rates based on moving averages of past gradients.</a:t>
            </a:r>
          </a:p>
        </p:txBody>
      </p:sp>
      <p:sp>
        <p:nvSpPr>
          <p:cNvPr id="7" name="TextBox 6">
            <a:extLst>
              <a:ext uri="{FF2B5EF4-FFF2-40B4-BE49-F238E27FC236}">
                <a16:creationId xmlns:a16="http://schemas.microsoft.com/office/drawing/2014/main" id="{D5CA0988-4885-3F98-CEC7-3B2E49D06C69}"/>
              </a:ext>
            </a:extLst>
          </p:cNvPr>
          <p:cNvSpPr txBox="1"/>
          <p:nvPr/>
        </p:nvSpPr>
        <p:spPr>
          <a:xfrm>
            <a:off x="2295236" y="4152781"/>
            <a:ext cx="6096000" cy="369332"/>
          </a:xfrm>
          <a:prstGeom prst="rect">
            <a:avLst/>
          </a:prstGeom>
          <a:noFill/>
        </p:spPr>
        <p:txBody>
          <a:bodyPr wrap="square">
            <a:spAutoFit/>
          </a:bodyPr>
          <a:lstStyle/>
          <a:p>
            <a:r>
              <a:rPr lang="en-US" b="1" dirty="0"/>
              <a:t>Why it helps ?</a:t>
            </a:r>
          </a:p>
        </p:txBody>
      </p:sp>
      <p:sp>
        <p:nvSpPr>
          <p:cNvPr id="8" name="TextBox 7">
            <a:extLst>
              <a:ext uri="{FF2B5EF4-FFF2-40B4-BE49-F238E27FC236}">
                <a16:creationId xmlns:a16="http://schemas.microsoft.com/office/drawing/2014/main" id="{718F1ECE-72CA-59CF-B961-E51842FD2466}"/>
              </a:ext>
            </a:extLst>
          </p:cNvPr>
          <p:cNvSpPr txBox="1"/>
          <p:nvPr/>
        </p:nvSpPr>
        <p:spPr>
          <a:xfrm>
            <a:off x="2687782" y="4522113"/>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Adam adapts the learning rate for each parameter individually, which allows for faster and more efficient convergence.</a:t>
            </a:r>
          </a:p>
        </p:txBody>
      </p:sp>
    </p:spTree>
    <p:extLst>
      <p:ext uri="{BB962C8B-B14F-4D97-AF65-F5344CB8AC3E}">
        <p14:creationId xmlns:p14="http://schemas.microsoft.com/office/powerpoint/2010/main" val="1925596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B7CF13-6D23-74BF-C426-317C97C06378}"/>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Optimization Techniques</a:t>
            </a:r>
          </a:p>
        </p:txBody>
      </p:sp>
      <p:sp>
        <p:nvSpPr>
          <p:cNvPr id="5" name="TextBox 4">
            <a:extLst>
              <a:ext uri="{FF2B5EF4-FFF2-40B4-BE49-F238E27FC236}">
                <a16:creationId xmlns:a16="http://schemas.microsoft.com/office/drawing/2014/main" id="{C35AAB68-C824-8284-69B0-362CBD6C62CD}"/>
              </a:ext>
            </a:extLst>
          </p:cNvPr>
          <p:cNvSpPr txBox="1"/>
          <p:nvPr/>
        </p:nvSpPr>
        <p:spPr>
          <a:xfrm>
            <a:off x="1283855" y="1840391"/>
            <a:ext cx="6096000" cy="369332"/>
          </a:xfrm>
          <a:prstGeom prst="rect">
            <a:avLst/>
          </a:prstGeom>
          <a:noFill/>
        </p:spPr>
        <p:txBody>
          <a:bodyPr wrap="square">
            <a:spAutoFit/>
          </a:bodyPr>
          <a:lstStyle/>
          <a:p>
            <a:r>
              <a:rPr lang="en-US" b="1" dirty="0"/>
              <a:t>Advanced Optimization Algorithms</a:t>
            </a:r>
          </a:p>
        </p:txBody>
      </p:sp>
      <p:sp>
        <p:nvSpPr>
          <p:cNvPr id="6" name="TextBox 5">
            <a:extLst>
              <a:ext uri="{FF2B5EF4-FFF2-40B4-BE49-F238E27FC236}">
                <a16:creationId xmlns:a16="http://schemas.microsoft.com/office/drawing/2014/main" id="{FA703F42-2ECA-36D2-8C06-4BB9343A61B0}"/>
              </a:ext>
            </a:extLst>
          </p:cNvPr>
          <p:cNvSpPr txBox="1"/>
          <p:nvPr/>
        </p:nvSpPr>
        <p:spPr>
          <a:xfrm>
            <a:off x="1773381" y="2302056"/>
            <a:ext cx="6096000" cy="369332"/>
          </a:xfrm>
          <a:prstGeom prst="rect">
            <a:avLst/>
          </a:prstGeom>
          <a:noFill/>
        </p:spPr>
        <p:txBody>
          <a:bodyPr wrap="square">
            <a:spAutoFit/>
          </a:bodyPr>
          <a:lstStyle/>
          <a:p>
            <a:r>
              <a:rPr lang="en-US" b="1" dirty="0"/>
              <a:t>2. Adam (Adaptive Moment Estimation)</a:t>
            </a:r>
          </a:p>
        </p:txBody>
      </p:sp>
      <p:sp>
        <p:nvSpPr>
          <p:cNvPr id="8" name="TextBox 7">
            <a:extLst>
              <a:ext uri="{FF2B5EF4-FFF2-40B4-BE49-F238E27FC236}">
                <a16:creationId xmlns:a16="http://schemas.microsoft.com/office/drawing/2014/main" id="{24D6593C-981A-A39B-75D5-100FB4405785}"/>
              </a:ext>
            </a:extLst>
          </p:cNvPr>
          <p:cNvSpPr txBox="1"/>
          <p:nvPr/>
        </p:nvSpPr>
        <p:spPr>
          <a:xfrm>
            <a:off x="2225964" y="2763721"/>
            <a:ext cx="6096000" cy="369332"/>
          </a:xfrm>
          <a:prstGeom prst="rect">
            <a:avLst/>
          </a:prstGeom>
          <a:noFill/>
        </p:spPr>
        <p:txBody>
          <a:bodyPr wrap="square">
            <a:spAutoFit/>
          </a:bodyPr>
          <a:lstStyle/>
          <a:p>
            <a:r>
              <a:rPr lang="en-US" b="1" dirty="0"/>
              <a:t>Popular in Practice</a:t>
            </a:r>
          </a:p>
        </p:txBody>
      </p:sp>
      <p:sp>
        <p:nvSpPr>
          <p:cNvPr id="10" name="TextBox 9">
            <a:extLst>
              <a:ext uri="{FF2B5EF4-FFF2-40B4-BE49-F238E27FC236}">
                <a16:creationId xmlns:a16="http://schemas.microsoft.com/office/drawing/2014/main" id="{A3106A81-60C2-A239-2481-B85B994965C6}"/>
              </a:ext>
            </a:extLst>
          </p:cNvPr>
          <p:cNvSpPr txBox="1"/>
          <p:nvPr/>
        </p:nvSpPr>
        <p:spPr>
          <a:xfrm>
            <a:off x="2687782" y="3144276"/>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Adam is one of the most commonly used optimization algorithms due to its efficiency and effectiveness in training deep learning models.</a:t>
            </a:r>
          </a:p>
        </p:txBody>
      </p:sp>
    </p:spTree>
    <p:extLst>
      <p:ext uri="{BB962C8B-B14F-4D97-AF65-F5344CB8AC3E}">
        <p14:creationId xmlns:p14="http://schemas.microsoft.com/office/powerpoint/2010/main" val="1035342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F41ED0-D3D8-D570-B109-DB3EEA261B26}"/>
              </a:ext>
            </a:extLst>
          </p:cNvPr>
          <p:cNvSpPr txBox="1"/>
          <p:nvPr/>
        </p:nvSpPr>
        <p:spPr>
          <a:xfrm>
            <a:off x="0" y="1378726"/>
            <a:ext cx="4590473" cy="461665"/>
          </a:xfrm>
          <a:prstGeom prst="rect">
            <a:avLst/>
          </a:prstGeom>
          <a:noFill/>
        </p:spPr>
        <p:txBody>
          <a:bodyPr wrap="square">
            <a:spAutoFit/>
          </a:bodyPr>
          <a:lstStyle/>
          <a:p>
            <a:pPr algn="ctr"/>
            <a:r>
              <a:rPr lang="en-US" sz="2400" b="1" dirty="0">
                <a:solidFill>
                  <a:srgbClr val="1869A6"/>
                </a:solidFill>
              </a:rPr>
              <a:t>Key Takeaways</a:t>
            </a:r>
          </a:p>
        </p:txBody>
      </p:sp>
      <p:sp>
        <p:nvSpPr>
          <p:cNvPr id="8" name="TextBox 7">
            <a:extLst>
              <a:ext uri="{FF2B5EF4-FFF2-40B4-BE49-F238E27FC236}">
                <a16:creationId xmlns:a16="http://schemas.microsoft.com/office/drawing/2014/main" id="{E102A473-06A7-6275-BACD-349EBDC7A4B4}"/>
              </a:ext>
            </a:extLst>
          </p:cNvPr>
          <p:cNvSpPr txBox="1"/>
          <p:nvPr/>
        </p:nvSpPr>
        <p:spPr>
          <a:xfrm>
            <a:off x="1717963" y="1840391"/>
            <a:ext cx="9384145" cy="2862322"/>
          </a:xfrm>
          <a:prstGeom prst="rect">
            <a:avLst/>
          </a:prstGeom>
          <a:noFill/>
        </p:spPr>
        <p:txBody>
          <a:bodyPr wrap="square">
            <a:spAutoFit/>
          </a:bodyPr>
          <a:lstStyle/>
          <a:p>
            <a:pPr marL="342900" indent="-342900" algn="just">
              <a:buFont typeface="+mj-lt"/>
              <a:buAutoNum type="arabicPeriod"/>
            </a:pPr>
            <a:r>
              <a:rPr lang="en-US" b="1" dirty="0"/>
              <a:t>Deeper Neural Networks</a:t>
            </a:r>
            <a:r>
              <a:rPr lang="en-US" dirty="0"/>
              <a:t> allow the model to learn complex hierarchical features but come with challenges like the vanishing gradient problem, which can be solved using proper activation functions like ReLU.</a:t>
            </a:r>
          </a:p>
          <a:p>
            <a:pPr marL="342900" indent="-342900" algn="just">
              <a:buFont typeface="+mj-lt"/>
              <a:buAutoNum type="arabicPeriod"/>
            </a:pPr>
            <a:endParaRPr lang="en-US" dirty="0"/>
          </a:p>
          <a:p>
            <a:pPr marL="342900" indent="-342900" algn="just">
              <a:buFont typeface="+mj-lt"/>
              <a:buAutoNum type="arabicPeriod"/>
            </a:pPr>
            <a:r>
              <a:rPr lang="en-US" b="1" dirty="0"/>
              <a:t>Overfitting</a:t>
            </a:r>
            <a:r>
              <a:rPr lang="en-US" dirty="0"/>
              <a:t> occurs when the network learns to memorize the training data instead of generalizing well. To prevent this, techniques like </a:t>
            </a:r>
            <a:r>
              <a:rPr lang="en-US" b="1" dirty="0"/>
              <a:t>L2 regularization</a:t>
            </a:r>
            <a:r>
              <a:rPr lang="en-US" dirty="0"/>
              <a:t>, </a:t>
            </a:r>
            <a:r>
              <a:rPr lang="en-US" b="1" dirty="0"/>
              <a:t>dropout</a:t>
            </a:r>
            <a:r>
              <a:rPr lang="en-US" dirty="0"/>
              <a:t>, and </a:t>
            </a:r>
            <a:r>
              <a:rPr lang="en-US" b="1" dirty="0"/>
              <a:t>early stopping</a:t>
            </a:r>
            <a:r>
              <a:rPr lang="en-US" dirty="0"/>
              <a:t> are used to regularize the network.</a:t>
            </a:r>
          </a:p>
          <a:p>
            <a:pPr marL="342900" indent="-342900" algn="just">
              <a:buFont typeface="+mj-lt"/>
              <a:buAutoNum type="arabicPeriod"/>
            </a:pPr>
            <a:endParaRPr lang="en-US" dirty="0"/>
          </a:p>
          <a:p>
            <a:pPr marL="342900" indent="-342900" algn="just">
              <a:buFont typeface="+mj-lt"/>
              <a:buAutoNum type="arabicPeriod"/>
            </a:pPr>
            <a:r>
              <a:rPr lang="en-US" b="1" dirty="0"/>
              <a:t>Optimization Techniques</a:t>
            </a:r>
            <a:r>
              <a:rPr lang="en-US" dirty="0"/>
              <a:t> like </a:t>
            </a:r>
            <a:r>
              <a:rPr lang="en-US" b="1" dirty="0"/>
              <a:t>Adam</a:t>
            </a:r>
            <a:r>
              <a:rPr lang="en-US" dirty="0"/>
              <a:t> and </a:t>
            </a:r>
            <a:r>
              <a:rPr lang="en-US" b="1" dirty="0"/>
              <a:t>Momentum</a:t>
            </a:r>
            <a:r>
              <a:rPr lang="en-US" dirty="0"/>
              <a:t> are advanced methods to make gradient descent more efficient and help the model converge faster.</a:t>
            </a:r>
          </a:p>
        </p:txBody>
      </p:sp>
    </p:spTree>
    <p:extLst>
      <p:ext uri="{BB962C8B-B14F-4D97-AF65-F5344CB8AC3E}">
        <p14:creationId xmlns:p14="http://schemas.microsoft.com/office/powerpoint/2010/main" val="3278935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251</TotalTime>
  <Words>2897</Words>
  <Application>Microsoft Office PowerPoint</Application>
  <PresentationFormat>Widescreen</PresentationFormat>
  <Paragraphs>249</Paragraphs>
  <Slides>57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26</cp:revision>
  <dcterms:created xsi:type="dcterms:W3CDTF">2024-09-14T15:57:17Z</dcterms:created>
  <dcterms:modified xsi:type="dcterms:W3CDTF">2025-09-07T10:23:00Z</dcterms:modified>
</cp:coreProperties>
</file>