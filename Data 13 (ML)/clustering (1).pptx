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71" r:id="rId4"/>
    <p:sldId id="282" r:id="rId5"/>
    <p:sldId id="256" r:id="rId6"/>
    <p:sldId id="283" r:id="rId7"/>
    <p:sldId id="288" r:id="rId8"/>
    <p:sldId id="289" r:id="rId9"/>
    <p:sldId id="290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95" r:id="rId19"/>
    <p:sldId id="296" r:id="rId20"/>
    <p:sldId id="297" r:id="rId21"/>
    <p:sldId id="298" r:id="rId22"/>
    <p:sldId id="299" r:id="rId23"/>
    <p:sldId id="265" r:id="rId24"/>
    <p:sldId id="266" r:id="rId25"/>
    <p:sldId id="291" r:id="rId26"/>
    <p:sldId id="292" r:id="rId27"/>
    <p:sldId id="293" r:id="rId28"/>
    <p:sldId id="294" r:id="rId29"/>
    <p:sldId id="267" r:id="rId30"/>
    <p:sldId id="268" r:id="rId31"/>
    <p:sldId id="284" r:id="rId32"/>
    <p:sldId id="269" r:id="rId33"/>
    <p:sldId id="270" r:id="rId34"/>
    <p:sldId id="272" r:id="rId35"/>
    <p:sldId id="285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BC80-B8D4-4AF4-B4F4-ECD7A34A0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36849-3680-43B0-B7B1-4B88BCF4A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ADDB7-ACAA-4B0D-8402-75F42804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877-0A1F-4A60-A40B-0F3D0673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BA3D-EFB6-40EB-A779-BC458714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9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4B902-E600-45E3-AE61-5785932C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F0258-2428-479E-A01D-8A8951FC2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1DAB1-BFF1-45C0-8C57-10AF412F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E65E-2CFB-40A1-91DD-6CA34E8F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47FB-2083-4285-82FC-9D3C1199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5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3020-743B-4342-A5A7-C23E0424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E216C-FA95-4694-9BEC-033413045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7DF76-C2A2-4DAE-9D98-F97663E3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ACA5-87F3-4EE9-BDC6-D720D7F7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69527-8C82-4F67-A207-5F62051D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2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2BFB-9067-404C-9EE5-F0A77476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69D0-0F4B-4EB0-842C-FF80EAD05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8669C-C6A7-410F-B4A4-716C35888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C026-5D94-4106-916F-9C2C053D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7A4C7-23F2-4D2C-B74D-30A688C2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DAC43-2EB8-40DA-9026-3A399B25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0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33D6-1455-4BF0-B5DD-27A01016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D28FA-4E37-4DE1-A5DC-9BC15751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301CB-5DA6-4DB0-911A-3DEE6BFD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03820-788E-4477-A772-939677A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FE5A-01A5-4B8A-8C27-C48F226C8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1A827-0AB9-478E-8690-B6E81675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86115-63CF-47C9-B6D1-F6F2A99B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A8528-9062-463B-90C9-BB451778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4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9AE5-6E6C-4AB1-8ACE-B851A46B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6B9-2167-42EE-9C44-5A793FCA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F695A-3723-48B7-B729-368C9F4F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2F192-5490-4716-B257-7EC239F7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A3DB6-D15E-47F4-B16B-6215FD9F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2A1C7-BF0E-4046-96BE-EEE1FEB8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18B90-DC62-4646-96B0-000C6EFC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4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6D68-28DA-4B41-9140-93A7C4155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6125-F761-4990-9F7F-656F8BBD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D0AD1-20E6-4F1E-B49F-4B27A53D7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47E2-908F-43ED-86C7-DA35B530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31FCC-CD41-47AD-82C6-56F811DD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21ABB-1599-41F2-8355-27C8A351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5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20C1-A0D3-475D-8389-A6794E21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F501E-5C9A-4F11-BBF0-2BEE062E0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451E7-272E-4B39-B121-4BE8B3F77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7A61F-3DAE-4A25-BC1A-916831FA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7361C-0E21-447D-B050-FD45FD19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2E55C-EA57-48C0-B51E-425B1B4F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4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6F68-73D2-4600-BB8E-1A211A0E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90DB1-9883-451D-9ADC-4DB60B68E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E893F-572C-42D0-9352-0F9C8AA4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A021-4127-480C-B2D9-6661BEB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FBF7E-C2F3-447E-B6B4-956F027D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8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C2D5E-502B-4CF8-9A87-2588D98CC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FFD77-7CA1-4146-8630-279C0D0C7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2579-638E-4E8D-ABB0-F2847ABE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0AA7-87AB-4649-82BF-850862FE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E4D62-3D5A-46D6-B73C-D0CF8ACD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7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B2CF9-F39A-4F9E-8519-CB77B101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FFD48-F6D7-457B-9169-2DBFF5EA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A9DD-6020-4B92-8E2A-58287DA59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740C-AF6E-4ADC-89F6-7900629A88E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44D53-84BE-4325-927F-B3477A7F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2FD66-0A57-4463-8D50-747D2C970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5BFF2-975E-4B0F-B68D-9922809F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9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116C-483D-A7FE-1730-6D818133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857"/>
          </a:xfrm>
        </p:spPr>
        <p:txBody>
          <a:bodyPr/>
          <a:lstStyle/>
          <a:p>
            <a:r>
              <a:rPr lang="en-US" b="1" dirty="0"/>
              <a:t>Unsupervised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4FFB-1EA5-82B6-1B60-A2B5D6F9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982"/>
            <a:ext cx="10799618" cy="48099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involves training algorithms on data without explicitly providing labeled outcomes or targets. </a:t>
            </a:r>
          </a:p>
          <a:p>
            <a:r>
              <a:rPr lang="en-US" dirty="0"/>
              <a:t>The goal is to identify patterns, relationships, or structures within the data. Here are some common types and techniques in unsupervised machine learning: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Clustering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K-Means</a:t>
            </a:r>
            <a:r>
              <a:rPr lang="en-US" dirty="0"/>
              <a:t>: Partitions the data into K clusters by minimizing the variance within each cluster.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Hierarchical Clustering</a:t>
            </a:r>
            <a:r>
              <a:rPr lang="en-US" dirty="0"/>
              <a:t>: Builds a tree of clusters through agglomerative (bottom-up) or divisive (top-down) approaches.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DBSCAN (Density-Based Spatial Clustering of Applications with Noise)</a:t>
            </a:r>
            <a:r>
              <a:rPr lang="en-US" dirty="0"/>
              <a:t>: Identifies clusters based on density, useful for finding arbitrarily shaped clusters.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Dimensionality Reduction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Principal Component Analysis (PCA)</a:t>
            </a:r>
            <a:r>
              <a:rPr lang="en-US" dirty="0"/>
              <a:t>: Transforms data into a set of orthogonal components that maximize variance.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t-Distributed Stochastic Neighbor Embedding (t-SNE)</a:t>
            </a:r>
            <a:r>
              <a:rPr lang="en-US" dirty="0"/>
              <a:t>: Reduces dimensions for visualization, preserving local relationships.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Autoencoders</a:t>
            </a:r>
            <a:r>
              <a:rPr lang="en-US" dirty="0"/>
              <a:t>: Neural networks that learn to compress and then reconstruct data, often used for feature learning and dimensionality reduction.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46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D4BC-D6BC-FAC2-9A8F-A9BA679E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Unsupervised Machine Learning (self-study)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70A597-5B84-2FC9-93A0-5845181723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9005"/>
            <a:ext cx="1130630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 Association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a-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Identifies frequent item sets and association rules in transactional databases.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FP-Growth (Frequent Pattern Growth)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More efficient than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mining frequent item sets.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 Anomaly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a-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 Forest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Identifies anomalies by randomly partitioning data and isolating outliers.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One-Class SVM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Classifies data points as similar or different from the majority of the training set.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5- Self-Organizing Maps (SOMs)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 models used for clustering and visualizing high-dimensional data by mapping input data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lower-dimensional (typically 2D) grid.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6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7B17C8EB-9406-464C-B974-15DDBB2A3E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62124" y="867728"/>
            <a:ext cx="8048625" cy="39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5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62B43A-A2D2-421F-B350-43DAB4E5E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1099" y="876301"/>
            <a:ext cx="9229725" cy="414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9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625A9D-4DFE-460D-A20D-CC839D61B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723900"/>
            <a:ext cx="8991600" cy="220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8E008-5372-46BC-9EE4-27BE217D3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2933700"/>
            <a:ext cx="68580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9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734DE1-0E51-4F43-AAA4-D6A5CA8E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234314"/>
            <a:ext cx="8838249" cy="2611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680C9-B41D-4DEB-8476-74E53DA9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199" y="3094674"/>
            <a:ext cx="7287576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4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3360-9FC0-F939-2632-4F3CB5E3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59DE-CB8E-47AD-1DC7-3485B143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Algorithm</a:t>
            </a:r>
            <a:r>
              <a:rPr lang="en-US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Choose k initial cluster centers randomly.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Assign each data point to the nearest cluster center.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Recalculate the cluster centers as the mean of all points in the cluster.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Repeat steps 2 and 3 until the cluster assignments no longer change.</a:t>
            </a:r>
          </a:p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Advantages</a:t>
            </a:r>
            <a:r>
              <a:rPr lang="en-US" dirty="0"/>
              <a:t>: Simple and efficient for large datasets.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Disadvantages</a:t>
            </a:r>
            <a:r>
              <a:rPr lang="en-US" dirty="0"/>
              <a:t>: Requires specifying the number of clusters K beforehand, and it's sensitive to the initial choice of cluster centers.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03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1288-9838-5B82-C042-94007A7A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Hierarchical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85FA-7D6A-D820-6FE6-CD49F469D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Algorithm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Agglomerative</a:t>
            </a:r>
            <a:r>
              <a:rPr lang="en-US" dirty="0"/>
              <a:t> (Bottom-Up): Start with each data point as its own cluster and iteratively merge the closest pairs of clusters.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Divisive</a:t>
            </a:r>
            <a:r>
              <a:rPr lang="en-US" dirty="0"/>
              <a:t> (Top-Down): Start with all data points in a single cluster and recursively split the clusters.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 Does not require specifying the number of clusters K and produces a dendrogram that can help determine the optimal number of clusters.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</a:t>
            </a:r>
            <a:r>
              <a:rPr lang="en-US" dirty="0"/>
              <a:t>: Computationally expensive for large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34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815A-A2CE-6916-B9AD-0759F88F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4418" cy="1325563"/>
          </a:xfrm>
        </p:spPr>
        <p:txBody>
          <a:bodyPr>
            <a:normAutofit/>
          </a:bodyPr>
          <a:lstStyle/>
          <a:p>
            <a:r>
              <a:rPr lang="en-US" b="1" dirty="0"/>
              <a:t>DBSCAN (Density-Based Spatial Clustering of Applications with Noise)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877F5-19EC-C30F-C6CB-9F3A3FC8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Algorithm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Classify points as core points, border points, or noise based on the density of neighboring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Form clusters by connecting core points that are within a specified distance </a:t>
            </a:r>
          </a:p>
          <a:p>
            <a:pPr marL="457200" lvl="1" indent="0">
              <a:buNone/>
            </a:pPr>
            <a:r>
              <a:rPr lang="en-US" dirty="0"/>
              <a:t>(ϵ \ epsilon) and include border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 Can find arbitrarily shaped clusters and handle noise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</a:t>
            </a:r>
            <a:r>
              <a:rPr lang="en-US" dirty="0"/>
              <a:t>: Requires choosing parameters ϵ\epsilonϵ (distance) and </a:t>
            </a:r>
            <a:r>
              <a:rPr lang="en-US" dirty="0" err="1"/>
              <a:t>minPts</a:t>
            </a:r>
            <a:r>
              <a:rPr lang="en-US" dirty="0"/>
              <a:t> (minimum number of points), which can be difficult.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5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C49CD5AB-7A53-4013-927E-5E0D5E3C7F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8751" y="301942"/>
            <a:ext cx="7860348" cy="3374708"/>
          </a:xfrm>
          <a:prstGeom prst="rect">
            <a:avLst/>
          </a:prstGeom>
        </p:spPr>
      </p:pic>
      <p:pic>
        <p:nvPicPr>
          <p:cNvPr id="3" name="Picture 2" descr="A picture containing circle, diagram, screenshot, design&#10;&#10;Description automatically generated">
            <a:extLst>
              <a:ext uri="{FF2B5EF4-FFF2-40B4-BE49-F238E27FC236}">
                <a16:creationId xmlns:a16="http://schemas.microsoft.com/office/drawing/2014/main" id="{BCAF1243-EF3A-42C5-83D3-C4E118A5E1F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78" y="4080828"/>
            <a:ext cx="6271896" cy="192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38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6182A60B-CC44-4C1C-A6D1-5FF1338AAB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62049" y="1019176"/>
            <a:ext cx="8963025" cy="473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2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25508B27-3F9E-4645-99FB-AB9350BB07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9384" y="408940"/>
            <a:ext cx="8000365" cy="3515360"/>
          </a:xfrm>
          <a:prstGeom prst="rect">
            <a:avLst/>
          </a:prstGeom>
        </p:spPr>
      </p:pic>
      <p:pic>
        <p:nvPicPr>
          <p:cNvPr id="3" name="Picture 2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A104AF5A-D8DC-4FAF-BC91-166B59F38A8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52575" y="4075776"/>
            <a:ext cx="7877174" cy="23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4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6EFA50EB-3FD3-40FF-B688-B8ED2DC673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2525" y="733424"/>
            <a:ext cx="91249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5A212117-E6E7-4312-B526-E96D7A8372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2500" y="952500"/>
            <a:ext cx="92202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1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3B72C75-E827-4CEF-A463-EEC921A58C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52244" y="619125"/>
            <a:ext cx="9025255" cy="4124325"/>
          </a:xfrm>
          <a:prstGeom prst="rect">
            <a:avLst/>
          </a:prstGeom>
        </p:spPr>
      </p:pic>
      <p:pic>
        <p:nvPicPr>
          <p:cNvPr id="3" name="Picture 2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1ED7069E-D03F-42E3-874F-5A20925811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52245" y="4947920"/>
            <a:ext cx="886333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0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reenshot, diagram, colorfulness&#10;&#10;Description automatically generated">
            <a:extLst>
              <a:ext uri="{FF2B5EF4-FFF2-40B4-BE49-F238E27FC236}">
                <a16:creationId xmlns:a16="http://schemas.microsoft.com/office/drawing/2014/main" id="{B857398D-3971-4652-8124-D18E9A9DCC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3475" y="1028700"/>
            <a:ext cx="80105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56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805A42AE-FAAD-4A57-9C70-D81100E0F8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5085" y="895350"/>
            <a:ext cx="8848725" cy="40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45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50FA-CCB0-8598-2BF7-2A9BF1DD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</a:t>
            </a:r>
          </a:p>
        </p:txBody>
      </p:sp>
      <p:pic>
        <p:nvPicPr>
          <p:cNvPr id="5" name="Content Placeholder 4" descr="A diagram of a diagram of a data analysis&#10;&#10;Description automatically generated with medium confidence">
            <a:extLst>
              <a:ext uri="{FF2B5EF4-FFF2-40B4-BE49-F238E27FC236}">
                <a16:creationId xmlns:a16="http://schemas.microsoft.com/office/drawing/2014/main" id="{87FDA6A2-520C-D51A-ACA8-9923E6E3E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491" y="2004291"/>
            <a:ext cx="5458691" cy="4853709"/>
          </a:xfrm>
        </p:spPr>
      </p:pic>
      <p:pic>
        <p:nvPicPr>
          <p:cNvPr id="7" name="Picture 6" descr="A diagram of a diagram of a number of k-means&#10;&#10;Description automatically generated">
            <a:extLst>
              <a:ext uri="{FF2B5EF4-FFF2-40B4-BE49-F238E27FC236}">
                <a16:creationId xmlns:a16="http://schemas.microsoft.com/office/drawing/2014/main" id="{CC4C0153-E6FC-4DAC-DA9E-0172328D1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0845"/>
            <a:ext cx="4929673" cy="472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14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BD95-FB31-2300-4438-F864A19A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</a:t>
            </a:r>
          </a:p>
        </p:txBody>
      </p:sp>
      <p:pic>
        <p:nvPicPr>
          <p:cNvPr id="5" name="Content Placeholder 4" descr="A diagram with text and numbers">
            <a:extLst>
              <a:ext uri="{FF2B5EF4-FFF2-40B4-BE49-F238E27FC236}">
                <a16:creationId xmlns:a16="http://schemas.microsoft.com/office/drawing/2014/main" id="{39FB317D-0CE4-0517-6EB5-BCF880CC1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7" y="1995429"/>
            <a:ext cx="6058425" cy="4166832"/>
          </a:xfrm>
        </p:spPr>
      </p:pic>
      <p:pic>
        <p:nvPicPr>
          <p:cNvPr id="7" name="Picture 6" descr="A diagram of clustering data&#10;&#10;Description automatically generated with medium confidence">
            <a:extLst>
              <a:ext uri="{FF2B5EF4-FFF2-40B4-BE49-F238E27FC236}">
                <a16:creationId xmlns:a16="http://schemas.microsoft.com/office/drawing/2014/main" id="{CB5A84EE-86C2-6B1E-B05A-2757863BC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843" y="1911601"/>
            <a:ext cx="4800600" cy="433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87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6278-F858-A00F-28BE-9A5392B9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</a:t>
            </a:r>
          </a:p>
        </p:txBody>
      </p:sp>
      <p:pic>
        <p:nvPicPr>
          <p:cNvPr id="5" name="Content Placeholder 4" descr="A table with numbers and a mathematical equation">
            <a:extLst>
              <a:ext uri="{FF2B5EF4-FFF2-40B4-BE49-F238E27FC236}">
                <a16:creationId xmlns:a16="http://schemas.microsoft.com/office/drawing/2014/main" id="{F7E52B57-847F-B970-01FF-3269DE2D1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95" y="2109175"/>
            <a:ext cx="8192210" cy="3802710"/>
          </a:xfrm>
        </p:spPr>
      </p:pic>
    </p:spTree>
    <p:extLst>
      <p:ext uri="{BB962C8B-B14F-4D97-AF65-F5344CB8AC3E}">
        <p14:creationId xmlns:p14="http://schemas.microsoft.com/office/powerpoint/2010/main" val="622789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27C8-10F3-74FA-1A3E-0C9FC23A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</a:t>
            </a:r>
          </a:p>
        </p:txBody>
      </p:sp>
      <p:pic>
        <p:nvPicPr>
          <p:cNvPr id="5" name="Content Placeholder 4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7489E9D0-07B7-BA5E-1F21-A49F9907E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22" y="2027543"/>
            <a:ext cx="8245555" cy="3947502"/>
          </a:xfrm>
        </p:spPr>
      </p:pic>
    </p:spTree>
    <p:extLst>
      <p:ext uri="{BB962C8B-B14F-4D97-AF65-F5344CB8AC3E}">
        <p14:creationId xmlns:p14="http://schemas.microsoft.com/office/powerpoint/2010/main" val="2702796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108F-E434-E579-F3DC-782E8A50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</a:t>
            </a:r>
          </a:p>
        </p:txBody>
      </p:sp>
      <p:pic>
        <p:nvPicPr>
          <p:cNvPr id="5" name="Content Placeholder 4" descr="A table with numbers and a number">
            <a:extLst>
              <a:ext uri="{FF2B5EF4-FFF2-40B4-BE49-F238E27FC236}">
                <a16:creationId xmlns:a16="http://schemas.microsoft.com/office/drawing/2014/main" id="{510FE277-5D78-410D-7671-880556E08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653" y="2295881"/>
            <a:ext cx="8222693" cy="3429297"/>
          </a:xfrm>
        </p:spPr>
      </p:pic>
    </p:spTree>
    <p:extLst>
      <p:ext uri="{BB962C8B-B14F-4D97-AF65-F5344CB8AC3E}">
        <p14:creationId xmlns:p14="http://schemas.microsoft.com/office/powerpoint/2010/main" val="3975995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324D0-3069-4E64-A0DA-B798CA5F1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54" y="762000"/>
            <a:ext cx="10551084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25EBFC5E-E78C-4FF3-89FD-BFD76DE1E8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83384" y="236855"/>
            <a:ext cx="7632065" cy="3249930"/>
          </a:xfrm>
          <a:prstGeom prst="rect">
            <a:avLst/>
          </a:prstGeom>
        </p:spPr>
      </p:pic>
      <p:pic>
        <p:nvPicPr>
          <p:cNvPr id="3" name="Picture 2" descr="A picture containing screenshot, text, font, diagram&#10;&#10;Description automatically generated">
            <a:extLst>
              <a:ext uri="{FF2B5EF4-FFF2-40B4-BE49-F238E27FC236}">
                <a16:creationId xmlns:a16="http://schemas.microsoft.com/office/drawing/2014/main" id="{8391B3C5-11D9-4BB6-9AEA-467769BD9A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00225" y="3997959"/>
            <a:ext cx="8543925" cy="24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60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A08B-3FFE-8658-0A98-17A7A1BD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++ how it works:</a:t>
            </a:r>
          </a:p>
        </p:txBody>
      </p:sp>
      <p:pic>
        <p:nvPicPr>
          <p:cNvPr id="5" name="Content Placeholder 4" descr="A group of blue dots&#10;&#10;Description automatically generated">
            <a:extLst>
              <a:ext uri="{FF2B5EF4-FFF2-40B4-BE49-F238E27FC236}">
                <a16:creationId xmlns:a16="http://schemas.microsoft.com/office/drawing/2014/main" id="{C35E36A9-6F97-E033-6EEA-452237BF5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076" y="2116457"/>
            <a:ext cx="5357324" cy="3526961"/>
          </a:xfrm>
        </p:spPr>
      </p:pic>
      <p:pic>
        <p:nvPicPr>
          <p:cNvPr id="7" name="Picture 6" descr="A group of blue dots&#10;&#10;Description automatically generated">
            <a:extLst>
              <a:ext uri="{FF2B5EF4-FFF2-40B4-BE49-F238E27FC236}">
                <a16:creationId xmlns:a16="http://schemas.microsoft.com/office/drawing/2014/main" id="{1CF62936-4ABF-DEA7-4E2A-2ABD05EEF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51" y="2264357"/>
            <a:ext cx="5563082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26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0A7E-CA92-47BC-AC4A-647305C8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++ how it works:</a:t>
            </a:r>
          </a:p>
        </p:txBody>
      </p:sp>
      <p:pic>
        <p:nvPicPr>
          <p:cNvPr id="5" name="Content Placeholder 4" descr="A group of blue dots with a red dot in the middle&#10;&#10;Description automatically generated">
            <a:extLst>
              <a:ext uri="{FF2B5EF4-FFF2-40B4-BE49-F238E27FC236}">
                <a16:creationId xmlns:a16="http://schemas.microsoft.com/office/drawing/2014/main" id="{203F4362-2177-5173-66B4-1FFCAF1C6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5"/>
          <a:stretch/>
        </p:blipFill>
        <p:spPr>
          <a:xfrm>
            <a:off x="6567055" y="2392880"/>
            <a:ext cx="5237018" cy="3048264"/>
          </a:xfrm>
        </p:spPr>
      </p:pic>
      <p:pic>
        <p:nvPicPr>
          <p:cNvPr id="7" name="Picture 6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708540CA-BE55-98FA-46B8-C6A60E805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9950"/>
            <a:ext cx="5624946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31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11AA-3C0A-3C7C-8FE9-2A8C8C5D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++ how it works:</a:t>
            </a:r>
          </a:p>
        </p:txBody>
      </p:sp>
      <p:pic>
        <p:nvPicPr>
          <p:cNvPr id="5" name="Content Placeholder 4" descr="A screenshot of a game&#10;&#10;Description automatically generated">
            <a:extLst>
              <a:ext uri="{FF2B5EF4-FFF2-40B4-BE49-F238E27FC236}">
                <a16:creationId xmlns:a16="http://schemas.microsoft.com/office/drawing/2014/main" id="{FAED72C8-C540-04B1-D6B1-111246638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17" y="1801988"/>
            <a:ext cx="4387273" cy="4567554"/>
          </a:xfrm>
        </p:spPr>
      </p:pic>
      <p:pic>
        <p:nvPicPr>
          <p:cNvPr id="7" name="Picture 6" descr="A diagram of a seed&#10;&#10;Description automatically generated">
            <a:extLst>
              <a:ext uri="{FF2B5EF4-FFF2-40B4-BE49-F238E27FC236}">
                <a16:creationId xmlns:a16="http://schemas.microsoft.com/office/drawing/2014/main" id="{F846817F-6709-AB17-19C1-379C0D102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400" y="4361534"/>
            <a:ext cx="6622354" cy="2008008"/>
          </a:xfrm>
          <a:prstGeom prst="rect">
            <a:avLst/>
          </a:prstGeom>
        </p:spPr>
      </p:pic>
      <p:pic>
        <p:nvPicPr>
          <p:cNvPr id="9" name="Picture 8" descr="A diagram of a point&#10;&#10;Description automatically generated">
            <a:extLst>
              <a:ext uri="{FF2B5EF4-FFF2-40B4-BE49-F238E27FC236}">
                <a16:creationId xmlns:a16="http://schemas.microsoft.com/office/drawing/2014/main" id="{A37B78CC-9A30-D67A-11B6-897ACAB83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400" y="1873002"/>
            <a:ext cx="6424217" cy="22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33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C06B-EA9F-D577-7C9D-FCEE2CE9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++ how it works:</a:t>
            </a:r>
          </a:p>
        </p:txBody>
      </p:sp>
      <p:pic>
        <p:nvPicPr>
          <p:cNvPr id="5" name="Content Placeholder 4" descr="A diagram of blue and red dots&#10;&#10;Description automatically generated">
            <a:extLst>
              <a:ext uri="{FF2B5EF4-FFF2-40B4-BE49-F238E27FC236}">
                <a16:creationId xmlns:a16="http://schemas.microsoft.com/office/drawing/2014/main" id="{F5303D2F-B260-4837-AF9B-8C9AD2BBC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935" y="2267594"/>
            <a:ext cx="5566223" cy="3650942"/>
          </a:xfrm>
        </p:spPr>
      </p:pic>
      <p:pic>
        <p:nvPicPr>
          <p:cNvPr id="7" name="Picture 6" descr="A diagram of a diagram of a point&#10;&#10;Description automatically generated with medium confidence">
            <a:extLst>
              <a:ext uri="{FF2B5EF4-FFF2-40B4-BE49-F238E27FC236}">
                <a16:creationId xmlns:a16="http://schemas.microsoft.com/office/drawing/2014/main" id="{BB5CEAC6-B83F-F0D3-0925-F35F8516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77" y="2267594"/>
            <a:ext cx="5566223" cy="371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64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060BDC59-548A-48EE-AA9E-F13ED3A74A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820" y="507365"/>
            <a:ext cx="8234680" cy="2073910"/>
          </a:xfrm>
          <a:prstGeom prst="rect">
            <a:avLst/>
          </a:prstGeom>
        </p:spPr>
      </p:pic>
      <p:pic>
        <p:nvPicPr>
          <p:cNvPr id="3" name="Picture 2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FB88E260-9164-449F-961C-E4D8276A22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3209926"/>
            <a:ext cx="8620760" cy="321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33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4A8AA43-5340-4BA5-B76F-EC750C2BA0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0576" y="1400174"/>
            <a:ext cx="9744074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23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fa-level-2-agglomerative-hierarchical-clustering-vs-divisive - CFA, FRM,  and Actuarial Exams Study Notes">
            <a:extLst>
              <a:ext uri="{FF2B5EF4-FFF2-40B4-BE49-F238E27FC236}">
                <a16:creationId xmlns:a16="http://schemas.microsoft.com/office/drawing/2014/main" id="{11BA86C8-4A7A-4355-863B-C9D25A428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49564"/>
            <a:ext cx="9058275" cy="404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675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102D25-4BFD-46FF-8935-3F565D81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24" y="270829"/>
            <a:ext cx="9377827" cy="1424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03005F-BFE1-43E6-BB7D-8A2FB3232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800859"/>
            <a:ext cx="5486400" cy="451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03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FB259CC4-6F15-4278-A737-2FA6D71A4A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23950" y="981075"/>
            <a:ext cx="88677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2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3D308F3A-DC19-44A2-B88F-A3F6E85656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04901" y="819149"/>
            <a:ext cx="9515474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49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circle, font&#10;&#10;Description automatically generated">
            <a:extLst>
              <a:ext uri="{FF2B5EF4-FFF2-40B4-BE49-F238E27FC236}">
                <a16:creationId xmlns:a16="http://schemas.microsoft.com/office/drawing/2014/main" id="{48CA1B0A-4FFE-4324-9FA8-9FC4521E77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90700" y="719455"/>
            <a:ext cx="8772525" cy="447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23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48323700-AF37-4D40-995C-3613601996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5850" y="296226"/>
            <a:ext cx="9134475" cy="2456499"/>
          </a:xfrm>
          <a:prstGeom prst="rect">
            <a:avLst/>
          </a:prstGeom>
        </p:spPr>
      </p:pic>
      <p:pic>
        <p:nvPicPr>
          <p:cNvPr id="3" name="Picture 2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CF41F1DA-4547-42D1-A7C4-FE919F406F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5850" y="2987993"/>
            <a:ext cx="8496300" cy="28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03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A6041839-D331-4735-8D35-FEBB054964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0079" y="453707"/>
            <a:ext cx="9180195" cy="3070543"/>
          </a:xfrm>
          <a:prstGeom prst="rect">
            <a:avLst/>
          </a:prstGeom>
        </p:spPr>
      </p:pic>
      <p:pic>
        <p:nvPicPr>
          <p:cNvPr id="3" name="Picture 2" descr="A picture containing circle, diagram, line, pattern&#10;&#10;Description automatically generated">
            <a:extLst>
              <a:ext uri="{FF2B5EF4-FFF2-40B4-BE49-F238E27FC236}">
                <a16:creationId xmlns:a16="http://schemas.microsoft.com/office/drawing/2014/main" id="{A9E568C4-800B-40F2-AA98-D9CB0D807F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13367" y="3940493"/>
            <a:ext cx="5235258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36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diagram, screenshot&#10;&#10;Description automatically generated">
            <a:extLst>
              <a:ext uri="{FF2B5EF4-FFF2-40B4-BE49-F238E27FC236}">
                <a16:creationId xmlns:a16="http://schemas.microsoft.com/office/drawing/2014/main" id="{E5761538-AF52-445E-82C8-9C80FDE0D5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8264" y="413760"/>
            <a:ext cx="8324850" cy="2709228"/>
          </a:xfrm>
          <a:prstGeom prst="rect">
            <a:avLst/>
          </a:prstGeom>
        </p:spPr>
      </p:pic>
      <p:pic>
        <p:nvPicPr>
          <p:cNvPr id="3" name="Picture 2" descr="A picture containing text, screenshot, graphics, design&#10;&#10;Description automatically generated">
            <a:extLst>
              <a:ext uri="{FF2B5EF4-FFF2-40B4-BE49-F238E27FC236}">
                <a16:creationId xmlns:a16="http://schemas.microsoft.com/office/drawing/2014/main" id="{E6823149-1053-4864-A97D-EAA0FBF3770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04894" y="3753484"/>
            <a:ext cx="5234306" cy="22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29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D58DD-D9F4-4C40-87B7-24CAF5EF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371475"/>
            <a:ext cx="1094422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02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A783E3E1-1CBD-4C2F-B185-0A1B5E852D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62075" y="428624"/>
            <a:ext cx="836295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86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AA5D85EA-C9E0-4C9B-8133-CA091070ED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81151" y="1152525"/>
            <a:ext cx="7993062" cy="395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8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64F4211B-9219-41F6-98AB-64C6A976C9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85875" y="1609725"/>
            <a:ext cx="8645841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48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design&#10;&#10;Description automatically generated">
            <a:extLst>
              <a:ext uri="{FF2B5EF4-FFF2-40B4-BE49-F238E27FC236}">
                <a16:creationId xmlns:a16="http://schemas.microsoft.com/office/drawing/2014/main" id="{6812B1B1-F521-4770-9847-F7AFF930BA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47851" y="1209675"/>
            <a:ext cx="73342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48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AB6D7AF-734C-43E5-AE74-E8EC5D46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272E9-024B-7E45-BD7E-3DEBBCC6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1"/>
            <a:ext cx="5333999" cy="1475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GMM (Gaussian Mixture model)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830A5B-65B2-40C0-80F8-67EFC8A6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0"/>
            <a:ext cx="5410196" cy="6862190"/>
          </a:xfrm>
          <a:prstGeom prst="rect">
            <a:avLst/>
          </a:prstGeom>
          <a:ln>
            <a:noFill/>
          </a:ln>
          <a:effectLst>
            <a:outerShdw blurRad="317500" dist="2540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colorful circles with a puzzle piece in the center&#10;&#10;Description automatically generated">
            <a:extLst>
              <a:ext uri="{FF2B5EF4-FFF2-40B4-BE49-F238E27FC236}">
                <a16:creationId xmlns:a16="http://schemas.microsoft.com/office/drawing/2014/main" id="{CAAEA660-458F-9662-C88D-094E8ABE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37" y="2755252"/>
            <a:ext cx="5226961" cy="2796423"/>
          </a:xfrm>
          <a:prstGeom prst="rect">
            <a:avLst/>
          </a:prstGeom>
        </p:spPr>
      </p:pic>
      <p:pic>
        <p:nvPicPr>
          <p:cNvPr id="5" name="Content Placeholder 4" descr="A diagram of a mixture model&#10;&#10;Description automatically generated">
            <a:extLst>
              <a:ext uri="{FF2B5EF4-FFF2-40B4-BE49-F238E27FC236}">
                <a16:creationId xmlns:a16="http://schemas.microsoft.com/office/drawing/2014/main" id="{5A62AF99-8E42-CF28-FD7F-A7218F18A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398" y="2237117"/>
            <a:ext cx="4312491" cy="331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6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261C-4845-14C5-5E8C-0E0FC1D5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diagram of a mixture model">
            <a:extLst>
              <a:ext uri="{FF2B5EF4-FFF2-40B4-BE49-F238E27FC236}">
                <a16:creationId xmlns:a16="http://schemas.microsoft.com/office/drawing/2014/main" id="{E8F76326-1E11-506E-509D-557B664BF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39" y="2214249"/>
            <a:ext cx="7643522" cy="3574090"/>
          </a:xfrm>
        </p:spPr>
      </p:pic>
    </p:spTree>
    <p:extLst>
      <p:ext uri="{BB962C8B-B14F-4D97-AF65-F5344CB8AC3E}">
        <p14:creationId xmlns:p14="http://schemas.microsoft.com/office/powerpoint/2010/main" val="2399234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E5F4-CED9-FF4D-DBB2-50C9AFAC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E2A9DA30-9EDC-2B2E-8308-EA5943D0D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1813483" y="3906278"/>
            <a:ext cx="7392041" cy="2120085"/>
          </a:xfrm>
        </p:spPr>
      </p:pic>
      <p:pic>
        <p:nvPicPr>
          <p:cNvPr id="7" name="Picture 6" descr="A diagram of a graph&#10;&#10;Description automatically generated">
            <a:extLst>
              <a:ext uri="{FF2B5EF4-FFF2-40B4-BE49-F238E27FC236}">
                <a16:creationId xmlns:a16="http://schemas.microsoft.com/office/drawing/2014/main" id="{E6B285B8-E807-C19F-6F9E-00076A5801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3"/>
          <a:stretch/>
        </p:blipFill>
        <p:spPr>
          <a:xfrm>
            <a:off x="1965896" y="1533235"/>
            <a:ext cx="7087214" cy="212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58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8AF7-04D9-22F0-1E4C-0ADBA0A4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C1D4BF87-68FC-14C9-ACDD-4C5AE33B1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775" y="1690688"/>
            <a:ext cx="8001693" cy="1971811"/>
          </a:xfrm>
        </p:spPr>
      </p:pic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A4DD182B-EF2A-E16F-6ADA-17A4C0DB3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776" y="3790950"/>
            <a:ext cx="8001692" cy="218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4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2CDE-9A1A-DD7E-D12C-C4B327A3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diagram of a number of circles&#10;&#10;Description automatically generated">
            <a:extLst>
              <a:ext uri="{FF2B5EF4-FFF2-40B4-BE49-F238E27FC236}">
                <a16:creationId xmlns:a16="http://schemas.microsoft.com/office/drawing/2014/main" id="{345761F3-ADC4-F86C-20E0-48DB17376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373" y="1776644"/>
            <a:ext cx="7635902" cy="1807065"/>
          </a:xfrm>
        </p:spPr>
      </p:pic>
      <p:pic>
        <p:nvPicPr>
          <p:cNvPr id="7" name="Picture 6" descr="A diagram of a graph&#10;&#10;Description automatically generated">
            <a:extLst>
              <a:ext uri="{FF2B5EF4-FFF2-40B4-BE49-F238E27FC236}">
                <a16:creationId xmlns:a16="http://schemas.microsoft.com/office/drawing/2014/main" id="{B2E9A095-82CA-87A2-13CD-5B9768EA4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201" y="3921201"/>
            <a:ext cx="7468247" cy="23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12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72DD-F659-47E2-7F10-D3938442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97DC478-8CC3-6DF8-FE10-D4046330E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662" y="1811473"/>
            <a:ext cx="8047417" cy="2119504"/>
          </a:xfrm>
        </p:spPr>
      </p:pic>
      <p:pic>
        <p:nvPicPr>
          <p:cNvPr id="7" name="Picture 6" descr="A graph of a graph">
            <a:extLst>
              <a:ext uri="{FF2B5EF4-FFF2-40B4-BE49-F238E27FC236}">
                <a16:creationId xmlns:a16="http://schemas.microsoft.com/office/drawing/2014/main" id="{DEB9E1C4-6302-3C07-7108-E2E879F67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662" y="4145540"/>
            <a:ext cx="8047417" cy="18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51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E797-6622-ECDF-52F0-FD7AC14E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</a:t>
            </a:r>
          </a:p>
        </p:txBody>
      </p:sp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252CF21-8811-A16A-64AA-DD19B9A62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4"/>
          <a:stretch/>
        </p:blipFill>
        <p:spPr>
          <a:xfrm>
            <a:off x="983974" y="2127472"/>
            <a:ext cx="10118035" cy="3617279"/>
          </a:xfrm>
        </p:spPr>
      </p:pic>
    </p:spTree>
    <p:extLst>
      <p:ext uri="{BB962C8B-B14F-4D97-AF65-F5344CB8AC3E}">
        <p14:creationId xmlns:p14="http://schemas.microsoft.com/office/powerpoint/2010/main" val="68449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567</Words>
  <Application>Microsoft Office PowerPoint</Application>
  <PresentationFormat>Widescreen</PresentationFormat>
  <Paragraphs>67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Unsupervised Machine Learning</vt:lpstr>
      <vt:lpstr>Unsupervised Machine Learning (self-study)</vt:lpstr>
      <vt:lpstr>PowerPoint Presentation</vt:lpstr>
      <vt:lpstr>PowerPoint Presentation</vt:lpstr>
      <vt:lpstr>PowerPoint Presentation</vt:lpstr>
      <vt:lpstr>PowerPoint Presentation</vt:lpstr>
      <vt:lpstr>K-Means Clustering</vt:lpstr>
      <vt:lpstr>Hierarchical Clustering</vt:lpstr>
      <vt:lpstr>DBSCAN (Density-Based Spatial Clustering of Applications with Noise)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 means Clustering</vt:lpstr>
      <vt:lpstr>K means Clustering</vt:lpstr>
      <vt:lpstr>K means Clustering</vt:lpstr>
      <vt:lpstr>K means Clustering</vt:lpstr>
      <vt:lpstr>K means Clustering</vt:lpstr>
      <vt:lpstr>PowerPoint Presentation</vt:lpstr>
      <vt:lpstr>PowerPoint Presentation</vt:lpstr>
      <vt:lpstr>Kmeans++ how it works:</vt:lpstr>
      <vt:lpstr>Kmeans++ how it works:</vt:lpstr>
      <vt:lpstr>Kmeans++ how it works:</vt:lpstr>
      <vt:lpstr>Kmeans++ how it works: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GMM (Gaussian Mixture model)</vt:lpstr>
      <vt:lpstr>GMM</vt:lpstr>
      <vt:lpstr>GMM</vt:lpstr>
      <vt:lpstr>GMM</vt:lpstr>
      <vt:lpstr>GMM</vt:lpstr>
      <vt:lpstr>GMM</vt:lpstr>
      <vt:lpstr>GMM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mahmode</dc:creator>
  <cp:lastModifiedBy>20812016101533@eng.zu.edu.eg</cp:lastModifiedBy>
  <cp:revision>47</cp:revision>
  <dcterms:created xsi:type="dcterms:W3CDTF">2024-07-02T11:48:45Z</dcterms:created>
  <dcterms:modified xsi:type="dcterms:W3CDTF">2024-08-02T14:00:38Z</dcterms:modified>
</cp:coreProperties>
</file>