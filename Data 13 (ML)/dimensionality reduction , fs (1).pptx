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3" r:id="rId2"/>
    <p:sldId id="412" r:id="rId3"/>
    <p:sldId id="354" r:id="rId4"/>
    <p:sldId id="356" r:id="rId5"/>
    <p:sldId id="363" r:id="rId6"/>
    <p:sldId id="357" r:id="rId7"/>
    <p:sldId id="358" r:id="rId8"/>
    <p:sldId id="446" r:id="rId9"/>
    <p:sldId id="355" r:id="rId10"/>
    <p:sldId id="348" r:id="rId11"/>
    <p:sldId id="349" r:id="rId12"/>
    <p:sldId id="350" r:id="rId13"/>
    <p:sldId id="351" r:id="rId14"/>
    <p:sldId id="469" r:id="rId15"/>
    <p:sldId id="447" r:id="rId16"/>
    <p:sldId id="470" r:id="rId17"/>
    <p:sldId id="448" r:id="rId18"/>
    <p:sldId id="364" r:id="rId19"/>
    <p:sldId id="331" r:id="rId20"/>
    <p:sldId id="365" r:id="rId21"/>
    <p:sldId id="346" r:id="rId22"/>
    <p:sldId id="347" r:id="rId23"/>
    <p:sldId id="352" r:id="rId24"/>
    <p:sldId id="366" r:id="rId25"/>
    <p:sldId id="367" r:id="rId26"/>
    <p:sldId id="368" r:id="rId27"/>
    <p:sldId id="369" r:id="rId28"/>
    <p:sldId id="370" r:id="rId29"/>
    <p:sldId id="413" r:id="rId30"/>
    <p:sldId id="414" r:id="rId31"/>
    <p:sldId id="415" r:id="rId32"/>
    <p:sldId id="416" r:id="rId33"/>
    <p:sldId id="417" r:id="rId34"/>
    <p:sldId id="418" r:id="rId35"/>
    <p:sldId id="419" r:id="rId36"/>
    <p:sldId id="420" r:id="rId37"/>
    <p:sldId id="421" r:id="rId38"/>
    <p:sldId id="359" r:id="rId39"/>
    <p:sldId id="471" r:id="rId40"/>
    <p:sldId id="472" r:id="rId41"/>
    <p:sldId id="422" r:id="rId42"/>
    <p:sldId id="423" r:id="rId43"/>
    <p:sldId id="445" r:id="rId44"/>
    <p:sldId id="371" r:id="rId45"/>
    <p:sldId id="372" r:id="rId46"/>
    <p:sldId id="373" r:id="rId47"/>
    <p:sldId id="374" r:id="rId48"/>
    <p:sldId id="375" r:id="rId49"/>
    <p:sldId id="376" r:id="rId50"/>
    <p:sldId id="377" r:id="rId51"/>
    <p:sldId id="382" r:id="rId52"/>
    <p:sldId id="378" r:id="rId53"/>
    <p:sldId id="380" r:id="rId54"/>
    <p:sldId id="381" r:id="rId55"/>
    <p:sldId id="379" r:id="rId56"/>
    <p:sldId id="383" r:id="rId57"/>
    <p:sldId id="384" r:id="rId58"/>
    <p:sldId id="387" r:id="rId59"/>
    <p:sldId id="385" r:id="rId60"/>
    <p:sldId id="456" r:id="rId61"/>
    <p:sldId id="457" r:id="rId62"/>
    <p:sldId id="362" r:id="rId63"/>
    <p:sldId id="458" r:id="rId64"/>
    <p:sldId id="459" r:id="rId65"/>
    <p:sldId id="468" r:id="rId66"/>
    <p:sldId id="460" r:id="rId67"/>
    <p:sldId id="461" r:id="rId68"/>
    <p:sldId id="464" r:id="rId69"/>
    <p:sldId id="462" r:id="rId70"/>
    <p:sldId id="463" r:id="rId71"/>
    <p:sldId id="388" r:id="rId72"/>
    <p:sldId id="466" r:id="rId73"/>
    <p:sldId id="465" r:id="rId74"/>
    <p:sldId id="449" r:id="rId75"/>
    <p:sldId id="452" r:id="rId76"/>
    <p:sldId id="451" r:id="rId77"/>
    <p:sldId id="453" r:id="rId78"/>
    <p:sldId id="454" r:id="rId79"/>
    <p:sldId id="455" r:id="rId80"/>
    <p:sldId id="361" r:id="rId81"/>
    <p:sldId id="389" r:id="rId82"/>
    <p:sldId id="390" r:id="rId83"/>
    <p:sldId id="391" r:id="rId84"/>
    <p:sldId id="392" r:id="rId85"/>
    <p:sldId id="393" r:id="rId86"/>
    <p:sldId id="394" r:id="rId87"/>
    <p:sldId id="402" r:id="rId88"/>
    <p:sldId id="395" r:id="rId89"/>
    <p:sldId id="396" r:id="rId90"/>
    <p:sldId id="403" r:id="rId91"/>
    <p:sldId id="404" r:id="rId92"/>
    <p:sldId id="397" r:id="rId93"/>
    <p:sldId id="398" r:id="rId94"/>
    <p:sldId id="399" r:id="rId95"/>
    <p:sldId id="400" r:id="rId96"/>
    <p:sldId id="401" r:id="rId97"/>
    <p:sldId id="405" r:id="rId98"/>
    <p:sldId id="406" r:id="rId99"/>
    <p:sldId id="407" r:id="rId100"/>
    <p:sldId id="408" r:id="rId101"/>
    <p:sldId id="409" r:id="rId102"/>
    <p:sldId id="410" r:id="rId103"/>
    <p:sldId id="411" r:id="rId104"/>
    <p:sldId id="386"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51" autoAdjust="0"/>
    <p:restoredTop sz="94660"/>
  </p:normalViewPr>
  <p:slideViewPr>
    <p:cSldViewPr snapToGrid="0">
      <p:cViewPr varScale="1">
        <p:scale>
          <a:sx n="79" d="100"/>
          <a:sy n="79"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0EBE9-9ED6-2A0D-D9F9-E01E7457A5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0D0857-EABC-7A21-DAEC-03DE0FAE4D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EFCC5B-C512-F437-E482-77207E1903AE}"/>
              </a:ext>
            </a:extLst>
          </p:cNvPr>
          <p:cNvSpPr>
            <a:spLocks noGrp="1"/>
          </p:cNvSpPr>
          <p:nvPr>
            <p:ph type="dt" sz="half" idx="10"/>
          </p:nvPr>
        </p:nvSpPr>
        <p:spPr/>
        <p:txBody>
          <a:bodyPr/>
          <a:lstStyle/>
          <a:p>
            <a:fld id="{0E029C30-920E-48FA-B7B2-CFDEC6BFC406}" type="datetimeFigureOut">
              <a:rPr lang="en-US" smtClean="0"/>
              <a:t>8/10/2024</a:t>
            </a:fld>
            <a:endParaRPr lang="en-US"/>
          </a:p>
        </p:txBody>
      </p:sp>
      <p:sp>
        <p:nvSpPr>
          <p:cNvPr id="5" name="Footer Placeholder 4">
            <a:extLst>
              <a:ext uri="{FF2B5EF4-FFF2-40B4-BE49-F238E27FC236}">
                <a16:creationId xmlns:a16="http://schemas.microsoft.com/office/drawing/2014/main" id="{4A66DD4F-0291-9D4B-F739-939D01DFFD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47172-0D54-8539-E47B-CB74B48D71A6}"/>
              </a:ext>
            </a:extLst>
          </p:cNvPr>
          <p:cNvSpPr>
            <a:spLocks noGrp="1"/>
          </p:cNvSpPr>
          <p:nvPr>
            <p:ph type="sldNum" sz="quarter" idx="12"/>
          </p:nvPr>
        </p:nvSpPr>
        <p:spPr/>
        <p:txBody>
          <a:bodyPr/>
          <a:lstStyle/>
          <a:p>
            <a:fld id="{4B600753-1C8E-487B-9F87-46C1BAD32886}" type="slidenum">
              <a:rPr lang="en-US" smtClean="0"/>
              <a:t>‹#›</a:t>
            </a:fld>
            <a:endParaRPr lang="en-US"/>
          </a:p>
        </p:txBody>
      </p:sp>
    </p:spTree>
    <p:extLst>
      <p:ext uri="{BB962C8B-B14F-4D97-AF65-F5344CB8AC3E}">
        <p14:creationId xmlns:p14="http://schemas.microsoft.com/office/powerpoint/2010/main" val="13675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3D812-9FFA-AA32-1958-48571CE555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AEE773-0517-FA31-5C2A-8158FB85E0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A7B30E-A73E-BA32-24A3-CB340F352B46}"/>
              </a:ext>
            </a:extLst>
          </p:cNvPr>
          <p:cNvSpPr>
            <a:spLocks noGrp="1"/>
          </p:cNvSpPr>
          <p:nvPr>
            <p:ph type="dt" sz="half" idx="10"/>
          </p:nvPr>
        </p:nvSpPr>
        <p:spPr/>
        <p:txBody>
          <a:bodyPr/>
          <a:lstStyle/>
          <a:p>
            <a:fld id="{0E029C30-920E-48FA-B7B2-CFDEC6BFC406}" type="datetimeFigureOut">
              <a:rPr lang="en-US" smtClean="0"/>
              <a:t>8/10/2024</a:t>
            </a:fld>
            <a:endParaRPr lang="en-US"/>
          </a:p>
        </p:txBody>
      </p:sp>
      <p:sp>
        <p:nvSpPr>
          <p:cNvPr id="5" name="Footer Placeholder 4">
            <a:extLst>
              <a:ext uri="{FF2B5EF4-FFF2-40B4-BE49-F238E27FC236}">
                <a16:creationId xmlns:a16="http://schemas.microsoft.com/office/drawing/2014/main" id="{B82DBCB5-00BB-ABD0-83F4-527109E406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D29B4D-E3DE-8301-ED3A-78F2E675BE7E}"/>
              </a:ext>
            </a:extLst>
          </p:cNvPr>
          <p:cNvSpPr>
            <a:spLocks noGrp="1"/>
          </p:cNvSpPr>
          <p:nvPr>
            <p:ph type="sldNum" sz="quarter" idx="12"/>
          </p:nvPr>
        </p:nvSpPr>
        <p:spPr/>
        <p:txBody>
          <a:bodyPr/>
          <a:lstStyle/>
          <a:p>
            <a:fld id="{4B600753-1C8E-487B-9F87-46C1BAD32886}" type="slidenum">
              <a:rPr lang="en-US" smtClean="0"/>
              <a:t>‹#›</a:t>
            </a:fld>
            <a:endParaRPr lang="en-US"/>
          </a:p>
        </p:txBody>
      </p:sp>
    </p:spTree>
    <p:extLst>
      <p:ext uri="{BB962C8B-B14F-4D97-AF65-F5344CB8AC3E}">
        <p14:creationId xmlns:p14="http://schemas.microsoft.com/office/powerpoint/2010/main" val="2717895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06F78-7785-5D54-7787-A436F9D81D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77B085-0954-F3DE-2468-4B6C73D756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61E507-5AE1-7E3D-3014-F9332EC78CD3}"/>
              </a:ext>
            </a:extLst>
          </p:cNvPr>
          <p:cNvSpPr>
            <a:spLocks noGrp="1"/>
          </p:cNvSpPr>
          <p:nvPr>
            <p:ph type="dt" sz="half" idx="10"/>
          </p:nvPr>
        </p:nvSpPr>
        <p:spPr/>
        <p:txBody>
          <a:bodyPr/>
          <a:lstStyle/>
          <a:p>
            <a:fld id="{0E029C30-920E-48FA-B7B2-CFDEC6BFC406}" type="datetimeFigureOut">
              <a:rPr lang="en-US" smtClean="0"/>
              <a:t>8/10/2024</a:t>
            </a:fld>
            <a:endParaRPr lang="en-US"/>
          </a:p>
        </p:txBody>
      </p:sp>
      <p:sp>
        <p:nvSpPr>
          <p:cNvPr id="5" name="Footer Placeholder 4">
            <a:extLst>
              <a:ext uri="{FF2B5EF4-FFF2-40B4-BE49-F238E27FC236}">
                <a16:creationId xmlns:a16="http://schemas.microsoft.com/office/drawing/2014/main" id="{0E964C03-0D6B-4C7D-EFE5-B689AE61B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696ED6-F61D-0980-DD24-A6B15879BAAD}"/>
              </a:ext>
            </a:extLst>
          </p:cNvPr>
          <p:cNvSpPr>
            <a:spLocks noGrp="1"/>
          </p:cNvSpPr>
          <p:nvPr>
            <p:ph type="sldNum" sz="quarter" idx="12"/>
          </p:nvPr>
        </p:nvSpPr>
        <p:spPr/>
        <p:txBody>
          <a:bodyPr/>
          <a:lstStyle/>
          <a:p>
            <a:fld id="{4B600753-1C8E-487B-9F87-46C1BAD32886}" type="slidenum">
              <a:rPr lang="en-US" smtClean="0"/>
              <a:t>‹#›</a:t>
            </a:fld>
            <a:endParaRPr lang="en-US"/>
          </a:p>
        </p:txBody>
      </p:sp>
    </p:spTree>
    <p:extLst>
      <p:ext uri="{BB962C8B-B14F-4D97-AF65-F5344CB8AC3E}">
        <p14:creationId xmlns:p14="http://schemas.microsoft.com/office/powerpoint/2010/main" val="3143343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1C39B-AA91-77B6-65A4-EC5174771A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518AC5-0AA9-4176-8B70-D52FC0FA8C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032C57-95AD-DFB0-1633-03B418C4F6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9482C4-6AA9-BC14-31B4-F1DBEC02E4CB}"/>
              </a:ext>
            </a:extLst>
          </p:cNvPr>
          <p:cNvSpPr>
            <a:spLocks noGrp="1"/>
          </p:cNvSpPr>
          <p:nvPr>
            <p:ph type="dt" sz="half" idx="10"/>
          </p:nvPr>
        </p:nvSpPr>
        <p:spPr/>
        <p:txBody>
          <a:bodyPr/>
          <a:lstStyle/>
          <a:p>
            <a:fld id="{0E029C30-920E-48FA-B7B2-CFDEC6BFC406}" type="datetimeFigureOut">
              <a:rPr lang="en-US" smtClean="0"/>
              <a:t>8/10/2024</a:t>
            </a:fld>
            <a:endParaRPr lang="en-US"/>
          </a:p>
        </p:txBody>
      </p:sp>
      <p:sp>
        <p:nvSpPr>
          <p:cNvPr id="6" name="Footer Placeholder 5">
            <a:extLst>
              <a:ext uri="{FF2B5EF4-FFF2-40B4-BE49-F238E27FC236}">
                <a16:creationId xmlns:a16="http://schemas.microsoft.com/office/drawing/2014/main" id="{0039BEC6-0478-9E9F-42A1-7B019682AD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22712A-E1DD-7856-AAD7-B9181487D3AC}"/>
              </a:ext>
            </a:extLst>
          </p:cNvPr>
          <p:cNvSpPr>
            <a:spLocks noGrp="1"/>
          </p:cNvSpPr>
          <p:nvPr>
            <p:ph type="sldNum" sz="quarter" idx="12"/>
          </p:nvPr>
        </p:nvSpPr>
        <p:spPr/>
        <p:txBody>
          <a:bodyPr/>
          <a:lstStyle/>
          <a:p>
            <a:fld id="{4B600753-1C8E-487B-9F87-46C1BAD32886}" type="slidenum">
              <a:rPr lang="en-US" smtClean="0"/>
              <a:t>‹#›</a:t>
            </a:fld>
            <a:endParaRPr lang="en-US"/>
          </a:p>
        </p:txBody>
      </p:sp>
    </p:spTree>
    <p:extLst>
      <p:ext uri="{BB962C8B-B14F-4D97-AF65-F5344CB8AC3E}">
        <p14:creationId xmlns:p14="http://schemas.microsoft.com/office/powerpoint/2010/main" val="4209296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29A1A-3A5A-9906-4898-B0369C984E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DDD390-82D8-11B4-51F4-DBD7A39BDB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034233-FCF6-572C-D2C8-8B56F5C100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23268A-3D4C-BF5B-0144-70D2613D2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68ECFC-495D-03AC-DCE7-1C7F5C99DD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6EBA78-6A06-3C6A-4342-85D614997E15}"/>
              </a:ext>
            </a:extLst>
          </p:cNvPr>
          <p:cNvSpPr>
            <a:spLocks noGrp="1"/>
          </p:cNvSpPr>
          <p:nvPr>
            <p:ph type="dt" sz="half" idx="10"/>
          </p:nvPr>
        </p:nvSpPr>
        <p:spPr/>
        <p:txBody>
          <a:bodyPr/>
          <a:lstStyle/>
          <a:p>
            <a:fld id="{0E029C30-920E-48FA-B7B2-CFDEC6BFC406}" type="datetimeFigureOut">
              <a:rPr lang="en-US" smtClean="0"/>
              <a:t>8/10/2024</a:t>
            </a:fld>
            <a:endParaRPr lang="en-US"/>
          </a:p>
        </p:txBody>
      </p:sp>
      <p:sp>
        <p:nvSpPr>
          <p:cNvPr id="8" name="Footer Placeholder 7">
            <a:extLst>
              <a:ext uri="{FF2B5EF4-FFF2-40B4-BE49-F238E27FC236}">
                <a16:creationId xmlns:a16="http://schemas.microsoft.com/office/drawing/2014/main" id="{F1A532B4-1EF2-14D1-B547-122098F709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8DAF83-5F76-73B3-A314-B920259B9CED}"/>
              </a:ext>
            </a:extLst>
          </p:cNvPr>
          <p:cNvSpPr>
            <a:spLocks noGrp="1"/>
          </p:cNvSpPr>
          <p:nvPr>
            <p:ph type="sldNum" sz="quarter" idx="12"/>
          </p:nvPr>
        </p:nvSpPr>
        <p:spPr/>
        <p:txBody>
          <a:bodyPr/>
          <a:lstStyle/>
          <a:p>
            <a:fld id="{4B600753-1C8E-487B-9F87-46C1BAD32886}" type="slidenum">
              <a:rPr lang="en-US" smtClean="0"/>
              <a:t>‹#›</a:t>
            </a:fld>
            <a:endParaRPr lang="en-US"/>
          </a:p>
        </p:txBody>
      </p:sp>
    </p:spTree>
    <p:extLst>
      <p:ext uri="{BB962C8B-B14F-4D97-AF65-F5344CB8AC3E}">
        <p14:creationId xmlns:p14="http://schemas.microsoft.com/office/powerpoint/2010/main" val="730305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DBA66-951E-8A94-86F4-713C7A1906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C4D5FE5-A29A-4D48-4A7F-000FAB182764}"/>
              </a:ext>
            </a:extLst>
          </p:cNvPr>
          <p:cNvSpPr>
            <a:spLocks noGrp="1"/>
          </p:cNvSpPr>
          <p:nvPr>
            <p:ph type="dt" sz="half" idx="10"/>
          </p:nvPr>
        </p:nvSpPr>
        <p:spPr/>
        <p:txBody>
          <a:bodyPr/>
          <a:lstStyle/>
          <a:p>
            <a:fld id="{0E029C30-920E-48FA-B7B2-CFDEC6BFC406}" type="datetimeFigureOut">
              <a:rPr lang="en-US" smtClean="0"/>
              <a:t>8/10/2024</a:t>
            </a:fld>
            <a:endParaRPr lang="en-US"/>
          </a:p>
        </p:txBody>
      </p:sp>
      <p:sp>
        <p:nvSpPr>
          <p:cNvPr id="4" name="Footer Placeholder 3">
            <a:extLst>
              <a:ext uri="{FF2B5EF4-FFF2-40B4-BE49-F238E27FC236}">
                <a16:creationId xmlns:a16="http://schemas.microsoft.com/office/drawing/2014/main" id="{B6A27A28-89A9-4B76-8262-C9F67A007B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FA60DA-34E2-D6F4-4D52-0D24026E9719}"/>
              </a:ext>
            </a:extLst>
          </p:cNvPr>
          <p:cNvSpPr>
            <a:spLocks noGrp="1"/>
          </p:cNvSpPr>
          <p:nvPr>
            <p:ph type="sldNum" sz="quarter" idx="12"/>
          </p:nvPr>
        </p:nvSpPr>
        <p:spPr/>
        <p:txBody>
          <a:bodyPr/>
          <a:lstStyle/>
          <a:p>
            <a:fld id="{4B600753-1C8E-487B-9F87-46C1BAD32886}" type="slidenum">
              <a:rPr lang="en-US" smtClean="0"/>
              <a:t>‹#›</a:t>
            </a:fld>
            <a:endParaRPr lang="en-US"/>
          </a:p>
        </p:txBody>
      </p:sp>
    </p:spTree>
    <p:extLst>
      <p:ext uri="{BB962C8B-B14F-4D97-AF65-F5344CB8AC3E}">
        <p14:creationId xmlns:p14="http://schemas.microsoft.com/office/powerpoint/2010/main" val="3479927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7CFEB9-09AB-A259-DCF7-FBEA4B5F18BA}"/>
              </a:ext>
            </a:extLst>
          </p:cNvPr>
          <p:cNvSpPr>
            <a:spLocks noGrp="1"/>
          </p:cNvSpPr>
          <p:nvPr>
            <p:ph type="dt" sz="half" idx="10"/>
          </p:nvPr>
        </p:nvSpPr>
        <p:spPr/>
        <p:txBody>
          <a:bodyPr/>
          <a:lstStyle/>
          <a:p>
            <a:fld id="{0E029C30-920E-48FA-B7B2-CFDEC6BFC406}" type="datetimeFigureOut">
              <a:rPr lang="en-US" smtClean="0"/>
              <a:t>8/10/2024</a:t>
            </a:fld>
            <a:endParaRPr lang="en-US"/>
          </a:p>
        </p:txBody>
      </p:sp>
      <p:sp>
        <p:nvSpPr>
          <p:cNvPr id="3" name="Footer Placeholder 2">
            <a:extLst>
              <a:ext uri="{FF2B5EF4-FFF2-40B4-BE49-F238E27FC236}">
                <a16:creationId xmlns:a16="http://schemas.microsoft.com/office/drawing/2014/main" id="{4602D757-ACCA-7520-91C9-7B5F31F6EF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3051C3-D722-60F1-E928-0004F7F2AB88}"/>
              </a:ext>
            </a:extLst>
          </p:cNvPr>
          <p:cNvSpPr>
            <a:spLocks noGrp="1"/>
          </p:cNvSpPr>
          <p:nvPr>
            <p:ph type="sldNum" sz="quarter" idx="12"/>
          </p:nvPr>
        </p:nvSpPr>
        <p:spPr/>
        <p:txBody>
          <a:bodyPr/>
          <a:lstStyle/>
          <a:p>
            <a:fld id="{4B600753-1C8E-487B-9F87-46C1BAD32886}" type="slidenum">
              <a:rPr lang="en-US" smtClean="0"/>
              <a:t>‹#›</a:t>
            </a:fld>
            <a:endParaRPr lang="en-US"/>
          </a:p>
        </p:txBody>
      </p:sp>
    </p:spTree>
    <p:extLst>
      <p:ext uri="{BB962C8B-B14F-4D97-AF65-F5344CB8AC3E}">
        <p14:creationId xmlns:p14="http://schemas.microsoft.com/office/powerpoint/2010/main" val="2113521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BA234-9BBB-13BD-44D6-5DF1153203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56C54A-E06B-814B-50B6-471E650315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2BA9B8-3BE1-8DCA-3250-8CB08A120D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B5F9CF-EEF1-FF99-835B-C7600FC1750E}"/>
              </a:ext>
            </a:extLst>
          </p:cNvPr>
          <p:cNvSpPr>
            <a:spLocks noGrp="1"/>
          </p:cNvSpPr>
          <p:nvPr>
            <p:ph type="dt" sz="half" idx="10"/>
          </p:nvPr>
        </p:nvSpPr>
        <p:spPr/>
        <p:txBody>
          <a:bodyPr/>
          <a:lstStyle/>
          <a:p>
            <a:fld id="{0E029C30-920E-48FA-B7B2-CFDEC6BFC406}" type="datetimeFigureOut">
              <a:rPr lang="en-US" smtClean="0"/>
              <a:t>8/10/2024</a:t>
            </a:fld>
            <a:endParaRPr lang="en-US"/>
          </a:p>
        </p:txBody>
      </p:sp>
      <p:sp>
        <p:nvSpPr>
          <p:cNvPr id="6" name="Footer Placeholder 5">
            <a:extLst>
              <a:ext uri="{FF2B5EF4-FFF2-40B4-BE49-F238E27FC236}">
                <a16:creationId xmlns:a16="http://schemas.microsoft.com/office/drawing/2014/main" id="{E09CDDD1-2206-7659-E350-D33BB876D7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BA4DB-A3CA-F418-625C-57898D7B626F}"/>
              </a:ext>
            </a:extLst>
          </p:cNvPr>
          <p:cNvSpPr>
            <a:spLocks noGrp="1"/>
          </p:cNvSpPr>
          <p:nvPr>
            <p:ph type="sldNum" sz="quarter" idx="12"/>
          </p:nvPr>
        </p:nvSpPr>
        <p:spPr/>
        <p:txBody>
          <a:bodyPr/>
          <a:lstStyle/>
          <a:p>
            <a:fld id="{4B600753-1C8E-487B-9F87-46C1BAD32886}" type="slidenum">
              <a:rPr lang="en-US" smtClean="0"/>
              <a:t>‹#›</a:t>
            </a:fld>
            <a:endParaRPr lang="en-US"/>
          </a:p>
        </p:txBody>
      </p:sp>
    </p:spTree>
    <p:extLst>
      <p:ext uri="{BB962C8B-B14F-4D97-AF65-F5344CB8AC3E}">
        <p14:creationId xmlns:p14="http://schemas.microsoft.com/office/powerpoint/2010/main" val="3489598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13E9D-FE40-D5C0-C073-97896ACD8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79C334-5027-A79C-2C4E-F04239A1C1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9E707F-811D-C0B4-BF7E-D35516057F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1A77B1-3D9E-062D-5155-96512A7BA439}"/>
              </a:ext>
            </a:extLst>
          </p:cNvPr>
          <p:cNvSpPr>
            <a:spLocks noGrp="1"/>
          </p:cNvSpPr>
          <p:nvPr>
            <p:ph type="dt" sz="half" idx="10"/>
          </p:nvPr>
        </p:nvSpPr>
        <p:spPr/>
        <p:txBody>
          <a:bodyPr/>
          <a:lstStyle/>
          <a:p>
            <a:fld id="{0E029C30-920E-48FA-B7B2-CFDEC6BFC406}" type="datetimeFigureOut">
              <a:rPr lang="en-US" smtClean="0"/>
              <a:t>8/10/2024</a:t>
            </a:fld>
            <a:endParaRPr lang="en-US"/>
          </a:p>
        </p:txBody>
      </p:sp>
      <p:sp>
        <p:nvSpPr>
          <p:cNvPr id="6" name="Footer Placeholder 5">
            <a:extLst>
              <a:ext uri="{FF2B5EF4-FFF2-40B4-BE49-F238E27FC236}">
                <a16:creationId xmlns:a16="http://schemas.microsoft.com/office/drawing/2014/main" id="{85E59691-0C10-A509-2137-5513F15BC2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459E92-D0EA-8544-5F43-4DBA16E10FD0}"/>
              </a:ext>
            </a:extLst>
          </p:cNvPr>
          <p:cNvSpPr>
            <a:spLocks noGrp="1"/>
          </p:cNvSpPr>
          <p:nvPr>
            <p:ph type="sldNum" sz="quarter" idx="12"/>
          </p:nvPr>
        </p:nvSpPr>
        <p:spPr/>
        <p:txBody>
          <a:bodyPr/>
          <a:lstStyle/>
          <a:p>
            <a:fld id="{4B600753-1C8E-487B-9F87-46C1BAD32886}" type="slidenum">
              <a:rPr lang="en-US" smtClean="0"/>
              <a:t>‹#›</a:t>
            </a:fld>
            <a:endParaRPr lang="en-US"/>
          </a:p>
        </p:txBody>
      </p:sp>
    </p:spTree>
    <p:extLst>
      <p:ext uri="{BB962C8B-B14F-4D97-AF65-F5344CB8AC3E}">
        <p14:creationId xmlns:p14="http://schemas.microsoft.com/office/powerpoint/2010/main" val="4210577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9503A-C4EB-13D6-2A12-224ED2FB0A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F1E6911-DCCD-66AE-970B-E31E121B49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B2A23-7501-3AB0-FF12-C0CD389D0E7D}"/>
              </a:ext>
            </a:extLst>
          </p:cNvPr>
          <p:cNvSpPr>
            <a:spLocks noGrp="1"/>
          </p:cNvSpPr>
          <p:nvPr>
            <p:ph type="dt" sz="half" idx="10"/>
          </p:nvPr>
        </p:nvSpPr>
        <p:spPr/>
        <p:txBody>
          <a:bodyPr/>
          <a:lstStyle/>
          <a:p>
            <a:fld id="{0E029C30-920E-48FA-B7B2-CFDEC6BFC406}" type="datetimeFigureOut">
              <a:rPr lang="en-US" smtClean="0"/>
              <a:t>8/10/2024</a:t>
            </a:fld>
            <a:endParaRPr lang="en-US"/>
          </a:p>
        </p:txBody>
      </p:sp>
      <p:sp>
        <p:nvSpPr>
          <p:cNvPr id="5" name="Footer Placeholder 4">
            <a:extLst>
              <a:ext uri="{FF2B5EF4-FFF2-40B4-BE49-F238E27FC236}">
                <a16:creationId xmlns:a16="http://schemas.microsoft.com/office/drawing/2014/main" id="{A3FD0D19-81EF-E9AB-9090-D3F10E69F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EF1F07-76FE-7C6B-8B19-EA95310CD8EC}"/>
              </a:ext>
            </a:extLst>
          </p:cNvPr>
          <p:cNvSpPr>
            <a:spLocks noGrp="1"/>
          </p:cNvSpPr>
          <p:nvPr>
            <p:ph type="sldNum" sz="quarter" idx="12"/>
          </p:nvPr>
        </p:nvSpPr>
        <p:spPr/>
        <p:txBody>
          <a:bodyPr/>
          <a:lstStyle/>
          <a:p>
            <a:fld id="{4B600753-1C8E-487B-9F87-46C1BAD32886}" type="slidenum">
              <a:rPr lang="en-US" smtClean="0"/>
              <a:t>‹#›</a:t>
            </a:fld>
            <a:endParaRPr lang="en-US"/>
          </a:p>
        </p:txBody>
      </p:sp>
    </p:spTree>
    <p:extLst>
      <p:ext uri="{BB962C8B-B14F-4D97-AF65-F5344CB8AC3E}">
        <p14:creationId xmlns:p14="http://schemas.microsoft.com/office/powerpoint/2010/main" val="1447062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C84940-6E79-9F3E-A2AE-9E1F1F4EE0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FC9776-8A20-0F6B-2764-BC5018966E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282805-6C4B-B015-DF58-880C18389D1D}"/>
              </a:ext>
            </a:extLst>
          </p:cNvPr>
          <p:cNvSpPr>
            <a:spLocks noGrp="1"/>
          </p:cNvSpPr>
          <p:nvPr>
            <p:ph type="dt" sz="half" idx="10"/>
          </p:nvPr>
        </p:nvSpPr>
        <p:spPr/>
        <p:txBody>
          <a:bodyPr/>
          <a:lstStyle/>
          <a:p>
            <a:fld id="{0E029C30-920E-48FA-B7B2-CFDEC6BFC406}" type="datetimeFigureOut">
              <a:rPr lang="en-US" smtClean="0"/>
              <a:t>8/10/2024</a:t>
            </a:fld>
            <a:endParaRPr lang="en-US"/>
          </a:p>
        </p:txBody>
      </p:sp>
      <p:sp>
        <p:nvSpPr>
          <p:cNvPr id="5" name="Footer Placeholder 4">
            <a:extLst>
              <a:ext uri="{FF2B5EF4-FFF2-40B4-BE49-F238E27FC236}">
                <a16:creationId xmlns:a16="http://schemas.microsoft.com/office/drawing/2014/main" id="{DACEA9A0-9888-B746-89DB-346B341EE1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963F63-F44E-36B3-7099-3440A3B4DDD2}"/>
              </a:ext>
            </a:extLst>
          </p:cNvPr>
          <p:cNvSpPr>
            <a:spLocks noGrp="1"/>
          </p:cNvSpPr>
          <p:nvPr>
            <p:ph type="sldNum" sz="quarter" idx="12"/>
          </p:nvPr>
        </p:nvSpPr>
        <p:spPr/>
        <p:txBody>
          <a:bodyPr/>
          <a:lstStyle/>
          <a:p>
            <a:fld id="{4B600753-1C8E-487B-9F87-46C1BAD32886}" type="slidenum">
              <a:rPr lang="en-US" smtClean="0"/>
              <a:t>‹#›</a:t>
            </a:fld>
            <a:endParaRPr lang="en-US"/>
          </a:p>
        </p:txBody>
      </p:sp>
    </p:spTree>
    <p:extLst>
      <p:ext uri="{BB962C8B-B14F-4D97-AF65-F5344CB8AC3E}">
        <p14:creationId xmlns:p14="http://schemas.microsoft.com/office/powerpoint/2010/main" val="3552127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FCF00C-554F-670B-89C7-AF0564F9D0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6E5749-458F-707A-8043-EF84FE6407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F33473-0524-BA2F-64B9-6734154190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029C30-920E-48FA-B7B2-CFDEC6BFC406}" type="datetimeFigureOut">
              <a:rPr lang="en-US" smtClean="0"/>
              <a:t>8/10/2024</a:t>
            </a:fld>
            <a:endParaRPr lang="en-US"/>
          </a:p>
        </p:txBody>
      </p:sp>
      <p:sp>
        <p:nvSpPr>
          <p:cNvPr id="5" name="Footer Placeholder 4">
            <a:extLst>
              <a:ext uri="{FF2B5EF4-FFF2-40B4-BE49-F238E27FC236}">
                <a16:creationId xmlns:a16="http://schemas.microsoft.com/office/drawing/2014/main" id="{F18031C2-46C4-707A-9CA7-13B8EB952A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9EDB6C-04AD-F600-6452-5E95A282E2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600753-1C8E-487B-9F87-46C1BAD32886}" type="slidenum">
              <a:rPr lang="en-US" smtClean="0"/>
              <a:t>‹#›</a:t>
            </a:fld>
            <a:endParaRPr lang="en-US"/>
          </a:p>
        </p:txBody>
      </p:sp>
    </p:spTree>
    <p:extLst>
      <p:ext uri="{BB962C8B-B14F-4D97-AF65-F5344CB8AC3E}">
        <p14:creationId xmlns:p14="http://schemas.microsoft.com/office/powerpoint/2010/main" val="2085048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text, screenshot, line, font&#10;&#10;Description automatically generated">
            <a:extLst>
              <a:ext uri="{FF2B5EF4-FFF2-40B4-BE49-F238E27FC236}">
                <a16:creationId xmlns:a16="http://schemas.microsoft.com/office/drawing/2014/main" id="{1EC4F8D4-EB39-433C-8C2B-70D0C2CB7FCE}"/>
              </a:ext>
            </a:extLst>
          </p:cNvPr>
          <p:cNvPicPr/>
          <p:nvPr/>
        </p:nvPicPr>
        <p:blipFill>
          <a:blip r:embed="rId2"/>
          <a:stretch>
            <a:fillRect/>
          </a:stretch>
        </p:blipFill>
        <p:spPr>
          <a:xfrm>
            <a:off x="962025" y="971550"/>
            <a:ext cx="9334499" cy="4381500"/>
          </a:xfrm>
          <a:prstGeom prst="rect">
            <a:avLst/>
          </a:prstGeom>
        </p:spPr>
      </p:pic>
    </p:spTree>
    <p:extLst>
      <p:ext uri="{BB962C8B-B14F-4D97-AF65-F5344CB8AC3E}">
        <p14:creationId xmlns:p14="http://schemas.microsoft.com/office/powerpoint/2010/main" val="2189824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CA25E-375A-F57C-EAD1-C11E58F002D6}"/>
              </a:ext>
            </a:extLst>
          </p:cNvPr>
          <p:cNvSpPr>
            <a:spLocks noGrp="1"/>
          </p:cNvSpPr>
          <p:nvPr>
            <p:ph type="title"/>
          </p:nvPr>
        </p:nvSpPr>
        <p:spPr/>
        <p:txBody>
          <a:bodyPr/>
          <a:lstStyle/>
          <a:p>
            <a:r>
              <a:rPr lang="en-US" dirty="0"/>
              <a:t>Dimensionality Reduction Techniques</a:t>
            </a:r>
          </a:p>
        </p:txBody>
      </p:sp>
      <p:pic>
        <p:nvPicPr>
          <p:cNvPr id="5" name="Content Placeholder 4" descr="A diagram of a process">
            <a:extLst>
              <a:ext uri="{FF2B5EF4-FFF2-40B4-BE49-F238E27FC236}">
                <a16:creationId xmlns:a16="http://schemas.microsoft.com/office/drawing/2014/main" id="{CE90CBB4-7333-C335-FCE9-2F15E3B6439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20612"/>
          <a:stretch/>
        </p:blipFill>
        <p:spPr>
          <a:xfrm>
            <a:off x="925750" y="1648501"/>
            <a:ext cx="10428050" cy="4854102"/>
          </a:xfrm>
        </p:spPr>
      </p:pic>
    </p:spTree>
    <p:extLst>
      <p:ext uri="{BB962C8B-B14F-4D97-AF65-F5344CB8AC3E}">
        <p14:creationId xmlns:p14="http://schemas.microsoft.com/office/powerpoint/2010/main" val="174516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text, screenshot, font, number&#10;&#10;Description automatically generated">
            <a:extLst>
              <a:ext uri="{FF2B5EF4-FFF2-40B4-BE49-F238E27FC236}">
                <a16:creationId xmlns:a16="http://schemas.microsoft.com/office/drawing/2014/main" id="{6F68E920-3F9D-4E75-987F-66ADFD6F858E}"/>
              </a:ext>
            </a:extLst>
          </p:cNvPr>
          <p:cNvPicPr/>
          <p:nvPr/>
        </p:nvPicPr>
        <p:blipFill>
          <a:blip r:embed="rId2"/>
          <a:stretch>
            <a:fillRect/>
          </a:stretch>
        </p:blipFill>
        <p:spPr>
          <a:xfrm>
            <a:off x="1476375" y="295276"/>
            <a:ext cx="8163243" cy="3432492"/>
          </a:xfrm>
          <a:prstGeom prst="rect">
            <a:avLst/>
          </a:prstGeom>
        </p:spPr>
      </p:pic>
      <p:pic>
        <p:nvPicPr>
          <p:cNvPr id="3" name="Picture 2" descr="A picture containing text, font, screenshot, algebra&#10;&#10;Description automatically generated">
            <a:extLst>
              <a:ext uri="{FF2B5EF4-FFF2-40B4-BE49-F238E27FC236}">
                <a16:creationId xmlns:a16="http://schemas.microsoft.com/office/drawing/2014/main" id="{6351FE05-4403-492C-8C14-C6ADF5E0AF7C}"/>
              </a:ext>
            </a:extLst>
          </p:cNvPr>
          <p:cNvPicPr/>
          <p:nvPr/>
        </p:nvPicPr>
        <p:blipFill>
          <a:blip r:embed="rId3"/>
          <a:stretch>
            <a:fillRect/>
          </a:stretch>
        </p:blipFill>
        <p:spPr>
          <a:xfrm>
            <a:off x="1333500" y="4276726"/>
            <a:ext cx="8306118" cy="1800224"/>
          </a:xfrm>
          <a:prstGeom prst="rect">
            <a:avLst/>
          </a:prstGeom>
        </p:spPr>
      </p:pic>
    </p:spTree>
    <p:extLst>
      <p:ext uri="{BB962C8B-B14F-4D97-AF65-F5344CB8AC3E}">
        <p14:creationId xmlns:p14="http://schemas.microsoft.com/office/powerpoint/2010/main" val="2597488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text, font, line, screenshot&#10;&#10;Description automatically generated">
            <a:extLst>
              <a:ext uri="{FF2B5EF4-FFF2-40B4-BE49-F238E27FC236}">
                <a16:creationId xmlns:a16="http://schemas.microsoft.com/office/drawing/2014/main" id="{79C0E567-7998-4A7C-92E3-0725656342FB}"/>
              </a:ext>
            </a:extLst>
          </p:cNvPr>
          <p:cNvPicPr/>
          <p:nvPr/>
        </p:nvPicPr>
        <p:blipFill>
          <a:blip r:embed="rId2"/>
          <a:stretch>
            <a:fillRect/>
          </a:stretch>
        </p:blipFill>
        <p:spPr>
          <a:xfrm>
            <a:off x="1724024" y="1300163"/>
            <a:ext cx="7724775" cy="4257674"/>
          </a:xfrm>
          <a:prstGeom prst="rect">
            <a:avLst/>
          </a:prstGeom>
        </p:spPr>
      </p:pic>
    </p:spTree>
    <p:extLst>
      <p:ext uri="{BB962C8B-B14F-4D97-AF65-F5344CB8AC3E}">
        <p14:creationId xmlns:p14="http://schemas.microsoft.com/office/powerpoint/2010/main" val="2527808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69E65-E7A3-4B7B-91A9-CC38280549AE}"/>
              </a:ext>
            </a:extLst>
          </p:cNvPr>
          <p:cNvSpPr>
            <a:spLocks noGrp="1"/>
          </p:cNvSpPr>
          <p:nvPr>
            <p:ph type="title"/>
          </p:nvPr>
        </p:nvSpPr>
        <p:spPr/>
        <p:txBody>
          <a:bodyPr/>
          <a:lstStyle/>
          <a:p>
            <a:r>
              <a:rPr lang="en-US" b="1" dirty="0"/>
              <a:t>1. Filter Methods</a:t>
            </a:r>
            <a:endParaRPr lang="en-US" dirty="0"/>
          </a:p>
        </p:txBody>
      </p:sp>
      <p:sp>
        <p:nvSpPr>
          <p:cNvPr id="3" name="Content Placeholder 2">
            <a:extLst>
              <a:ext uri="{FF2B5EF4-FFF2-40B4-BE49-F238E27FC236}">
                <a16:creationId xmlns:a16="http://schemas.microsoft.com/office/drawing/2014/main" id="{1F53DE22-C1A8-355D-3A56-BE315336F65B}"/>
              </a:ext>
            </a:extLst>
          </p:cNvPr>
          <p:cNvSpPr>
            <a:spLocks noGrp="1"/>
          </p:cNvSpPr>
          <p:nvPr>
            <p:ph idx="1"/>
          </p:nvPr>
        </p:nvSpPr>
        <p:spPr/>
        <p:txBody>
          <a:bodyPr>
            <a:normAutofit fontScale="92500"/>
          </a:bodyPr>
          <a:lstStyle/>
          <a:p>
            <a:r>
              <a:rPr lang="en-US" dirty="0"/>
              <a:t>Filter methods evaluate the relevance of features based on statistical measures and do not involve any machine learning models.</a:t>
            </a:r>
          </a:p>
          <a:p>
            <a:pPr>
              <a:buFont typeface="Arial" panose="020B0604020202020204" pitchFamily="34" charset="0"/>
              <a:buChar char="•"/>
            </a:pPr>
            <a:r>
              <a:rPr lang="en-US" b="1" dirty="0"/>
              <a:t>Variance Threshold</a:t>
            </a:r>
            <a:r>
              <a:rPr lang="en-US" dirty="0"/>
              <a:t>: Removes features that have a variance below a certain threshold, as low variance often means low information.</a:t>
            </a:r>
          </a:p>
          <a:p>
            <a:pPr>
              <a:buFont typeface="Arial" panose="020B0604020202020204" pitchFamily="34" charset="0"/>
              <a:buChar char="•"/>
            </a:pPr>
            <a:r>
              <a:rPr lang="en-US" b="1" dirty="0"/>
              <a:t>Correlation Coefficient</a:t>
            </a:r>
            <a:r>
              <a:rPr lang="en-US" dirty="0"/>
              <a:t>: Features that are highly correlated with the target variable are kept, while those with low correlation are removed.</a:t>
            </a:r>
          </a:p>
          <a:p>
            <a:pPr>
              <a:buFont typeface="Arial" panose="020B0604020202020204" pitchFamily="34" charset="0"/>
              <a:buChar char="•"/>
            </a:pPr>
            <a:r>
              <a:rPr lang="en-US" b="1" dirty="0"/>
              <a:t>Chi-Square Test</a:t>
            </a:r>
            <a:r>
              <a:rPr lang="en-US" dirty="0"/>
              <a:t>: Used for categorical data; it tests the independence between each feature and the target variable.</a:t>
            </a:r>
          </a:p>
          <a:p>
            <a:pPr>
              <a:buFont typeface="Arial" panose="020B0604020202020204" pitchFamily="34" charset="0"/>
              <a:buChar char="•"/>
            </a:pPr>
            <a:r>
              <a:rPr lang="en-US" b="1" dirty="0"/>
              <a:t>Mutual Information</a:t>
            </a:r>
            <a:r>
              <a:rPr lang="en-US" dirty="0"/>
              <a:t>: Measures the amount of information obtained about one random variable through another random variable.</a:t>
            </a:r>
          </a:p>
          <a:p>
            <a:endParaRPr lang="en-US" dirty="0"/>
          </a:p>
        </p:txBody>
      </p:sp>
    </p:spTree>
    <p:extLst>
      <p:ext uri="{BB962C8B-B14F-4D97-AF65-F5344CB8AC3E}">
        <p14:creationId xmlns:p14="http://schemas.microsoft.com/office/powerpoint/2010/main" val="1057704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text, screenshot, font, line&#10;&#10;Description automatically generated">
            <a:extLst>
              <a:ext uri="{FF2B5EF4-FFF2-40B4-BE49-F238E27FC236}">
                <a16:creationId xmlns:a16="http://schemas.microsoft.com/office/drawing/2014/main" id="{DD40E466-8CDF-4A87-9383-636786FFE3FB}"/>
              </a:ext>
            </a:extLst>
          </p:cNvPr>
          <p:cNvPicPr/>
          <p:nvPr/>
        </p:nvPicPr>
        <p:blipFill>
          <a:blip r:embed="rId2"/>
          <a:stretch>
            <a:fillRect/>
          </a:stretch>
        </p:blipFill>
        <p:spPr>
          <a:xfrm>
            <a:off x="828675" y="542925"/>
            <a:ext cx="9039225" cy="5248275"/>
          </a:xfrm>
          <a:prstGeom prst="rect">
            <a:avLst/>
          </a:prstGeom>
        </p:spPr>
      </p:pic>
    </p:spTree>
    <p:extLst>
      <p:ext uri="{BB962C8B-B14F-4D97-AF65-F5344CB8AC3E}">
        <p14:creationId xmlns:p14="http://schemas.microsoft.com/office/powerpoint/2010/main" val="165647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AD6DFC-F1B3-479C-939D-F8CB73E4AD4B}"/>
              </a:ext>
            </a:extLst>
          </p:cNvPr>
          <p:cNvPicPr>
            <a:picLocks noChangeAspect="1"/>
          </p:cNvPicPr>
          <p:nvPr/>
        </p:nvPicPr>
        <p:blipFill>
          <a:blip r:embed="rId2"/>
          <a:stretch>
            <a:fillRect/>
          </a:stretch>
        </p:blipFill>
        <p:spPr>
          <a:xfrm>
            <a:off x="581024" y="382371"/>
            <a:ext cx="11029951" cy="4809228"/>
          </a:xfrm>
          <a:prstGeom prst="rect">
            <a:avLst/>
          </a:prstGeom>
        </p:spPr>
      </p:pic>
    </p:spTree>
    <p:extLst>
      <p:ext uri="{BB962C8B-B14F-4D97-AF65-F5344CB8AC3E}">
        <p14:creationId xmlns:p14="http://schemas.microsoft.com/office/powerpoint/2010/main" val="91299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76D9E-7945-65BE-E813-729F3DBEDEA8}"/>
              </a:ext>
            </a:extLst>
          </p:cNvPr>
          <p:cNvSpPr>
            <a:spLocks noGrp="1"/>
          </p:cNvSpPr>
          <p:nvPr>
            <p:ph type="title"/>
          </p:nvPr>
        </p:nvSpPr>
        <p:spPr/>
        <p:txBody>
          <a:bodyPr/>
          <a:lstStyle/>
          <a:p>
            <a:r>
              <a:rPr lang="en-US" dirty="0"/>
              <a:t>Chi square </a:t>
            </a:r>
          </a:p>
        </p:txBody>
      </p:sp>
      <p:pic>
        <p:nvPicPr>
          <p:cNvPr id="5" name="Content Placeholder 4" descr="A white paper with black text and black text">
            <a:extLst>
              <a:ext uri="{FF2B5EF4-FFF2-40B4-BE49-F238E27FC236}">
                <a16:creationId xmlns:a16="http://schemas.microsoft.com/office/drawing/2014/main" id="{D234E9BC-A6BE-4CA5-2B67-C6D26AEFFF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28129"/>
            <a:ext cx="10239384" cy="4440580"/>
          </a:xfrm>
        </p:spPr>
      </p:pic>
    </p:spTree>
    <p:extLst>
      <p:ext uri="{BB962C8B-B14F-4D97-AF65-F5344CB8AC3E}">
        <p14:creationId xmlns:p14="http://schemas.microsoft.com/office/powerpoint/2010/main" val="3684551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A40C17-667B-4DF6-949D-D5F7490AEDBB}"/>
              </a:ext>
            </a:extLst>
          </p:cNvPr>
          <p:cNvPicPr>
            <a:picLocks noChangeAspect="1"/>
          </p:cNvPicPr>
          <p:nvPr/>
        </p:nvPicPr>
        <p:blipFill>
          <a:blip r:embed="rId2"/>
          <a:stretch>
            <a:fillRect/>
          </a:stretch>
        </p:blipFill>
        <p:spPr>
          <a:xfrm>
            <a:off x="685799" y="318323"/>
            <a:ext cx="11134725" cy="2520127"/>
          </a:xfrm>
          <a:prstGeom prst="rect">
            <a:avLst/>
          </a:prstGeom>
        </p:spPr>
      </p:pic>
      <p:pic>
        <p:nvPicPr>
          <p:cNvPr id="6" name="Picture 5">
            <a:extLst>
              <a:ext uri="{FF2B5EF4-FFF2-40B4-BE49-F238E27FC236}">
                <a16:creationId xmlns:a16="http://schemas.microsoft.com/office/drawing/2014/main" id="{7B00C226-3B6F-4F21-BFCA-3AFAFA92FEE9}"/>
              </a:ext>
            </a:extLst>
          </p:cNvPr>
          <p:cNvPicPr>
            <a:picLocks noChangeAspect="1"/>
          </p:cNvPicPr>
          <p:nvPr/>
        </p:nvPicPr>
        <p:blipFill>
          <a:blip r:embed="rId3"/>
          <a:stretch>
            <a:fillRect/>
          </a:stretch>
        </p:blipFill>
        <p:spPr>
          <a:xfrm>
            <a:off x="590550" y="3133725"/>
            <a:ext cx="5753100" cy="2857500"/>
          </a:xfrm>
          <a:prstGeom prst="rect">
            <a:avLst/>
          </a:prstGeom>
        </p:spPr>
      </p:pic>
      <p:pic>
        <p:nvPicPr>
          <p:cNvPr id="8" name="Picture 7">
            <a:extLst>
              <a:ext uri="{FF2B5EF4-FFF2-40B4-BE49-F238E27FC236}">
                <a16:creationId xmlns:a16="http://schemas.microsoft.com/office/drawing/2014/main" id="{98BFB4F2-3C3A-40C9-BAA0-6576223DC737}"/>
              </a:ext>
            </a:extLst>
          </p:cNvPr>
          <p:cNvPicPr>
            <a:picLocks noChangeAspect="1"/>
          </p:cNvPicPr>
          <p:nvPr/>
        </p:nvPicPr>
        <p:blipFill>
          <a:blip r:embed="rId4"/>
          <a:stretch>
            <a:fillRect/>
          </a:stretch>
        </p:blipFill>
        <p:spPr>
          <a:xfrm>
            <a:off x="6419849" y="3133725"/>
            <a:ext cx="5400675" cy="3000375"/>
          </a:xfrm>
          <a:prstGeom prst="rect">
            <a:avLst/>
          </a:prstGeom>
        </p:spPr>
      </p:pic>
    </p:spTree>
    <p:extLst>
      <p:ext uri="{BB962C8B-B14F-4D97-AF65-F5344CB8AC3E}">
        <p14:creationId xmlns:p14="http://schemas.microsoft.com/office/powerpoint/2010/main" val="246633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E231F4-6C6F-4839-9998-A0E0388FE4A4}"/>
              </a:ext>
            </a:extLst>
          </p:cNvPr>
          <p:cNvPicPr>
            <a:picLocks noChangeAspect="1"/>
          </p:cNvPicPr>
          <p:nvPr/>
        </p:nvPicPr>
        <p:blipFill>
          <a:blip r:embed="rId2"/>
          <a:stretch>
            <a:fillRect/>
          </a:stretch>
        </p:blipFill>
        <p:spPr>
          <a:xfrm>
            <a:off x="3613420" y="3942843"/>
            <a:ext cx="5753100" cy="2333625"/>
          </a:xfrm>
          <a:prstGeom prst="rect">
            <a:avLst/>
          </a:prstGeom>
        </p:spPr>
      </p:pic>
      <p:pic>
        <p:nvPicPr>
          <p:cNvPr id="5" name="Picture 4">
            <a:extLst>
              <a:ext uri="{FF2B5EF4-FFF2-40B4-BE49-F238E27FC236}">
                <a16:creationId xmlns:a16="http://schemas.microsoft.com/office/drawing/2014/main" id="{FCFF424C-7C15-4FDD-8AC4-4C9ADB221C6C}"/>
              </a:ext>
            </a:extLst>
          </p:cNvPr>
          <p:cNvPicPr>
            <a:picLocks noChangeAspect="1"/>
          </p:cNvPicPr>
          <p:nvPr/>
        </p:nvPicPr>
        <p:blipFill>
          <a:blip r:embed="rId3"/>
          <a:stretch>
            <a:fillRect/>
          </a:stretch>
        </p:blipFill>
        <p:spPr>
          <a:xfrm>
            <a:off x="707506" y="328613"/>
            <a:ext cx="10776988" cy="3969203"/>
          </a:xfrm>
          <a:prstGeom prst="rect">
            <a:avLst/>
          </a:prstGeom>
        </p:spPr>
      </p:pic>
    </p:spTree>
    <p:extLst>
      <p:ext uri="{BB962C8B-B14F-4D97-AF65-F5344CB8AC3E}">
        <p14:creationId xmlns:p14="http://schemas.microsoft.com/office/powerpoint/2010/main" val="2430283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472F13-D4CD-45AC-AE4A-A6FA3893EE71}"/>
              </a:ext>
            </a:extLst>
          </p:cNvPr>
          <p:cNvPicPr>
            <a:picLocks noChangeAspect="1"/>
          </p:cNvPicPr>
          <p:nvPr/>
        </p:nvPicPr>
        <p:blipFill>
          <a:blip r:embed="rId2"/>
          <a:stretch>
            <a:fillRect/>
          </a:stretch>
        </p:blipFill>
        <p:spPr>
          <a:xfrm>
            <a:off x="695325" y="471487"/>
            <a:ext cx="10363200" cy="4086225"/>
          </a:xfrm>
          <a:prstGeom prst="rect">
            <a:avLst/>
          </a:prstGeom>
        </p:spPr>
      </p:pic>
    </p:spTree>
    <p:extLst>
      <p:ext uri="{BB962C8B-B14F-4D97-AF65-F5344CB8AC3E}">
        <p14:creationId xmlns:p14="http://schemas.microsoft.com/office/powerpoint/2010/main" val="3681650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A8F0EEC-F011-40AC-9C0F-1B52EB72795C}"/>
              </a:ext>
            </a:extLst>
          </p:cNvPr>
          <p:cNvPicPr>
            <a:picLocks noChangeAspect="1"/>
          </p:cNvPicPr>
          <p:nvPr/>
        </p:nvPicPr>
        <p:blipFill>
          <a:blip r:embed="rId2"/>
          <a:stretch>
            <a:fillRect/>
          </a:stretch>
        </p:blipFill>
        <p:spPr>
          <a:xfrm>
            <a:off x="561975" y="300432"/>
            <a:ext cx="10725150" cy="4677164"/>
          </a:xfrm>
          <a:prstGeom prst="rect">
            <a:avLst/>
          </a:prstGeom>
        </p:spPr>
      </p:pic>
      <p:pic>
        <p:nvPicPr>
          <p:cNvPr id="4" name="Picture 3">
            <a:extLst>
              <a:ext uri="{FF2B5EF4-FFF2-40B4-BE49-F238E27FC236}">
                <a16:creationId xmlns:a16="http://schemas.microsoft.com/office/drawing/2014/main" id="{4625D154-23C3-4C47-A02F-7621AEADC833}"/>
              </a:ext>
            </a:extLst>
          </p:cNvPr>
          <p:cNvPicPr>
            <a:picLocks noChangeAspect="1"/>
          </p:cNvPicPr>
          <p:nvPr/>
        </p:nvPicPr>
        <p:blipFill>
          <a:blip r:embed="rId3"/>
          <a:stretch>
            <a:fillRect/>
          </a:stretch>
        </p:blipFill>
        <p:spPr>
          <a:xfrm>
            <a:off x="1257300" y="4977596"/>
            <a:ext cx="9163050" cy="1828800"/>
          </a:xfrm>
          <a:prstGeom prst="rect">
            <a:avLst/>
          </a:prstGeom>
        </p:spPr>
      </p:pic>
    </p:spTree>
    <p:extLst>
      <p:ext uri="{BB962C8B-B14F-4D97-AF65-F5344CB8AC3E}">
        <p14:creationId xmlns:p14="http://schemas.microsoft.com/office/powerpoint/2010/main" val="2254714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D09E8A-59D4-48FC-8482-EDDC8F7CDD80}"/>
              </a:ext>
            </a:extLst>
          </p:cNvPr>
          <p:cNvPicPr>
            <a:picLocks noChangeAspect="1"/>
          </p:cNvPicPr>
          <p:nvPr/>
        </p:nvPicPr>
        <p:blipFill>
          <a:blip r:embed="rId2"/>
          <a:stretch>
            <a:fillRect/>
          </a:stretch>
        </p:blipFill>
        <p:spPr>
          <a:xfrm>
            <a:off x="2924175" y="347662"/>
            <a:ext cx="6343650" cy="6162675"/>
          </a:xfrm>
          <a:prstGeom prst="rect">
            <a:avLst/>
          </a:prstGeom>
        </p:spPr>
      </p:pic>
    </p:spTree>
    <p:extLst>
      <p:ext uri="{BB962C8B-B14F-4D97-AF65-F5344CB8AC3E}">
        <p14:creationId xmlns:p14="http://schemas.microsoft.com/office/powerpoint/2010/main" val="2439381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F7210-8376-D34A-E78E-448DD2E7BF62}"/>
              </a:ext>
            </a:extLst>
          </p:cNvPr>
          <p:cNvSpPr>
            <a:spLocks noGrp="1"/>
          </p:cNvSpPr>
          <p:nvPr>
            <p:ph type="title"/>
          </p:nvPr>
        </p:nvSpPr>
        <p:spPr/>
        <p:txBody>
          <a:bodyPr/>
          <a:lstStyle/>
          <a:p>
            <a:r>
              <a:rPr lang="en-US" dirty="0"/>
              <a:t>Chi square </a:t>
            </a:r>
          </a:p>
        </p:txBody>
      </p:sp>
      <p:sp>
        <p:nvSpPr>
          <p:cNvPr id="4" name="Rectangle 1">
            <a:extLst>
              <a:ext uri="{FF2B5EF4-FFF2-40B4-BE49-F238E27FC236}">
                <a16:creationId xmlns:a16="http://schemas.microsoft.com/office/drawing/2014/main" id="{1A0EF242-DD9F-EA67-2D04-A25621F8C4BD}"/>
              </a:ext>
            </a:extLst>
          </p:cNvPr>
          <p:cNvSpPr>
            <a:spLocks noGrp="1" noChangeArrowheads="1"/>
          </p:cNvSpPr>
          <p:nvPr>
            <p:ph idx="1"/>
          </p:nvPr>
        </p:nvSpPr>
        <p:spPr bwMode="auto">
          <a:xfrm>
            <a:off x="838200" y="2194118"/>
            <a:ext cx="1071372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Chi-Square Statistic</a:t>
            </a:r>
            <a:r>
              <a:rPr kumimoji="0" lang="en-US" altLang="en-US" sz="1800" b="0" i="0" u="none" strike="noStrike" cap="none" normalizeH="0" baseline="0" dirty="0">
                <a:ln>
                  <a:noFill/>
                </a:ln>
                <a:solidFill>
                  <a:schemeClr val="tx1"/>
                </a:solidFill>
                <a:effectLst/>
                <a:latin typeface="Arial" panose="020B0604020202020204" pitchFamily="34" charset="0"/>
              </a:rPr>
              <a:t>: Measures how much the observed frequencies differ from the expected frequencies.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P-Value</a:t>
            </a:r>
            <a:r>
              <a:rPr kumimoji="0" lang="en-US" altLang="en-US" sz="1800" b="0" i="0" u="none" strike="noStrike" cap="none" normalizeH="0" baseline="0" dirty="0">
                <a:ln>
                  <a:noFill/>
                </a:ln>
                <a:solidFill>
                  <a:schemeClr val="tx1"/>
                </a:solidFill>
                <a:effectLst/>
                <a:latin typeface="Arial" panose="020B0604020202020204" pitchFamily="34" charset="0"/>
              </a:rPr>
              <a:t>: If the p-value is less than the significance level (e.g., 0.05), reject the null hypothesis of independence.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Degrees of Freedom</a:t>
            </a:r>
            <a:r>
              <a:rPr kumimoji="0" lang="en-US" altLang="en-US" sz="1800" b="0" i="0" u="none" strike="noStrike" cap="none" normalizeH="0" baseline="0" dirty="0">
                <a:ln>
                  <a:noFill/>
                </a:ln>
                <a:solidFill>
                  <a:schemeClr val="tx1"/>
                </a:solidFill>
                <a:effectLst/>
                <a:latin typeface="Arial" panose="020B0604020202020204" pitchFamily="34" charset="0"/>
              </a:rPr>
              <a:t>: Used to determine the critical value from the Chi-Square distribution table.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Expected Frequencies</a:t>
            </a:r>
            <a:r>
              <a:rPr kumimoji="0" lang="en-US" altLang="en-US" sz="1800" b="0" i="0" u="none" strike="noStrike" cap="none" normalizeH="0" baseline="0" dirty="0">
                <a:ln>
                  <a:noFill/>
                </a:ln>
                <a:solidFill>
                  <a:schemeClr val="tx1"/>
                </a:solidFill>
                <a:effectLst/>
                <a:latin typeface="Arial" panose="020B0604020202020204" pitchFamily="34" charset="0"/>
              </a:rPr>
              <a:t>: Helps to understand how the data would look if there were no association between the variables. </a:t>
            </a:r>
          </a:p>
        </p:txBody>
      </p:sp>
    </p:spTree>
    <p:extLst>
      <p:ext uri="{BB962C8B-B14F-4D97-AF65-F5344CB8AC3E}">
        <p14:creationId xmlns:p14="http://schemas.microsoft.com/office/powerpoint/2010/main" val="1461541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9F52B-2261-ED2D-B44E-5D3AEDDE2F52}"/>
              </a:ext>
            </a:extLst>
          </p:cNvPr>
          <p:cNvSpPr>
            <a:spLocks noGrp="1"/>
          </p:cNvSpPr>
          <p:nvPr>
            <p:ph type="title"/>
          </p:nvPr>
        </p:nvSpPr>
        <p:spPr/>
        <p:txBody>
          <a:bodyPr/>
          <a:lstStyle/>
          <a:p>
            <a:r>
              <a:rPr lang="en-US" dirty="0" err="1"/>
              <a:t>Annova</a:t>
            </a:r>
            <a:r>
              <a:rPr lang="en-US" dirty="0"/>
              <a:t> Feature selection</a:t>
            </a:r>
          </a:p>
        </p:txBody>
      </p:sp>
      <p:sp>
        <p:nvSpPr>
          <p:cNvPr id="3" name="Content Placeholder 2">
            <a:extLst>
              <a:ext uri="{FF2B5EF4-FFF2-40B4-BE49-F238E27FC236}">
                <a16:creationId xmlns:a16="http://schemas.microsoft.com/office/drawing/2014/main" id="{A9B70B40-D532-A9BA-9719-1195B5D2F8BD}"/>
              </a:ext>
            </a:extLst>
          </p:cNvPr>
          <p:cNvSpPr>
            <a:spLocks noGrp="1"/>
          </p:cNvSpPr>
          <p:nvPr>
            <p:ph idx="1"/>
          </p:nvPr>
        </p:nvSpPr>
        <p:spPr>
          <a:xfrm>
            <a:off x="838200" y="1381760"/>
            <a:ext cx="11181080" cy="5201920"/>
          </a:xfrm>
        </p:spPr>
        <p:txBody>
          <a:bodyPr>
            <a:normAutofit fontScale="62500" lnSpcReduction="20000"/>
          </a:bodyPr>
          <a:lstStyle/>
          <a:p>
            <a:r>
              <a:rPr lang="en-US" dirty="0"/>
              <a:t>ANOVA (Analysis of Variance) is a statistical method used to compare the means of three or more groups to determine if there are any statistically significant differences between them.</a:t>
            </a:r>
          </a:p>
          <a:p>
            <a:r>
              <a:rPr lang="en-US" dirty="0"/>
              <a:t>In the context of feature selection, ANOVA can be used to evaluate the importance of each feature in relation to the target variable, particularly for classification tasks. </a:t>
            </a:r>
          </a:p>
          <a:p>
            <a:endParaRPr lang="en-US" dirty="0"/>
          </a:p>
          <a:p>
            <a:pPr marL="0" indent="0">
              <a:buNone/>
            </a:pPr>
            <a:r>
              <a:rPr lang="en-US" b="1" dirty="0"/>
              <a:t>1. Objective of ANOVA for Feature Selection</a:t>
            </a:r>
          </a:p>
          <a:p>
            <a:endParaRPr lang="en-US" b="1" dirty="0"/>
          </a:p>
          <a:p>
            <a:pPr>
              <a:buFont typeface="Arial" panose="020B0604020202020204" pitchFamily="34" charset="0"/>
              <a:buChar char="•"/>
            </a:pPr>
            <a:r>
              <a:rPr lang="en-US" b="1" dirty="0"/>
              <a:t>Feature Importance</a:t>
            </a:r>
            <a:r>
              <a:rPr lang="en-US" dirty="0"/>
              <a:t>: ANOVA can be used to assess the relevance of each feature with respect to the target variable. Features that have a significant effect on the target variable (i.e., features that lead to significant differences between groups) are considered important.</a:t>
            </a:r>
          </a:p>
          <a:p>
            <a:pPr>
              <a:buFont typeface="Arial" panose="020B0604020202020204" pitchFamily="34" charset="0"/>
              <a:buChar char="•"/>
            </a:pPr>
            <a:endParaRPr lang="en-US" dirty="0"/>
          </a:p>
          <a:p>
            <a:pPr marL="0" indent="0">
              <a:buNone/>
            </a:pPr>
            <a:r>
              <a:rPr lang="en-US" b="1" dirty="0"/>
              <a:t>2. How ANOVA Works for Feature Selection</a:t>
            </a:r>
          </a:p>
          <a:p>
            <a:endParaRPr lang="en-US" b="1" dirty="0"/>
          </a:p>
          <a:p>
            <a:pPr>
              <a:buFont typeface="Arial" panose="020B0604020202020204" pitchFamily="34" charset="0"/>
              <a:buChar char="•"/>
            </a:pPr>
            <a:r>
              <a:rPr lang="en-US" b="1" dirty="0"/>
              <a:t>Group Comparison</a:t>
            </a:r>
            <a:r>
              <a:rPr lang="en-US" dirty="0"/>
              <a:t>: ANOVA tests whether the means of different groups (defined by the target variable) are statistically different. If the variance between groups is significantly larger than the variance within groups, the feature is considered important.</a:t>
            </a:r>
          </a:p>
          <a:p>
            <a:pPr>
              <a:buFont typeface="Arial" panose="020B0604020202020204" pitchFamily="34" charset="0"/>
              <a:buChar char="•"/>
            </a:pPr>
            <a:endParaRPr lang="en-US" dirty="0"/>
          </a:p>
          <a:p>
            <a:pPr>
              <a:buFont typeface="Arial" panose="020B0604020202020204" pitchFamily="34" charset="0"/>
              <a:buChar char="•"/>
            </a:pPr>
            <a:r>
              <a:rPr lang="en-US" b="1" dirty="0"/>
              <a:t>F-Statistic</a:t>
            </a:r>
            <a:r>
              <a:rPr lang="en-US" dirty="0"/>
              <a:t>: The test statistic for ANOVA is the F-statistic, which measures the ratio of variance between groups to the variance within groups. A higher F-statistic indicates greater importance of the feature.</a:t>
            </a:r>
          </a:p>
          <a:p>
            <a:endParaRPr lang="en-US" dirty="0"/>
          </a:p>
        </p:txBody>
      </p:sp>
    </p:spTree>
    <p:extLst>
      <p:ext uri="{BB962C8B-B14F-4D97-AF65-F5344CB8AC3E}">
        <p14:creationId xmlns:p14="http://schemas.microsoft.com/office/powerpoint/2010/main" val="2160419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8D50-E0C8-D1FB-D89C-F8B159049516}"/>
              </a:ext>
            </a:extLst>
          </p:cNvPr>
          <p:cNvSpPr>
            <a:spLocks noGrp="1"/>
          </p:cNvSpPr>
          <p:nvPr>
            <p:ph type="title"/>
          </p:nvPr>
        </p:nvSpPr>
        <p:spPr/>
        <p:txBody>
          <a:bodyPr/>
          <a:lstStyle/>
          <a:p>
            <a:r>
              <a:rPr lang="en-US" dirty="0"/>
              <a:t>Steps to Use  </a:t>
            </a:r>
            <a:r>
              <a:rPr lang="en-US" dirty="0" err="1"/>
              <a:t>Annova</a:t>
            </a:r>
            <a:r>
              <a:rPr lang="en-US" dirty="0"/>
              <a:t> Feature selection</a:t>
            </a:r>
          </a:p>
        </p:txBody>
      </p:sp>
      <p:sp>
        <p:nvSpPr>
          <p:cNvPr id="3" name="Content Placeholder 2">
            <a:extLst>
              <a:ext uri="{FF2B5EF4-FFF2-40B4-BE49-F238E27FC236}">
                <a16:creationId xmlns:a16="http://schemas.microsoft.com/office/drawing/2014/main" id="{EDFDE2ED-C818-D9E8-89FA-050B5041BB0D}"/>
              </a:ext>
            </a:extLst>
          </p:cNvPr>
          <p:cNvSpPr>
            <a:spLocks noGrp="1"/>
          </p:cNvSpPr>
          <p:nvPr>
            <p:ph idx="1"/>
          </p:nvPr>
        </p:nvSpPr>
        <p:spPr>
          <a:xfrm>
            <a:off x="838200" y="1690688"/>
            <a:ext cx="10515600" cy="4638991"/>
          </a:xfrm>
        </p:spPr>
        <p:txBody>
          <a:bodyPr>
            <a:normAutofit fontScale="85000" lnSpcReduction="10000"/>
          </a:bodyPr>
          <a:lstStyle/>
          <a:p>
            <a:pPr marL="0" indent="0">
              <a:buNone/>
            </a:pPr>
            <a:r>
              <a:rPr lang="en-US" dirty="0"/>
              <a:t>1. Preprocess the Data : </a:t>
            </a:r>
          </a:p>
          <a:p>
            <a:pPr marL="0" indent="0">
              <a:buNone/>
            </a:pPr>
            <a:endParaRPr lang="en-US" dirty="0"/>
          </a:p>
          <a:p>
            <a:pPr marL="0" indent="0">
              <a:buNone/>
            </a:pPr>
            <a:r>
              <a:rPr lang="en-US" dirty="0"/>
              <a:t>Ensure that the features and target variable are in the appropriate format. The target variable should be categorical, and features should be numerical.</a:t>
            </a:r>
          </a:p>
          <a:p>
            <a:pPr marL="0" indent="0">
              <a:buNone/>
            </a:pPr>
            <a:endParaRPr lang="en-US" dirty="0"/>
          </a:p>
          <a:p>
            <a:pPr marL="0" indent="0">
              <a:buNone/>
            </a:pPr>
            <a:r>
              <a:rPr lang="en-US" dirty="0"/>
              <a:t>2. Apply ANOVA : </a:t>
            </a:r>
          </a:p>
          <a:p>
            <a:pPr marL="0" indent="0">
              <a:buNone/>
            </a:pPr>
            <a:endParaRPr lang="en-US" dirty="0"/>
          </a:p>
          <a:p>
            <a:pPr marL="0" indent="0">
              <a:buNone/>
            </a:pPr>
            <a:r>
              <a:rPr lang="en-US" dirty="0"/>
              <a:t>Use ANOVA to evaluate each feature with respect to the target variable. The </a:t>
            </a:r>
            <a:r>
              <a:rPr lang="en-US" dirty="0" err="1"/>
              <a:t>f_classif</a:t>
            </a:r>
            <a:r>
              <a:rPr lang="en-US" dirty="0"/>
              <a:t> function from </a:t>
            </a:r>
            <a:r>
              <a:rPr lang="en-US" dirty="0" err="1"/>
              <a:t>sklearn.feature_selection</a:t>
            </a:r>
            <a:r>
              <a:rPr lang="en-US" dirty="0"/>
              <a:t> can be used for this purpose.</a:t>
            </a:r>
          </a:p>
          <a:p>
            <a:pPr marL="0" indent="0">
              <a:buNone/>
            </a:pPr>
            <a:r>
              <a:rPr lang="en-US" dirty="0"/>
              <a:t>3. Select Features : </a:t>
            </a:r>
          </a:p>
          <a:p>
            <a:pPr marL="0" indent="0">
              <a:buNone/>
            </a:pPr>
            <a:r>
              <a:rPr lang="en-US" dirty="0"/>
              <a:t>Rank features based on their ANOVA F-values. Features with higher F-values are more significant and are selected for the model.</a:t>
            </a:r>
          </a:p>
        </p:txBody>
      </p:sp>
    </p:spTree>
    <p:extLst>
      <p:ext uri="{BB962C8B-B14F-4D97-AF65-F5344CB8AC3E}">
        <p14:creationId xmlns:p14="http://schemas.microsoft.com/office/powerpoint/2010/main" val="1583347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6916E-F6DC-1AA8-F742-DD11791D8199}"/>
              </a:ext>
            </a:extLst>
          </p:cNvPr>
          <p:cNvSpPr>
            <a:spLocks noGrp="1"/>
          </p:cNvSpPr>
          <p:nvPr>
            <p:ph type="title"/>
          </p:nvPr>
        </p:nvSpPr>
        <p:spPr/>
        <p:txBody>
          <a:bodyPr/>
          <a:lstStyle/>
          <a:p>
            <a:r>
              <a:rPr lang="en-US" dirty="0"/>
              <a:t>Kendall Feature selection</a:t>
            </a:r>
          </a:p>
        </p:txBody>
      </p:sp>
      <p:sp>
        <p:nvSpPr>
          <p:cNvPr id="3" name="Content Placeholder 2">
            <a:extLst>
              <a:ext uri="{FF2B5EF4-FFF2-40B4-BE49-F238E27FC236}">
                <a16:creationId xmlns:a16="http://schemas.microsoft.com/office/drawing/2014/main" id="{FA50AC6A-7C1C-5451-B640-156115CB9934}"/>
              </a:ext>
            </a:extLst>
          </p:cNvPr>
          <p:cNvSpPr>
            <a:spLocks noGrp="1"/>
          </p:cNvSpPr>
          <p:nvPr>
            <p:ph idx="1"/>
          </p:nvPr>
        </p:nvSpPr>
        <p:spPr/>
        <p:txBody>
          <a:bodyPr>
            <a:normAutofit fontScale="92500" lnSpcReduction="20000"/>
          </a:bodyPr>
          <a:lstStyle/>
          <a:p>
            <a:r>
              <a:rPr lang="en-US" dirty="0"/>
              <a:t>a statistical measure used to assess the correlation between two variables. </a:t>
            </a:r>
          </a:p>
          <a:p>
            <a:r>
              <a:rPr lang="en-US" dirty="0"/>
              <a:t>It is often used in feature selection to evaluate the strength and direction of the relationship between features and a target variable. </a:t>
            </a:r>
          </a:p>
          <a:p>
            <a:r>
              <a:rPr lang="en-US" dirty="0"/>
              <a:t>In the context of feature selection, Kendall’s Tau can be used to rank features based on their correlation with the target variable.</a:t>
            </a:r>
          </a:p>
          <a:p>
            <a:pPr>
              <a:buFont typeface="Arial" panose="020B0604020202020204" pitchFamily="34" charset="0"/>
              <a:buChar char="•"/>
            </a:pPr>
            <a:r>
              <a:rPr lang="en-US" b="1" dirty="0"/>
              <a:t>Definition</a:t>
            </a:r>
            <a:r>
              <a:rPr lang="en-US" dirty="0"/>
              <a:t>: a non-parametric statistic used to measure the ordinal association between two variables. It assesses the strength and direction of the monotonic relationship between the variables.</a:t>
            </a:r>
          </a:p>
          <a:p>
            <a:pPr>
              <a:buFont typeface="Arial" panose="020B0604020202020204" pitchFamily="34" charset="0"/>
              <a:buChar char="•"/>
            </a:pPr>
            <a:r>
              <a:rPr lang="en-US" b="1" dirty="0"/>
              <a:t>Range</a:t>
            </a:r>
            <a:r>
              <a:rPr lang="en-US" dirty="0"/>
              <a:t>: The value of Kendall’s Tau ranges from -1 to 1, where:</a:t>
            </a:r>
          </a:p>
          <a:p>
            <a:pPr marL="742950" lvl="1" indent="-285750">
              <a:buFont typeface="Arial" panose="020B0604020202020204" pitchFamily="34" charset="0"/>
              <a:buChar char="•"/>
            </a:pPr>
            <a:r>
              <a:rPr lang="en-US" b="1" dirty="0"/>
              <a:t>1</a:t>
            </a:r>
            <a:r>
              <a:rPr lang="en-US" dirty="0"/>
              <a:t> indicates a perfect positive correlation.</a:t>
            </a:r>
          </a:p>
          <a:p>
            <a:pPr marL="742950" lvl="1" indent="-285750">
              <a:buFont typeface="Arial" panose="020B0604020202020204" pitchFamily="34" charset="0"/>
              <a:buChar char="•"/>
            </a:pPr>
            <a:r>
              <a:rPr lang="en-US" b="1" dirty="0"/>
              <a:t>-1</a:t>
            </a:r>
            <a:r>
              <a:rPr lang="en-US" dirty="0"/>
              <a:t> indicates a perfect negative correlation.</a:t>
            </a:r>
          </a:p>
          <a:p>
            <a:pPr marL="742950" lvl="1" indent="-285750">
              <a:buFont typeface="Arial" panose="020B0604020202020204" pitchFamily="34" charset="0"/>
              <a:buChar char="•"/>
            </a:pPr>
            <a:r>
              <a:rPr lang="en-US" b="1" dirty="0"/>
              <a:t>0</a:t>
            </a:r>
            <a:r>
              <a:rPr lang="en-US" dirty="0"/>
              <a:t> indicates no correlation.</a:t>
            </a:r>
          </a:p>
          <a:p>
            <a:endParaRPr lang="en-US" dirty="0"/>
          </a:p>
        </p:txBody>
      </p:sp>
    </p:spTree>
    <p:extLst>
      <p:ext uri="{BB962C8B-B14F-4D97-AF65-F5344CB8AC3E}">
        <p14:creationId xmlns:p14="http://schemas.microsoft.com/office/powerpoint/2010/main" val="2826364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7A6A-E3BD-952C-C0C3-94343A6B2738}"/>
              </a:ext>
            </a:extLst>
          </p:cNvPr>
          <p:cNvSpPr>
            <a:spLocks noGrp="1"/>
          </p:cNvSpPr>
          <p:nvPr>
            <p:ph type="title"/>
          </p:nvPr>
        </p:nvSpPr>
        <p:spPr/>
        <p:txBody>
          <a:bodyPr/>
          <a:lstStyle/>
          <a:p>
            <a:r>
              <a:rPr lang="en-US" b="1" dirty="0"/>
              <a:t>2. Wrapper Methods</a:t>
            </a:r>
            <a:endParaRPr lang="en-US" dirty="0"/>
          </a:p>
        </p:txBody>
      </p:sp>
      <p:sp>
        <p:nvSpPr>
          <p:cNvPr id="3" name="Content Placeholder 2">
            <a:extLst>
              <a:ext uri="{FF2B5EF4-FFF2-40B4-BE49-F238E27FC236}">
                <a16:creationId xmlns:a16="http://schemas.microsoft.com/office/drawing/2014/main" id="{64B963F9-8727-7C5B-BF8F-A3A6B3F62149}"/>
              </a:ext>
            </a:extLst>
          </p:cNvPr>
          <p:cNvSpPr>
            <a:spLocks noGrp="1"/>
          </p:cNvSpPr>
          <p:nvPr>
            <p:ph idx="1"/>
          </p:nvPr>
        </p:nvSpPr>
        <p:spPr/>
        <p:txBody>
          <a:bodyPr>
            <a:normAutofit fontScale="92500" lnSpcReduction="10000"/>
          </a:bodyPr>
          <a:lstStyle/>
          <a:p>
            <a:r>
              <a:rPr lang="en-US" dirty="0"/>
              <a:t>Wrapper methods use a predictive model to evaluate the importance of features. They are computationally expensive but often yield better results than filter methods.</a:t>
            </a:r>
          </a:p>
          <a:p>
            <a:pPr>
              <a:buFont typeface="Arial" panose="020B0604020202020204" pitchFamily="34" charset="0"/>
              <a:buChar char="•"/>
            </a:pPr>
            <a:r>
              <a:rPr lang="en-US" b="1" dirty="0"/>
              <a:t>Forward Selection</a:t>
            </a:r>
            <a:r>
              <a:rPr lang="en-US" dirty="0"/>
              <a:t>: Starts with no features and adds one feature at a time, selecting the one that improves the model performance the most until no significant improvement is possible.</a:t>
            </a:r>
          </a:p>
          <a:p>
            <a:pPr>
              <a:buFont typeface="Arial" panose="020B0604020202020204" pitchFamily="34" charset="0"/>
              <a:buChar char="•"/>
            </a:pPr>
            <a:r>
              <a:rPr lang="en-US" b="1" dirty="0"/>
              <a:t>Backward Elimination</a:t>
            </a:r>
            <a:r>
              <a:rPr lang="en-US" dirty="0"/>
              <a:t>: Starts with all features and removes the least important feature one at a time, based on model performance, until no further improvement is possible.</a:t>
            </a:r>
          </a:p>
          <a:p>
            <a:pPr>
              <a:buFont typeface="Arial" panose="020B0604020202020204" pitchFamily="34" charset="0"/>
              <a:buChar char="•"/>
            </a:pPr>
            <a:r>
              <a:rPr lang="en-US" b="1" dirty="0"/>
              <a:t>Recursive Feature Elimination (RFE)</a:t>
            </a:r>
            <a:r>
              <a:rPr lang="en-US" dirty="0"/>
              <a:t>: Iteratively builds the model, removing the weakest feature each time, and then ranks features by importance.</a:t>
            </a:r>
          </a:p>
          <a:p>
            <a:endParaRPr lang="en-US" dirty="0"/>
          </a:p>
        </p:txBody>
      </p:sp>
    </p:spTree>
    <p:extLst>
      <p:ext uri="{BB962C8B-B14F-4D97-AF65-F5344CB8AC3E}">
        <p14:creationId xmlns:p14="http://schemas.microsoft.com/office/powerpoint/2010/main" val="25838738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text, screenshot, font, number&#10;&#10;Description automatically generated">
            <a:extLst>
              <a:ext uri="{FF2B5EF4-FFF2-40B4-BE49-F238E27FC236}">
                <a16:creationId xmlns:a16="http://schemas.microsoft.com/office/drawing/2014/main" id="{66A26D8E-4ED3-4695-B71A-64E8CB6134FE}"/>
              </a:ext>
            </a:extLst>
          </p:cNvPr>
          <p:cNvPicPr/>
          <p:nvPr/>
        </p:nvPicPr>
        <p:blipFill>
          <a:blip r:embed="rId2"/>
          <a:stretch>
            <a:fillRect/>
          </a:stretch>
        </p:blipFill>
        <p:spPr>
          <a:xfrm>
            <a:off x="952499" y="676072"/>
            <a:ext cx="9096375" cy="5038725"/>
          </a:xfrm>
          <a:prstGeom prst="rect">
            <a:avLst/>
          </a:prstGeom>
        </p:spPr>
      </p:pic>
    </p:spTree>
    <p:extLst>
      <p:ext uri="{BB962C8B-B14F-4D97-AF65-F5344CB8AC3E}">
        <p14:creationId xmlns:p14="http://schemas.microsoft.com/office/powerpoint/2010/main" val="3801851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3E5E3-EA37-CD4A-2AE9-A68067FB5EAB}"/>
              </a:ext>
            </a:extLst>
          </p:cNvPr>
          <p:cNvSpPr>
            <a:spLocks noGrp="1"/>
          </p:cNvSpPr>
          <p:nvPr>
            <p:ph type="title"/>
          </p:nvPr>
        </p:nvSpPr>
        <p:spPr/>
        <p:txBody>
          <a:bodyPr/>
          <a:lstStyle/>
          <a:p>
            <a:r>
              <a:rPr lang="en-US" b="1" dirty="0"/>
              <a:t>3. Embedded Methods</a:t>
            </a:r>
            <a:endParaRPr lang="en-US" dirty="0"/>
          </a:p>
        </p:txBody>
      </p:sp>
      <p:sp>
        <p:nvSpPr>
          <p:cNvPr id="3" name="Content Placeholder 2">
            <a:extLst>
              <a:ext uri="{FF2B5EF4-FFF2-40B4-BE49-F238E27FC236}">
                <a16:creationId xmlns:a16="http://schemas.microsoft.com/office/drawing/2014/main" id="{24D43EA8-174A-1A44-7FFC-38E7E1BC5767}"/>
              </a:ext>
            </a:extLst>
          </p:cNvPr>
          <p:cNvSpPr>
            <a:spLocks noGrp="1"/>
          </p:cNvSpPr>
          <p:nvPr>
            <p:ph idx="1"/>
          </p:nvPr>
        </p:nvSpPr>
        <p:spPr/>
        <p:txBody>
          <a:bodyPr>
            <a:normAutofit fontScale="85000" lnSpcReduction="20000"/>
          </a:bodyPr>
          <a:lstStyle/>
          <a:p>
            <a:r>
              <a:rPr lang="en-US" dirty="0"/>
              <a:t>Embedded methods perform feature selection during the process of model training and are specific to the model being used.</a:t>
            </a:r>
          </a:p>
          <a:p>
            <a:pPr>
              <a:buFont typeface="Arial" panose="020B0604020202020204" pitchFamily="34" charset="0"/>
              <a:buChar char="•"/>
            </a:pPr>
            <a:r>
              <a:rPr lang="en-US" b="1" dirty="0"/>
              <a:t>LASSO (Least Absolute Shrinkage and Selection Operator)</a:t>
            </a:r>
            <a:r>
              <a:rPr lang="en-US" dirty="0"/>
              <a:t>: Adds a penalty equal to the absolute value of the magnitude of coefficients, shrinking some coefficients to zero, effectively selecting features.</a:t>
            </a:r>
          </a:p>
          <a:p>
            <a:pPr>
              <a:buFont typeface="Arial" panose="020B0604020202020204" pitchFamily="34" charset="0"/>
              <a:buChar char="•"/>
            </a:pPr>
            <a:r>
              <a:rPr lang="en-US" b="1" dirty="0"/>
              <a:t>Ridge Regression</a:t>
            </a:r>
            <a:r>
              <a:rPr lang="en-US" dirty="0"/>
              <a:t>: Similar to LASSO but adds a penalty based on the square of the coefficients. It doesn’t perform feature selection as aggressively as LASSO.</a:t>
            </a:r>
          </a:p>
          <a:p>
            <a:pPr>
              <a:buFont typeface="Arial" panose="020B0604020202020204" pitchFamily="34" charset="0"/>
              <a:buChar char="•"/>
            </a:pPr>
            <a:r>
              <a:rPr lang="en-US" b="1" dirty="0"/>
              <a:t>Elastic Net</a:t>
            </a:r>
            <a:r>
              <a:rPr lang="en-US" dirty="0"/>
              <a:t>: Combines LASSO and Ridge penalties to balance the benefits of both.</a:t>
            </a:r>
          </a:p>
          <a:p>
            <a:pPr>
              <a:buFont typeface="Arial" panose="020B0604020202020204" pitchFamily="34" charset="0"/>
              <a:buChar char="•"/>
            </a:pPr>
            <a:r>
              <a:rPr lang="en-US" b="1" dirty="0"/>
              <a:t>Tree-Based Methods</a:t>
            </a:r>
            <a:r>
              <a:rPr lang="en-US" dirty="0"/>
              <a:t>: Decision trees and ensemble methods like Random Forest and Gradient Boosting inherently perform feature selection based on feature importance derived during training.</a:t>
            </a:r>
          </a:p>
          <a:p>
            <a:endParaRPr lang="en-US" dirty="0"/>
          </a:p>
        </p:txBody>
      </p:sp>
    </p:spTree>
    <p:extLst>
      <p:ext uri="{BB962C8B-B14F-4D97-AF65-F5344CB8AC3E}">
        <p14:creationId xmlns:p14="http://schemas.microsoft.com/office/powerpoint/2010/main" val="667842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text, screenshot, font, number&#10;&#10;Description automatically generated">
            <a:extLst>
              <a:ext uri="{FF2B5EF4-FFF2-40B4-BE49-F238E27FC236}">
                <a16:creationId xmlns:a16="http://schemas.microsoft.com/office/drawing/2014/main" id="{1E9292F0-EB5F-488C-8CF5-1481DE2D2939}"/>
              </a:ext>
            </a:extLst>
          </p:cNvPr>
          <p:cNvPicPr/>
          <p:nvPr/>
        </p:nvPicPr>
        <p:blipFill>
          <a:blip r:embed="rId2"/>
          <a:stretch>
            <a:fillRect/>
          </a:stretch>
        </p:blipFill>
        <p:spPr>
          <a:xfrm>
            <a:off x="1076325" y="857250"/>
            <a:ext cx="9610725" cy="5105400"/>
          </a:xfrm>
          <a:prstGeom prst="rect">
            <a:avLst/>
          </a:prstGeom>
        </p:spPr>
      </p:pic>
    </p:spTree>
    <p:extLst>
      <p:ext uri="{BB962C8B-B14F-4D97-AF65-F5344CB8AC3E}">
        <p14:creationId xmlns:p14="http://schemas.microsoft.com/office/powerpoint/2010/main" val="2896128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text, screenshot, font, number&#10;&#10;Description automatically generated">
            <a:extLst>
              <a:ext uri="{FF2B5EF4-FFF2-40B4-BE49-F238E27FC236}">
                <a16:creationId xmlns:a16="http://schemas.microsoft.com/office/drawing/2014/main" id="{2E2776BE-A3EC-43D2-A5D3-AD8390ED3F2F}"/>
              </a:ext>
            </a:extLst>
          </p:cNvPr>
          <p:cNvPicPr/>
          <p:nvPr/>
        </p:nvPicPr>
        <p:blipFill>
          <a:blip r:embed="rId2"/>
          <a:stretch>
            <a:fillRect/>
          </a:stretch>
        </p:blipFill>
        <p:spPr>
          <a:xfrm>
            <a:off x="1695450" y="742951"/>
            <a:ext cx="8477250" cy="4886324"/>
          </a:xfrm>
          <a:prstGeom prst="rect">
            <a:avLst/>
          </a:prstGeom>
        </p:spPr>
      </p:pic>
    </p:spTree>
    <p:extLst>
      <p:ext uri="{BB962C8B-B14F-4D97-AF65-F5344CB8AC3E}">
        <p14:creationId xmlns:p14="http://schemas.microsoft.com/office/powerpoint/2010/main" val="1197183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text, screenshot, line, font&#10;&#10;Description automatically generated">
            <a:extLst>
              <a:ext uri="{FF2B5EF4-FFF2-40B4-BE49-F238E27FC236}">
                <a16:creationId xmlns:a16="http://schemas.microsoft.com/office/drawing/2014/main" id="{5FCB3EB2-BB33-46D4-AEF0-20DF0E64763C}"/>
              </a:ext>
            </a:extLst>
          </p:cNvPr>
          <p:cNvPicPr/>
          <p:nvPr/>
        </p:nvPicPr>
        <p:blipFill>
          <a:blip r:embed="rId2"/>
          <a:stretch>
            <a:fillRect/>
          </a:stretch>
        </p:blipFill>
        <p:spPr>
          <a:xfrm>
            <a:off x="1257300" y="1047749"/>
            <a:ext cx="8734425" cy="4429125"/>
          </a:xfrm>
          <a:prstGeom prst="rect">
            <a:avLst/>
          </a:prstGeom>
        </p:spPr>
      </p:pic>
    </p:spTree>
    <p:extLst>
      <p:ext uri="{BB962C8B-B14F-4D97-AF65-F5344CB8AC3E}">
        <p14:creationId xmlns:p14="http://schemas.microsoft.com/office/powerpoint/2010/main" val="2782754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07312-6CC6-7D49-8314-44E155C0EEDA}"/>
              </a:ext>
            </a:extLst>
          </p:cNvPr>
          <p:cNvSpPr>
            <a:spLocks noGrp="1"/>
          </p:cNvSpPr>
          <p:nvPr>
            <p:ph type="title"/>
          </p:nvPr>
        </p:nvSpPr>
        <p:spPr/>
        <p:txBody>
          <a:bodyPr/>
          <a:lstStyle/>
          <a:p>
            <a:r>
              <a:rPr lang="en-US" b="1" dirty="0"/>
              <a:t>4. Dimensionality Reduction Techniques</a:t>
            </a:r>
            <a:endParaRPr lang="en-US" dirty="0"/>
          </a:p>
        </p:txBody>
      </p:sp>
      <p:sp>
        <p:nvSpPr>
          <p:cNvPr id="3" name="Content Placeholder 2">
            <a:extLst>
              <a:ext uri="{FF2B5EF4-FFF2-40B4-BE49-F238E27FC236}">
                <a16:creationId xmlns:a16="http://schemas.microsoft.com/office/drawing/2014/main" id="{91D1D266-8EEC-2739-0A09-F80E344AE078}"/>
              </a:ext>
            </a:extLst>
          </p:cNvPr>
          <p:cNvSpPr>
            <a:spLocks noGrp="1"/>
          </p:cNvSpPr>
          <p:nvPr>
            <p:ph idx="1"/>
          </p:nvPr>
        </p:nvSpPr>
        <p:spPr/>
        <p:txBody>
          <a:bodyPr>
            <a:normAutofit fontScale="92500" lnSpcReduction="10000"/>
          </a:bodyPr>
          <a:lstStyle/>
          <a:p>
            <a:r>
              <a:rPr lang="en-US" dirty="0"/>
              <a:t>These techniques reduce the number of features by transforming the data into a lower-dimensional space while retaining most of the information.</a:t>
            </a:r>
          </a:p>
          <a:p>
            <a:pPr>
              <a:buFont typeface="Arial" panose="020B0604020202020204" pitchFamily="34" charset="0"/>
              <a:buChar char="•"/>
            </a:pPr>
            <a:r>
              <a:rPr lang="en-US" b="1" dirty="0"/>
              <a:t>Principal Component Analysis (PCA)</a:t>
            </a:r>
            <a:r>
              <a:rPr lang="en-US" dirty="0"/>
              <a:t>: Transforms the data into a set of orthogonal components (principal components) that capture the maximum variance in the data.</a:t>
            </a:r>
          </a:p>
          <a:p>
            <a:pPr>
              <a:buFont typeface="Arial" panose="020B0604020202020204" pitchFamily="34" charset="0"/>
              <a:buChar char="•"/>
            </a:pPr>
            <a:r>
              <a:rPr lang="en-US" b="1" dirty="0"/>
              <a:t>Linear Discriminant Analysis (LDA)</a:t>
            </a:r>
            <a:r>
              <a:rPr lang="en-US" dirty="0"/>
              <a:t>: Similar to PCA but takes class labels into account and seeks to maximize the ratio of between-class variance to within-class variance.</a:t>
            </a:r>
          </a:p>
          <a:p>
            <a:pPr>
              <a:buFont typeface="Arial" panose="020B0604020202020204" pitchFamily="34" charset="0"/>
              <a:buChar char="•"/>
            </a:pPr>
            <a:r>
              <a:rPr lang="en-US" b="1" dirty="0"/>
              <a:t>t-Distributed Stochastic Neighbor Embedding (t-SNE)</a:t>
            </a:r>
            <a:r>
              <a:rPr lang="en-US" dirty="0"/>
              <a:t>: Primarily used for visualization, it reduces the dimensionality of the data while preserving the structure.</a:t>
            </a:r>
          </a:p>
          <a:p>
            <a:endParaRPr lang="en-US" dirty="0"/>
          </a:p>
        </p:txBody>
      </p:sp>
    </p:spTree>
    <p:extLst>
      <p:ext uri="{BB962C8B-B14F-4D97-AF65-F5344CB8AC3E}">
        <p14:creationId xmlns:p14="http://schemas.microsoft.com/office/powerpoint/2010/main" val="1997902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9E4A-9558-402C-C5F0-BA16C18C529E}"/>
              </a:ext>
            </a:extLst>
          </p:cNvPr>
          <p:cNvSpPr>
            <a:spLocks noGrp="1"/>
          </p:cNvSpPr>
          <p:nvPr>
            <p:ph type="title"/>
          </p:nvPr>
        </p:nvSpPr>
        <p:spPr/>
        <p:txBody>
          <a:bodyPr/>
          <a:lstStyle/>
          <a:p>
            <a:r>
              <a:rPr lang="en-US" b="1" dirty="0"/>
              <a:t>5. Unsupervised Feature Selection</a:t>
            </a:r>
            <a:endParaRPr lang="en-US" dirty="0"/>
          </a:p>
        </p:txBody>
      </p:sp>
      <p:sp>
        <p:nvSpPr>
          <p:cNvPr id="3" name="Content Placeholder 2">
            <a:extLst>
              <a:ext uri="{FF2B5EF4-FFF2-40B4-BE49-F238E27FC236}">
                <a16:creationId xmlns:a16="http://schemas.microsoft.com/office/drawing/2014/main" id="{1560B31B-A6C1-F4B0-950F-43679E93316A}"/>
              </a:ext>
            </a:extLst>
          </p:cNvPr>
          <p:cNvSpPr>
            <a:spLocks noGrp="1"/>
          </p:cNvSpPr>
          <p:nvPr>
            <p:ph idx="1"/>
          </p:nvPr>
        </p:nvSpPr>
        <p:spPr/>
        <p:txBody>
          <a:bodyPr/>
          <a:lstStyle/>
          <a:p>
            <a:r>
              <a:rPr lang="en-US" dirty="0"/>
              <a:t>In cases where the data doesn’t have labeled outcomes, unsupervised methods like clustering-based approaches can be used.</a:t>
            </a:r>
          </a:p>
          <a:p>
            <a:pPr>
              <a:buFont typeface="Arial" panose="020B0604020202020204" pitchFamily="34" charset="0"/>
              <a:buChar char="•"/>
            </a:pPr>
            <a:r>
              <a:rPr lang="en-US" b="1" dirty="0"/>
              <a:t>Feature Clustering</a:t>
            </a:r>
            <a:r>
              <a:rPr lang="en-US" dirty="0"/>
              <a:t>: Groups similar features together and selects a representative feature from each cluster.</a:t>
            </a:r>
          </a:p>
          <a:p>
            <a:pPr>
              <a:buFont typeface="Arial" panose="020B0604020202020204" pitchFamily="34" charset="0"/>
              <a:buChar char="•"/>
            </a:pPr>
            <a:r>
              <a:rPr lang="en-US" b="1" dirty="0"/>
              <a:t>Autoencoders</a:t>
            </a:r>
            <a:r>
              <a:rPr lang="en-US" dirty="0"/>
              <a:t>: Neural network-based techniques that learn a compressed representation of the input data and can be used for feature selection by interpreting the hidden layers.</a:t>
            </a:r>
          </a:p>
          <a:p>
            <a:endParaRPr lang="en-US" dirty="0"/>
          </a:p>
        </p:txBody>
      </p:sp>
    </p:spTree>
    <p:extLst>
      <p:ext uri="{BB962C8B-B14F-4D97-AF65-F5344CB8AC3E}">
        <p14:creationId xmlns:p14="http://schemas.microsoft.com/office/powerpoint/2010/main" val="2805465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B986E-BC23-F255-74C7-8ED5CA6FA56D}"/>
              </a:ext>
            </a:extLst>
          </p:cNvPr>
          <p:cNvSpPr>
            <a:spLocks noGrp="1"/>
          </p:cNvSpPr>
          <p:nvPr>
            <p:ph type="title"/>
          </p:nvPr>
        </p:nvSpPr>
        <p:spPr/>
        <p:txBody>
          <a:bodyPr/>
          <a:lstStyle/>
          <a:p>
            <a:r>
              <a:rPr lang="en-US" dirty="0"/>
              <a:t>Dimensionality Reduction</a:t>
            </a:r>
          </a:p>
        </p:txBody>
      </p:sp>
      <p:sp>
        <p:nvSpPr>
          <p:cNvPr id="3" name="Content Placeholder 2">
            <a:extLst>
              <a:ext uri="{FF2B5EF4-FFF2-40B4-BE49-F238E27FC236}">
                <a16:creationId xmlns:a16="http://schemas.microsoft.com/office/drawing/2014/main" id="{BB619C63-FBBF-415A-108B-F7811E60AA4A}"/>
              </a:ext>
            </a:extLst>
          </p:cNvPr>
          <p:cNvSpPr>
            <a:spLocks noGrp="1"/>
          </p:cNvSpPr>
          <p:nvPr>
            <p:ph idx="1"/>
          </p:nvPr>
        </p:nvSpPr>
        <p:spPr>
          <a:xfrm>
            <a:off x="838199" y="1825625"/>
            <a:ext cx="11253281" cy="4351338"/>
          </a:xfrm>
        </p:spPr>
        <p:txBody>
          <a:bodyPr>
            <a:normAutofit lnSpcReduction="10000"/>
          </a:bodyPr>
          <a:lstStyle/>
          <a:p>
            <a:r>
              <a:rPr lang="en-US" dirty="0"/>
              <a:t>In many ML problems, the datasets have large # of variables Sometimes # of variables &gt; # of observations </a:t>
            </a:r>
          </a:p>
          <a:p>
            <a:pPr marL="0" indent="0">
              <a:buNone/>
            </a:pPr>
            <a:r>
              <a:rPr lang="en-US" dirty="0"/>
              <a:t>	e.g., image processing, text analysis, time series analysis </a:t>
            </a:r>
          </a:p>
          <a:p>
            <a:r>
              <a:rPr lang="en-US" b="1" dirty="0"/>
              <a:t>Curse of dimensionality: </a:t>
            </a:r>
          </a:p>
          <a:p>
            <a:pPr lvl="1"/>
            <a:r>
              <a:rPr lang="en-US" dirty="0"/>
              <a:t>The problem of having too many features describing an inductive learning task </a:t>
            </a:r>
          </a:p>
          <a:p>
            <a:pPr lvl="1"/>
            <a:r>
              <a:rPr lang="en-US" dirty="0"/>
              <a:t>Large input features make training slow - the complexity of any classifier or regressor depends on the # of inputs </a:t>
            </a:r>
          </a:p>
          <a:p>
            <a:pPr lvl="1"/>
            <a:r>
              <a:rPr lang="en-US" dirty="0"/>
              <a:t>High dimensional data - ML algorithms have some difficulty in finding a good solution </a:t>
            </a:r>
          </a:p>
          <a:p>
            <a:pPr lvl="1"/>
            <a:r>
              <a:rPr lang="en-US" b="1" dirty="0"/>
              <a:t>Dimensionality Reduction</a:t>
            </a:r>
            <a:r>
              <a:rPr lang="en-US" dirty="0"/>
              <a:t>: Process of reducing the # of variables by obtaining a smaller set of principal variables</a:t>
            </a:r>
          </a:p>
        </p:txBody>
      </p:sp>
    </p:spTree>
    <p:extLst>
      <p:ext uri="{BB962C8B-B14F-4D97-AF65-F5344CB8AC3E}">
        <p14:creationId xmlns:p14="http://schemas.microsoft.com/office/powerpoint/2010/main" val="2078841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18371-B832-B340-89D7-D5F110A76EBE}"/>
              </a:ext>
            </a:extLst>
          </p:cNvPr>
          <p:cNvSpPr>
            <a:spLocks noGrp="1"/>
          </p:cNvSpPr>
          <p:nvPr>
            <p:ph type="title"/>
          </p:nvPr>
        </p:nvSpPr>
        <p:spPr/>
        <p:txBody>
          <a:bodyPr/>
          <a:lstStyle/>
          <a:p>
            <a:r>
              <a:rPr lang="en-US" dirty="0"/>
              <a:t>Why Reduce Dimensions?</a:t>
            </a:r>
          </a:p>
        </p:txBody>
      </p:sp>
      <p:sp>
        <p:nvSpPr>
          <p:cNvPr id="3" name="Content Placeholder 2">
            <a:extLst>
              <a:ext uri="{FF2B5EF4-FFF2-40B4-BE49-F238E27FC236}">
                <a16:creationId xmlns:a16="http://schemas.microsoft.com/office/drawing/2014/main" id="{121E57CE-3A5E-4B73-A87F-5D623E6373BC}"/>
              </a:ext>
            </a:extLst>
          </p:cNvPr>
          <p:cNvSpPr>
            <a:spLocks noGrp="1"/>
          </p:cNvSpPr>
          <p:nvPr>
            <p:ph idx="1"/>
          </p:nvPr>
        </p:nvSpPr>
        <p:spPr>
          <a:xfrm>
            <a:off x="838200" y="1429966"/>
            <a:ext cx="10515600" cy="4746997"/>
          </a:xfrm>
        </p:spPr>
        <p:txBody>
          <a:bodyPr>
            <a:normAutofit fontScale="92500" lnSpcReduction="10000"/>
          </a:bodyPr>
          <a:lstStyle/>
          <a:p>
            <a:r>
              <a:rPr lang="en-US" b="1" dirty="0"/>
              <a:t>Faster &amp; less complex ML process: </a:t>
            </a:r>
          </a:p>
          <a:p>
            <a:pPr lvl="1"/>
            <a:r>
              <a:rPr lang="en-US" dirty="0"/>
              <a:t>Complexity of ML algorithms depends on the # of input dimensions d and size of data sample N for reduced memory &amp; computation </a:t>
            </a:r>
          </a:p>
          <a:p>
            <a:pPr lvl="1"/>
            <a:r>
              <a:rPr lang="en-US" dirty="0"/>
              <a:t>Decreasing d also decreases the complexity of the inference algorithm during testing </a:t>
            </a:r>
          </a:p>
          <a:p>
            <a:r>
              <a:rPr lang="en-US" b="1" dirty="0"/>
              <a:t>Saves cost: </a:t>
            </a:r>
          </a:p>
          <a:p>
            <a:pPr lvl="1"/>
            <a:r>
              <a:rPr lang="en-US" dirty="0"/>
              <a:t>takes care of multicollinearity (correlation among features) - removes redundant features, improves model stability &amp; saves the cost of extraction </a:t>
            </a:r>
          </a:p>
          <a:p>
            <a:r>
              <a:rPr lang="en-US" b="1" dirty="0"/>
              <a:t>Robust models: </a:t>
            </a:r>
          </a:p>
          <a:p>
            <a:pPr lvl="1"/>
            <a:r>
              <a:rPr lang="en-US" dirty="0"/>
              <a:t>Simpler models are more robust on small datasets </a:t>
            </a:r>
          </a:p>
          <a:p>
            <a:pPr lvl="1"/>
            <a:r>
              <a:rPr lang="en-US" dirty="0"/>
              <a:t>Have less variance, i.e., vary less </a:t>
            </a:r>
          </a:p>
          <a:p>
            <a:r>
              <a:rPr lang="en-US" b="1" dirty="0"/>
              <a:t>Better visualization: </a:t>
            </a:r>
          </a:p>
          <a:p>
            <a:pPr lvl="1"/>
            <a:r>
              <a:rPr lang="en-US" dirty="0"/>
              <a:t>Can be plotted easily &amp; analyzed visually for structure &amp; outliers</a:t>
            </a:r>
          </a:p>
        </p:txBody>
      </p:sp>
    </p:spTree>
    <p:extLst>
      <p:ext uri="{BB962C8B-B14F-4D97-AF65-F5344CB8AC3E}">
        <p14:creationId xmlns:p14="http://schemas.microsoft.com/office/powerpoint/2010/main" val="1015925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BA9A8-82BE-82A0-7770-1BB186C7434B}"/>
              </a:ext>
            </a:extLst>
          </p:cNvPr>
          <p:cNvSpPr>
            <a:spLocks noGrp="1"/>
          </p:cNvSpPr>
          <p:nvPr>
            <p:ph type="title"/>
          </p:nvPr>
        </p:nvSpPr>
        <p:spPr/>
        <p:txBody>
          <a:bodyPr/>
          <a:lstStyle/>
          <a:p>
            <a:r>
              <a:rPr lang="en-US" dirty="0"/>
              <a:t>Techniques Two Approaches</a:t>
            </a:r>
          </a:p>
        </p:txBody>
      </p:sp>
      <p:sp>
        <p:nvSpPr>
          <p:cNvPr id="3" name="Content Placeholder 2">
            <a:extLst>
              <a:ext uri="{FF2B5EF4-FFF2-40B4-BE49-F238E27FC236}">
                <a16:creationId xmlns:a16="http://schemas.microsoft.com/office/drawing/2014/main" id="{DD52744C-F97B-B46E-9C74-FB80820F18F2}"/>
              </a:ext>
            </a:extLst>
          </p:cNvPr>
          <p:cNvSpPr>
            <a:spLocks noGrp="1"/>
          </p:cNvSpPr>
          <p:nvPr>
            <p:ph idx="1"/>
          </p:nvPr>
        </p:nvSpPr>
        <p:spPr>
          <a:xfrm>
            <a:off x="838200" y="1449421"/>
            <a:ext cx="10515600" cy="4727542"/>
          </a:xfrm>
        </p:spPr>
        <p:txBody>
          <a:bodyPr>
            <a:normAutofit fontScale="92500" lnSpcReduction="10000"/>
          </a:bodyPr>
          <a:lstStyle/>
          <a:p>
            <a:r>
              <a:rPr lang="en-US" b="1" dirty="0"/>
              <a:t>Feature Selection</a:t>
            </a:r>
            <a:r>
              <a:rPr lang="en-US" dirty="0"/>
              <a:t>: </a:t>
            </a:r>
          </a:p>
          <a:p>
            <a:endParaRPr lang="en-US" dirty="0"/>
          </a:p>
          <a:p>
            <a:pPr lvl="1"/>
            <a:r>
              <a:rPr lang="en-US" dirty="0"/>
              <a:t>Finding k of the total of n features that gives the most information &amp; discarding the other (n−k) dimensions </a:t>
            </a:r>
          </a:p>
          <a:p>
            <a:pPr lvl="1"/>
            <a:endParaRPr lang="en-US" dirty="0"/>
          </a:p>
          <a:p>
            <a:r>
              <a:rPr lang="en-US" b="1" dirty="0"/>
              <a:t>Feature Extraction</a:t>
            </a:r>
            <a:r>
              <a:rPr lang="en-US" dirty="0"/>
              <a:t>: </a:t>
            </a:r>
          </a:p>
          <a:p>
            <a:pPr marL="0" indent="0">
              <a:buNone/>
            </a:pPr>
            <a:r>
              <a:rPr lang="en-US" dirty="0"/>
              <a:t> </a:t>
            </a:r>
          </a:p>
          <a:p>
            <a:pPr lvl="1"/>
            <a:r>
              <a:rPr lang="en-US" dirty="0"/>
              <a:t>Finding a new set of k features that are the combination of the original n features  </a:t>
            </a:r>
          </a:p>
          <a:p>
            <a:pPr lvl="1"/>
            <a:endParaRPr lang="en-US" dirty="0"/>
          </a:p>
          <a:p>
            <a:pPr lvl="1"/>
            <a:r>
              <a:rPr lang="en-US" dirty="0"/>
              <a:t>May be supervised or unsupervised (depending on whether they use the output information) </a:t>
            </a:r>
          </a:p>
          <a:p>
            <a:pPr lvl="1"/>
            <a:endParaRPr lang="en-US" dirty="0"/>
          </a:p>
          <a:p>
            <a:pPr lvl="1"/>
            <a:r>
              <a:rPr lang="en-US" dirty="0"/>
              <a:t> Widely used methods: PCA (unsupervised) &amp; LDA (supervised)</a:t>
            </a:r>
          </a:p>
        </p:txBody>
      </p:sp>
    </p:spTree>
    <p:extLst>
      <p:ext uri="{BB962C8B-B14F-4D97-AF65-F5344CB8AC3E}">
        <p14:creationId xmlns:p14="http://schemas.microsoft.com/office/powerpoint/2010/main" val="2457115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6F136-C914-E1EE-3B3C-99DA0E40CC80}"/>
              </a:ext>
            </a:extLst>
          </p:cNvPr>
          <p:cNvSpPr>
            <a:spLocks noGrp="1"/>
          </p:cNvSpPr>
          <p:nvPr>
            <p:ph type="title"/>
          </p:nvPr>
        </p:nvSpPr>
        <p:spPr/>
        <p:txBody>
          <a:bodyPr/>
          <a:lstStyle/>
          <a:p>
            <a:r>
              <a:rPr lang="en-US" dirty="0"/>
              <a:t>Feature Selection</a:t>
            </a:r>
          </a:p>
        </p:txBody>
      </p:sp>
      <p:sp>
        <p:nvSpPr>
          <p:cNvPr id="3" name="Content Placeholder 2">
            <a:extLst>
              <a:ext uri="{FF2B5EF4-FFF2-40B4-BE49-F238E27FC236}">
                <a16:creationId xmlns:a16="http://schemas.microsoft.com/office/drawing/2014/main" id="{924928C3-252C-8353-A95E-685A06326205}"/>
              </a:ext>
            </a:extLst>
          </p:cNvPr>
          <p:cNvSpPr>
            <a:spLocks noGrp="1"/>
          </p:cNvSpPr>
          <p:nvPr>
            <p:ph idx="1"/>
          </p:nvPr>
        </p:nvSpPr>
        <p:spPr>
          <a:xfrm>
            <a:off x="838199" y="1429966"/>
            <a:ext cx="11126821" cy="4746997"/>
          </a:xfrm>
        </p:spPr>
        <p:txBody>
          <a:bodyPr>
            <a:normAutofit lnSpcReduction="10000"/>
          </a:bodyPr>
          <a:lstStyle/>
          <a:p>
            <a:r>
              <a:rPr lang="en-US" dirty="0"/>
              <a:t>Also referred to as subset selection, variable selection or attribute selection </a:t>
            </a:r>
          </a:p>
          <a:p>
            <a:r>
              <a:rPr lang="en-US" dirty="0"/>
              <a:t>Process of selecting a subset of relevant features (variables, predictors) for use in the model construction </a:t>
            </a:r>
          </a:p>
          <a:p>
            <a:r>
              <a:rPr lang="en-US" b="1" dirty="0"/>
              <a:t>Premise</a:t>
            </a:r>
            <a:r>
              <a:rPr lang="en-US" dirty="0"/>
              <a:t>: Data contains many features (redundant or irrelevant) &amp; can be removed without incurring much loss of information</a:t>
            </a:r>
          </a:p>
          <a:p>
            <a:r>
              <a:rPr lang="en-US" dirty="0"/>
              <a:t> </a:t>
            </a:r>
            <a:r>
              <a:rPr lang="en-US" b="1" dirty="0"/>
              <a:t>Goal</a:t>
            </a:r>
            <a:r>
              <a:rPr lang="en-US" dirty="0"/>
              <a:t>: interpretability &amp; improved accuracy </a:t>
            </a:r>
          </a:p>
          <a:p>
            <a:r>
              <a:rPr lang="en-US" b="1" dirty="0"/>
              <a:t>Approaches</a:t>
            </a:r>
            <a:r>
              <a:rPr lang="en-US" dirty="0"/>
              <a:t>: </a:t>
            </a:r>
          </a:p>
          <a:p>
            <a:pPr lvl="1"/>
            <a:r>
              <a:rPr lang="en-US" b="1" dirty="0"/>
              <a:t>Filter</a:t>
            </a:r>
            <a:r>
              <a:rPr lang="en-US" dirty="0"/>
              <a:t>: Extracts features from data with no learning involved </a:t>
            </a:r>
          </a:p>
          <a:p>
            <a:pPr lvl="1"/>
            <a:r>
              <a:rPr lang="en-US" b="1" dirty="0"/>
              <a:t>Wrapper</a:t>
            </a:r>
            <a:r>
              <a:rPr lang="en-US" dirty="0"/>
              <a:t>: Uses learning techniques to evaluate useful features </a:t>
            </a:r>
          </a:p>
          <a:p>
            <a:pPr lvl="1"/>
            <a:r>
              <a:rPr lang="en-US" b="1" dirty="0"/>
              <a:t>Embedded</a:t>
            </a:r>
            <a:r>
              <a:rPr lang="en-US" dirty="0"/>
              <a:t>: Combines the feature selection step &amp; the classifier construction</a:t>
            </a:r>
          </a:p>
        </p:txBody>
      </p:sp>
    </p:spTree>
    <p:extLst>
      <p:ext uri="{BB962C8B-B14F-4D97-AF65-F5344CB8AC3E}">
        <p14:creationId xmlns:p14="http://schemas.microsoft.com/office/powerpoint/2010/main" val="1521591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3B78F-2EF4-F1DE-F024-D8B3E81F9108}"/>
              </a:ext>
            </a:extLst>
          </p:cNvPr>
          <p:cNvSpPr>
            <a:spLocks noGrp="1"/>
          </p:cNvSpPr>
          <p:nvPr>
            <p:ph type="title"/>
          </p:nvPr>
        </p:nvSpPr>
        <p:spPr/>
        <p:txBody>
          <a:bodyPr/>
          <a:lstStyle/>
          <a:p>
            <a:r>
              <a:rPr lang="en-US" dirty="0"/>
              <a:t>Filter Methods</a:t>
            </a:r>
          </a:p>
        </p:txBody>
      </p:sp>
      <p:sp>
        <p:nvSpPr>
          <p:cNvPr id="3" name="Content Placeholder 2">
            <a:extLst>
              <a:ext uri="{FF2B5EF4-FFF2-40B4-BE49-F238E27FC236}">
                <a16:creationId xmlns:a16="http://schemas.microsoft.com/office/drawing/2014/main" id="{13CEC806-A64E-3C38-EFD5-D7F09870895D}"/>
              </a:ext>
            </a:extLst>
          </p:cNvPr>
          <p:cNvSpPr>
            <a:spLocks noGrp="1"/>
          </p:cNvSpPr>
          <p:nvPr>
            <p:ph idx="1"/>
          </p:nvPr>
        </p:nvSpPr>
        <p:spPr>
          <a:xfrm>
            <a:off x="838200" y="1391055"/>
            <a:ext cx="10515600" cy="5101820"/>
          </a:xfrm>
        </p:spPr>
        <p:txBody>
          <a:bodyPr>
            <a:normAutofit fontScale="77500" lnSpcReduction="20000"/>
          </a:bodyPr>
          <a:lstStyle/>
          <a:p>
            <a:r>
              <a:rPr lang="en-US" dirty="0"/>
              <a:t>Uses intrinsic properties of variables, ignoring the ML method itself </a:t>
            </a:r>
          </a:p>
          <a:p>
            <a:r>
              <a:rPr lang="en-US" dirty="0"/>
              <a:t>Useful for classification problems where each variable adds incremental classification power </a:t>
            </a:r>
          </a:p>
          <a:p>
            <a:r>
              <a:rPr lang="en-US" b="1" dirty="0"/>
              <a:t>Criterion</a:t>
            </a:r>
            <a:r>
              <a:rPr lang="en-US" dirty="0"/>
              <a:t>: Measure feature subset “relevance” </a:t>
            </a:r>
          </a:p>
          <a:p>
            <a:r>
              <a:rPr lang="en-US" b="1" dirty="0"/>
              <a:t>Search</a:t>
            </a:r>
            <a:r>
              <a:rPr lang="en-US" dirty="0"/>
              <a:t>: Order features by individual feature ranking or nested subset of features </a:t>
            </a:r>
          </a:p>
          <a:p>
            <a:r>
              <a:rPr lang="en-US" b="1" dirty="0"/>
              <a:t>Assessment</a:t>
            </a:r>
            <a:r>
              <a:rPr lang="en-US" dirty="0"/>
              <a:t>: Using statistical tests </a:t>
            </a:r>
          </a:p>
          <a:p>
            <a:r>
              <a:rPr lang="en-US" b="1" dirty="0"/>
              <a:t>Statistical</a:t>
            </a:r>
            <a:r>
              <a:rPr lang="en-US" dirty="0"/>
              <a:t> </a:t>
            </a:r>
            <a:r>
              <a:rPr lang="en-US" b="1" dirty="0"/>
              <a:t>Approaches</a:t>
            </a:r>
            <a:r>
              <a:rPr lang="en-US" dirty="0"/>
              <a:t>: </a:t>
            </a:r>
          </a:p>
          <a:p>
            <a:pPr lvl="1"/>
            <a:r>
              <a:rPr lang="en-US" dirty="0"/>
              <a:t>Covariance – for numeric data </a:t>
            </a:r>
          </a:p>
          <a:p>
            <a:pPr lvl="1"/>
            <a:r>
              <a:rPr lang="en-US" dirty="0"/>
              <a:t>Correlation coefficient – for numeric data </a:t>
            </a:r>
          </a:p>
          <a:p>
            <a:pPr lvl="1"/>
            <a:r>
              <a:rPr lang="en-US" dirty="0"/>
              <a:t>Chi-square – for nominal data </a:t>
            </a:r>
          </a:p>
          <a:p>
            <a:pPr lvl="1"/>
            <a:r>
              <a:rPr lang="en-US" dirty="0"/>
              <a:t>Information gain </a:t>
            </a:r>
          </a:p>
          <a:p>
            <a:r>
              <a:rPr lang="en-US" b="1" dirty="0"/>
              <a:t>Advantages</a:t>
            </a:r>
            <a:r>
              <a:rPr lang="en-US" dirty="0"/>
              <a:t>  : </a:t>
            </a:r>
          </a:p>
          <a:p>
            <a:pPr lvl="1"/>
            <a:r>
              <a:rPr lang="en-US" dirty="0"/>
              <a:t>Robust against overfitting </a:t>
            </a:r>
          </a:p>
          <a:p>
            <a:pPr lvl="1"/>
            <a:r>
              <a:rPr lang="en-US" dirty="0"/>
              <a:t>Faster &amp; computationally cheaper </a:t>
            </a:r>
          </a:p>
          <a:p>
            <a:r>
              <a:rPr lang="en-US" b="1" dirty="0"/>
              <a:t>Disadvantage</a:t>
            </a:r>
            <a:r>
              <a:rPr lang="en-US" dirty="0"/>
              <a:t> : </a:t>
            </a:r>
          </a:p>
          <a:p>
            <a:pPr lvl="1"/>
            <a:r>
              <a:rPr lang="en-US" dirty="0"/>
              <a:t>May not select most useful features</a:t>
            </a:r>
          </a:p>
        </p:txBody>
      </p:sp>
    </p:spTree>
    <p:extLst>
      <p:ext uri="{BB962C8B-B14F-4D97-AF65-F5344CB8AC3E}">
        <p14:creationId xmlns:p14="http://schemas.microsoft.com/office/powerpoint/2010/main" val="3610968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9BC72-E7F0-D29A-DE2F-51CF6CFFEABB}"/>
              </a:ext>
            </a:extLst>
          </p:cNvPr>
          <p:cNvSpPr>
            <a:spLocks noGrp="1"/>
          </p:cNvSpPr>
          <p:nvPr>
            <p:ph type="title"/>
          </p:nvPr>
        </p:nvSpPr>
        <p:spPr/>
        <p:txBody>
          <a:bodyPr/>
          <a:lstStyle/>
          <a:p>
            <a:r>
              <a:rPr lang="en-US" dirty="0"/>
              <a:t>Feature Importance </a:t>
            </a:r>
          </a:p>
        </p:txBody>
      </p:sp>
      <p:sp>
        <p:nvSpPr>
          <p:cNvPr id="3" name="Content Placeholder 2">
            <a:extLst>
              <a:ext uri="{FF2B5EF4-FFF2-40B4-BE49-F238E27FC236}">
                <a16:creationId xmlns:a16="http://schemas.microsoft.com/office/drawing/2014/main" id="{4BF12594-5696-AA27-6C4A-9C45D7DD39EC}"/>
              </a:ext>
            </a:extLst>
          </p:cNvPr>
          <p:cNvSpPr>
            <a:spLocks noGrp="1"/>
          </p:cNvSpPr>
          <p:nvPr>
            <p:ph idx="1"/>
          </p:nvPr>
        </p:nvSpPr>
        <p:spPr/>
        <p:txBody>
          <a:bodyPr/>
          <a:lstStyle/>
          <a:p>
            <a:r>
              <a:rPr lang="en-US" dirty="0"/>
              <a:t>Feature Importance: </a:t>
            </a:r>
          </a:p>
          <a:p>
            <a:r>
              <a:rPr lang="en-US" dirty="0"/>
              <a:t>Gives a score for each feature of the data </a:t>
            </a:r>
          </a:p>
          <a:p>
            <a:r>
              <a:rPr lang="en-US" dirty="0"/>
              <a:t>The higher the score, the more important or relevant the feature is to the target feature. </a:t>
            </a:r>
          </a:p>
          <a:p>
            <a:r>
              <a:rPr lang="en-US" dirty="0"/>
              <a:t>Feature importance is an inbuilt class that comes with tree based classifiers such as: </a:t>
            </a:r>
          </a:p>
          <a:p>
            <a:pPr lvl="1"/>
            <a:r>
              <a:rPr lang="en-US" dirty="0"/>
              <a:t>Random Forest Classifiers </a:t>
            </a:r>
          </a:p>
          <a:p>
            <a:pPr lvl="1"/>
            <a:r>
              <a:rPr lang="en-US" dirty="0"/>
              <a:t>Extra Tree Classifiers</a:t>
            </a:r>
          </a:p>
        </p:txBody>
      </p:sp>
    </p:spTree>
    <p:extLst>
      <p:ext uri="{BB962C8B-B14F-4D97-AF65-F5344CB8AC3E}">
        <p14:creationId xmlns:p14="http://schemas.microsoft.com/office/powerpoint/2010/main" val="29672442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526A-6B8A-3626-3EE3-7DDFB03B1FFB}"/>
              </a:ext>
            </a:extLst>
          </p:cNvPr>
          <p:cNvSpPr>
            <a:spLocks noGrp="1"/>
          </p:cNvSpPr>
          <p:nvPr>
            <p:ph type="title"/>
          </p:nvPr>
        </p:nvSpPr>
        <p:spPr/>
        <p:txBody>
          <a:bodyPr/>
          <a:lstStyle/>
          <a:p>
            <a:r>
              <a:rPr lang="en-US" dirty="0"/>
              <a:t>Covariance (Numerical Data)</a:t>
            </a:r>
          </a:p>
        </p:txBody>
      </p:sp>
      <p:pic>
        <p:nvPicPr>
          <p:cNvPr id="5" name="Content Placeholder 4" descr="A white paper with black text and blue text">
            <a:extLst>
              <a:ext uri="{FF2B5EF4-FFF2-40B4-BE49-F238E27FC236}">
                <a16:creationId xmlns:a16="http://schemas.microsoft.com/office/drawing/2014/main" id="{E279E60B-057C-553A-78B5-7090714A70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98182"/>
            <a:ext cx="10515600" cy="4613859"/>
          </a:xfrm>
        </p:spPr>
      </p:pic>
    </p:spTree>
    <p:extLst>
      <p:ext uri="{BB962C8B-B14F-4D97-AF65-F5344CB8AC3E}">
        <p14:creationId xmlns:p14="http://schemas.microsoft.com/office/powerpoint/2010/main" val="357204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526A-6B8A-3626-3EE3-7DDFB03B1FFB}"/>
              </a:ext>
            </a:extLst>
          </p:cNvPr>
          <p:cNvSpPr>
            <a:spLocks noGrp="1"/>
          </p:cNvSpPr>
          <p:nvPr>
            <p:ph type="title"/>
          </p:nvPr>
        </p:nvSpPr>
        <p:spPr/>
        <p:txBody>
          <a:bodyPr/>
          <a:lstStyle/>
          <a:p>
            <a:r>
              <a:rPr lang="en-US" dirty="0"/>
              <a:t>Covariance Computation</a:t>
            </a:r>
          </a:p>
        </p:txBody>
      </p:sp>
      <p:pic>
        <p:nvPicPr>
          <p:cNvPr id="5" name="Content Placeholder 4" descr="A math problem with numbers and equations&#10;&#10;Description automatically generated with medium confidence">
            <a:extLst>
              <a:ext uri="{FF2B5EF4-FFF2-40B4-BE49-F238E27FC236}">
                <a16:creationId xmlns:a16="http://schemas.microsoft.com/office/drawing/2014/main" id="{3774E96A-4470-C948-0657-2C97AAD593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18269" y="2374283"/>
            <a:ext cx="5555461" cy="3254022"/>
          </a:xfrm>
        </p:spPr>
      </p:pic>
    </p:spTree>
    <p:extLst>
      <p:ext uri="{BB962C8B-B14F-4D97-AF65-F5344CB8AC3E}">
        <p14:creationId xmlns:p14="http://schemas.microsoft.com/office/powerpoint/2010/main" val="18006845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526A-6B8A-3626-3EE3-7DDFB03B1FFB}"/>
              </a:ext>
            </a:extLst>
          </p:cNvPr>
          <p:cNvSpPr>
            <a:spLocks noGrp="1"/>
          </p:cNvSpPr>
          <p:nvPr>
            <p:ph type="title"/>
          </p:nvPr>
        </p:nvSpPr>
        <p:spPr/>
        <p:txBody>
          <a:bodyPr/>
          <a:lstStyle/>
          <a:p>
            <a:r>
              <a:rPr lang="en-US" dirty="0"/>
              <a:t>Correlation Coefficient (Numeric Data)</a:t>
            </a:r>
          </a:p>
        </p:txBody>
      </p:sp>
      <p:pic>
        <p:nvPicPr>
          <p:cNvPr id="5" name="Content Placeholder 4" descr="A white text with black text and black text">
            <a:extLst>
              <a:ext uri="{FF2B5EF4-FFF2-40B4-BE49-F238E27FC236}">
                <a16:creationId xmlns:a16="http://schemas.microsoft.com/office/drawing/2014/main" id="{3632C627-71C9-10E8-B820-37F2C38B8B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9553" y="1690688"/>
            <a:ext cx="9897035" cy="4186948"/>
          </a:xfrm>
        </p:spPr>
      </p:pic>
    </p:spTree>
    <p:extLst>
      <p:ext uri="{BB962C8B-B14F-4D97-AF65-F5344CB8AC3E}">
        <p14:creationId xmlns:p14="http://schemas.microsoft.com/office/powerpoint/2010/main" val="630238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526A-6B8A-3626-3EE3-7DDFB03B1FFB}"/>
              </a:ext>
            </a:extLst>
          </p:cNvPr>
          <p:cNvSpPr>
            <a:spLocks noGrp="1"/>
          </p:cNvSpPr>
          <p:nvPr>
            <p:ph type="title"/>
          </p:nvPr>
        </p:nvSpPr>
        <p:spPr/>
        <p:txBody>
          <a:bodyPr/>
          <a:lstStyle/>
          <a:p>
            <a:r>
              <a:rPr lang="en-US" dirty="0"/>
              <a:t>Wrapper Methods</a:t>
            </a:r>
          </a:p>
        </p:txBody>
      </p:sp>
      <p:sp>
        <p:nvSpPr>
          <p:cNvPr id="3" name="Content Placeholder 2">
            <a:extLst>
              <a:ext uri="{FF2B5EF4-FFF2-40B4-BE49-F238E27FC236}">
                <a16:creationId xmlns:a16="http://schemas.microsoft.com/office/drawing/2014/main" id="{22AB382E-8D19-D2D6-7850-1305D3EC3D6B}"/>
              </a:ext>
            </a:extLst>
          </p:cNvPr>
          <p:cNvSpPr>
            <a:spLocks noGrp="1"/>
          </p:cNvSpPr>
          <p:nvPr>
            <p:ph idx="1"/>
          </p:nvPr>
        </p:nvSpPr>
        <p:spPr/>
        <p:txBody>
          <a:bodyPr>
            <a:normAutofit fontScale="85000" lnSpcReduction="10000"/>
          </a:bodyPr>
          <a:lstStyle/>
          <a:p>
            <a:r>
              <a:rPr lang="en-US" dirty="0"/>
              <a:t>▪ Use a search algorithm to search the space of possible feature subsets </a:t>
            </a:r>
          </a:p>
          <a:p>
            <a:r>
              <a:rPr lang="en-US" dirty="0"/>
              <a:t>▪ Evaluates each subset by running a model on the subset to find the optimal value </a:t>
            </a:r>
          </a:p>
          <a:p>
            <a:r>
              <a:rPr lang="en-US" b="1" dirty="0"/>
              <a:t>Criterion</a:t>
            </a:r>
            <a:r>
              <a:rPr lang="en-US" dirty="0"/>
              <a:t>: Measure feature subset “usefulness” </a:t>
            </a:r>
          </a:p>
          <a:p>
            <a:r>
              <a:rPr lang="en-US" b="1" dirty="0"/>
              <a:t>Search</a:t>
            </a:r>
            <a:r>
              <a:rPr lang="en-US" dirty="0"/>
              <a:t>: Search the space of all feature subsets and select the set with the highest score </a:t>
            </a:r>
          </a:p>
          <a:p>
            <a:r>
              <a:rPr lang="en-US" b="1" dirty="0"/>
              <a:t>Statistical</a:t>
            </a:r>
            <a:r>
              <a:rPr lang="en-US" dirty="0"/>
              <a:t> </a:t>
            </a:r>
            <a:r>
              <a:rPr lang="en-US" b="1" dirty="0"/>
              <a:t>Approaches</a:t>
            </a:r>
            <a:r>
              <a:rPr lang="en-US" dirty="0"/>
              <a:t>: Uses a recursive approach to build multiple models with feature subsets. Choose best subset that gives the best performing model </a:t>
            </a:r>
          </a:p>
          <a:p>
            <a:r>
              <a:rPr lang="en-US" b="1" dirty="0"/>
              <a:t>Evaluation</a:t>
            </a:r>
            <a:r>
              <a:rPr lang="en-US" dirty="0"/>
              <a:t> </a:t>
            </a:r>
            <a:r>
              <a:rPr lang="en-US" b="1" dirty="0"/>
              <a:t>criterion</a:t>
            </a:r>
            <a:r>
              <a:rPr lang="en-US" dirty="0"/>
              <a:t> = performance measure (Cross-validation) </a:t>
            </a:r>
          </a:p>
          <a:p>
            <a:pPr lvl="1"/>
            <a:r>
              <a:rPr lang="en-US" dirty="0"/>
              <a:t>In regression, e.g., p-value, R2 </a:t>
            </a:r>
          </a:p>
          <a:p>
            <a:pPr lvl="1"/>
            <a:r>
              <a:rPr lang="en-US" dirty="0"/>
              <a:t>In classification: e.g., accuracy, precision, recall, f1-score </a:t>
            </a:r>
          </a:p>
        </p:txBody>
      </p:sp>
    </p:spTree>
    <p:extLst>
      <p:ext uri="{BB962C8B-B14F-4D97-AF65-F5344CB8AC3E}">
        <p14:creationId xmlns:p14="http://schemas.microsoft.com/office/powerpoint/2010/main" val="3506830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526A-6B8A-3626-3EE3-7DDFB03B1FFB}"/>
              </a:ext>
            </a:extLst>
          </p:cNvPr>
          <p:cNvSpPr>
            <a:spLocks noGrp="1"/>
          </p:cNvSpPr>
          <p:nvPr>
            <p:ph type="title"/>
          </p:nvPr>
        </p:nvSpPr>
        <p:spPr/>
        <p:txBody>
          <a:bodyPr/>
          <a:lstStyle/>
          <a:p>
            <a:r>
              <a:rPr lang="en-US" dirty="0"/>
              <a:t>Wrapper Methods Approaches</a:t>
            </a:r>
          </a:p>
        </p:txBody>
      </p:sp>
      <p:sp>
        <p:nvSpPr>
          <p:cNvPr id="3" name="Content Placeholder 2">
            <a:extLst>
              <a:ext uri="{FF2B5EF4-FFF2-40B4-BE49-F238E27FC236}">
                <a16:creationId xmlns:a16="http://schemas.microsoft.com/office/drawing/2014/main" id="{22AB382E-8D19-D2D6-7850-1305D3EC3D6B}"/>
              </a:ext>
            </a:extLst>
          </p:cNvPr>
          <p:cNvSpPr>
            <a:spLocks noGrp="1"/>
          </p:cNvSpPr>
          <p:nvPr>
            <p:ph idx="1"/>
          </p:nvPr>
        </p:nvSpPr>
        <p:spPr/>
        <p:txBody>
          <a:bodyPr>
            <a:normAutofit fontScale="92500" lnSpcReduction="10000"/>
          </a:bodyPr>
          <a:lstStyle/>
          <a:p>
            <a:r>
              <a:rPr lang="en-US" b="1" dirty="0"/>
              <a:t>Forward</a:t>
            </a:r>
            <a:r>
              <a:rPr lang="en-US" dirty="0"/>
              <a:t> </a:t>
            </a:r>
            <a:r>
              <a:rPr lang="en-US" b="1" dirty="0"/>
              <a:t>Selection</a:t>
            </a:r>
            <a:r>
              <a:rPr lang="en-US" dirty="0"/>
              <a:t>: </a:t>
            </a:r>
          </a:p>
          <a:p>
            <a:r>
              <a:rPr lang="en-US" dirty="0"/>
              <a:t>Start with no variables &amp; add them one by one </a:t>
            </a:r>
          </a:p>
          <a:p>
            <a:r>
              <a:rPr lang="en-US" dirty="0"/>
              <a:t>At each step, add the one that decreases the error the most, until any further addition does not decrease the error (or decreases it only sightly) </a:t>
            </a:r>
          </a:p>
          <a:p>
            <a:r>
              <a:rPr lang="en-US" b="1" dirty="0"/>
              <a:t>Backward</a:t>
            </a:r>
            <a:r>
              <a:rPr lang="en-US" dirty="0"/>
              <a:t> </a:t>
            </a:r>
            <a:r>
              <a:rPr lang="en-US" b="1" dirty="0"/>
              <a:t>Selection</a:t>
            </a:r>
            <a:r>
              <a:rPr lang="en-US" dirty="0"/>
              <a:t>: </a:t>
            </a:r>
          </a:p>
          <a:p>
            <a:r>
              <a:rPr lang="en-US" dirty="0"/>
              <a:t>Start with the full model (including all the independent variables) </a:t>
            </a:r>
          </a:p>
          <a:p>
            <a:r>
              <a:rPr lang="en-US" dirty="0"/>
              <a:t>Then remove the insignificant feature with the highest p-value (&gt; significance level) </a:t>
            </a:r>
          </a:p>
          <a:p>
            <a:r>
              <a:rPr lang="en-US" dirty="0"/>
              <a:t>Repeat process until we have the final set of significant features</a:t>
            </a:r>
          </a:p>
        </p:txBody>
      </p:sp>
    </p:spTree>
    <p:extLst>
      <p:ext uri="{BB962C8B-B14F-4D97-AF65-F5344CB8AC3E}">
        <p14:creationId xmlns:p14="http://schemas.microsoft.com/office/powerpoint/2010/main" val="2622680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526A-6B8A-3626-3EE3-7DDFB03B1FFB}"/>
              </a:ext>
            </a:extLst>
          </p:cNvPr>
          <p:cNvSpPr>
            <a:spLocks noGrp="1"/>
          </p:cNvSpPr>
          <p:nvPr>
            <p:ph type="title"/>
          </p:nvPr>
        </p:nvSpPr>
        <p:spPr/>
        <p:txBody>
          <a:bodyPr/>
          <a:lstStyle/>
          <a:p>
            <a:r>
              <a:rPr lang="en-US" dirty="0"/>
              <a:t>Feature Extraction</a:t>
            </a:r>
          </a:p>
        </p:txBody>
      </p:sp>
      <p:sp>
        <p:nvSpPr>
          <p:cNvPr id="3" name="Content Placeholder 2">
            <a:extLst>
              <a:ext uri="{FF2B5EF4-FFF2-40B4-BE49-F238E27FC236}">
                <a16:creationId xmlns:a16="http://schemas.microsoft.com/office/drawing/2014/main" id="{22AB382E-8D19-D2D6-7850-1305D3EC3D6B}"/>
              </a:ext>
            </a:extLst>
          </p:cNvPr>
          <p:cNvSpPr>
            <a:spLocks noGrp="1"/>
          </p:cNvSpPr>
          <p:nvPr>
            <p:ph idx="1"/>
          </p:nvPr>
        </p:nvSpPr>
        <p:spPr/>
        <p:txBody>
          <a:bodyPr>
            <a:normAutofit fontScale="92500" lnSpcReduction="10000"/>
          </a:bodyPr>
          <a:lstStyle/>
          <a:p>
            <a:r>
              <a:rPr lang="en-US" dirty="0"/>
              <a:t>Refers to a set of techniques that allows a system to automatically build features </a:t>
            </a:r>
          </a:p>
          <a:p>
            <a:r>
              <a:rPr lang="en-US" dirty="0"/>
              <a:t>Differs from manual feature engineering </a:t>
            </a:r>
          </a:p>
          <a:p>
            <a:r>
              <a:rPr lang="en-US" dirty="0"/>
              <a:t>Helps to get the best feature from data by selecting &amp; combining variables into features, effectively reducing the amount of data </a:t>
            </a:r>
          </a:p>
          <a:p>
            <a:r>
              <a:rPr lang="en-US" b="1" dirty="0"/>
              <a:t>Approaches</a:t>
            </a:r>
            <a:r>
              <a:rPr lang="en-US" dirty="0"/>
              <a:t> : </a:t>
            </a:r>
          </a:p>
          <a:p>
            <a:pPr lvl="1"/>
            <a:r>
              <a:rPr lang="en-US" dirty="0"/>
              <a:t>Factor Analysis  </a:t>
            </a:r>
          </a:p>
          <a:p>
            <a:pPr lvl="1"/>
            <a:r>
              <a:rPr lang="en-US" dirty="0"/>
              <a:t>PCA </a:t>
            </a:r>
          </a:p>
          <a:p>
            <a:pPr lvl="1"/>
            <a:r>
              <a:rPr lang="en-US" dirty="0"/>
              <a:t>SVD </a:t>
            </a:r>
          </a:p>
          <a:p>
            <a:pPr lvl="1"/>
            <a:r>
              <a:rPr lang="en-US" dirty="0"/>
              <a:t>LDA </a:t>
            </a:r>
          </a:p>
          <a:p>
            <a:pPr lvl="1"/>
            <a:r>
              <a:rPr lang="en-US" dirty="0"/>
              <a:t>Autoencoders </a:t>
            </a:r>
          </a:p>
        </p:txBody>
      </p:sp>
    </p:spTree>
    <p:extLst>
      <p:ext uri="{BB962C8B-B14F-4D97-AF65-F5344CB8AC3E}">
        <p14:creationId xmlns:p14="http://schemas.microsoft.com/office/powerpoint/2010/main" val="1269595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ext, screenshot, font, number&#10;&#10;Description automatically generated">
            <a:extLst>
              <a:ext uri="{FF2B5EF4-FFF2-40B4-BE49-F238E27FC236}">
                <a16:creationId xmlns:a16="http://schemas.microsoft.com/office/drawing/2014/main" id="{AC6589EC-55F9-4BE9-BF6D-340FACE00EA2}"/>
              </a:ext>
            </a:extLst>
          </p:cNvPr>
          <p:cNvPicPr/>
          <p:nvPr/>
        </p:nvPicPr>
        <p:blipFill>
          <a:blip r:embed="rId2"/>
          <a:stretch>
            <a:fillRect/>
          </a:stretch>
        </p:blipFill>
        <p:spPr>
          <a:xfrm>
            <a:off x="1089092" y="605749"/>
            <a:ext cx="9698881" cy="5454583"/>
          </a:xfrm>
          <a:prstGeom prst="rect">
            <a:avLst/>
          </a:prstGeom>
        </p:spPr>
      </p:pic>
    </p:spTree>
    <p:extLst>
      <p:ext uri="{BB962C8B-B14F-4D97-AF65-F5344CB8AC3E}">
        <p14:creationId xmlns:p14="http://schemas.microsoft.com/office/powerpoint/2010/main" val="9233636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185FF-906B-9244-FE2F-EDCEEDFD762D}"/>
              </a:ext>
            </a:extLst>
          </p:cNvPr>
          <p:cNvSpPr>
            <a:spLocks noGrp="1"/>
          </p:cNvSpPr>
          <p:nvPr>
            <p:ph type="title"/>
          </p:nvPr>
        </p:nvSpPr>
        <p:spPr/>
        <p:txBody>
          <a:bodyPr/>
          <a:lstStyle/>
          <a:p>
            <a:r>
              <a:rPr lang="en-US" b="1" dirty="0"/>
              <a:t>Global Dimensionality Reduction</a:t>
            </a:r>
            <a:br>
              <a:rPr lang="en-US" b="1" dirty="0"/>
            </a:br>
            <a:endParaRPr lang="en-US" dirty="0"/>
          </a:p>
        </p:txBody>
      </p:sp>
      <p:sp>
        <p:nvSpPr>
          <p:cNvPr id="3" name="Content Placeholder 2">
            <a:extLst>
              <a:ext uri="{FF2B5EF4-FFF2-40B4-BE49-F238E27FC236}">
                <a16:creationId xmlns:a16="http://schemas.microsoft.com/office/drawing/2014/main" id="{34B730D9-1988-3335-C5BC-3B4895EC5C85}"/>
              </a:ext>
            </a:extLst>
          </p:cNvPr>
          <p:cNvSpPr>
            <a:spLocks noGrp="1"/>
          </p:cNvSpPr>
          <p:nvPr>
            <p:ph idx="1"/>
          </p:nvPr>
        </p:nvSpPr>
        <p:spPr/>
        <p:txBody>
          <a:bodyPr>
            <a:normAutofit fontScale="70000" lnSpcReduction="20000"/>
          </a:bodyPr>
          <a:lstStyle/>
          <a:p>
            <a:r>
              <a:rPr lang="en-US" b="1" dirty="0"/>
              <a:t>Definition</a:t>
            </a:r>
            <a:r>
              <a:rPr lang="en-US" dirty="0"/>
              <a:t>: technique aims to reduce the dimensionality of the entire dataset by finding a low-dimensional representation that captures the overall structure of the data. These methods consider the entire dataset and seek to preserve global structures.</a:t>
            </a:r>
          </a:p>
          <a:p>
            <a:r>
              <a:rPr lang="en-US" b="1" dirty="0"/>
              <a:t>Examples</a:t>
            </a:r>
            <a:r>
              <a:rPr lang="en-US" dirty="0"/>
              <a:t>:</a:t>
            </a:r>
          </a:p>
          <a:p>
            <a:pPr>
              <a:buFont typeface="Arial" panose="020B0604020202020204" pitchFamily="34" charset="0"/>
              <a:buChar char="•"/>
            </a:pPr>
            <a:r>
              <a:rPr lang="en-US" b="1" dirty="0"/>
              <a:t>Principal Component Analysis (PCA)</a:t>
            </a:r>
            <a:r>
              <a:rPr lang="en-US" dirty="0"/>
              <a:t>: PCA projects the data onto a lower-dimensional subspace by finding the directions (principal components) that maximize the variance in the data. It captures the global variance structure of the data.</a:t>
            </a:r>
          </a:p>
          <a:p>
            <a:pPr>
              <a:buFont typeface="Arial" panose="020B0604020202020204" pitchFamily="34" charset="0"/>
              <a:buChar char="•"/>
            </a:pPr>
            <a:r>
              <a:rPr lang="en-US" b="1" dirty="0"/>
              <a:t>Linear Discriminant Analysis (LDA)</a:t>
            </a:r>
            <a:r>
              <a:rPr lang="en-US" dirty="0"/>
              <a:t>: LDA reduces dimensionality while maximizing class separability, considering global class distributions and variances.</a:t>
            </a:r>
          </a:p>
          <a:p>
            <a:r>
              <a:rPr lang="en-US" b="1" dirty="0"/>
              <a:t>Characteristics</a:t>
            </a:r>
            <a:r>
              <a:rPr lang="en-US" dirty="0"/>
              <a:t>:</a:t>
            </a:r>
          </a:p>
          <a:p>
            <a:pPr>
              <a:buFont typeface="Arial" panose="020B0604020202020204" pitchFamily="34" charset="0"/>
              <a:buChar char="•"/>
            </a:pPr>
            <a:r>
              <a:rPr lang="en-US" b="1" dirty="0"/>
              <a:t>Global Structure</a:t>
            </a:r>
            <a:r>
              <a:rPr lang="en-US" dirty="0"/>
              <a:t>: Preserves global features such as overall variance or class separation.</a:t>
            </a:r>
          </a:p>
          <a:p>
            <a:pPr>
              <a:buFont typeface="Arial" panose="020B0604020202020204" pitchFamily="34" charset="0"/>
              <a:buChar char="•"/>
            </a:pPr>
            <a:r>
              <a:rPr lang="en-US" b="1" dirty="0"/>
              <a:t>Linearity</a:t>
            </a:r>
            <a:r>
              <a:rPr lang="en-US" dirty="0"/>
              <a:t>: Often assumes linear relationships among features (e.g., PCA).</a:t>
            </a:r>
          </a:p>
          <a:p>
            <a:pPr>
              <a:buFont typeface="Arial" panose="020B0604020202020204" pitchFamily="34" charset="0"/>
              <a:buChar char="•"/>
            </a:pPr>
            <a:r>
              <a:rPr lang="en-US" b="1" dirty="0"/>
              <a:t>Assumptions</a:t>
            </a:r>
            <a:r>
              <a:rPr lang="en-US" dirty="0"/>
              <a:t>: Typically assumes that the data can be well-represented by linear combinations of features.</a:t>
            </a:r>
          </a:p>
          <a:p>
            <a:endParaRPr lang="en-US" dirty="0"/>
          </a:p>
        </p:txBody>
      </p:sp>
    </p:spTree>
    <p:extLst>
      <p:ext uri="{BB962C8B-B14F-4D97-AF65-F5344CB8AC3E}">
        <p14:creationId xmlns:p14="http://schemas.microsoft.com/office/powerpoint/2010/main" val="2655187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09509-AB74-E93A-D2EF-8E520A9E64EB}"/>
              </a:ext>
            </a:extLst>
          </p:cNvPr>
          <p:cNvSpPr>
            <a:spLocks noGrp="1"/>
          </p:cNvSpPr>
          <p:nvPr>
            <p:ph type="title"/>
          </p:nvPr>
        </p:nvSpPr>
        <p:spPr/>
        <p:txBody>
          <a:bodyPr/>
          <a:lstStyle/>
          <a:p>
            <a:r>
              <a:rPr lang="en-US" b="1" dirty="0"/>
              <a:t>Local Dimensionality Reduction</a:t>
            </a:r>
            <a:endParaRPr lang="en-US" dirty="0"/>
          </a:p>
        </p:txBody>
      </p:sp>
      <p:sp>
        <p:nvSpPr>
          <p:cNvPr id="3" name="Content Placeholder 2">
            <a:extLst>
              <a:ext uri="{FF2B5EF4-FFF2-40B4-BE49-F238E27FC236}">
                <a16:creationId xmlns:a16="http://schemas.microsoft.com/office/drawing/2014/main" id="{A74AB081-4930-4CBB-C2AC-0DE41299422D}"/>
              </a:ext>
            </a:extLst>
          </p:cNvPr>
          <p:cNvSpPr>
            <a:spLocks noGrp="1"/>
          </p:cNvSpPr>
          <p:nvPr>
            <p:ph idx="1"/>
          </p:nvPr>
        </p:nvSpPr>
        <p:spPr>
          <a:xfrm>
            <a:off x="838200" y="1595336"/>
            <a:ext cx="10718260" cy="4897539"/>
          </a:xfrm>
        </p:spPr>
        <p:txBody>
          <a:bodyPr>
            <a:normAutofit fontScale="70000" lnSpcReduction="20000"/>
          </a:bodyPr>
          <a:lstStyle/>
          <a:p>
            <a:r>
              <a:rPr lang="en-US" b="1" dirty="0"/>
              <a:t>Definition</a:t>
            </a:r>
            <a:r>
              <a:rPr lang="en-US" dirty="0"/>
              <a:t>: techniques focus on preserving the local structure of the data. They aim to maintain relationships between nearby points in the high-dimensional space, often assuming that the data lies on a low-dimensional manifold.</a:t>
            </a:r>
          </a:p>
          <a:p>
            <a:r>
              <a:rPr lang="en-US" b="1" dirty="0"/>
              <a:t>Examples</a:t>
            </a:r>
            <a:r>
              <a:rPr lang="en-US" dirty="0"/>
              <a:t>:</a:t>
            </a:r>
          </a:p>
          <a:p>
            <a:pPr>
              <a:buFont typeface="Arial" panose="020B0604020202020204" pitchFamily="34" charset="0"/>
              <a:buChar char="•"/>
            </a:pPr>
            <a:r>
              <a:rPr lang="en-US" b="1" dirty="0"/>
              <a:t>t-Distributed Stochastic Neighbor Embedding (t-SNE)</a:t>
            </a:r>
            <a:r>
              <a:rPr lang="en-US" dirty="0"/>
              <a:t>: t-SNE preserves local similarities between data points, focusing on the relationships between neighboring points. It is often used for visualization.</a:t>
            </a:r>
          </a:p>
          <a:p>
            <a:pPr>
              <a:buFont typeface="Arial" panose="020B0604020202020204" pitchFamily="34" charset="0"/>
              <a:buChar char="•"/>
            </a:pPr>
            <a:r>
              <a:rPr lang="en-US" b="1" dirty="0"/>
              <a:t>Locally Linear Embedding (LLE)</a:t>
            </a:r>
            <a:r>
              <a:rPr lang="en-US" dirty="0"/>
              <a:t>: LLE attempts to preserve local relationships by reconstructing data points from their neighbors and then projecting the reconstructed data into a lower-dimensional space.</a:t>
            </a:r>
          </a:p>
          <a:p>
            <a:pPr>
              <a:buFont typeface="Arial" panose="020B0604020202020204" pitchFamily="34" charset="0"/>
              <a:buChar char="•"/>
            </a:pPr>
            <a:r>
              <a:rPr lang="en-US" b="1" dirty="0" err="1"/>
              <a:t>Isomap</a:t>
            </a:r>
            <a:r>
              <a:rPr lang="en-US" dirty="0"/>
              <a:t>: </a:t>
            </a:r>
            <a:r>
              <a:rPr lang="en-US" dirty="0" err="1"/>
              <a:t>Isomap</a:t>
            </a:r>
            <a:r>
              <a:rPr lang="en-US" dirty="0"/>
              <a:t> combines local and global properties by preserving distances between points on a manifold, focusing on local relationships while capturing global structure.</a:t>
            </a:r>
          </a:p>
          <a:p>
            <a:r>
              <a:rPr lang="en-US" b="1" dirty="0"/>
              <a:t>Characteristics</a:t>
            </a:r>
            <a:r>
              <a:rPr lang="en-US" dirty="0"/>
              <a:t>:</a:t>
            </a:r>
          </a:p>
          <a:p>
            <a:pPr>
              <a:buFont typeface="Arial" panose="020B0604020202020204" pitchFamily="34" charset="0"/>
              <a:buChar char="•"/>
            </a:pPr>
            <a:r>
              <a:rPr lang="en-US" b="1" dirty="0"/>
              <a:t>Local Structure</a:t>
            </a:r>
            <a:r>
              <a:rPr lang="en-US" dirty="0"/>
              <a:t>: Emphasizes preserving local relationships and neighborhood information.</a:t>
            </a:r>
          </a:p>
          <a:p>
            <a:pPr>
              <a:buFont typeface="Arial" panose="020B0604020202020204" pitchFamily="34" charset="0"/>
              <a:buChar char="•"/>
            </a:pPr>
            <a:r>
              <a:rPr lang="en-US" b="1" dirty="0"/>
              <a:t>Non-Linearity</a:t>
            </a:r>
            <a:r>
              <a:rPr lang="en-US" dirty="0"/>
              <a:t>: Can capture non-linear relationships in the data.</a:t>
            </a:r>
            <a:r>
              <a:rPr lang="en-US" b="1" dirty="0"/>
              <a:t> </a:t>
            </a:r>
          </a:p>
          <a:p>
            <a:pPr>
              <a:buFont typeface="Arial" panose="020B0604020202020204" pitchFamily="34" charset="0"/>
              <a:buChar char="•"/>
            </a:pPr>
            <a:r>
              <a:rPr lang="en-US" b="1" dirty="0"/>
              <a:t>Assumptions</a:t>
            </a:r>
            <a:r>
              <a:rPr lang="en-US" dirty="0"/>
              <a:t>: Often assumes that data is distributed on or near a low-dimensional manifold.</a:t>
            </a:r>
          </a:p>
          <a:p>
            <a:endParaRPr lang="en-US" dirty="0"/>
          </a:p>
        </p:txBody>
      </p:sp>
    </p:spTree>
    <p:extLst>
      <p:ext uri="{BB962C8B-B14F-4D97-AF65-F5344CB8AC3E}">
        <p14:creationId xmlns:p14="http://schemas.microsoft.com/office/powerpoint/2010/main" val="29807113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526A-6B8A-3626-3EE3-7DDFB03B1FFB}"/>
              </a:ext>
            </a:extLst>
          </p:cNvPr>
          <p:cNvSpPr>
            <a:spLocks noGrp="1"/>
          </p:cNvSpPr>
          <p:nvPr>
            <p:ph type="title"/>
          </p:nvPr>
        </p:nvSpPr>
        <p:spPr/>
        <p:txBody>
          <a:bodyPr/>
          <a:lstStyle/>
          <a:p>
            <a:r>
              <a:rPr lang="en-US" dirty="0"/>
              <a:t>PCA</a:t>
            </a:r>
          </a:p>
        </p:txBody>
      </p:sp>
      <p:sp>
        <p:nvSpPr>
          <p:cNvPr id="3" name="Content Placeholder 2">
            <a:extLst>
              <a:ext uri="{FF2B5EF4-FFF2-40B4-BE49-F238E27FC236}">
                <a16:creationId xmlns:a16="http://schemas.microsoft.com/office/drawing/2014/main" id="{22AB382E-8D19-D2D6-7850-1305D3EC3D6B}"/>
              </a:ext>
            </a:extLst>
          </p:cNvPr>
          <p:cNvSpPr>
            <a:spLocks noGrp="1"/>
          </p:cNvSpPr>
          <p:nvPr>
            <p:ph idx="1"/>
          </p:nvPr>
        </p:nvSpPr>
        <p:spPr/>
        <p:txBody>
          <a:bodyPr/>
          <a:lstStyle/>
          <a:p>
            <a:r>
              <a:rPr lang="en-US" dirty="0"/>
              <a:t>PCA examines the covariance among features &amp; combines multiple features into a smaller set of uncorrelated variables </a:t>
            </a:r>
          </a:p>
          <a:p>
            <a:r>
              <a:rPr lang="en-US" dirty="0"/>
              <a:t>Used to transform a higher-dimensional set of features that could be possibly correlated into a lower-dimensional set of linearly uncorrelated features </a:t>
            </a:r>
          </a:p>
          <a:p>
            <a:r>
              <a:rPr lang="en-US" dirty="0"/>
              <a:t>New features, which are weighted combinations of the original predictor set, are called principal components (PCs)</a:t>
            </a:r>
          </a:p>
        </p:txBody>
      </p:sp>
    </p:spTree>
    <p:extLst>
      <p:ext uri="{BB962C8B-B14F-4D97-AF65-F5344CB8AC3E}">
        <p14:creationId xmlns:p14="http://schemas.microsoft.com/office/powerpoint/2010/main" val="13947558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526A-6B8A-3626-3EE3-7DDFB03B1FFB}"/>
              </a:ext>
            </a:extLst>
          </p:cNvPr>
          <p:cNvSpPr>
            <a:spLocks noGrp="1"/>
          </p:cNvSpPr>
          <p:nvPr>
            <p:ph type="title"/>
          </p:nvPr>
        </p:nvSpPr>
        <p:spPr/>
        <p:txBody>
          <a:bodyPr/>
          <a:lstStyle/>
          <a:p>
            <a:r>
              <a:rPr lang="en-US" dirty="0"/>
              <a:t>PCA Procedure</a:t>
            </a:r>
          </a:p>
        </p:txBody>
      </p:sp>
      <p:pic>
        <p:nvPicPr>
          <p:cNvPr id="5" name="Content Placeholder 4" descr="A diagram of a procedure">
            <a:extLst>
              <a:ext uri="{FF2B5EF4-FFF2-40B4-BE49-F238E27FC236}">
                <a16:creationId xmlns:a16="http://schemas.microsoft.com/office/drawing/2014/main" id="{0E39D5E9-B24B-C5A3-4D4B-7898AA7909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8779" y="1591582"/>
            <a:ext cx="10122568" cy="4540091"/>
          </a:xfrm>
        </p:spPr>
      </p:pic>
    </p:spTree>
    <p:extLst>
      <p:ext uri="{BB962C8B-B14F-4D97-AF65-F5344CB8AC3E}">
        <p14:creationId xmlns:p14="http://schemas.microsoft.com/office/powerpoint/2010/main" val="105387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69971-09CD-C2FB-7431-C85DD4AA8750}"/>
              </a:ext>
            </a:extLst>
          </p:cNvPr>
          <p:cNvSpPr>
            <a:spLocks noGrp="1"/>
          </p:cNvSpPr>
          <p:nvPr>
            <p:ph type="title"/>
          </p:nvPr>
        </p:nvSpPr>
        <p:spPr/>
        <p:txBody>
          <a:bodyPr/>
          <a:lstStyle/>
          <a:p>
            <a:r>
              <a:rPr lang="en-US" b="1" dirty="0"/>
              <a:t>Principal Component Analysis (PCA)</a:t>
            </a:r>
            <a:r>
              <a:rPr lang="en-US" dirty="0"/>
              <a:t>:</a:t>
            </a:r>
          </a:p>
        </p:txBody>
      </p:sp>
      <p:sp>
        <p:nvSpPr>
          <p:cNvPr id="3" name="Content Placeholder 2">
            <a:extLst>
              <a:ext uri="{FF2B5EF4-FFF2-40B4-BE49-F238E27FC236}">
                <a16:creationId xmlns:a16="http://schemas.microsoft.com/office/drawing/2014/main" id="{EE373C03-9288-D017-99F8-E8510929F5A5}"/>
              </a:ext>
            </a:extLst>
          </p:cNvPr>
          <p:cNvSpPr>
            <a:spLocks noGrp="1"/>
          </p:cNvSpPr>
          <p:nvPr>
            <p:ph idx="1"/>
          </p:nvPr>
        </p:nvSpPr>
        <p:spPr/>
        <p:txBody>
          <a:bodyPr/>
          <a:lstStyle/>
          <a:p>
            <a:pPr marL="742950" lvl="1" indent="-285750">
              <a:buFont typeface="+mj-lt"/>
              <a:buAutoNum type="arabicPeriod"/>
            </a:pPr>
            <a:r>
              <a:rPr lang="en-US" b="1" dirty="0"/>
              <a:t>Algorithm</a:t>
            </a:r>
            <a:r>
              <a:rPr lang="en-US" dirty="0"/>
              <a:t>:</a:t>
            </a:r>
          </a:p>
          <a:p>
            <a:pPr marL="1143000" lvl="2" indent="-228600">
              <a:buFont typeface="+mj-lt"/>
              <a:buAutoNum type="arabicPeriod"/>
            </a:pPr>
            <a:r>
              <a:rPr lang="en-US" dirty="0"/>
              <a:t>Standardize the data.</a:t>
            </a:r>
          </a:p>
          <a:p>
            <a:pPr marL="1143000" lvl="2" indent="-228600">
              <a:buFont typeface="+mj-lt"/>
              <a:buAutoNum type="arabicPeriod"/>
            </a:pPr>
            <a:r>
              <a:rPr lang="en-US" dirty="0"/>
              <a:t>Compute the covariance matrix of the data.</a:t>
            </a:r>
          </a:p>
          <a:p>
            <a:pPr marL="1143000" lvl="2" indent="-228600">
              <a:buFont typeface="+mj-lt"/>
              <a:buAutoNum type="arabicPeriod"/>
            </a:pPr>
            <a:r>
              <a:rPr lang="en-US" dirty="0"/>
              <a:t>Calculate the eigenvalues and eigenvectors of the covariance matrix.</a:t>
            </a:r>
          </a:p>
          <a:p>
            <a:pPr marL="1143000" lvl="2" indent="-228600">
              <a:buFont typeface="+mj-lt"/>
              <a:buAutoNum type="arabicPeriod"/>
            </a:pPr>
            <a:r>
              <a:rPr lang="en-US" dirty="0"/>
              <a:t>Sort the eigenvectors by eigenvalues in descending order and select the top k eigenvectors.</a:t>
            </a:r>
          </a:p>
          <a:p>
            <a:pPr marL="1143000" lvl="2" indent="-228600">
              <a:buFont typeface="+mj-lt"/>
              <a:buAutoNum type="arabicPeriod"/>
            </a:pPr>
            <a:r>
              <a:rPr lang="en-US" dirty="0"/>
              <a:t>Transform the data to the new k-dimensional space.</a:t>
            </a:r>
          </a:p>
          <a:p>
            <a:pPr marL="742950" lvl="1" indent="-285750">
              <a:buFont typeface="+mj-lt"/>
              <a:buAutoNum type="arabicPeriod"/>
            </a:pPr>
            <a:r>
              <a:rPr lang="en-US" b="1" dirty="0"/>
              <a:t>Advantages</a:t>
            </a:r>
            <a:r>
              <a:rPr lang="en-US" dirty="0"/>
              <a:t>: Simple, efficient, and widely used for data compression and visualization.</a:t>
            </a:r>
          </a:p>
          <a:p>
            <a:pPr marL="742950" lvl="1" indent="-285750">
              <a:buFont typeface="+mj-lt"/>
              <a:buAutoNum type="arabicPeriod"/>
            </a:pPr>
            <a:r>
              <a:rPr lang="en-US" b="1" dirty="0"/>
              <a:t>Disadvantages</a:t>
            </a:r>
            <a:r>
              <a:rPr lang="en-US" dirty="0"/>
              <a:t>: Linear method, so it may not capture complex relationships in the data.</a:t>
            </a:r>
          </a:p>
          <a:p>
            <a:endParaRPr lang="en-US" dirty="0"/>
          </a:p>
        </p:txBody>
      </p:sp>
    </p:spTree>
    <p:extLst>
      <p:ext uri="{BB962C8B-B14F-4D97-AF65-F5344CB8AC3E}">
        <p14:creationId xmlns:p14="http://schemas.microsoft.com/office/powerpoint/2010/main" val="5958137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AF429-D2A9-E6B5-1626-4AA02E325492}"/>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868E6C3E-032F-6349-E07C-1446EB35A9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1" y="1698250"/>
            <a:ext cx="5257800" cy="4351338"/>
          </a:xfrm>
        </p:spPr>
      </p:pic>
      <p:pic>
        <p:nvPicPr>
          <p:cNvPr id="7" name="Picture 6">
            <a:extLst>
              <a:ext uri="{FF2B5EF4-FFF2-40B4-BE49-F238E27FC236}">
                <a16:creationId xmlns:a16="http://schemas.microsoft.com/office/drawing/2014/main" id="{CF2D6827-63E0-5893-CF44-4305A38FE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777" y="1700416"/>
            <a:ext cx="5265765" cy="4343776"/>
          </a:xfrm>
          <a:prstGeom prst="rect">
            <a:avLst/>
          </a:prstGeom>
        </p:spPr>
      </p:pic>
    </p:spTree>
    <p:extLst>
      <p:ext uri="{BB962C8B-B14F-4D97-AF65-F5344CB8AC3E}">
        <p14:creationId xmlns:p14="http://schemas.microsoft.com/office/powerpoint/2010/main" val="40609320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AA2AA-D6B1-6BD3-0550-573EF9617990}"/>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268ACE77-5F39-54C6-5591-01417F0582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14991"/>
            <a:ext cx="4744453" cy="4090737"/>
          </a:xfrm>
        </p:spPr>
      </p:pic>
      <p:pic>
        <p:nvPicPr>
          <p:cNvPr id="7" name="Picture 6">
            <a:extLst>
              <a:ext uri="{FF2B5EF4-FFF2-40B4-BE49-F238E27FC236}">
                <a16:creationId xmlns:a16="http://schemas.microsoft.com/office/drawing/2014/main" id="{F0B1B2AE-68D0-CB8B-338A-2DE8B311D5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4188" y="2034966"/>
            <a:ext cx="5685013" cy="4031329"/>
          </a:xfrm>
          <a:prstGeom prst="rect">
            <a:avLst/>
          </a:prstGeom>
        </p:spPr>
      </p:pic>
    </p:spTree>
    <p:extLst>
      <p:ext uri="{BB962C8B-B14F-4D97-AF65-F5344CB8AC3E}">
        <p14:creationId xmlns:p14="http://schemas.microsoft.com/office/powerpoint/2010/main" val="25037200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947CB-1023-A858-219D-21EB4B28F473}"/>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644C09F7-57DE-14AE-025F-F75C4FB9A9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9179" y="1868310"/>
            <a:ext cx="5935579" cy="4298052"/>
          </a:xfrm>
        </p:spPr>
      </p:pic>
      <p:pic>
        <p:nvPicPr>
          <p:cNvPr id="7" name="Picture 6">
            <a:extLst>
              <a:ext uri="{FF2B5EF4-FFF2-40B4-BE49-F238E27FC236}">
                <a16:creationId xmlns:a16="http://schemas.microsoft.com/office/drawing/2014/main" id="{71D5A2FA-12D9-731C-DFBE-EE7C19641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8165" y="1868310"/>
            <a:ext cx="4994656" cy="4298052"/>
          </a:xfrm>
          <a:prstGeom prst="rect">
            <a:avLst/>
          </a:prstGeom>
        </p:spPr>
      </p:pic>
    </p:spTree>
    <p:extLst>
      <p:ext uri="{BB962C8B-B14F-4D97-AF65-F5344CB8AC3E}">
        <p14:creationId xmlns:p14="http://schemas.microsoft.com/office/powerpoint/2010/main" val="9452521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B659-0222-6AC9-3066-65F046B62390}"/>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D7709770-CBAE-0E50-9899-AC5D3CE798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8693" y="1531455"/>
            <a:ext cx="5190679" cy="4724966"/>
          </a:xfrm>
        </p:spPr>
      </p:pic>
      <p:pic>
        <p:nvPicPr>
          <p:cNvPr id="7" name="Picture 6">
            <a:extLst>
              <a:ext uri="{FF2B5EF4-FFF2-40B4-BE49-F238E27FC236}">
                <a16:creationId xmlns:a16="http://schemas.microsoft.com/office/drawing/2014/main" id="{B851FA09-F26B-4E85-AC43-3B6CBE9728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531454"/>
            <a:ext cx="5735109" cy="4724965"/>
          </a:xfrm>
          <a:prstGeom prst="rect">
            <a:avLst/>
          </a:prstGeom>
        </p:spPr>
      </p:pic>
    </p:spTree>
    <p:extLst>
      <p:ext uri="{BB962C8B-B14F-4D97-AF65-F5344CB8AC3E}">
        <p14:creationId xmlns:p14="http://schemas.microsoft.com/office/powerpoint/2010/main" val="41089421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4E53A-3754-8611-E415-563C05270796}"/>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161D43D8-7ECA-BA4F-ABC1-207EBEF055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9864" y="1443568"/>
            <a:ext cx="10295020" cy="2711338"/>
          </a:xfrm>
        </p:spPr>
      </p:pic>
      <p:pic>
        <p:nvPicPr>
          <p:cNvPr id="7" name="Picture 6">
            <a:extLst>
              <a:ext uri="{FF2B5EF4-FFF2-40B4-BE49-F238E27FC236}">
                <a16:creationId xmlns:a16="http://schemas.microsoft.com/office/drawing/2014/main" id="{A139A7D5-593A-3268-B12E-49F61364E9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863" y="4154906"/>
            <a:ext cx="10295020" cy="2461473"/>
          </a:xfrm>
          <a:prstGeom prst="rect">
            <a:avLst/>
          </a:prstGeom>
        </p:spPr>
      </p:pic>
    </p:spTree>
    <p:extLst>
      <p:ext uri="{BB962C8B-B14F-4D97-AF65-F5344CB8AC3E}">
        <p14:creationId xmlns:p14="http://schemas.microsoft.com/office/powerpoint/2010/main" val="36082089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FFD0F-F7C2-D60B-7FA2-43ADC5E3D8BA}"/>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F278BCF5-3EB9-F825-7590-7E6ACA1450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8431" y="1690688"/>
            <a:ext cx="5637570" cy="4351338"/>
          </a:xfrm>
        </p:spPr>
      </p:pic>
      <p:pic>
        <p:nvPicPr>
          <p:cNvPr id="7" name="Picture 6">
            <a:extLst>
              <a:ext uri="{FF2B5EF4-FFF2-40B4-BE49-F238E27FC236}">
                <a16:creationId xmlns:a16="http://schemas.microsoft.com/office/drawing/2014/main" id="{33B42AB6-02DC-1A4C-FCA7-37E03382FF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4389" y="1690688"/>
            <a:ext cx="5835316" cy="4351338"/>
          </a:xfrm>
          <a:prstGeom prst="rect">
            <a:avLst/>
          </a:prstGeom>
        </p:spPr>
      </p:pic>
    </p:spTree>
    <p:extLst>
      <p:ext uri="{BB962C8B-B14F-4D97-AF65-F5344CB8AC3E}">
        <p14:creationId xmlns:p14="http://schemas.microsoft.com/office/powerpoint/2010/main" val="1075208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9A37F-3E5A-223E-49DB-9D7A53B1132C}"/>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822BAD9E-419D-8D4F-A059-93AF1D3568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57709"/>
            <a:ext cx="4840705" cy="4351338"/>
          </a:xfrm>
        </p:spPr>
      </p:pic>
      <p:pic>
        <p:nvPicPr>
          <p:cNvPr id="7" name="Picture 6">
            <a:extLst>
              <a:ext uri="{FF2B5EF4-FFF2-40B4-BE49-F238E27FC236}">
                <a16:creationId xmlns:a16="http://schemas.microsoft.com/office/drawing/2014/main" id="{7B04E141-2F5B-7C05-94F1-A4E8177625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200" y="1857709"/>
            <a:ext cx="6071466" cy="4351338"/>
          </a:xfrm>
          <a:prstGeom prst="rect">
            <a:avLst/>
          </a:prstGeom>
        </p:spPr>
      </p:pic>
    </p:spTree>
    <p:extLst>
      <p:ext uri="{BB962C8B-B14F-4D97-AF65-F5344CB8AC3E}">
        <p14:creationId xmlns:p14="http://schemas.microsoft.com/office/powerpoint/2010/main" val="31935002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7BAE4-7606-4D81-B8C6-C606E5640924}"/>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17D84C5B-2970-B492-1967-968EF45187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857709"/>
            <a:ext cx="5867400" cy="4351338"/>
          </a:xfrm>
        </p:spPr>
      </p:pic>
      <p:pic>
        <p:nvPicPr>
          <p:cNvPr id="7" name="Picture 6">
            <a:extLst>
              <a:ext uri="{FF2B5EF4-FFF2-40B4-BE49-F238E27FC236}">
                <a16:creationId xmlns:a16="http://schemas.microsoft.com/office/drawing/2014/main" id="{54435D88-78C7-7EA4-E034-22A603F3D1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0802" y="1857709"/>
            <a:ext cx="5040355" cy="4351338"/>
          </a:xfrm>
          <a:prstGeom prst="rect">
            <a:avLst/>
          </a:prstGeom>
        </p:spPr>
      </p:pic>
    </p:spTree>
    <p:extLst>
      <p:ext uri="{BB962C8B-B14F-4D97-AF65-F5344CB8AC3E}">
        <p14:creationId xmlns:p14="http://schemas.microsoft.com/office/powerpoint/2010/main" val="13117458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DE57C-C34D-4E0F-8E4F-893386B223E9}"/>
              </a:ext>
            </a:extLst>
          </p:cNvPr>
          <p:cNvSpPr>
            <a:spLocks noGrp="1"/>
          </p:cNvSpPr>
          <p:nvPr>
            <p:ph type="title"/>
          </p:nvPr>
        </p:nvSpPr>
        <p:spPr/>
        <p:txBody>
          <a:bodyPr/>
          <a:lstStyle/>
          <a:p>
            <a:r>
              <a:rPr lang="en-US" dirty="0"/>
              <a:t>PCA</a:t>
            </a:r>
          </a:p>
        </p:txBody>
      </p:sp>
      <p:pic>
        <p:nvPicPr>
          <p:cNvPr id="7" name="Content Placeholder 6">
            <a:extLst>
              <a:ext uri="{FF2B5EF4-FFF2-40B4-BE49-F238E27FC236}">
                <a16:creationId xmlns:a16="http://schemas.microsoft.com/office/drawing/2014/main" id="{205AFA8A-6067-1A71-4410-AB6B2B2EC0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66771"/>
            <a:ext cx="5097379" cy="4229467"/>
          </a:xfrm>
        </p:spPr>
      </p:pic>
      <p:pic>
        <p:nvPicPr>
          <p:cNvPr id="9" name="Picture 8">
            <a:extLst>
              <a:ext uri="{FF2B5EF4-FFF2-40B4-BE49-F238E27FC236}">
                <a16:creationId xmlns:a16="http://schemas.microsoft.com/office/drawing/2014/main" id="{37E3190A-B410-43A7-7A84-E1B9C339F6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1" y="1986227"/>
            <a:ext cx="5257800" cy="4229466"/>
          </a:xfrm>
          <a:prstGeom prst="rect">
            <a:avLst/>
          </a:prstGeom>
        </p:spPr>
      </p:pic>
    </p:spTree>
    <p:extLst>
      <p:ext uri="{BB962C8B-B14F-4D97-AF65-F5344CB8AC3E}">
        <p14:creationId xmlns:p14="http://schemas.microsoft.com/office/powerpoint/2010/main" val="10019764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DE57C-C34D-4E0F-8E4F-893386B223E9}"/>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6CD7403D-5122-0BB7-36DE-0B835C5D97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34755"/>
            <a:ext cx="5182049" cy="4157537"/>
          </a:xfrm>
        </p:spPr>
      </p:pic>
      <p:pic>
        <p:nvPicPr>
          <p:cNvPr id="7" name="Picture 6">
            <a:extLst>
              <a:ext uri="{FF2B5EF4-FFF2-40B4-BE49-F238E27FC236}">
                <a16:creationId xmlns:a16="http://schemas.microsoft.com/office/drawing/2014/main" id="{DDBFEDB8-1CD8-9A49-C3A4-3B02CE6B3F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4417" y="1434756"/>
            <a:ext cx="4929383" cy="4157538"/>
          </a:xfrm>
          <a:prstGeom prst="rect">
            <a:avLst/>
          </a:prstGeom>
        </p:spPr>
      </p:pic>
    </p:spTree>
    <p:extLst>
      <p:ext uri="{BB962C8B-B14F-4D97-AF65-F5344CB8AC3E}">
        <p14:creationId xmlns:p14="http://schemas.microsoft.com/office/powerpoint/2010/main" val="16275897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DE57C-C34D-4E0F-8E4F-893386B223E9}"/>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E8A37CEE-3F71-F6F3-8544-E5983A3C45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5831" y="1508593"/>
            <a:ext cx="5293896" cy="4443028"/>
          </a:xfrm>
        </p:spPr>
      </p:pic>
      <p:pic>
        <p:nvPicPr>
          <p:cNvPr id="7" name="Picture 6">
            <a:extLst>
              <a:ext uri="{FF2B5EF4-FFF2-40B4-BE49-F238E27FC236}">
                <a16:creationId xmlns:a16="http://schemas.microsoft.com/office/drawing/2014/main" id="{3183ADF0-A1DB-6FC7-7B06-544BFB4F0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2273" y="1508593"/>
            <a:ext cx="5293896" cy="4443028"/>
          </a:xfrm>
          <a:prstGeom prst="rect">
            <a:avLst/>
          </a:prstGeom>
        </p:spPr>
      </p:pic>
    </p:spTree>
    <p:extLst>
      <p:ext uri="{BB962C8B-B14F-4D97-AF65-F5344CB8AC3E}">
        <p14:creationId xmlns:p14="http://schemas.microsoft.com/office/powerpoint/2010/main" val="34481129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F7CF3-1698-21F7-9619-18D116CFE8D9}"/>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C02C4AA2-C4A5-7E5D-C148-B6FA1152F6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02835"/>
            <a:ext cx="5145505" cy="4252328"/>
          </a:xfrm>
        </p:spPr>
      </p:pic>
      <p:pic>
        <p:nvPicPr>
          <p:cNvPr id="7" name="Picture 6">
            <a:extLst>
              <a:ext uri="{FF2B5EF4-FFF2-40B4-BE49-F238E27FC236}">
                <a16:creationId xmlns:a16="http://schemas.microsoft.com/office/drawing/2014/main" id="{EECDBB53-4E08-5EFA-C92A-B2818E943C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2675" y="1321887"/>
            <a:ext cx="5710988" cy="4214225"/>
          </a:xfrm>
          <a:prstGeom prst="rect">
            <a:avLst/>
          </a:prstGeom>
        </p:spPr>
      </p:pic>
    </p:spTree>
    <p:extLst>
      <p:ext uri="{BB962C8B-B14F-4D97-AF65-F5344CB8AC3E}">
        <p14:creationId xmlns:p14="http://schemas.microsoft.com/office/powerpoint/2010/main" val="21472766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C6EF0-DEEC-ACE9-E0C9-6F928DAC0A37}"/>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5B08A553-2B93-D7A5-A22A-B6C9C84C87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57709"/>
            <a:ext cx="4431514" cy="4351338"/>
          </a:xfrm>
        </p:spPr>
      </p:pic>
      <p:pic>
        <p:nvPicPr>
          <p:cNvPr id="7" name="Picture 6">
            <a:extLst>
              <a:ext uri="{FF2B5EF4-FFF2-40B4-BE49-F238E27FC236}">
                <a16:creationId xmlns:a16="http://schemas.microsoft.com/office/drawing/2014/main" id="{30A9B49F-2A12-742F-7AB5-3C7858F123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9714" y="2199037"/>
            <a:ext cx="6950042" cy="3101609"/>
          </a:xfrm>
          <a:prstGeom prst="rect">
            <a:avLst/>
          </a:prstGeom>
        </p:spPr>
      </p:pic>
    </p:spTree>
    <p:extLst>
      <p:ext uri="{BB962C8B-B14F-4D97-AF65-F5344CB8AC3E}">
        <p14:creationId xmlns:p14="http://schemas.microsoft.com/office/powerpoint/2010/main" val="9284120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C6EF0-DEEC-ACE9-E0C9-6F928DAC0A37}"/>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86E23344-93AB-78FE-478B-37EF562C57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0925" y="2020309"/>
            <a:ext cx="5186528" cy="4282811"/>
          </a:xfrm>
        </p:spPr>
      </p:pic>
      <p:pic>
        <p:nvPicPr>
          <p:cNvPr id="7" name="Picture 6">
            <a:extLst>
              <a:ext uri="{FF2B5EF4-FFF2-40B4-BE49-F238E27FC236}">
                <a16:creationId xmlns:a16="http://schemas.microsoft.com/office/drawing/2014/main" id="{189B38FC-F42D-7740-C426-C3A165DD77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20309"/>
            <a:ext cx="5791200" cy="4282811"/>
          </a:xfrm>
          <a:prstGeom prst="rect">
            <a:avLst/>
          </a:prstGeom>
        </p:spPr>
      </p:pic>
    </p:spTree>
    <p:extLst>
      <p:ext uri="{BB962C8B-B14F-4D97-AF65-F5344CB8AC3E}">
        <p14:creationId xmlns:p14="http://schemas.microsoft.com/office/powerpoint/2010/main" val="5469141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8AB21-DF9A-B87E-84BE-2444AFD0381C}"/>
              </a:ext>
            </a:extLst>
          </p:cNvPr>
          <p:cNvSpPr>
            <a:spLocks noGrp="1"/>
          </p:cNvSpPr>
          <p:nvPr>
            <p:ph type="title"/>
          </p:nvPr>
        </p:nvSpPr>
        <p:spPr/>
        <p:txBody>
          <a:bodyPr/>
          <a:lstStyle/>
          <a:p>
            <a:r>
              <a:rPr lang="en-US" dirty="0"/>
              <a:t>PCA</a:t>
            </a:r>
          </a:p>
        </p:txBody>
      </p:sp>
      <p:pic>
        <p:nvPicPr>
          <p:cNvPr id="5" name="Content Placeholder 4">
            <a:extLst>
              <a:ext uri="{FF2B5EF4-FFF2-40B4-BE49-F238E27FC236}">
                <a16:creationId xmlns:a16="http://schemas.microsoft.com/office/drawing/2014/main" id="{CBC718E4-5361-E552-A415-5967EBD318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5032" y="1835353"/>
            <a:ext cx="8125029" cy="4351338"/>
          </a:xfrm>
        </p:spPr>
      </p:pic>
    </p:spTree>
    <p:extLst>
      <p:ext uri="{BB962C8B-B14F-4D97-AF65-F5344CB8AC3E}">
        <p14:creationId xmlns:p14="http://schemas.microsoft.com/office/powerpoint/2010/main" val="11288550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C6EF0-DEEC-ACE9-E0C9-6F928DAC0A37}"/>
              </a:ext>
            </a:extLst>
          </p:cNvPr>
          <p:cNvSpPr>
            <a:spLocks noGrp="1"/>
          </p:cNvSpPr>
          <p:nvPr>
            <p:ph type="title"/>
          </p:nvPr>
        </p:nvSpPr>
        <p:spPr/>
        <p:txBody>
          <a:bodyPr/>
          <a:lstStyle/>
          <a:p>
            <a:r>
              <a:rPr lang="en-US" dirty="0"/>
              <a:t>PCA</a:t>
            </a:r>
          </a:p>
        </p:txBody>
      </p:sp>
      <p:pic>
        <p:nvPicPr>
          <p:cNvPr id="7" name="Content Placeholder 6">
            <a:extLst>
              <a:ext uri="{FF2B5EF4-FFF2-40B4-BE49-F238E27FC236}">
                <a16:creationId xmlns:a16="http://schemas.microsoft.com/office/drawing/2014/main" id="{78BAA95C-376F-0D67-82FC-054426C51C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25625"/>
            <a:ext cx="10515600" cy="4351338"/>
          </a:xfrm>
        </p:spPr>
      </p:pic>
    </p:spTree>
    <p:extLst>
      <p:ext uri="{BB962C8B-B14F-4D97-AF65-F5344CB8AC3E}">
        <p14:creationId xmlns:p14="http://schemas.microsoft.com/office/powerpoint/2010/main" val="33883713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22A50-111B-7CA3-B7F1-50C4EDD80F70}"/>
              </a:ext>
            </a:extLst>
          </p:cNvPr>
          <p:cNvSpPr>
            <a:spLocks noGrp="1"/>
          </p:cNvSpPr>
          <p:nvPr>
            <p:ph type="title"/>
          </p:nvPr>
        </p:nvSpPr>
        <p:spPr/>
        <p:txBody>
          <a:bodyPr/>
          <a:lstStyle/>
          <a:p>
            <a:r>
              <a:rPr lang="en-US" b="1" dirty="0"/>
              <a:t>Linear Discriminant Analysis (LDA)</a:t>
            </a:r>
            <a:endParaRPr lang="en-US" dirty="0"/>
          </a:p>
        </p:txBody>
      </p:sp>
      <p:sp>
        <p:nvSpPr>
          <p:cNvPr id="3" name="Content Placeholder 2">
            <a:extLst>
              <a:ext uri="{FF2B5EF4-FFF2-40B4-BE49-F238E27FC236}">
                <a16:creationId xmlns:a16="http://schemas.microsoft.com/office/drawing/2014/main" id="{8C2217A7-0E4C-DADE-F5C6-A70BB956F1A7}"/>
              </a:ext>
            </a:extLst>
          </p:cNvPr>
          <p:cNvSpPr>
            <a:spLocks noGrp="1"/>
          </p:cNvSpPr>
          <p:nvPr>
            <p:ph idx="1"/>
          </p:nvPr>
        </p:nvSpPr>
        <p:spPr/>
        <p:txBody>
          <a:bodyPr>
            <a:normAutofit lnSpcReduction="10000"/>
          </a:bodyPr>
          <a:lstStyle/>
          <a:p>
            <a:r>
              <a:rPr lang="en-US" dirty="0"/>
              <a:t>a supervised dimensionality reduction technique that is commonly used for classification tasks. </a:t>
            </a:r>
          </a:p>
          <a:p>
            <a:r>
              <a:rPr lang="en-US" dirty="0"/>
              <a:t>It projects the data onto a lower-dimensional space while maximizing the separation between classes. </a:t>
            </a:r>
          </a:p>
          <a:p>
            <a:r>
              <a:rPr lang="en-US" b="1" dirty="0"/>
              <a:t>Understanding LDA:</a:t>
            </a:r>
          </a:p>
          <a:p>
            <a:pPr lvl="1"/>
            <a:r>
              <a:rPr lang="en-US" b="1" dirty="0"/>
              <a:t>Objective</a:t>
            </a:r>
            <a:r>
              <a:rPr lang="en-US" dirty="0"/>
              <a:t>: LDA aims to find the linear combinations of features that best separate two or more classes. It does so by maximizing the ratio of between-class variance to the within-class variance in any particular dataset, ensuring that the classes are as separated as possible.</a:t>
            </a:r>
          </a:p>
          <a:p>
            <a:pPr lvl="1"/>
            <a:r>
              <a:rPr lang="en-US" b="1" dirty="0"/>
              <a:t>Output</a:t>
            </a:r>
            <a:r>
              <a:rPr lang="en-US" dirty="0"/>
              <a:t>: The output of LDA is a set of linear discriminants (new axes) onto which the data is projected.</a:t>
            </a:r>
          </a:p>
          <a:p>
            <a:endParaRPr lang="en-US" dirty="0"/>
          </a:p>
        </p:txBody>
      </p:sp>
    </p:spTree>
    <p:extLst>
      <p:ext uri="{BB962C8B-B14F-4D97-AF65-F5344CB8AC3E}">
        <p14:creationId xmlns:p14="http://schemas.microsoft.com/office/powerpoint/2010/main" val="35443886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1EC90-6157-7CC1-DE93-59B428252D47}"/>
              </a:ext>
            </a:extLst>
          </p:cNvPr>
          <p:cNvSpPr>
            <a:spLocks noGrp="1"/>
          </p:cNvSpPr>
          <p:nvPr>
            <p:ph type="title"/>
          </p:nvPr>
        </p:nvSpPr>
        <p:spPr>
          <a:xfrm>
            <a:off x="838200" y="365126"/>
            <a:ext cx="10515600" cy="1035658"/>
          </a:xfrm>
        </p:spPr>
        <p:txBody>
          <a:bodyPr/>
          <a:lstStyle/>
          <a:p>
            <a:r>
              <a:rPr lang="en-US" b="1" dirty="0"/>
              <a:t>Linear Discriminant Analysis (LDA)</a:t>
            </a:r>
            <a:endParaRPr lang="en-US" dirty="0"/>
          </a:p>
        </p:txBody>
      </p:sp>
      <p:pic>
        <p:nvPicPr>
          <p:cNvPr id="5" name="Content Placeholder 4" descr="A screenshot of a math test">
            <a:extLst>
              <a:ext uri="{FF2B5EF4-FFF2-40B4-BE49-F238E27FC236}">
                <a16:creationId xmlns:a16="http://schemas.microsoft.com/office/drawing/2014/main" id="{E0C7DBD5-113D-8EDE-7D2B-1F055705DC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2494" y="1521586"/>
            <a:ext cx="9970851" cy="4427604"/>
          </a:xfrm>
        </p:spPr>
      </p:pic>
    </p:spTree>
    <p:extLst>
      <p:ext uri="{BB962C8B-B14F-4D97-AF65-F5344CB8AC3E}">
        <p14:creationId xmlns:p14="http://schemas.microsoft.com/office/powerpoint/2010/main" val="30488160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962C1-3EB0-ED7C-4190-8252E5520CF3}"/>
              </a:ext>
            </a:extLst>
          </p:cNvPr>
          <p:cNvSpPr>
            <a:spLocks noGrp="1"/>
          </p:cNvSpPr>
          <p:nvPr>
            <p:ph type="title"/>
          </p:nvPr>
        </p:nvSpPr>
        <p:spPr/>
        <p:txBody>
          <a:bodyPr/>
          <a:lstStyle/>
          <a:p>
            <a:r>
              <a:rPr lang="en-US" b="1" dirty="0"/>
              <a:t>Linear Discriminant Analysis (LDA)</a:t>
            </a:r>
            <a:endParaRPr lang="en-US" dirty="0"/>
          </a:p>
        </p:txBody>
      </p:sp>
      <p:sp>
        <p:nvSpPr>
          <p:cNvPr id="3" name="Content Placeholder 2">
            <a:extLst>
              <a:ext uri="{FF2B5EF4-FFF2-40B4-BE49-F238E27FC236}">
                <a16:creationId xmlns:a16="http://schemas.microsoft.com/office/drawing/2014/main" id="{EF8338F5-9B8F-AA09-7A6B-726FE4C6AC1B}"/>
              </a:ext>
            </a:extLst>
          </p:cNvPr>
          <p:cNvSpPr>
            <a:spLocks noGrp="1"/>
          </p:cNvSpPr>
          <p:nvPr>
            <p:ph idx="1"/>
          </p:nvPr>
        </p:nvSpPr>
        <p:spPr/>
        <p:txBody>
          <a:bodyPr/>
          <a:lstStyle/>
          <a:p>
            <a:pPr>
              <a:buFont typeface="Arial" panose="020B0604020202020204" pitchFamily="34" charset="0"/>
              <a:buChar char="•"/>
            </a:pPr>
            <a:r>
              <a:rPr lang="en-US" b="1" dirty="0"/>
              <a:t>Algorithm</a:t>
            </a:r>
            <a:r>
              <a:rPr lang="en-US" dirty="0"/>
              <a:t>:</a:t>
            </a:r>
          </a:p>
          <a:p>
            <a:pPr marL="742950" lvl="1" indent="-285750">
              <a:buFont typeface="Arial" panose="020B0604020202020204" pitchFamily="34" charset="0"/>
              <a:buChar char="•"/>
            </a:pPr>
            <a:r>
              <a:rPr lang="en-US" dirty="0"/>
              <a:t>Compute the within-class and between-class scatter matrices.</a:t>
            </a:r>
          </a:p>
          <a:p>
            <a:pPr marL="742950" lvl="1" indent="-285750">
              <a:buFont typeface="Arial" panose="020B0604020202020204" pitchFamily="34" charset="0"/>
              <a:buChar char="•"/>
            </a:pPr>
            <a:r>
              <a:rPr lang="en-US" dirty="0"/>
              <a:t>Compute the eigenvalues and eigenvectors of the scatter matrices.</a:t>
            </a:r>
          </a:p>
          <a:p>
            <a:pPr marL="742950" lvl="1" indent="-285750">
              <a:buFont typeface="Arial" panose="020B0604020202020204" pitchFamily="34" charset="0"/>
              <a:buChar char="•"/>
            </a:pPr>
            <a:r>
              <a:rPr lang="en-US" dirty="0"/>
              <a:t>Select the top K eigenvectors to form the new subspace.</a:t>
            </a:r>
          </a:p>
          <a:p>
            <a:pPr>
              <a:buFont typeface="Arial" panose="020B0604020202020204" pitchFamily="34" charset="0"/>
              <a:buChar char="•"/>
            </a:pPr>
            <a:r>
              <a:rPr lang="en-US" b="1" dirty="0"/>
              <a:t>Advantages</a:t>
            </a:r>
            <a:r>
              <a:rPr lang="en-US" dirty="0"/>
              <a:t>: Useful for classification tasks, as it aims to maximize class separability.</a:t>
            </a:r>
          </a:p>
          <a:p>
            <a:pPr>
              <a:buFont typeface="Arial" panose="020B0604020202020204" pitchFamily="34" charset="0"/>
              <a:buChar char="•"/>
            </a:pPr>
            <a:r>
              <a:rPr lang="en-US" b="1" dirty="0"/>
              <a:t>Disadvantages</a:t>
            </a:r>
            <a:r>
              <a:rPr lang="en-US" dirty="0"/>
              <a:t>: Assumes normal distribution of data and equal class covariances.</a:t>
            </a:r>
          </a:p>
          <a:p>
            <a:endParaRPr lang="en-US" dirty="0"/>
          </a:p>
        </p:txBody>
      </p:sp>
    </p:spTree>
    <p:extLst>
      <p:ext uri="{BB962C8B-B14F-4D97-AF65-F5344CB8AC3E}">
        <p14:creationId xmlns:p14="http://schemas.microsoft.com/office/powerpoint/2010/main" val="7351798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5506C-66B3-D097-224F-037DD3AE25B4}"/>
              </a:ext>
            </a:extLst>
          </p:cNvPr>
          <p:cNvSpPr>
            <a:spLocks noGrp="1"/>
          </p:cNvSpPr>
          <p:nvPr>
            <p:ph type="title"/>
          </p:nvPr>
        </p:nvSpPr>
        <p:spPr/>
        <p:txBody>
          <a:bodyPr/>
          <a:lstStyle/>
          <a:p>
            <a:r>
              <a:rPr lang="en-US" dirty="0"/>
              <a:t>LDA</a:t>
            </a:r>
          </a:p>
        </p:txBody>
      </p:sp>
      <p:pic>
        <p:nvPicPr>
          <p:cNvPr id="5" name="Content Placeholder 4" descr="A diagram of a line with circles and a circle with a circle with a circle with a circle with a circle with a circle with a circle with a circle with a circle with a circle with a&#10;&#10;Description automatically generated">
            <a:extLst>
              <a:ext uri="{FF2B5EF4-FFF2-40B4-BE49-F238E27FC236}">
                <a16:creationId xmlns:a16="http://schemas.microsoft.com/office/drawing/2014/main" id="{3DAE2563-D5E0-506B-4437-55DDC8F91F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0233" y="2027543"/>
            <a:ext cx="4991533" cy="3947502"/>
          </a:xfrm>
        </p:spPr>
      </p:pic>
    </p:spTree>
    <p:extLst>
      <p:ext uri="{BB962C8B-B14F-4D97-AF65-F5344CB8AC3E}">
        <p14:creationId xmlns:p14="http://schemas.microsoft.com/office/powerpoint/2010/main" val="36834940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51DEB-06C9-B7A4-C2F9-C624874C539B}"/>
              </a:ext>
            </a:extLst>
          </p:cNvPr>
          <p:cNvSpPr>
            <a:spLocks noGrp="1"/>
          </p:cNvSpPr>
          <p:nvPr>
            <p:ph type="title"/>
          </p:nvPr>
        </p:nvSpPr>
        <p:spPr/>
        <p:txBody>
          <a:bodyPr/>
          <a:lstStyle/>
          <a:p>
            <a:r>
              <a:rPr lang="en-US" dirty="0"/>
              <a:t>LDA</a:t>
            </a:r>
          </a:p>
        </p:txBody>
      </p:sp>
      <p:pic>
        <p:nvPicPr>
          <p:cNvPr id="5" name="Content Placeholder 4" descr="A white paper with black text and black text&#10;&#10;Description automatically generated">
            <a:extLst>
              <a:ext uri="{FF2B5EF4-FFF2-40B4-BE49-F238E27FC236}">
                <a16:creationId xmlns:a16="http://schemas.microsoft.com/office/drawing/2014/main" id="{7998A6DE-6EDC-F714-CDBB-29EC2BE9A3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1958957"/>
            <a:ext cx="10515600" cy="4084674"/>
          </a:xfrm>
        </p:spPr>
      </p:pic>
    </p:spTree>
    <p:extLst>
      <p:ext uri="{BB962C8B-B14F-4D97-AF65-F5344CB8AC3E}">
        <p14:creationId xmlns:p14="http://schemas.microsoft.com/office/powerpoint/2010/main" val="10385581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480E3-3210-0BC2-5E85-BA7F0EF89541}"/>
              </a:ext>
            </a:extLst>
          </p:cNvPr>
          <p:cNvSpPr>
            <a:spLocks noGrp="1"/>
          </p:cNvSpPr>
          <p:nvPr>
            <p:ph type="title"/>
          </p:nvPr>
        </p:nvSpPr>
        <p:spPr/>
        <p:txBody>
          <a:bodyPr/>
          <a:lstStyle/>
          <a:p>
            <a:r>
              <a:rPr lang="en-US" dirty="0"/>
              <a:t>Summary on LDA</a:t>
            </a:r>
          </a:p>
        </p:txBody>
      </p:sp>
      <p:pic>
        <p:nvPicPr>
          <p:cNvPr id="5" name="Content Placeholder 4" descr="A graph of a function&#10;&#10;Description automatically generated">
            <a:extLst>
              <a:ext uri="{FF2B5EF4-FFF2-40B4-BE49-F238E27FC236}">
                <a16:creationId xmlns:a16="http://schemas.microsoft.com/office/drawing/2014/main" id="{FA0975DE-BC62-9E42-D983-3F3DD2FB35C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9932"/>
          <a:stretch/>
        </p:blipFill>
        <p:spPr>
          <a:xfrm>
            <a:off x="838199" y="2022231"/>
            <a:ext cx="10515599" cy="4097606"/>
          </a:xfrm>
        </p:spPr>
      </p:pic>
    </p:spTree>
    <p:extLst>
      <p:ext uri="{BB962C8B-B14F-4D97-AF65-F5344CB8AC3E}">
        <p14:creationId xmlns:p14="http://schemas.microsoft.com/office/powerpoint/2010/main" val="25277760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51C8A-D037-73A9-582E-F4B55D543BEF}"/>
              </a:ext>
            </a:extLst>
          </p:cNvPr>
          <p:cNvSpPr>
            <a:spLocks noGrp="1"/>
          </p:cNvSpPr>
          <p:nvPr>
            <p:ph type="title"/>
          </p:nvPr>
        </p:nvSpPr>
        <p:spPr/>
        <p:txBody>
          <a:bodyPr/>
          <a:lstStyle/>
          <a:p>
            <a:r>
              <a:rPr lang="en-US" dirty="0"/>
              <a:t>LDA example</a:t>
            </a:r>
          </a:p>
        </p:txBody>
      </p:sp>
      <p:pic>
        <p:nvPicPr>
          <p:cNvPr id="5" name="Content Placeholder 4" descr="A math equations and numbers&#10;&#10;Description automatically generated with medium confidence">
            <a:extLst>
              <a:ext uri="{FF2B5EF4-FFF2-40B4-BE49-F238E27FC236}">
                <a16:creationId xmlns:a16="http://schemas.microsoft.com/office/drawing/2014/main" id="{1EC0FC4F-2455-9FF6-F1F5-24F6DCA0C2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2641" y="1690688"/>
            <a:ext cx="10368082" cy="4132736"/>
          </a:xfrm>
        </p:spPr>
      </p:pic>
    </p:spTree>
    <p:extLst>
      <p:ext uri="{BB962C8B-B14F-4D97-AF65-F5344CB8AC3E}">
        <p14:creationId xmlns:p14="http://schemas.microsoft.com/office/powerpoint/2010/main" val="2304797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C575-66DD-EFE8-5A06-3E1C39477E20}"/>
              </a:ext>
            </a:extLst>
          </p:cNvPr>
          <p:cNvSpPr>
            <a:spLocks noGrp="1"/>
          </p:cNvSpPr>
          <p:nvPr>
            <p:ph type="title"/>
          </p:nvPr>
        </p:nvSpPr>
        <p:spPr/>
        <p:txBody>
          <a:bodyPr/>
          <a:lstStyle/>
          <a:p>
            <a:r>
              <a:rPr lang="en-US" dirty="0"/>
              <a:t>LDA example</a:t>
            </a:r>
          </a:p>
        </p:txBody>
      </p:sp>
      <p:pic>
        <p:nvPicPr>
          <p:cNvPr id="5" name="Content Placeholder 4" descr="A math equations with numbers and symbols&#10;&#10;Description automatically generated with medium confidence">
            <a:extLst>
              <a:ext uri="{FF2B5EF4-FFF2-40B4-BE49-F238E27FC236}">
                <a16:creationId xmlns:a16="http://schemas.microsoft.com/office/drawing/2014/main" id="{686309C2-557C-D424-664B-C4D2A1389C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7"/>
            <a:ext cx="9765323" cy="4446343"/>
          </a:xfrm>
        </p:spPr>
      </p:pic>
    </p:spTree>
    <p:extLst>
      <p:ext uri="{BB962C8B-B14F-4D97-AF65-F5344CB8AC3E}">
        <p14:creationId xmlns:p14="http://schemas.microsoft.com/office/powerpoint/2010/main" val="5786489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99A77-AD10-FD5B-BAA8-45F7229407E1}"/>
              </a:ext>
            </a:extLst>
          </p:cNvPr>
          <p:cNvSpPr>
            <a:spLocks noGrp="1"/>
          </p:cNvSpPr>
          <p:nvPr>
            <p:ph type="title"/>
          </p:nvPr>
        </p:nvSpPr>
        <p:spPr/>
        <p:txBody>
          <a:bodyPr/>
          <a:lstStyle/>
          <a:p>
            <a:r>
              <a:rPr lang="en-US" dirty="0"/>
              <a:t>LDA example</a:t>
            </a:r>
          </a:p>
        </p:txBody>
      </p:sp>
      <p:pic>
        <p:nvPicPr>
          <p:cNvPr id="5" name="Content Placeholder 4" descr="A math equations with numbers and symbols&#10;&#10;Description automatically generated with medium confidence">
            <a:extLst>
              <a:ext uri="{FF2B5EF4-FFF2-40B4-BE49-F238E27FC236}">
                <a16:creationId xmlns:a16="http://schemas.microsoft.com/office/drawing/2014/main" id="{9D2795BA-17C8-D08B-ECD9-9ED7A21153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12277"/>
            <a:ext cx="10099431" cy="4980598"/>
          </a:xfrm>
        </p:spPr>
      </p:pic>
    </p:spTree>
    <p:extLst>
      <p:ext uri="{BB962C8B-B14F-4D97-AF65-F5344CB8AC3E}">
        <p14:creationId xmlns:p14="http://schemas.microsoft.com/office/powerpoint/2010/main" val="20908929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CB1B2-16FB-FC28-2AC4-8FEEA9251312}"/>
              </a:ext>
            </a:extLst>
          </p:cNvPr>
          <p:cNvSpPr>
            <a:spLocks noGrp="1"/>
          </p:cNvSpPr>
          <p:nvPr>
            <p:ph type="title"/>
          </p:nvPr>
        </p:nvSpPr>
        <p:spPr/>
        <p:txBody>
          <a:bodyPr/>
          <a:lstStyle/>
          <a:p>
            <a:r>
              <a:rPr lang="en-US" dirty="0"/>
              <a:t>LDA example</a:t>
            </a:r>
          </a:p>
        </p:txBody>
      </p:sp>
      <p:pic>
        <p:nvPicPr>
          <p:cNvPr id="5" name="Content Placeholder 4" descr="A white paper with black text and numbers&#10;&#10;Description automatically generated">
            <a:extLst>
              <a:ext uri="{FF2B5EF4-FFF2-40B4-BE49-F238E27FC236}">
                <a16:creationId xmlns:a16="http://schemas.microsoft.com/office/drawing/2014/main" id="{27D2DFF1-B41C-4679-6B75-BB1ED4E04A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7"/>
            <a:ext cx="9993923" cy="4446343"/>
          </a:xfrm>
        </p:spPr>
      </p:pic>
    </p:spTree>
    <p:extLst>
      <p:ext uri="{BB962C8B-B14F-4D97-AF65-F5344CB8AC3E}">
        <p14:creationId xmlns:p14="http://schemas.microsoft.com/office/powerpoint/2010/main" val="12350772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F8DC6-9258-C1FC-4E89-A1C29FE2FD3F}"/>
              </a:ext>
            </a:extLst>
          </p:cNvPr>
          <p:cNvSpPr>
            <a:spLocks noGrp="1"/>
          </p:cNvSpPr>
          <p:nvPr>
            <p:ph type="title"/>
          </p:nvPr>
        </p:nvSpPr>
        <p:spPr/>
        <p:txBody>
          <a:bodyPr/>
          <a:lstStyle/>
          <a:p>
            <a:r>
              <a:rPr lang="en-US" dirty="0"/>
              <a:t>How many components to choose</a:t>
            </a:r>
          </a:p>
        </p:txBody>
      </p:sp>
      <p:pic>
        <p:nvPicPr>
          <p:cNvPr id="5" name="Content Placeholder 4" descr="A screenshot of a computer">
            <a:extLst>
              <a:ext uri="{FF2B5EF4-FFF2-40B4-BE49-F238E27FC236}">
                <a16:creationId xmlns:a16="http://schemas.microsoft.com/office/drawing/2014/main" id="{EA34FF8E-FC69-717C-455E-1C2E9C7CF11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22299"/>
          <a:stretch/>
        </p:blipFill>
        <p:spPr>
          <a:xfrm>
            <a:off x="838200" y="1690688"/>
            <a:ext cx="9869543" cy="4562122"/>
          </a:xfrm>
        </p:spPr>
      </p:pic>
    </p:spTree>
    <p:extLst>
      <p:ext uri="{BB962C8B-B14F-4D97-AF65-F5344CB8AC3E}">
        <p14:creationId xmlns:p14="http://schemas.microsoft.com/office/powerpoint/2010/main" val="25863869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E3EA-B864-1480-5326-39F12F17628C}"/>
              </a:ext>
            </a:extLst>
          </p:cNvPr>
          <p:cNvSpPr>
            <a:spLocks noGrp="1"/>
          </p:cNvSpPr>
          <p:nvPr>
            <p:ph type="title"/>
          </p:nvPr>
        </p:nvSpPr>
        <p:spPr/>
        <p:txBody>
          <a:bodyPr/>
          <a:lstStyle/>
          <a:p>
            <a:r>
              <a:rPr lang="en-US" dirty="0"/>
              <a:t>PCA vs LDA</a:t>
            </a:r>
          </a:p>
        </p:txBody>
      </p:sp>
      <p:pic>
        <p:nvPicPr>
          <p:cNvPr id="5" name="Content Placeholder 4">
            <a:extLst>
              <a:ext uri="{FF2B5EF4-FFF2-40B4-BE49-F238E27FC236}">
                <a16:creationId xmlns:a16="http://schemas.microsoft.com/office/drawing/2014/main" id="{81F08E04-8B9E-E81E-D09D-3F60636B33B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3004"/>
          <a:stretch/>
        </p:blipFill>
        <p:spPr>
          <a:xfrm>
            <a:off x="962526" y="1690689"/>
            <a:ext cx="10391274" cy="4486274"/>
          </a:xfrm>
        </p:spPr>
      </p:pic>
    </p:spTree>
    <p:extLst>
      <p:ext uri="{BB962C8B-B14F-4D97-AF65-F5344CB8AC3E}">
        <p14:creationId xmlns:p14="http://schemas.microsoft.com/office/powerpoint/2010/main" val="146590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480E3-3210-0BC2-5E85-BA7F0EF89541}"/>
              </a:ext>
            </a:extLst>
          </p:cNvPr>
          <p:cNvSpPr>
            <a:spLocks noGrp="1"/>
          </p:cNvSpPr>
          <p:nvPr>
            <p:ph type="title"/>
          </p:nvPr>
        </p:nvSpPr>
        <p:spPr/>
        <p:txBody>
          <a:bodyPr/>
          <a:lstStyle/>
          <a:p>
            <a:r>
              <a:rPr lang="en-US" dirty="0"/>
              <a:t>PCA vs LDA</a:t>
            </a:r>
          </a:p>
        </p:txBody>
      </p:sp>
      <p:pic>
        <p:nvPicPr>
          <p:cNvPr id="5" name="Content Placeholder 4" descr="A graph with red and blue dots&#10;&#10;Description automatically generated">
            <a:extLst>
              <a:ext uri="{FF2B5EF4-FFF2-40B4-BE49-F238E27FC236}">
                <a16:creationId xmlns:a16="http://schemas.microsoft.com/office/drawing/2014/main" id="{0AD0CCCB-772B-8F63-F2E4-AB1FA1A4DB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3476" y="2240921"/>
            <a:ext cx="5845047" cy="3520745"/>
          </a:xfrm>
        </p:spPr>
      </p:pic>
    </p:spTree>
    <p:extLst>
      <p:ext uri="{BB962C8B-B14F-4D97-AF65-F5344CB8AC3E}">
        <p14:creationId xmlns:p14="http://schemas.microsoft.com/office/powerpoint/2010/main" val="36248356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480E3-3210-0BC2-5E85-BA7F0EF89541}"/>
              </a:ext>
            </a:extLst>
          </p:cNvPr>
          <p:cNvSpPr>
            <a:spLocks noGrp="1"/>
          </p:cNvSpPr>
          <p:nvPr>
            <p:ph type="title"/>
          </p:nvPr>
        </p:nvSpPr>
        <p:spPr/>
        <p:txBody>
          <a:bodyPr/>
          <a:lstStyle/>
          <a:p>
            <a:r>
              <a:rPr lang="en-US" dirty="0"/>
              <a:t>PCA vs LDA</a:t>
            </a:r>
          </a:p>
        </p:txBody>
      </p:sp>
      <p:pic>
        <p:nvPicPr>
          <p:cNvPr id="5" name="Content Placeholder 4" descr="A diagram of a graph&#10;&#10;Description automatically generated with medium confidence">
            <a:extLst>
              <a:ext uri="{FF2B5EF4-FFF2-40B4-BE49-F238E27FC236}">
                <a16:creationId xmlns:a16="http://schemas.microsoft.com/office/drawing/2014/main" id="{EFAA9C4C-3498-E38C-EA3B-7A39BE6668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70598" y="2389524"/>
            <a:ext cx="6050804" cy="3223539"/>
          </a:xfrm>
        </p:spPr>
      </p:pic>
    </p:spTree>
    <p:extLst>
      <p:ext uri="{BB962C8B-B14F-4D97-AF65-F5344CB8AC3E}">
        <p14:creationId xmlns:p14="http://schemas.microsoft.com/office/powerpoint/2010/main" val="6388805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D3A33-0750-6C1A-5683-7BEA1AD481E1}"/>
              </a:ext>
            </a:extLst>
          </p:cNvPr>
          <p:cNvSpPr>
            <a:spLocks noGrp="1"/>
          </p:cNvSpPr>
          <p:nvPr>
            <p:ph type="title"/>
          </p:nvPr>
        </p:nvSpPr>
        <p:spPr/>
        <p:txBody>
          <a:bodyPr/>
          <a:lstStyle/>
          <a:p>
            <a:r>
              <a:rPr lang="en-US" dirty="0"/>
              <a:t>PCA vs LDA</a:t>
            </a:r>
          </a:p>
        </p:txBody>
      </p:sp>
      <p:sp>
        <p:nvSpPr>
          <p:cNvPr id="3" name="Content Placeholder 2">
            <a:extLst>
              <a:ext uri="{FF2B5EF4-FFF2-40B4-BE49-F238E27FC236}">
                <a16:creationId xmlns:a16="http://schemas.microsoft.com/office/drawing/2014/main" id="{DF817724-17F7-922A-9A18-E0F01334405D}"/>
              </a:ext>
            </a:extLst>
          </p:cNvPr>
          <p:cNvSpPr>
            <a:spLocks noGrp="1"/>
          </p:cNvSpPr>
          <p:nvPr>
            <p:ph idx="1"/>
          </p:nvPr>
        </p:nvSpPr>
        <p:spPr/>
        <p:txBody>
          <a:bodyPr>
            <a:normAutofit fontScale="92500" lnSpcReduction="10000"/>
          </a:bodyPr>
          <a:lstStyle/>
          <a:p>
            <a:r>
              <a:rPr lang="en-US" b="1" dirty="0"/>
              <a:t>1. Objective:</a:t>
            </a:r>
          </a:p>
          <a:p>
            <a:pPr>
              <a:buFont typeface="Arial" panose="020B0604020202020204" pitchFamily="34" charset="0"/>
              <a:buChar char="•"/>
            </a:pPr>
            <a:r>
              <a:rPr lang="en-US" b="1" dirty="0"/>
              <a:t>PCA</a:t>
            </a:r>
            <a:r>
              <a:rPr lang="en-US" dirty="0"/>
              <a:t>:</a:t>
            </a:r>
          </a:p>
          <a:p>
            <a:pPr marL="742950" lvl="1" indent="-285750">
              <a:buFont typeface="Arial" panose="020B0604020202020204" pitchFamily="34" charset="0"/>
              <a:buChar char="•"/>
            </a:pPr>
            <a:r>
              <a:rPr lang="en-US" b="1" dirty="0"/>
              <a:t>Unsupervised</a:t>
            </a:r>
            <a:r>
              <a:rPr lang="en-US" dirty="0"/>
              <a:t>: PCA is an unsupervised method, meaning it does not take class labels into account.</a:t>
            </a:r>
          </a:p>
          <a:p>
            <a:pPr marL="742950" lvl="1" indent="-285750">
              <a:buFont typeface="Arial" panose="020B0604020202020204" pitchFamily="34" charset="0"/>
              <a:buChar char="•"/>
            </a:pPr>
            <a:r>
              <a:rPr lang="en-US" b="1" dirty="0"/>
              <a:t>Maximize Variance</a:t>
            </a:r>
            <a:r>
              <a:rPr lang="en-US" dirty="0"/>
              <a:t>: The main goal of PCA is to reduce the dimensionality of the data while retaining as much variance as possible. It finds the directions (principal components) along which the variance of the data is maximized.</a:t>
            </a:r>
          </a:p>
          <a:p>
            <a:pPr>
              <a:buFont typeface="Arial" panose="020B0604020202020204" pitchFamily="34" charset="0"/>
              <a:buChar char="•"/>
            </a:pPr>
            <a:r>
              <a:rPr lang="en-US" b="1" dirty="0"/>
              <a:t>LDA</a:t>
            </a:r>
            <a:r>
              <a:rPr lang="en-US" dirty="0"/>
              <a:t>:</a:t>
            </a:r>
          </a:p>
          <a:p>
            <a:pPr marL="742950" lvl="1" indent="-285750">
              <a:buFont typeface="Arial" panose="020B0604020202020204" pitchFamily="34" charset="0"/>
              <a:buChar char="•"/>
            </a:pPr>
            <a:r>
              <a:rPr lang="en-US" b="1" dirty="0"/>
              <a:t>Supervised</a:t>
            </a:r>
            <a:r>
              <a:rPr lang="en-US" dirty="0"/>
              <a:t>: LDA is a supervised method, meaning it uses class labels during the dimensionality reduction process.</a:t>
            </a:r>
          </a:p>
          <a:p>
            <a:pPr marL="742950" lvl="1" indent="-285750">
              <a:buFont typeface="Arial" panose="020B0604020202020204" pitchFamily="34" charset="0"/>
              <a:buChar char="•"/>
            </a:pPr>
            <a:r>
              <a:rPr lang="en-US" b="1" dirty="0"/>
              <a:t>Maximize Class Separability</a:t>
            </a:r>
            <a:r>
              <a:rPr lang="en-US" dirty="0"/>
              <a:t>: LDA aims to find the linear combinations of features that best separate the classes. It tries to maximize the ratio of between-class variance to within-class variance.</a:t>
            </a:r>
          </a:p>
          <a:p>
            <a:endParaRPr lang="en-US" dirty="0"/>
          </a:p>
        </p:txBody>
      </p:sp>
    </p:spTree>
    <p:extLst>
      <p:ext uri="{BB962C8B-B14F-4D97-AF65-F5344CB8AC3E}">
        <p14:creationId xmlns:p14="http://schemas.microsoft.com/office/powerpoint/2010/main" val="15592380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9E5A0-D0C4-FA7E-FF77-499AD19FA13F}"/>
              </a:ext>
            </a:extLst>
          </p:cNvPr>
          <p:cNvSpPr>
            <a:spLocks noGrp="1"/>
          </p:cNvSpPr>
          <p:nvPr>
            <p:ph type="title"/>
          </p:nvPr>
        </p:nvSpPr>
        <p:spPr/>
        <p:txBody>
          <a:bodyPr/>
          <a:lstStyle/>
          <a:p>
            <a:r>
              <a:rPr lang="en-US" dirty="0"/>
              <a:t>PCA vs LDA</a:t>
            </a:r>
          </a:p>
        </p:txBody>
      </p:sp>
      <p:sp>
        <p:nvSpPr>
          <p:cNvPr id="3" name="Content Placeholder 2">
            <a:extLst>
              <a:ext uri="{FF2B5EF4-FFF2-40B4-BE49-F238E27FC236}">
                <a16:creationId xmlns:a16="http://schemas.microsoft.com/office/drawing/2014/main" id="{34C69934-D850-8FD9-9B4E-4BEC85E4BB88}"/>
              </a:ext>
            </a:extLst>
          </p:cNvPr>
          <p:cNvSpPr>
            <a:spLocks noGrp="1"/>
          </p:cNvSpPr>
          <p:nvPr>
            <p:ph idx="1"/>
          </p:nvPr>
        </p:nvSpPr>
        <p:spPr>
          <a:xfrm>
            <a:off x="838200" y="1498060"/>
            <a:ext cx="10515600" cy="4678903"/>
          </a:xfrm>
        </p:spPr>
        <p:txBody>
          <a:bodyPr>
            <a:normAutofit fontScale="92500" lnSpcReduction="10000"/>
          </a:bodyPr>
          <a:lstStyle/>
          <a:p>
            <a:r>
              <a:rPr lang="en-US" b="1" dirty="0"/>
              <a:t>2. Mathematical Approach:</a:t>
            </a:r>
          </a:p>
          <a:p>
            <a:pPr>
              <a:buFont typeface="Arial" panose="020B0604020202020204" pitchFamily="34" charset="0"/>
              <a:buChar char="•"/>
            </a:pPr>
            <a:r>
              <a:rPr lang="en-US" b="1" dirty="0"/>
              <a:t>PCA</a:t>
            </a:r>
            <a:r>
              <a:rPr lang="en-US" dirty="0"/>
              <a:t>:</a:t>
            </a:r>
          </a:p>
          <a:p>
            <a:pPr marL="742950" lvl="1" indent="-285750">
              <a:buFont typeface="Arial" panose="020B0604020202020204" pitchFamily="34" charset="0"/>
              <a:buChar char="•"/>
            </a:pPr>
            <a:r>
              <a:rPr lang="en-US" b="1" dirty="0"/>
              <a:t>Covariance Matrix</a:t>
            </a:r>
            <a:r>
              <a:rPr lang="en-US" dirty="0"/>
              <a:t>: PCA computes the eigenvectors and eigenvalues of the covariance matrix of the data. The eigenvectors corresponding to the largest eigenvalues form the principal components.</a:t>
            </a:r>
          </a:p>
          <a:p>
            <a:pPr marL="742950" lvl="1" indent="-285750">
              <a:buFont typeface="Arial" panose="020B0604020202020204" pitchFamily="34" charset="0"/>
              <a:buChar char="•"/>
            </a:pPr>
            <a:r>
              <a:rPr lang="en-US" b="1" dirty="0"/>
              <a:t>Dimensionality Reduction</a:t>
            </a:r>
            <a:r>
              <a:rPr lang="en-US" dirty="0"/>
              <a:t>: Data is projected onto the top principal components, which are orthogonal (uncorrelated) directions of maximum variance.</a:t>
            </a:r>
          </a:p>
          <a:p>
            <a:pPr>
              <a:buFont typeface="Arial" panose="020B0604020202020204" pitchFamily="34" charset="0"/>
              <a:buChar char="•"/>
            </a:pPr>
            <a:r>
              <a:rPr lang="en-US" b="1" dirty="0"/>
              <a:t>LDA</a:t>
            </a:r>
            <a:r>
              <a:rPr lang="en-US" dirty="0"/>
              <a:t>:</a:t>
            </a:r>
          </a:p>
          <a:p>
            <a:pPr marL="742950" lvl="1" indent="-285750">
              <a:buFont typeface="Arial" panose="020B0604020202020204" pitchFamily="34" charset="0"/>
              <a:buChar char="•"/>
            </a:pPr>
            <a:r>
              <a:rPr lang="en-US" b="1" dirty="0"/>
              <a:t>Scatter Matrices</a:t>
            </a:r>
            <a:r>
              <a:rPr lang="en-US" dirty="0"/>
              <a:t>: LDA computes the within-class scatter matrix and the between-class scatter matrix. It then solves the generalized eigenvalue problem to find the eigenvectors that maximize the separation between classes.</a:t>
            </a:r>
          </a:p>
          <a:p>
            <a:pPr marL="742950" lvl="1" indent="-285750">
              <a:buFont typeface="Arial" panose="020B0604020202020204" pitchFamily="34" charset="0"/>
              <a:buChar char="•"/>
            </a:pPr>
            <a:r>
              <a:rPr lang="en-US" b="1" dirty="0"/>
              <a:t>Dimensionality Reduction</a:t>
            </a:r>
            <a:r>
              <a:rPr lang="en-US" dirty="0"/>
              <a:t>: Data is projected onto the linear discriminants, which maximize class separability.</a:t>
            </a:r>
          </a:p>
          <a:p>
            <a:endParaRPr lang="en-US" dirty="0"/>
          </a:p>
        </p:txBody>
      </p:sp>
    </p:spTree>
    <p:extLst>
      <p:ext uri="{BB962C8B-B14F-4D97-AF65-F5344CB8AC3E}">
        <p14:creationId xmlns:p14="http://schemas.microsoft.com/office/powerpoint/2010/main" val="32279335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C0FC-185C-3172-AC14-EFF6910CE952}"/>
              </a:ext>
            </a:extLst>
          </p:cNvPr>
          <p:cNvSpPr>
            <a:spLocks noGrp="1"/>
          </p:cNvSpPr>
          <p:nvPr>
            <p:ph type="title"/>
          </p:nvPr>
        </p:nvSpPr>
        <p:spPr/>
        <p:txBody>
          <a:bodyPr/>
          <a:lstStyle/>
          <a:p>
            <a:r>
              <a:rPr lang="en-US" dirty="0"/>
              <a:t>PCA vs LDA</a:t>
            </a:r>
          </a:p>
        </p:txBody>
      </p:sp>
      <p:sp>
        <p:nvSpPr>
          <p:cNvPr id="3" name="Content Placeholder 2">
            <a:extLst>
              <a:ext uri="{FF2B5EF4-FFF2-40B4-BE49-F238E27FC236}">
                <a16:creationId xmlns:a16="http://schemas.microsoft.com/office/drawing/2014/main" id="{414B0813-F97E-465F-3D7D-E9ED7A548B01}"/>
              </a:ext>
            </a:extLst>
          </p:cNvPr>
          <p:cNvSpPr>
            <a:spLocks noGrp="1"/>
          </p:cNvSpPr>
          <p:nvPr>
            <p:ph idx="1"/>
          </p:nvPr>
        </p:nvSpPr>
        <p:spPr>
          <a:xfrm>
            <a:off x="838200" y="1400784"/>
            <a:ext cx="10515600" cy="5457216"/>
          </a:xfrm>
        </p:spPr>
        <p:txBody>
          <a:bodyPr>
            <a:normAutofit/>
          </a:bodyPr>
          <a:lstStyle/>
          <a:p>
            <a:r>
              <a:rPr lang="en-US" b="1" dirty="0"/>
              <a:t>3. Key Differences:</a:t>
            </a:r>
          </a:p>
          <a:p>
            <a:pPr>
              <a:buFont typeface="Arial" panose="020B0604020202020204" pitchFamily="34" charset="0"/>
              <a:buChar char="•"/>
            </a:pPr>
            <a:r>
              <a:rPr lang="en-US" b="1" dirty="0"/>
              <a:t>Focus</a:t>
            </a:r>
            <a:r>
              <a:rPr lang="en-US" dirty="0"/>
              <a:t>:</a:t>
            </a:r>
          </a:p>
          <a:p>
            <a:pPr marL="742950" lvl="1" indent="-285750">
              <a:buFont typeface="Arial" panose="020B0604020202020204" pitchFamily="34" charset="0"/>
              <a:buChar char="•"/>
            </a:pPr>
            <a:r>
              <a:rPr lang="en-US" b="1" dirty="0"/>
              <a:t>PCA</a:t>
            </a:r>
            <a:r>
              <a:rPr lang="en-US" dirty="0"/>
              <a:t>: Focuses on finding directions that capture the most variance in the data, without considering any class labels.</a:t>
            </a:r>
          </a:p>
          <a:p>
            <a:pPr marL="742950" lvl="1" indent="-285750">
              <a:buFont typeface="Arial" panose="020B0604020202020204" pitchFamily="34" charset="0"/>
              <a:buChar char="•"/>
            </a:pPr>
            <a:r>
              <a:rPr lang="en-US" b="1" dirty="0"/>
              <a:t>LDA</a:t>
            </a:r>
            <a:r>
              <a:rPr lang="en-US" dirty="0"/>
              <a:t>: Focuses on finding directions that best separate different classes, using class labels.</a:t>
            </a:r>
          </a:p>
          <a:p>
            <a:pPr marL="457200" lvl="1" indent="0">
              <a:buNone/>
            </a:pPr>
            <a:endParaRPr lang="en-US" b="1" dirty="0"/>
          </a:p>
          <a:p>
            <a:pPr marL="457200" lvl="1" indent="0">
              <a:buNone/>
            </a:pPr>
            <a:r>
              <a:rPr lang="en-US" b="1" dirty="0"/>
              <a:t>Dimensionality Reduction</a:t>
            </a:r>
            <a:r>
              <a:rPr lang="en-US" dirty="0"/>
              <a:t>:</a:t>
            </a:r>
          </a:p>
          <a:p>
            <a:pPr marL="742950" lvl="1" indent="-285750">
              <a:buFont typeface="Arial" panose="020B0604020202020204" pitchFamily="34" charset="0"/>
              <a:buChar char="•"/>
            </a:pPr>
            <a:r>
              <a:rPr lang="en-US" b="1" dirty="0"/>
              <a:t>PCA</a:t>
            </a:r>
            <a:r>
              <a:rPr lang="en-US" dirty="0"/>
              <a:t>: The number of principal components can be as large as the number of features, but typically fewer components are chosen based on the variance explained.</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endParaRPr lang="en-US" dirty="0"/>
          </a:p>
        </p:txBody>
      </p:sp>
      <p:pic>
        <p:nvPicPr>
          <p:cNvPr id="8" name="Picture 7">
            <a:extLst>
              <a:ext uri="{FF2B5EF4-FFF2-40B4-BE49-F238E27FC236}">
                <a16:creationId xmlns:a16="http://schemas.microsoft.com/office/drawing/2014/main" id="{B40A1333-AB34-979A-15FC-F268DD1C6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832" y="5786233"/>
            <a:ext cx="10083798" cy="706641"/>
          </a:xfrm>
          <a:prstGeom prst="rect">
            <a:avLst/>
          </a:prstGeom>
        </p:spPr>
      </p:pic>
    </p:spTree>
    <p:extLst>
      <p:ext uri="{BB962C8B-B14F-4D97-AF65-F5344CB8AC3E}">
        <p14:creationId xmlns:p14="http://schemas.microsoft.com/office/powerpoint/2010/main" val="34439422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86FB3-878A-5363-65DB-7EC18FD263D2}"/>
              </a:ext>
            </a:extLst>
          </p:cNvPr>
          <p:cNvSpPr>
            <a:spLocks noGrp="1"/>
          </p:cNvSpPr>
          <p:nvPr>
            <p:ph type="title"/>
          </p:nvPr>
        </p:nvSpPr>
        <p:spPr/>
        <p:txBody>
          <a:bodyPr/>
          <a:lstStyle/>
          <a:p>
            <a:r>
              <a:rPr lang="en-US" dirty="0"/>
              <a:t>PCA vs LDA</a:t>
            </a:r>
          </a:p>
        </p:txBody>
      </p:sp>
      <p:sp>
        <p:nvSpPr>
          <p:cNvPr id="4" name="Rectangle 1">
            <a:extLst>
              <a:ext uri="{FF2B5EF4-FFF2-40B4-BE49-F238E27FC236}">
                <a16:creationId xmlns:a16="http://schemas.microsoft.com/office/drawing/2014/main" id="{84E9A850-5F11-03DD-2171-9014765D861C}"/>
              </a:ext>
            </a:extLst>
          </p:cNvPr>
          <p:cNvSpPr>
            <a:spLocks noGrp="1" noChangeArrowheads="1"/>
          </p:cNvSpPr>
          <p:nvPr>
            <p:ph idx="1"/>
          </p:nvPr>
        </p:nvSpPr>
        <p:spPr bwMode="auto">
          <a:xfrm>
            <a:off x="838200" y="1877639"/>
            <a:ext cx="1069081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Assumptions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PCA</a:t>
            </a:r>
            <a:r>
              <a:rPr kumimoji="0" lang="en-US" altLang="en-US" sz="1800" b="0" i="0" u="none" strike="noStrike" cap="none" normalizeH="0" baseline="0" dirty="0">
                <a:ln>
                  <a:noFill/>
                </a:ln>
                <a:solidFill>
                  <a:schemeClr val="tx1"/>
                </a:solidFill>
                <a:effectLst/>
                <a:latin typeface="Arial" panose="020B0604020202020204" pitchFamily="34" charset="0"/>
              </a:rPr>
              <a:t>: No assumptions are made about the data distribution.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LDA</a:t>
            </a:r>
            <a:r>
              <a:rPr kumimoji="0" lang="en-US" altLang="en-US" sz="1800" b="0" i="0" u="none" strike="noStrike" cap="none" normalizeH="0" baseline="0" dirty="0">
                <a:ln>
                  <a:noFill/>
                </a:ln>
                <a:solidFill>
                  <a:schemeClr val="tx1"/>
                </a:solidFill>
                <a:effectLst/>
                <a:latin typeface="Arial" panose="020B0604020202020204" pitchFamily="34" charset="0"/>
              </a:rPr>
              <a:t>: Assumes that the data is normally distributed and that classes have the same covariance matrix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(homoscedasticity).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Interpretability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PCA</a:t>
            </a:r>
            <a:r>
              <a:rPr kumimoji="0" lang="en-US" altLang="en-US" sz="1800" b="0" i="0" u="none" strike="noStrike" cap="none" normalizeH="0" baseline="0" dirty="0">
                <a:ln>
                  <a:noFill/>
                </a:ln>
                <a:solidFill>
                  <a:schemeClr val="tx1"/>
                </a:solidFill>
                <a:effectLst/>
                <a:latin typeface="Arial" panose="020B0604020202020204" pitchFamily="34" charset="0"/>
              </a:rPr>
              <a:t>: Principal components may not be easily interpretable in terms of original features.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LDA</a:t>
            </a:r>
            <a:r>
              <a:rPr kumimoji="0" lang="en-US" altLang="en-US" sz="1800" b="0" i="0" u="none" strike="noStrike" cap="none" normalizeH="0" baseline="0" dirty="0">
                <a:ln>
                  <a:noFill/>
                </a:ln>
                <a:solidFill>
                  <a:schemeClr val="tx1"/>
                </a:solidFill>
                <a:effectLst/>
                <a:latin typeface="Arial" panose="020B0604020202020204" pitchFamily="34" charset="0"/>
              </a:rPr>
              <a:t>: Linear discriminants are interpretable as they are formed based on class labels,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but the interpretation depends on the data distribution.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5775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AAD52-515A-8CE3-719D-293A8D8CF30A}"/>
              </a:ext>
            </a:extLst>
          </p:cNvPr>
          <p:cNvSpPr>
            <a:spLocks noGrp="1"/>
          </p:cNvSpPr>
          <p:nvPr>
            <p:ph type="title"/>
          </p:nvPr>
        </p:nvSpPr>
        <p:spPr/>
        <p:txBody>
          <a:bodyPr/>
          <a:lstStyle/>
          <a:p>
            <a:r>
              <a:rPr lang="en-US" dirty="0"/>
              <a:t>PCA vs LDA</a:t>
            </a:r>
          </a:p>
        </p:txBody>
      </p:sp>
      <p:sp>
        <p:nvSpPr>
          <p:cNvPr id="3" name="Content Placeholder 2">
            <a:extLst>
              <a:ext uri="{FF2B5EF4-FFF2-40B4-BE49-F238E27FC236}">
                <a16:creationId xmlns:a16="http://schemas.microsoft.com/office/drawing/2014/main" id="{3CD37FDB-28FB-5AB2-B40A-7D2CFCF06A7F}"/>
              </a:ext>
            </a:extLst>
          </p:cNvPr>
          <p:cNvSpPr>
            <a:spLocks noGrp="1"/>
          </p:cNvSpPr>
          <p:nvPr>
            <p:ph idx="1"/>
          </p:nvPr>
        </p:nvSpPr>
        <p:spPr/>
        <p:txBody>
          <a:bodyPr>
            <a:normAutofit fontScale="85000" lnSpcReduction="10000"/>
          </a:bodyPr>
          <a:lstStyle/>
          <a:p>
            <a:r>
              <a:rPr lang="en-US" b="1" dirty="0"/>
              <a:t>4. Applications:</a:t>
            </a:r>
          </a:p>
          <a:p>
            <a:pPr>
              <a:buFont typeface="Arial" panose="020B0604020202020204" pitchFamily="34" charset="0"/>
              <a:buChar char="•"/>
            </a:pPr>
            <a:r>
              <a:rPr lang="en-US" b="1" dirty="0"/>
              <a:t>PCA</a:t>
            </a:r>
            <a:r>
              <a:rPr lang="en-US" dirty="0"/>
              <a:t>:</a:t>
            </a:r>
          </a:p>
          <a:p>
            <a:pPr marL="742950" lvl="1" indent="-285750">
              <a:buFont typeface="Arial" panose="020B0604020202020204" pitchFamily="34" charset="0"/>
              <a:buChar char="•"/>
            </a:pPr>
            <a:r>
              <a:rPr lang="en-US" b="1" dirty="0"/>
              <a:t>Data Visualization</a:t>
            </a:r>
            <a:r>
              <a:rPr lang="en-US" dirty="0"/>
              <a:t>: PCA is often used for visualizing high-dimensional data in 2D or 3D.</a:t>
            </a:r>
          </a:p>
          <a:p>
            <a:pPr marL="742950" lvl="1" indent="-285750">
              <a:buFont typeface="Arial" panose="020B0604020202020204" pitchFamily="34" charset="0"/>
              <a:buChar char="•"/>
            </a:pPr>
            <a:r>
              <a:rPr lang="en-US" b="1" dirty="0"/>
              <a:t>Noise Reduction</a:t>
            </a:r>
            <a:r>
              <a:rPr lang="en-US" dirty="0"/>
              <a:t>: PCA can be used to reduce noise by discarding components with low variance.</a:t>
            </a:r>
          </a:p>
          <a:p>
            <a:pPr marL="742950" lvl="1" indent="-285750">
              <a:buFont typeface="Arial" panose="020B0604020202020204" pitchFamily="34" charset="0"/>
              <a:buChar char="•"/>
            </a:pPr>
            <a:r>
              <a:rPr lang="en-US" b="1" dirty="0"/>
              <a:t>Preprocessing</a:t>
            </a:r>
            <a:r>
              <a:rPr lang="en-US" dirty="0"/>
              <a:t>: Used as a preprocessing step to reduce the dimensionality before applying machine learning algorithms.</a:t>
            </a:r>
          </a:p>
          <a:p>
            <a:pPr>
              <a:buFont typeface="Arial" panose="020B0604020202020204" pitchFamily="34" charset="0"/>
              <a:buChar char="•"/>
            </a:pPr>
            <a:r>
              <a:rPr lang="en-US" b="1" dirty="0"/>
              <a:t>LDA</a:t>
            </a:r>
            <a:r>
              <a:rPr lang="en-US" dirty="0"/>
              <a:t>:</a:t>
            </a:r>
          </a:p>
          <a:p>
            <a:pPr marL="742950" lvl="1" indent="-285750">
              <a:buFont typeface="Arial" panose="020B0604020202020204" pitchFamily="34" charset="0"/>
              <a:buChar char="•"/>
            </a:pPr>
            <a:r>
              <a:rPr lang="en-US" b="1" dirty="0"/>
              <a:t>Classification</a:t>
            </a:r>
            <a:r>
              <a:rPr lang="en-US" dirty="0"/>
              <a:t>: LDA is often used for feature extraction in classification tasks where it can improve class separability.</a:t>
            </a:r>
          </a:p>
          <a:p>
            <a:pPr marL="742950" lvl="1" indent="-285750">
              <a:buFont typeface="Arial" panose="020B0604020202020204" pitchFamily="34" charset="0"/>
              <a:buChar char="•"/>
            </a:pPr>
            <a:r>
              <a:rPr lang="en-US" b="1" dirty="0"/>
              <a:t>Face Recognition</a:t>
            </a:r>
            <a:r>
              <a:rPr lang="en-US" dirty="0"/>
              <a:t>: LDA has been used in computer vision, particularly in face recognition, to reduce the dimensionality while enhancing class separability.</a:t>
            </a:r>
          </a:p>
          <a:p>
            <a:pPr marL="742950" lvl="1" indent="-285750">
              <a:buFont typeface="Arial" panose="020B0604020202020204" pitchFamily="34" charset="0"/>
              <a:buChar char="•"/>
            </a:pPr>
            <a:r>
              <a:rPr lang="en-US" b="1" dirty="0"/>
              <a:t>Preprocessing</a:t>
            </a:r>
            <a:r>
              <a:rPr lang="en-US" dirty="0"/>
              <a:t>: Like PCA, LDA can also be used as a preprocessing step, but specifically when the target is to classify the data</a:t>
            </a:r>
          </a:p>
          <a:p>
            <a:endParaRPr lang="en-US" dirty="0"/>
          </a:p>
        </p:txBody>
      </p:sp>
    </p:spTree>
    <p:extLst>
      <p:ext uri="{BB962C8B-B14F-4D97-AF65-F5344CB8AC3E}">
        <p14:creationId xmlns:p14="http://schemas.microsoft.com/office/powerpoint/2010/main" val="13819957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D8ADE-128B-DF19-0A85-27CBB66B3A94}"/>
              </a:ext>
            </a:extLst>
          </p:cNvPr>
          <p:cNvSpPr>
            <a:spLocks noGrp="1"/>
          </p:cNvSpPr>
          <p:nvPr>
            <p:ph type="title"/>
          </p:nvPr>
        </p:nvSpPr>
        <p:spPr/>
        <p:txBody>
          <a:bodyPr/>
          <a:lstStyle/>
          <a:p>
            <a:r>
              <a:rPr lang="en-US" dirty="0"/>
              <a:t>PCA vs LDA</a:t>
            </a:r>
          </a:p>
        </p:txBody>
      </p:sp>
      <p:sp>
        <p:nvSpPr>
          <p:cNvPr id="3" name="Content Placeholder 2">
            <a:extLst>
              <a:ext uri="{FF2B5EF4-FFF2-40B4-BE49-F238E27FC236}">
                <a16:creationId xmlns:a16="http://schemas.microsoft.com/office/drawing/2014/main" id="{949F92C0-9017-ADC1-2A35-197CC76CE4B6}"/>
              </a:ext>
            </a:extLst>
          </p:cNvPr>
          <p:cNvSpPr>
            <a:spLocks noGrp="1"/>
          </p:cNvSpPr>
          <p:nvPr>
            <p:ph idx="1"/>
          </p:nvPr>
        </p:nvSpPr>
        <p:spPr/>
        <p:txBody>
          <a:bodyPr>
            <a:normAutofit fontScale="85000" lnSpcReduction="20000"/>
          </a:bodyPr>
          <a:lstStyle/>
          <a:p>
            <a:r>
              <a:rPr lang="en-US" b="1" dirty="0"/>
              <a:t>5. Example Scenarios:</a:t>
            </a:r>
          </a:p>
          <a:p>
            <a:pPr>
              <a:buFont typeface="Arial" panose="020B0604020202020204" pitchFamily="34" charset="0"/>
              <a:buChar char="•"/>
            </a:pPr>
            <a:r>
              <a:rPr lang="en-US" b="1" dirty="0"/>
              <a:t>Use PCA when</a:t>
            </a:r>
            <a:r>
              <a:rPr lang="en-US" dirty="0"/>
              <a:t>:</a:t>
            </a:r>
          </a:p>
          <a:p>
            <a:pPr marL="742950" lvl="1" indent="-285750">
              <a:buFont typeface="Arial" panose="020B0604020202020204" pitchFamily="34" charset="0"/>
              <a:buChar char="•"/>
            </a:pPr>
            <a:r>
              <a:rPr lang="en-US" dirty="0"/>
              <a:t>You have no class labels or want to reduce dimensionality based on variance.</a:t>
            </a:r>
          </a:p>
          <a:p>
            <a:pPr marL="742950" lvl="1" indent="-285750">
              <a:buFont typeface="Arial" panose="020B0604020202020204" pitchFamily="34" charset="0"/>
              <a:buChar char="•"/>
            </a:pPr>
            <a:r>
              <a:rPr lang="en-US" dirty="0"/>
              <a:t>You need to visualize the data or remove noise.</a:t>
            </a:r>
          </a:p>
          <a:p>
            <a:pPr>
              <a:buFont typeface="Arial" panose="020B0604020202020204" pitchFamily="34" charset="0"/>
              <a:buChar char="•"/>
            </a:pPr>
            <a:r>
              <a:rPr lang="en-US" b="1" dirty="0"/>
              <a:t>Use LDA when</a:t>
            </a:r>
            <a:r>
              <a:rPr lang="en-US" dirty="0"/>
              <a:t>:</a:t>
            </a:r>
          </a:p>
          <a:p>
            <a:pPr marL="742950" lvl="1" indent="-285750">
              <a:buFont typeface="Arial" panose="020B0604020202020204" pitchFamily="34" charset="0"/>
              <a:buChar char="•"/>
            </a:pPr>
            <a:r>
              <a:rPr lang="en-US" dirty="0"/>
              <a:t>You have labeled data and your goal is to maximize class separability.</a:t>
            </a:r>
          </a:p>
          <a:p>
            <a:pPr marL="742950" lvl="1" indent="-285750">
              <a:buFont typeface="Arial" panose="020B0604020202020204" pitchFamily="34" charset="0"/>
              <a:buChar char="•"/>
            </a:pPr>
            <a:r>
              <a:rPr lang="en-US" dirty="0"/>
              <a:t>You are preparing data for a classification task.</a:t>
            </a:r>
          </a:p>
          <a:p>
            <a:r>
              <a:rPr lang="en-US" b="1" dirty="0"/>
              <a:t>Summary</a:t>
            </a:r>
          </a:p>
          <a:p>
            <a:pPr>
              <a:buFont typeface="Arial" panose="020B0604020202020204" pitchFamily="34" charset="0"/>
              <a:buChar char="•"/>
            </a:pPr>
            <a:r>
              <a:rPr lang="en-US" b="1" dirty="0"/>
              <a:t>PCA</a:t>
            </a:r>
            <a:r>
              <a:rPr lang="en-US" dirty="0"/>
              <a:t> is an unsupervised technique that focuses on capturing the maximum variance in the data without considering class labels, and is primarily used for exploratory data analysis, noise reduction, and as a preprocessing step.</a:t>
            </a:r>
          </a:p>
          <a:p>
            <a:pPr>
              <a:buFont typeface="Arial" panose="020B0604020202020204" pitchFamily="34" charset="0"/>
              <a:buChar char="•"/>
            </a:pPr>
            <a:r>
              <a:rPr lang="en-US" b="1" dirty="0"/>
              <a:t>LDA</a:t>
            </a:r>
            <a:r>
              <a:rPr lang="en-US" dirty="0"/>
              <a:t> is a supervised technique that focuses on maximizing class separability, making it particularly useful for classification tasks.</a:t>
            </a:r>
          </a:p>
          <a:p>
            <a:endParaRPr lang="en-US" dirty="0"/>
          </a:p>
        </p:txBody>
      </p:sp>
    </p:spTree>
    <p:extLst>
      <p:ext uri="{BB962C8B-B14F-4D97-AF65-F5344CB8AC3E}">
        <p14:creationId xmlns:p14="http://schemas.microsoft.com/office/powerpoint/2010/main" val="39982272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CDE74-D791-9212-5147-82C3620FDC01}"/>
              </a:ext>
            </a:extLst>
          </p:cNvPr>
          <p:cNvSpPr>
            <a:spLocks noGrp="1"/>
          </p:cNvSpPr>
          <p:nvPr>
            <p:ph type="title"/>
          </p:nvPr>
        </p:nvSpPr>
        <p:spPr>
          <a:xfrm>
            <a:off x="838200" y="175099"/>
            <a:ext cx="10515600" cy="1515590"/>
          </a:xfrm>
        </p:spPr>
        <p:txBody>
          <a:bodyPr>
            <a:normAutofit fontScale="90000"/>
          </a:bodyPr>
          <a:lstStyle/>
          <a:p>
            <a:r>
              <a:rPr lang="en-US" b="1" dirty="0"/>
              <a:t>t-Distributed Stochastic Neighbor Embedding (t-SNE)</a:t>
            </a:r>
            <a:br>
              <a:rPr lang="en-US" dirty="0"/>
            </a:br>
            <a:endParaRPr lang="en-US" dirty="0"/>
          </a:p>
        </p:txBody>
      </p:sp>
      <p:sp>
        <p:nvSpPr>
          <p:cNvPr id="3" name="Content Placeholder 2">
            <a:extLst>
              <a:ext uri="{FF2B5EF4-FFF2-40B4-BE49-F238E27FC236}">
                <a16:creationId xmlns:a16="http://schemas.microsoft.com/office/drawing/2014/main" id="{3B3B0959-1D10-3C29-EF1A-056F8A79401A}"/>
              </a:ext>
            </a:extLst>
          </p:cNvPr>
          <p:cNvSpPr>
            <a:spLocks noGrp="1"/>
          </p:cNvSpPr>
          <p:nvPr>
            <p:ph idx="1"/>
          </p:nvPr>
        </p:nvSpPr>
        <p:spPr/>
        <p:txBody>
          <a:bodyPr>
            <a:normAutofit/>
          </a:bodyPr>
          <a:lstStyle/>
          <a:p>
            <a:pPr>
              <a:buFont typeface="Arial" panose="020B0604020202020204" pitchFamily="34" charset="0"/>
              <a:buChar char="•"/>
            </a:pPr>
            <a:r>
              <a:rPr lang="en-US" b="1" dirty="0"/>
              <a:t>Algorithm</a:t>
            </a:r>
            <a:r>
              <a:rPr lang="en-US" dirty="0"/>
              <a:t>:</a:t>
            </a:r>
          </a:p>
          <a:p>
            <a:pPr marL="742950" lvl="1" indent="-285750">
              <a:buFont typeface="Arial" panose="020B0604020202020204" pitchFamily="34" charset="0"/>
              <a:buChar char="•"/>
            </a:pPr>
            <a:r>
              <a:rPr lang="en-US" dirty="0"/>
              <a:t>Compute pairwise similarities between data points in high-dimensional space.</a:t>
            </a:r>
          </a:p>
          <a:p>
            <a:pPr marL="742950" lvl="1" indent="-285750">
              <a:buFont typeface="Arial" panose="020B0604020202020204" pitchFamily="34" charset="0"/>
              <a:buChar char="•"/>
            </a:pPr>
            <a:r>
              <a:rPr lang="en-US" dirty="0"/>
              <a:t>Compute pairwise similarities in a low-dimensional space.</a:t>
            </a:r>
          </a:p>
          <a:p>
            <a:pPr marL="742950" lvl="1" indent="-285750">
              <a:buFont typeface="Arial" panose="020B0604020202020204" pitchFamily="34" charset="0"/>
              <a:buChar char="•"/>
            </a:pPr>
            <a:r>
              <a:rPr lang="en-US" dirty="0"/>
              <a:t>Minimize the divergence between the high-dimensional and low-dimensional similarities.</a:t>
            </a:r>
          </a:p>
          <a:p>
            <a:pPr>
              <a:buFont typeface="Arial" panose="020B0604020202020204" pitchFamily="34" charset="0"/>
              <a:buChar char="•"/>
            </a:pPr>
            <a:r>
              <a:rPr lang="en-US" b="1" dirty="0"/>
              <a:t>Advantages</a:t>
            </a:r>
            <a:r>
              <a:rPr lang="en-US" dirty="0"/>
              <a:t>: Effective for visualizing high-dimensional data in 2D or 3D, preserving local structure.</a:t>
            </a:r>
          </a:p>
          <a:p>
            <a:pPr>
              <a:buFont typeface="Arial" panose="020B0604020202020204" pitchFamily="34" charset="0"/>
              <a:buChar char="•"/>
            </a:pPr>
            <a:r>
              <a:rPr lang="en-US" b="1" dirty="0"/>
              <a:t>Disadvantages</a:t>
            </a:r>
            <a:r>
              <a:rPr lang="en-US" dirty="0"/>
              <a:t>: Computationally expensive and can be sensitive to hyperparameters.</a:t>
            </a:r>
          </a:p>
          <a:p>
            <a:endParaRPr lang="en-US" dirty="0"/>
          </a:p>
        </p:txBody>
      </p:sp>
    </p:spTree>
    <p:extLst>
      <p:ext uri="{BB962C8B-B14F-4D97-AF65-F5344CB8AC3E}">
        <p14:creationId xmlns:p14="http://schemas.microsoft.com/office/powerpoint/2010/main" val="18214231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BFFFB94D-340B-3FCD-685A-2B4A8E1B69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20825"/>
            <a:ext cx="10684041" cy="4351338"/>
          </a:xfrm>
        </p:spPr>
      </p:pic>
    </p:spTree>
    <p:extLst>
      <p:ext uri="{BB962C8B-B14F-4D97-AF65-F5344CB8AC3E}">
        <p14:creationId xmlns:p14="http://schemas.microsoft.com/office/powerpoint/2010/main" val="15106974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1B9F32D5-5865-D1D9-21C5-73E40C4461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8568" y="1443790"/>
            <a:ext cx="10375232" cy="4717131"/>
          </a:xfrm>
        </p:spPr>
      </p:pic>
    </p:spTree>
    <p:extLst>
      <p:ext uri="{BB962C8B-B14F-4D97-AF65-F5344CB8AC3E}">
        <p14:creationId xmlns:p14="http://schemas.microsoft.com/office/powerpoint/2010/main" val="28814093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B09C595E-A521-66C8-9905-2CB07DD8F8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40043"/>
            <a:ext cx="10515600" cy="4290210"/>
          </a:xfrm>
        </p:spPr>
      </p:pic>
    </p:spTree>
    <p:extLst>
      <p:ext uri="{BB962C8B-B14F-4D97-AF65-F5344CB8AC3E}">
        <p14:creationId xmlns:p14="http://schemas.microsoft.com/office/powerpoint/2010/main" val="5123297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6CFE5BD9-7373-44D2-8B89-69E2E99919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3559" y="1460057"/>
            <a:ext cx="5147431" cy="4138019"/>
          </a:xfrm>
        </p:spPr>
      </p:pic>
      <p:pic>
        <p:nvPicPr>
          <p:cNvPr id="7" name="Picture 6">
            <a:extLst>
              <a:ext uri="{FF2B5EF4-FFF2-40B4-BE49-F238E27FC236}">
                <a16:creationId xmlns:a16="http://schemas.microsoft.com/office/drawing/2014/main" id="{C6D37992-F372-3081-0C27-7F14364341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460057"/>
            <a:ext cx="5823284" cy="4138019"/>
          </a:xfrm>
          <a:prstGeom prst="rect">
            <a:avLst/>
          </a:prstGeom>
        </p:spPr>
      </p:pic>
    </p:spTree>
    <p:extLst>
      <p:ext uri="{BB962C8B-B14F-4D97-AF65-F5344CB8AC3E}">
        <p14:creationId xmlns:p14="http://schemas.microsoft.com/office/powerpoint/2010/main" val="14726998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114F30B1-6530-32F0-8AE2-1E5361EE8C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9718" y="1310455"/>
            <a:ext cx="5323469" cy="4237087"/>
          </a:xfrm>
        </p:spPr>
      </p:pic>
      <p:pic>
        <p:nvPicPr>
          <p:cNvPr id="7" name="Picture 6">
            <a:extLst>
              <a:ext uri="{FF2B5EF4-FFF2-40B4-BE49-F238E27FC236}">
                <a16:creationId xmlns:a16="http://schemas.microsoft.com/office/drawing/2014/main" id="{F24CCA6D-B58F-BDC6-BC3E-F66EFA770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2540" y="1310456"/>
            <a:ext cx="4851260" cy="4237087"/>
          </a:xfrm>
          <a:prstGeom prst="rect">
            <a:avLst/>
          </a:prstGeom>
        </p:spPr>
      </p:pic>
    </p:spTree>
    <p:extLst>
      <p:ext uri="{BB962C8B-B14F-4D97-AF65-F5344CB8AC3E}">
        <p14:creationId xmlns:p14="http://schemas.microsoft.com/office/powerpoint/2010/main" val="18350171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400120D4-D260-72F4-E555-C5EDDBA1C2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969" y="1690688"/>
            <a:ext cx="6119390" cy="4138019"/>
          </a:xfrm>
        </p:spPr>
      </p:pic>
      <p:pic>
        <p:nvPicPr>
          <p:cNvPr id="7" name="Picture 6">
            <a:extLst>
              <a:ext uri="{FF2B5EF4-FFF2-40B4-BE49-F238E27FC236}">
                <a16:creationId xmlns:a16="http://schemas.microsoft.com/office/drawing/2014/main" id="{21C069D6-7D87-F68F-6A34-072320B1D7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1432" y="1690688"/>
            <a:ext cx="5073599" cy="4237087"/>
          </a:xfrm>
          <a:prstGeom prst="rect">
            <a:avLst/>
          </a:prstGeom>
        </p:spPr>
      </p:pic>
    </p:spTree>
    <p:extLst>
      <p:ext uri="{BB962C8B-B14F-4D97-AF65-F5344CB8AC3E}">
        <p14:creationId xmlns:p14="http://schemas.microsoft.com/office/powerpoint/2010/main" val="8735505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22036-82C7-2DEA-2580-D2EF70C0651F}"/>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7C85BC94-F856-6D27-4909-73CF6629E9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6618" y="2122801"/>
            <a:ext cx="7658764" cy="3756986"/>
          </a:xfrm>
        </p:spPr>
      </p:pic>
    </p:spTree>
    <p:extLst>
      <p:ext uri="{BB962C8B-B14F-4D97-AF65-F5344CB8AC3E}">
        <p14:creationId xmlns:p14="http://schemas.microsoft.com/office/powerpoint/2010/main" val="31832686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F61EE35C-8991-686A-95EE-D10C2E5FC8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7835" y="1369846"/>
            <a:ext cx="10896329" cy="2624638"/>
          </a:xfrm>
        </p:spPr>
      </p:pic>
      <p:pic>
        <p:nvPicPr>
          <p:cNvPr id="7" name="Picture 6">
            <a:extLst>
              <a:ext uri="{FF2B5EF4-FFF2-40B4-BE49-F238E27FC236}">
                <a16:creationId xmlns:a16="http://schemas.microsoft.com/office/drawing/2014/main" id="{139FF483-1F03-4E1A-9F98-49ABC2DE26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835" y="4219074"/>
            <a:ext cx="10896329" cy="2273801"/>
          </a:xfrm>
          <a:prstGeom prst="rect">
            <a:avLst/>
          </a:prstGeom>
        </p:spPr>
      </p:pic>
    </p:spTree>
    <p:extLst>
      <p:ext uri="{BB962C8B-B14F-4D97-AF65-F5344CB8AC3E}">
        <p14:creationId xmlns:p14="http://schemas.microsoft.com/office/powerpoint/2010/main" val="15440903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31F41960-567D-EDF7-D7DB-810FBFFAE0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647947" cy="4357186"/>
          </a:xfrm>
        </p:spPr>
      </p:pic>
    </p:spTree>
    <p:extLst>
      <p:ext uri="{BB962C8B-B14F-4D97-AF65-F5344CB8AC3E}">
        <p14:creationId xmlns:p14="http://schemas.microsoft.com/office/powerpoint/2010/main" val="8939655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6AF50240-F132-4A02-19DA-1C4FF01683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09000" y="1690688"/>
            <a:ext cx="4526672" cy="4336156"/>
          </a:xfrm>
        </p:spPr>
      </p:pic>
      <p:pic>
        <p:nvPicPr>
          <p:cNvPr id="7" name="Picture 6">
            <a:extLst>
              <a:ext uri="{FF2B5EF4-FFF2-40B4-BE49-F238E27FC236}">
                <a16:creationId xmlns:a16="http://schemas.microsoft.com/office/drawing/2014/main" id="{D14840D1-2761-B9E8-B1EE-BE4193F9AB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075" y="1690688"/>
            <a:ext cx="6497053" cy="4336156"/>
          </a:xfrm>
          <a:prstGeom prst="rect">
            <a:avLst/>
          </a:prstGeom>
        </p:spPr>
      </p:pic>
    </p:spTree>
    <p:extLst>
      <p:ext uri="{BB962C8B-B14F-4D97-AF65-F5344CB8AC3E}">
        <p14:creationId xmlns:p14="http://schemas.microsoft.com/office/powerpoint/2010/main" val="272203081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C0978559-7B66-ED03-37BA-49BE076A0B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40614"/>
            <a:ext cx="10230853" cy="4351338"/>
          </a:xfrm>
        </p:spPr>
      </p:pic>
    </p:spTree>
    <p:extLst>
      <p:ext uri="{BB962C8B-B14F-4D97-AF65-F5344CB8AC3E}">
        <p14:creationId xmlns:p14="http://schemas.microsoft.com/office/powerpoint/2010/main" val="35420749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5D0C0BBD-EFC7-EA65-6C1B-D3BB0FAA87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7596" y="1645765"/>
            <a:ext cx="4844426" cy="3566469"/>
          </a:xfrm>
        </p:spPr>
      </p:pic>
      <p:pic>
        <p:nvPicPr>
          <p:cNvPr id="7" name="Picture 6">
            <a:extLst>
              <a:ext uri="{FF2B5EF4-FFF2-40B4-BE49-F238E27FC236}">
                <a16:creationId xmlns:a16="http://schemas.microsoft.com/office/drawing/2014/main" id="{72DA3E74-AEBE-F027-5C61-EF13A07864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7242" y="1645765"/>
            <a:ext cx="5887162" cy="3566468"/>
          </a:xfrm>
          <a:prstGeom prst="rect">
            <a:avLst/>
          </a:prstGeom>
        </p:spPr>
      </p:pic>
    </p:spTree>
    <p:extLst>
      <p:ext uri="{BB962C8B-B14F-4D97-AF65-F5344CB8AC3E}">
        <p14:creationId xmlns:p14="http://schemas.microsoft.com/office/powerpoint/2010/main" val="157187931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99F25F3C-23E3-66F1-1189-FC24C0C9D5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98183"/>
            <a:ext cx="9942095" cy="4221846"/>
          </a:xfrm>
        </p:spPr>
      </p:pic>
    </p:spTree>
    <p:extLst>
      <p:ext uri="{BB962C8B-B14F-4D97-AF65-F5344CB8AC3E}">
        <p14:creationId xmlns:p14="http://schemas.microsoft.com/office/powerpoint/2010/main" val="32000895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9" name="Content Placeholder 8">
            <a:extLst>
              <a:ext uri="{FF2B5EF4-FFF2-40B4-BE49-F238E27FC236}">
                <a16:creationId xmlns:a16="http://schemas.microsoft.com/office/drawing/2014/main" id="{4F4E6B76-2EC3-F71D-8C20-8AF8F9D11D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11705"/>
            <a:ext cx="10515600" cy="4524243"/>
          </a:xfrm>
        </p:spPr>
      </p:pic>
    </p:spTree>
    <p:extLst>
      <p:ext uri="{BB962C8B-B14F-4D97-AF65-F5344CB8AC3E}">
        <p14:creationId xmlns:p14="http://schemas.microsoft.com/office/powerpoint/2010/main" val="40695508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30D262BE-1CF0-7D9C-07F9-5FAA9E86F0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2526" y="1825625"/>
            <a:ext cx="10266948" cy="4351338"/>
          </a:xfrm>
        </p:spPr>
      </p:pic>
    </p:spTree>
    <p:extLst>
      <p:ext uri="{BB962C8B-B14F-4D97-AF65-F5344CB8AC3E}">
        <p14:creationId xmlns:p14="http://schemas.microsoft.com/office/powerpoint/2010/main" val="12693112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924F-A73A-41A5-A506-EF7A4306F08C}"/>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FAE47615-1A15-6C51-54DD-5988DFAB94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4960" y="1841667"/>
            <a:ext cx="7442079" cy="4351338"/>
          </a:xfrm>
        </p:spPr>
      </p:pic>
    </p:spTree>
    <p:extLst>
      <p:ext uri="{BB962C8B-B14F-4D97-AF65-F5344CB8AC3E}">
        <p14:creationId xmlns:p14="http://schemas.microsoft.com/office/powerpoint/2010/main" val="115117407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B55B1-2263-5A08-49B2-D3EAA1A8EF46}"/>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A0E9F9E6-4E65-C7D4-A0B1-511A83313A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86147" y="1523835"/>
            <a:ext cx="6333138" cy="3810330"/>
          </a:xfrm>
        </p:spPr>
      </p:pic>
      <p:pic>
        <p:nvPicPr>
          <p:cNvPr id="7" name="Picture 6">
            <a:extLst>
              <a:ext uri="{FF2B5EF4-FFF2-40B4-BE49-F238E27FC236}">
                <a16:creationId xmlns:a16="http://schemas.microsoft.com/office/drawing/2014/main" id="{ACC334F1-F17F-DE24-F553-AA55F678C9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523835"/>
            <a:ext cx="4359018" cy="3810330"/>
          </a:xfrm>
          <a:prstGeom prst="rect">
            <a:avLst/>
          </a:prstGeom>
        </p:spPr>
      </p:pic>
    </p:spTree>
    <p:extLst>
      <p:ext uri="{BB962C8B-B14F-4D97-AF65-F5344CB8AC3E}">
        <p14:creationId xmlns:p14="http://schemas.microsoft.com/office/powerpoint/2010/main" val="37441812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B55B1-2263-5A08-49B2-D3EAA1A8EF46}"/>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0D7CD192-027E-0EF5-299D-AC2BE81192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459832"/>
            <a:ext cx="5257800" cy="4532055"/>
          </a:xfrm>
        </p:spPr>
      </p:pic>
      <p:pic>
        <p:nvPicPr>
          <p:cNvPr id="7" name="Picture 6">
            <a:extLst>
              <a:ext uri="{FF2B5EF4-FFF2-40B4-BE49-F238E27FC236}">
                <a16:creationId xmlns:a16="http://schemas.microsoft.com/office/drawing/2014/main" id="{2AF97F54-B680-962A-12C0-CC0783C63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8505" y="1359990"/>
            <a:ext cx="5710990" cy="4631897"/>
          </a:xfrm>
          <a:prstGeom prst="rect">
            <a:avLst/>
          </a:prstGeom>
        </p:spPr>
      </p:pic>
    </p:spTree>
    <p:extLst>
      <p:ext uri="{BB962C8B-B14F-4D97-AF65-F5344CB8AC3E}">
        <p14:creationId xmlns:p14="http://schemas.microsoft.com/office/powerpoint/2010/main" val="283004480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B55B1-2263-5A08-49B2-D3EAA1A8EF46}"/>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44D3643A-66A0-FDD7-DFE3-1701E71308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2526" y="1825625"/>
            <a:ext cx="10202779" cy="4351338"/>
          </a:xfrm>
        </p:spPr>
      </p:pic>
    </p:spTree>
    <p:extLst>
      <p:ext uri="{BB962C8B-B14F-4D97-AF65-F5344CB8AC3E}">
        <p14:creationId xmlns:p14="http://schemas.microsoft.com/office/powerpoint/2010/main" val="250289746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B55B1-2263-5A08-49B2-D3EAA1A8EF46}"/>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D562E7EF-1C6E-7A7E-2E1B-5CA8E5C2C7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6489" y="1825625"/>
            <a:ext cx="7059021" cy="4351338"/>
          </a:xfrm>
        </p:spPr>
      </p:pic>
    </p:spTree>
    <p:extLst>
      <p:ext uri="{BB962C8B-B14F-4D97-AF65-F5344CB8AC3E}">
        <p14:creationId xmlns:p14="http://schemas.microsoft.com/office/powerpoint/2010/main" val="191627463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B55B1-2263-5A08-49B2-D3EAA1A8EF46}"/>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382D5544-2F9F-66EB-19AF-C3C511098D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909422"/>
            <a:ext cx="10515599" cy="4183743"/>
          </a:xfrm>
        </p:spPr>
      </p:pic>
    </p:spTree>
    <p:extLst>
      <p:ext uri="{BB962C8B-B14F-4D97-AF65-F5344CB8AC3E}">
        <p14:creationId xmlns:p14="http://schemas.microsoft.com/office/powerpoint/2010/main" val="222792196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B55B1-2263-5A08-49B2-D3EAA1A8EF46}"/>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0252D907-E44E-8584-EED5-2E00F8F69C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690688"/>
            <a:ext cx="10515600" cy="4364374"/>
          </a:xfrm>
        </p:spPr>
      </p:pic>
    </p:spTree>
    <p:extLst>
      <p:ext uri="{BB962C8B-B14F-4D97-AF65-F5344CB8AC3E}">
        <p14:creationId xmlns:p14="http://schemas.microsoft.com/office/powerpoint/2010/main" val="13589953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B55B1-2263-5A08-49B2-D3EAA1A8EF46}"/>
              </a:ext>
            </a:extLst>
          </p:cNvPr>
          <p:cNvSpPr>
            <a:spLocks noGrp="1"/>
          </p:cNvSpPr>
          <p:nvPr>
            <p:ph type="title"/>
          </p:nvPr>
        </p:nvSpPr>
        <p:spPr/>
        <p:txBody>
          <a:bodyPr/>
          <a:lstStyle/>
          <a:p>
            <a:r>
              <a:rPr lang="en-US" dirty="0"/>
              <a:t>T-SNE</a:t>
            </a:r>
          </a:p>
        </p:txBody>
      </p:sp>
      <p:pic>
        <p:nvPicPr>
          <p:cNvPr id="5" name="Content Placeholder 4">
            <a:extLst>
              <a:ext uri="{FF2B5EF4-FFF2-40B4-BE49-F238E27FC236}">
                <a16:creationId xmlns:a16="http://schemas.microsoft.com/office/drawing/2014/main" id="{4677D7A7-CC29-7893-4263-6E46DDB09D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5032" y="1690688"/>
            <a:ext cx="9529009" cy="4265305"/>
          </a:xfrm>
        </p:spPr>
      </p:pic>
    </p:spTree>
    <p:extLst>
      <p:ext uri="{BB962C8B-B14F-4D97-AF65-F5344CB8AC3E}">
        <p14:creationId xmlns:p14="http://schemas.microsoft.com/office/powerpoint/2010/main" val="64506469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C6EF0-DEEC-ACE9-E0C9-6F928DAC0A37}"/>
              </a:ext>
            </a:extLst>
          </p:cNvPr>
          <p:cNvSpPr>
            <a:spLocks noGrp="1"/>
          </p:cNvSpPr>
          <p:nvPr>
            <p:ph type="title"/>
          </p:nvPr>
        </p:nvSpPr>
        <p:spPr/>
        <p:txBody>
          <a:bodyPr/>
          <a:lstStyle/>
          <a:p>
            <a:r>
              <a:rPr lang="en-US" dirty="0"/>
              <a:t>PCA vs T-SNE</a:t>
            </a:r>
          </a:p>
        </p:txBody>
      </p:sp>
      <p:pic>
        <p:nvPicPr>
          <p:cNvPr id="5" name="Content Placeholder 4">
            <a:extLst>
              <a:ext uri="{FF2B5EF4-FFF2-40B4-BE49-F238E27FC236}">
                <a16:creationId xmlns:a16="http://schemas.microsoft.com/office/drawing/2014/main" id="{EF648937-4D60-7747-58B4-64B62177BE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925054"/>
            <a:ext cx="10515600" cy="4219072"/>
          </a:xfrm>
        </p:spPr>
      </p:pic>
    </p:spTree>
    <p:extLst>
      <p:ext uri="{BB962C8B-B14F-4D97-AF65-F5344CB8AC3E}">
        <p14:creationId xmlns:p14="http://schemas.microsoft.com/office/powerpoint/2010/main" val="2732934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3471</TotalTime>
  <Words>3248</Words>
  <Application>Microsoft Office PowerPoint</Application>
  <PresentationFormat>Widescreen</PresentationFormat>
  <Paragraphs>331</Paragraphs>
  <Slides>104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104</vt:i4>
      </vt:variant>
    </vt:vector>
  </HeadingPairs>
  <TitlesOfParts>
    <vt:vector size="108" baseType="lpstr">
      <vt:lpstr>Aptos</vt:lpstr>
      <vt:lpstr>Aptos Display</vt:lpstr>
      <vt:lpstr>Arial</vt:lpstr>
      <vt:lpstr>Office Theme</vt:lpstr>
      <vt:lpstr>PowerPoint Presentation</vt:lpstr>
      <vt:lpstr>Dimensionality Reduction Techniques</vt:lpstr>
      <vt:lpstr>PowerPoint Presentation</vt:lpstr>
      <vt:lpstr>PowerPoint Presentation</vt:lpstr>
      <vt:lpstr>1. Filter Methods</vt:lpstr>
      <vt:lpstr>PowerPoint Presentation</vt:lpstr>
      <vt:lpstr>PowerPoint Presentation</vt:lpstr>
      <vt:lpstr>Chi square </vt:lpstr>
      <vt:lpstr>PowerPoint Presentation</vt:lpstr>
      <vt:lpstr>PowerPoint Presentation</vt:lpstr>
      <vt:lpstr>PowerPoint Presentation</vt:lpstr>
      <vt:lpstr>PowerPoint Presentation</vt:lpstr>
      <vt:lpstr>PowerPoint Presentation</vt:lpstr>
      <vt:lpstr>Chi square </vt:lpstr>
      <vt:lpstr>Annova Feature selection</vt:lpstr>
      <vt:lpstr>Steps to Use  Annova Feature selection</vt:lpstr>
      <vt:lpstr>Kendall Feature selection</vt:lpstr>
      <vt:lpstr>2. Wrapper Methods</vt:lpstr>
      <vt:lpstr>PowerPoint Presentation</vt:lpstr>
      <vt:lpstr>3. Embedded Methods</vt:lpstr>
      <vt:lpstr>PowerPoint Presentation</vt:lpstr>
      <vt:lpstr>PowerPoint Presentation</vt:lpstr>
      <vt:lpstr>PowerPoint Presentation</vt:lpstr>
      <vt:lpstr>4. Dimensionality Reduction Techniques</vt:lpstr>
      <vt:lpstr>5. Unsupervised Feature Selection</vt:lpstr>
      <vt:lpstr>Dimensionality Reduction</vt:lpstr>
      <vt:lpstr>Why Reduce Dimensions?</vt:lpstr>
      <vt:lpstr>Techniques Two Approaches</vt:lpstr>
      <vt:lpstr>Feature Selection</vt:lpstr>
      <vt:lpstr>Filter Methods</vt:lpstr>
      <vt:lpstr>Feature Importance </vt:lpstr>
      <vt:lpstr>Covariance (Numerical Data)</vt:lpstr>
      <vt:lpstr>Covariance Computation</vt:lpstr>
      <vt:lpstr>Correlation Coefficient (Numeric Data)</vt:lpstr>
      <vt:lpstr>Wrapper Methods</vt:lpstr>
      <vt:lpstr>Wrapper Methods Approaches</vt:lpstr>
      <vt:lpstr>Feature Extraction</vt:lpstr>
      <vt:lpstr>PowerPoint Presentation</vt:lpstr>
      <vt:lpstr>Global Dimensionality Reduction </vt:lpstr>
      <vt:lpstr>Local Dimensionality Reduction</vt:lpstr>
      <vt:lpstr>PCA</vt:lpstr>
      <vt:lpstr>PCA Procedure</vt:lpstr>
      <vt:lpstr>Principal Component Analysis (PCA):</vt:lpstr>
      <vt:lpstr>PCA</vt:lpstr>
      <vt:lpstr>PCA</vt:lpstr>
      <vt:lpstr>PCA</vt:lpstr>
      <vt:lpstr>PCA</vt:lpstr>
      <vt:lpstr>PCA</vt:lpstr>
      <vt:lpstr>PCA</vt:lpstr>
      <vt:lpstr>PCA</vt:lpstr>
      <vt:lpstr>PCA</vt:lpstr>
      <vt:lpstr>PCA</vt:lpstr>
      <vt:lpstr>PCA</vt:lpstr>
      <vt:lpstr>PCA</vt:lpstr>
      <vt:lpstr>PCA</vt:lpstr>
      <vt:lpstr>PCA</vt:lpstr>
      <vt:lpstr>PCA</vt:lpstr>
      <vt:lpstr>PCA</vt:lpstr>
      <vt:lpstr>PCA</vt:lpstr>
      <vt:lpstr>Linear Discriminant Analysis (LDA)</vt:lpstr>
      <vt:lpstr>Linear Discriminant Analysis (LDA)</vt:lpstr>
      <vt:lpstr>Linear Discriminant Analysis (LDA)</vt:lpstr>
      <vt:lpstr>LDA</vt:lpstr>
      <vt:lpstr>LDA</vt:lpstr>
      <vt:lpstr>Summary on LDA</vt:lpstr>
      <vt:lpstr>LDA example</vt:lpstr>
      <vt:lpstr>LDA example</vt:lpstr>
      <vt:lpstr>LDA example</vt:lpstr>
      <vt:lpstr>LDA example</vt:lpstr>
      <vt:lpstr>How many components to choose</vt:lpstr>
      <vt:lpstr>PCA vs LDA</vt:lpstr>
      <vt:lpstr>PCA vs LDA</vt:lpstr>
      <vt:lpstr>PCA vs LDA</vt:lpstr>
      <vt:lpstr>PCA vs LDA</vt:lpstr>
      <vt:lpstr>PCA vs LDA</vt:lpstr>
      <vt:lpstr>PCA vs LDA</vt:lpstr>
      <vt:lpstr>PCA vs LDA</vt:lpstr>
      <vt:lpstr>PCA vs LDA</vt:lpstr>
      <vt:lpstr>PCA vs LDA</vt:lpstr>
      <vt:lpstr>t-Distributed Stochastic Neighbor Embedding (t-SNE) </vt:lpstr>
      <vt:lpstr>T-SNE</vt:lpstr>
      <vt:lpstr>T-SNE</vt:lpstr>
      <vt:lpstr>T-SNE</vt:lpstr>
      <vt:lpstr>T-SNE</vt:lpstr>
      <vt:lpstr>T-SNE</vt:lpstr>
      <vt:lpstr>T-SNE</vt:lpstr>
      <vt:lpstr>T-SNE</vt:lpstr>
      <vt:lpstr>T-SNE</vt:lpstr>
      <vt:lpstr>T-SNE</vt:lpstr>
      <vt:lpstr>T-SNE</vt:lpstr>
      <vt:lpstr>T-SNE</vt:lpstr>
      <vt:lpstr>T-SNE</vt:lpstr>
      <vt:lpstr>T-SNE</vt:lpstr>
      <vt:lpstr>T-SNE</vt:lpstr>
      <vt:lpstr>T-SNE</vt:lpstr>
      <vt:lpstr>T-SNE</vt:lpstr>
      <vt:lpstr>T-SNE</vt:lpstr>
      <vt:lpstr>T-SNE</vt:lpstr>
      <vt:lpstr>T-SNE</vt:lpstr>
      <vt:lpstr>T-SNE</vt:lpstr>
      <vt:lpstr>T-SNE</vt:lpstr>
      <vt:lpstr>T-SNE</vt:lpstr>
      <vt:lpstr>T-SNE</vt:lpstr>
      <vt:lpstr>PCA vs T-SNE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20812016101533@eng.zu.edu.eg</dc:creator>
  <cp:lastModifiedBy>20812016101533@eng.zu.edu.eg</cp:lastModifiedBy>
  <cp:revision>102</cp:revision>
  <dcterms:created xsi:type="dcterms:W3CDTF">2024-08-01T10:06:29Z</dcterms:created>
  <dcterms:modified xsi:type="dcterms:W3CDTF">2024-08-10T20:40:30Z</dcterms:modified>
</cp:coreProperties>
</file>