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6" r:id="rId21"/>
    <p:sldId id="278" r:id="rId22"/>
    <p:sldId id="279" r:id="rId23"/>
    <p:sldId id="280" r:id="rId24"/>
    <p:sldId id="277" r:id="rId25"/>
    <p:sldId id="275"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69A6"/>
    <a:srgbClr val="2AAF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3A422-8DDA-48A7-9B70-ABE695DB3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8533EE-201D-4A82-B3B8-6A01405C3E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6683FC-85AE-4253-8FB3-E7B027A31A24}"/>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5" name="Footer Placeholder 4">
            <a:extLst>
              <a:ext uri="{FF2B5EF4-FFF2-40B4-BE49-F238E27FC236}">
                <a16:creationId xmlns:a16="http://schemas.microsoft.com/office/drawing/2014/main" id="{6E7ABDB2-CB5E-4134-A095-C5F1266D3E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628A88-0178-4CDB-87C9-570CAA66DD46}"/>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1425568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E5A9-A76B-4ED1-9063-4497F275D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6AB00D-15CD-4E03-B084-96CA55B3AC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ED8020-8D3F-4424-A1D9-82BB7EC94A97}"/>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5" name="Footer Placeholder 4">
            <a:extLst>
              <a:ext uri="{FF2B5EF4-FFF2-40B4-BE49-F238E27FC236}">
                <a16:creationId xmlns:a16="http://schemas.microsoft.com/office/drawing/2014/main" id="{E1A7F099-AF5C-48BA-BA27-FE07C0DFC7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BFE3ED-9503-4DA3-BE18-E3AD11609464}"/>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60015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6CA03-58D8-4FF1-A19D-4E2FD6EED4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00DB09A-12D8-4F0F-8A46-4ED3B93E2D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B83CEC-A705-4509-86A9-F649641FE6E0}"/>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5" name="Footer Placeholder 4">
            <a:extLst>
              <a:ext uri="{FF2B5EF4-FFF2-40B4-BE49-F238E27FC236}">
                <a16:creationId xmlns:a16="http://schemas.microsoft.com/office/drawing/2014/main" id="{28BD0335-B015-4E6E-A404-84491969B1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3D4A04-B6FF-4FBC-B97F-F45B3CE06B38}"/>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3004459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2529E-F3FD-4A4F-9F09-B82289BD45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40DF58-587A-4539-A70E-36B72ADB87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427CBF-BF09-477D-9E1B-FE20146C09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C078E6-EF72-4668-BABF-168E16277BA2}"/>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6" name="Footer Placeholder 5">
            <a:extLst>
              <a:ext uri="{FF2B5EF4-FFF2-40B4-BE49-F238E27FC236}">
                <a16:creationId xmlns:a16="http://schemas.microsoft.com/office/drawing/2014/main" id="{AE10F657-3625-4805-9CAD-402426DE9D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1DDE39-F697-47D2-A267-82EB52908D51}"/>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2286227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F78E4-03EB-44AD-A61E-F54736ECA1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E6D17A-E515-4367-93BE-CC5C77085B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AFE27-BFF9-4F09-81B6-BA9C8B12F0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D4CD4A-3CC5-4251-BEE3-54014CEFC9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AF74B7-9AF1-4320-9985-67240E5546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0195E4-1A3D-47A7-9B93-B1F24E94572C}"/>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8" name="Footer Placeholder 7">
            <a:extLst>
              <a:ext uri="{FF2B5EF4-FFF2-40B4-BE49-F238E27FC236}">
                <a16:creationId xmlns:a16="http://schemas.microsoft.com/office/drawing/2014/main" id="{31F5F8BE-A97C-4C25-A45B-744BD92D1C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45AD46-F38D-4C67-9C82-96FF08E1F45E}"/>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671452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E1AD3-9EC4-4C19-B645-AFC322566F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7C44A6-FCDE-4603-8AD6-E9470EA0A410}"/>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4" name="Footer Placeholder 3">
            <a:extLst>
              <a:ext uri="{FF2B5EF4-FFF2-40B4-BE49-F238E27FC236}">
                <a16:creationId xmlns:a16="http://schemas.microsoft.com/office/drawing/2014/main" id="{55EAC409-DB37-4A9A-B89A-FF756C1040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01C93A-FA6E-42FD-829B-5E5254A18DC5}"/>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1559581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1BA051-A06D-488C-AD53-6D1EBDED3E99}"/>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3" name="Footer Placeholder 2">
            <a:extLst>
              <a:ext uri="{FF2B5EF4-FFF2-40B4-BE49-F238E27FC236}">
                <a16:creationId xmlns:a16="http://schemas.microsoft.com/office/drawing/2014/main" id="{7E9E832F-2D2E-4B3A-89F7-C2C5C2B682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89D06A-0398-4BD9-BA5D-3BFC27103192}"/>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3291824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C2356-9C22-46F2-89D9-98D780F98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9CEA5D-DF2E-436B-802A-EFF55446FE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47AEFA-6C62-49AE-9B09-595D7034C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9AD70F-D707-4EE6-872F-6D1748BE3AC7}"/>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6" name="Footer Placeholder 5">
            <a:extLst>
              <a:ext uri="{FF2B5EF4-FFF2-40B4-BE49-F238E27FC236}">
                <a16:creationId xmlns:a16="http://schemas.microsoft.com/office/drawing/2014/main" id="{B674C0B5-CC79-4414-BF9C-1F79889C0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6F3176-A565-452F-B89D-5E42DB49C39D}"/>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2677187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481D-67A2-40C0-BF0C-E992F15BF9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A29D76-AF71-471F-BFD2-161E2E3380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1FF373-59F3-4FF7-9EE4-CD8BA3DAD0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197032-472A-40C8-969B-4B687FF9651E}"/>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6" name="Footer Placeholder 5">
            <a:extLst>
              <a:ext uri="{FF2B5EF4-FFF2-40B4-BE49-F238E27FC236}">
                <a16:creationId xmlns:a16="http://schemas.microsoft.com/office/drawing/2014/main" id="{DF50EA54-7859-4D4D-B3EB-6D196CD13C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BF974-29A0-4528-BDE8-0760F38C9B10}"/>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2658461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BA26A-CCFF-4266-B799-DACA286B53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81C932-1AA5-4968-ADC0-396E5B1BDB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CC1663-D115-471F-B6B8-EFF3175639E4}"/>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5" name="Footer Placeholder 4">
            <a:extLst>
              <a:ext uri="{FF2B5EF4-FFF2-40B4-BE49-F238E27FC236}">
                <a16:creationId xmlns:a16="http://schemas.microsoft.com/office/drawing/2014/main" id="{4F4C9DFF-7906-4CB9-8457-6A29418BF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AC6234-98E9-4B30-8F06-E9D8F430C029}"/>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3855194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6D1E54-02F1-4204-AE71-E3C33B9B74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4BB227-9A9A-4900-BFCC-BCC18F624C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9C6AA3-9427-44F8-B7C8-2CB702E5BC4D}"/>
              </a:ext>
            </a:extLst>
          </p:cNvPr>
          <p:cNvSpPr>
            <a:spLocks noGrp="1"/>
          </p:cNvSpPr>
          <p:nvPr>
            <p:ph type="dt" sz="half" idx="10"/>
          </p:nvPr>
        </p:nvSpPr>
        <p:spPr/>
        <p:txBody>
          <a:bodyPr/>
          <a:lstStyle/>
          <a:p>
            <a:fld id="{B267D7BC-F515-410F-A6AF-BC4AE86D2241}" type="datetimeFigureOut">
              <a:rPr lang="en-US" smtClean="0"/>
              <a:t>9/7/2025</a:t>
            </a:fld>
            <a:endParaRPr lang="en-US"/>
          </a:p>
        </p:txBody>
      </p:sp>
      <p:sp>
        <p:nvSpPr>
          <p:cNvPr id="5" name="Footer Placeholder 4">
            <a:extLst>
              <a:ext uri="{FF2B5EF4-FFF2-40B4-BE49-F238E27FC236}">
                <a16:creationId xmlns:a16="http://schemas.microsoft.com/office/drawing/2014/main" id="{28F802B4-757F-452C-A5A0-B0048E0A46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115B62-6054-419C-AC22-9C94B0B3195F}"/>
              </a:ext>
            </a:extLst>
          </p:cNvPr>
          <p:cNvSpPr>
            <a:spLocks noGrp="1"/>
          </p:cNvSpPr>
          <p:nvPr>
            <p:ph type="sldNum" sz="quarter" idx="12"/>
          </p:nvPr>
        </p:nvSpPr>
        <p:spPr/>
        <p:txBody>
          <a:bodyPr/>
          <a:lstStyle/>
          <a:p>
            <a:fld id="{BF59831A-4D38-4DAA-B680-5F8DBA9EB110}" type="slidenum">
              <a:rPr lang="en-US" smtClean="0"/>
              <a:t>‹#›</a:t>
            </a:fld>
            <a:endParaRPr lang="en-US"/>
          </a:p>
        </p:txBody>
      </p:sp>
    </p:spTree>
    <p:extLst>
      <p:ext uri="{BB962C8B-B14F-4D97-AF65-F5344CB8AC3E}">
        <p14:creationId xmlns:p14="http://schemas.microsoft.com/office/powerpoint/2010/main" val="3252801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24CFC1-DA0D-4072-AEBB-56BFCAEA51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E9B460-68AC-4260-9E7D-0372B850D2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7D4A9-555A-4A65-A851-91A5946482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67D7BC-F515-410F-A6AF-BC4AE86D2241}" type="datetimeFigureOut">
              <a:rPr lang="en-US" smtClean="0"/>
              <a:t>9/7/2025</a:t>
            </a:fld>
            <a:endParaRPr lang="en-US"/>
          </a:p>
        </p:txBody>
      </p:sp>
      <p:sp>
        <p:nvSpPr>
          <p:cNvPr id="5" name="Footer Placeholder 4">
            <a:extLst>
              <a:ext uri="{FF2B5EF4-FFF2-40B4-BE49-F238E27FC236}">
                <a16:creationId xmlns:a16="http://schemas.microsoft.com/office/drawing/2014/main" id="{BA99EFFA-3BE0-44E8-BF18-EF2C92693B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E9736B1-C75F-4D7A-BD7E-8D7056421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9831A-4D38-4DAA-B680-5F8DBA9EB110}" type="slidenum">
              <a:rPr lang="en-US" smtClean="0"/>
              <a:t>‹#›</a:t>
            </a:fld>
            <a:endParaRPr lang="en-US"/>
          </a:p>
        </p:txBody>
      </p:sp>
    </p:spTree>
    <p:extLst>
      <p:ext uri="{BB962C8B-B14F-4D97-AF65-F5344CB8AC3E}">
        <p14:creationId xmlns:p14="http://schemas.microsoft.com/office/powerpoint/2010/main" val="5401094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6892BA-86FA-CA9A-F9C0-E938E06DFD31}"/>
              </a:ext>
            </a:extLst>
          </p:cNvPr>
          <p:cNvSpPr txBox="1"/>
          <p:nvPr/>
        </p:nvSpPr>
        <p:spPr>
          <a:xfrm>
            <a:off x="2147598" y="2782669"/>
            <a:ext cx="7896800" cy="646331"/>
          </a:xfrm>
          <a:prstGeom prst="rect">
            <a:avLst/>
          </a:prstGeom>
          <a:noFill/>
        </p:spPr>
        <p:txBody>
          <a:bodyPr wrap="square">
            <a:spAutoFit/>
          </a:bodyPr>
          <a:lstStyle/>
          <a:p>
            <a:pPr algn="ctr"/>
            <a:r>
              <a:rPr lang="en-US" sz="3600" b="1" dirty="0">
                <a:solidFill>
                  <a:srgbClr val="2AAF82"/>
                </a:solidFill>
              </a:rPr>
              <a:t>Machine Learning</a:t>
            </a:r>
          </a:p>
        </p:txBody>
      </p:sp>
      <p:sp>
        <p:nvSpPr>
          <p:cNvPr id="5" name="TextBox 4">
            <a:extLst>
              <a:ext uri="{FF2B5EF4-FFF2-40B4-BE49-F238E27FC236}">
                <a16:creationId xmlns:a16="http://schemas.microsoft.com/office/drawing/2014/main" id="{A18E643A-816E-7972-47A6-02537BE16177}"/>
              </a:ext>
            </a:extLst>
          </p:cNvPr>
          <p:cNvSpPr txBox="1"/>
          <p:nvPr/>
        </p:nvSpPr>
        <p:spPr>
          <a:xfrm>
            <a:off x="3930313" y="3429000"/>
            <a:ext cx="4331369" cy="307777"/>
          </a:xfrm>
          <a:prstGeom prst="rect">
            <a:avLst/>
          </a:prstGeom>
          <a:noFill/>
        </p:spPr>
        <p:txBody>
          <a:bodyPr wrap="square">
            <a:spAutoFit/>
          </a:bodyPr>
          <a:lstStyle/>
          <a:p>
            <a:pPr algn="ctr"/>
            <a:r>
              <a:rPr lang="en-US" sz="1400" b="1" dirty="0">
                <a:solidFill>
                  <a:srgbClr val="2AAF82"/>
                </a:solidFill>
              </a:rPr>
              <a:t>Session 2</a:t>
            </a:r>
          </a:p>
        </p:txBody>
      </p:sp>
    </p:spTree>
    <p:extLst>
      <p:ext uri="{BB962C8B-B14F-4D97-AF65-F5344CB8AC3E}">
        <p14:creationId xmlns:p14="http://schemas.microsoft.com/office/powerpoint/2010/main" val="2827221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1BD2D8-6006-80DF-2C05-8F35429E6C72}"/>
              </a:ext>
            </a:extLst>
          </p:cNvPr>
          <p:cNvSpPr txBox="1"/>
          <p:nvPr/>
        </p:nvSpPr>
        <p:spPr>
          <a:xfrm>
            <a:off x="1723541" y="1283228"/>
            <a:ext cx="1745673" cy="523220"/>
          </a:xfrm>
          <a:prstGeom prst="rect">
            <a:avLst/>
          </a:prstGeom>
          <a:noFill/>
        </p:spPr>
        <p:txBody>
          <a:bodyPr wrap="square">
            <a:spAutoFit/>
          </a:bodyPr>
          <a:lstStyle/>
          <a:p>
            <a:r>
              <a:rPr lang="en-US" sz="2800" b="1" dirty="0">
                <a:solidFill>
                  <a:srgbClr val="1869A6"/>
                </a:solidFill>
              </a:rPr>
              <a:t>Agenda</a:t>
            </a:r>
            <a:r>
              <a:rPr lang="en-US" sz="2800" dirty="0">
                <a:solidFill>
                  <a:srgbClr val="1869A6"/>
                </a:solidFill>
              </a:rPr>
              <a:t>:</a:t>
            </a:r>
          </a:p>
        </p:txBody>
      </p:sp>
      <p:graphicFrame>
        <p:nvGraphicFramePr>
          <p:cNvPr id="3" name="Table 2">
            <a:extLst>
              <a:ext uri="{FF2B5EF4-FFF2-40B4-BE49-F238E27FC236}">
                <a16:creationId xmlns:a16="http://schemas.microsoft.com/office/drawing/2014/main" id="{6657627E-AABE-AE2E-1F42-B608E83D3CA1}"/>
              </a:ext>
            </a:extLst>
          </p:cNvPr>
          <p:cNvGraphicFramePr>
            <a:graphicFrameLocks noGrp="1"/>
          </p:cNvGraphicFramePr>
          <p:nvPr>
            <p:extLst>
              <p:ext uri="{D42A27DB-BD31-4B8C-83A1-F6EECF244321}">
                <p14:modId xmlns:p14="http://schemas.microsoft.com/office/powerpoint/2010/main" val="3281625569"/>
              </p:ext>
            </p:extLst>
          </p:nvPr>
        </p:nvGraphicFramePr>
        <p:xfrm>
          <a:off x="2596378" y="2225964"/>
          <a:ext cx="6999244" cy="1474963"/>
        </p:xfrm>
        <a:graphic>
          <a:graphicData uri="http://schemas.openxmlformats.org/drawingml/2006/table">
            <a:tbl>
              <a:tblPr firstRow="1" bandRow="1">
                <a:tableStyleId>{5C22544A-7EE6-4342-B048-85BDC9FD1C3A}</a:tableStyleId>
              </a:tblPr>
              <a:tblGrid>
                <a:gridCol w="568311">
                  <a:extLst>
                    <a:ext uri="{9D8B030D-6E8A-4147-A177-3AD203B41FA5}">
                      <a16:colId xmlns:a16="http://schemas.microsoft.com/office/drawing/2014/main" val="2296649913"/>
                    </a:ext>
                  </a:extLst>
                </a:gridCol>
                <a:gridCol w="6430933">
                  <a:extLst>
                    <a:ext uri="{9D8B030D-6E8A-4147-A177-3AD203B41FA5}">
                      <a16:colId xmlns:a16="http://schemas.microsoft.com/office/drawing/2014/main" val="4021298204"/>
                    </a:ext>
                  </a:extLst>
                </a:gridCol>
              </a:tblGrid>
              <a:tr h="482121">
                <a:tc>
                  <a:txBody>
                    <a:bodyPr/>
                    <a:lstStyle/>
                    <a:p>
                      <a:pPr algn="ctr"/>
                      <a:r>
                        <a:rPr lang="en-US" b="1"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dirty="0"/>
                        <a:t>Encoding</a:t>
                      </a:r>
                      <a:endParaRPr lang="en-US"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3138608899"/>
                  </a:ext>
                </a:extLst>
              </a:tr>
              <a:tr h="496421">
                <a:tc>
                  <a:txBody>
                    <a:bodyPr/>
                    <a:lstStyle/>
                    <a:p>
                      <a:pPr algn="ctr"/>
                      <a:r>
                        <a:rPr lang="en-US" b="1" dirty="0">
                          <a:solidFill>
                            <a:schemeClr val="bg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Scaling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4082344712"/>
                  </a:ext>
                </a:extLst>
              </a:tr>
              <a:tr h="496421">
                <a:tc>
                  <a:txBody>
                    <a:bodyPr/>
                    <a:lstStyle/>
                    <a:p>
                      <a:pPr algn="ctr"/>
                      <a:r>
                        <a:rPr lang="en-US" b="1" dirty="0">
                          <a:solidFill>
                            <a:schemeClr val="bg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Overfitting and Underfitting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1545105015"/>
                  </a:ext>
                </a:extLst>
              </a:tr>
            </a:tbl>
          </a:graphicData>
        </a:graphic>
      </p:graphicFrame>
    </p:spTree>
    <p:extLst>
      <p:ext uri="{BB962C8B-B14F-4D97-AF65-F5344CB8AC3E}">
        <p14:creationId xmlns:p14="http://schemas.microsoft.com/office/powerpoint/2010/main" val="4255565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57C437-92F6-4883-1EF3-4BD9A53F5248}"/>
              </a:ext>
            </a:extLst>
          </p:cNvPr>
          <p:cNvSpPr txBox="1"/>
          <p:nvPr/>
        </p:nvSpPr>
        <p:spPr>
          <a:xfrm>
            <a:off x="4687454" y="2782669"/>
            <a:ext cx="2817091" cy="646331"/>
          </a:xfrm>
          <a:prstGeom prst="rect">
            <a:avLst/>
          </a:prstGeom>
          <a:noFill/>
        </p:spPr>
        <p:txBody>
          <a:bodyPr wrap="square">
            <a:spAutoFit/>
          </a:bodyPr>
          <a:lstStyle/>
          <a:p>
            <a:pPr algn="ctr"/>
            <a:r>
              <a:rPr lang="en-US" sz="3600" b="1" dirty="0">
                <a:solidFill>
                  <a:srgbClr val="2AAF82"/>
                </a:solidFill>
              </a:rPr>
              <a:t>Encoding</a:t>
            </a:r>
          </a:p>
        </p:txBody>
      </p:sp>
    </p:spTree>
    <p:extLst>
      <p:ext uri="{BB962C8B-B14F-4D97-AF65-F5344CB8AC3E}">
        <p14:creationId xmlns:p14="http://schemas.microsoft.com/office/powerpoint/2010/main" val="1444169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6A5DFD-C163-B476-1972-043B02B3EC64}"/>
              </a:ext>
            </a:extLst>
          </p:cNvPr>
          <p:cNvSpPr txBox="1"/>
          <p:nvPr/>
        </p:nvSpPr>
        <p:spPr>
          <a:xfrm>
            <a:off x="558799" y="1581942"/>
            <a:ext cx="1584037" cy="461665"/>
          </a:xfrm>
          <a:prstGeom prst="rect">
            <a:avLst/>
          </a:prstGeom>
          <a:noFill/>
        </p:spPr>
        <p:txBody>
          <a:bodyPr wrap="square">
            <a:spAutoFit/>
          </a:bodyPr>
          <a:lstStyle/>
          <a:p>
            <a:r>
              <a:rPr lang="en-US" sz="2400" b="1" dirty="0">
                <a:solidFill>
                  <a:srgbClr val="1869A6"/>
                </a:solidFill>
              </a:rPr>
              <a:t>Encoding</a:t>
            </a:r>
            <a:endParaRPr lang="en-US" sz="3600" b="1" dirty="0">
              <a:solidFill>
                <a:srgbClr val="1869A6"/>
              </a:solidFill>
            </a:endParaRPr>
          </a:p>
        </p:txBody>
      </p:sp>
      <p:sp>
        <p:nvSpPr>
          <p:cNvPr id="4" name="TextBox 3">
            <a:extLst>
              <a:ext uri="{FF2B5EF4-FFF2-40B4-BE49-F238E27FC236}">
                <a16:creationId xmlns:a16="http://schemas.microsoft.com/office/drawing/2014/main" id="{DEBDCB73-29F2-3BB1-D389-C9E9880FA0D1}"/>
              </a:ext>
            </a:extLst>
          </p:cNvPr>
          <p:cNvSpPr txBox="1"/>
          <p:nvPr/>
        </p:nvSpPr>
        <p:spPr>
          <a:xfrm>
            <a:off x="1265382" y="2043607"/>
            <a:ext cx="6096000" cy="369332"/>
          </a:xfrm>
          <a:prstGeom prst="rect">
            <a:avLst/>
          </a:prstGeom>
          <a:noFill/>
        </p:spPr>
        <p:txBody>
          <a:bodyPr wrap="square">
            <a:spAutoFit/>
          </a:bodyPr>
          <a:lstStyle/>
          <a:p>
            <a:r>
              <a:rPr lang="en-US" b="1" dirty="0"/>
              <a:t>What is Encoding?</a:t>
            </a:r>
          </a:p>
        </p:txBody>
      </p:sp>
      <p:sp>
        <p:nvSpPr>
          <p:cNvPr id="6" name="TextBox 5">
            <a:extLst>
              <a:ext uri="{FF2B5EF4-FFF2-40B4-BE49-F238E27FC236}">
                <a16:creationId xmlns:a16="http://schemas.microsoft.com/office/drawing/2014/main" id="{8AD5EB41-BA45-A6E7-4C53-34BBB0AE7350}"/>
              </a:ext>
            </a:extLst>
          </p:cNvPr>
          <p:cNvSpPr txBox="1"/>
          <p:nvPr/>
        </p:nvSpPr>
        <p:spPr>
          <a:xfrm>
            <a:off x="1782617" y="2412939"/>
            <a:ext cx="9227127"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Encoding</a:t>
            </a:r>
            <a:r>
              <a:rPr lang="en-US" dirty="0"/>
              <a:t> refers to the process of converting categorical data into a numerical format that can be used by machine learning algorithms. Most algorithms cannot work directly with labels such as "</a:t>
            </a:r>
            <a:r>
              <a:rPr lang="en-US" b="1" dirty="0"/>
              <a:t>Male</a:t>
            </a:r>
            <a:r>
              <a:rPr lang="en-US" dirty="0"/>
              <a:t>" or "</a:t>
            </a:r>
            <a:r>
              <a:rPr lang="en-US" b="1" dirty="0"/>
              <a:t>Female</a:t>
            </a:r>
            <a:r>
              <a:rPr lang="en-US" dirty="0"/>
              <a:t>," so these labels must be converted into numbers.</a:t>
            </a:r>
          </a:p>
        </p:txBody>
      </p:sp>
      <p:pic>
        <p:nvPicPr>
          <p:cNvPr id="8" name="Picture 7" descr="A person sitting at a computer&#10;&#10;Description automatically generated">
            <a:extLst>
              <a:ext uri="{FF2B5EF4-FFF2-40B4-BE49-F238E27FC236}">
                <a16:creationId xmlns:a16="http://schemas.microsoft.com/office/drawing/2014/main" id="{A1574AF2-F10B-9BD8-D167-DBB159CBA1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1382" y="2974108"/>
            <a:ext cx="3588327" cy="3588327"/>
          </a:xfrm>
          <a:prstGeom prst="rect">
            <a:avLst/>
          </a:prstGeom>
        </p:spPr>
      </p:pic>
    </p:spTree>
    <p:extLst>
      <p:ext uri="{BB962C8B-B14F-4D97-AF65-F5344CB8AC3E}">
        <p14:creationId xmlns:p14="http://schemas.microsoft.com/office/powerpoint/2010/main" val="1789851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7E7238-8D1B-D48B-9065-1083A86D961B}"/>
              </a:ext>
            </a:extLst>
          </p:cNvPr>
          <p:cNvSpPr txBox="1"/>
          <p:nvPr/>
        </p:nvSpPr>
        <p:spPr>
          <a:xfrm>
            <a:off x="558799" y="1581942"/>
            <a:ext cx="4382656" cy="461665"/>
          </a:xfrm>
          <a:prstGeom prst="rect">
            <a:avLst/>
          </a:prstGeom>
          <a:noFill/>
        </p:spPr>
        <p:txBody>
          <a:bodyPr wrap="square">
            <a:spAutoFit/>
          </a:bodyPr>
          <a:lstStyle/>
          <a:p>
            <a:r>
              <a:rPr lang="en-US" sz="2400" b="1" dirty="0">
                <a:solidFill>
                  <a:srgbClr val="1869A6"/>
                </a:solidFill>
              </a:rPr>
              <a:t>Common Types of Encoding</a:t>
            </a:r>
          </a:p>
        </p:txBody>
      </p:sp>
      <p:sp>
        <p:nvSpPr>
          <p:cNvPr id="6" name="TextBox 5">
            <a:extLst>
              <a:ext uri="{FF2B5EF4-FFF2-40B4-BE49-F238E27FC236}">
                <a16:creationId xmlns:a16="http://schemas.microsoft.com/office/drawing/2014/main" id="{769FBBD9-B103-AA5C-3822-537E777A3B3A}"/>
              </a:ext>
            </a:extLst>
          </p:cNvPr>
          <p:cNvSpPr txBox="1"/>
          <p:nvPr/>
        </p:nvSpPr>
        <p:spPr>
          <a:xfrm>
            <a:off x="1768765" y="2043607"/>
            <a:ext cx="6096000" cy="369332"/>
          </a:xfrm>
          <a:prstGeom prst="rect">
            <a:avLst/>
          </a:prstGeom>
          <a:noFill/>
        </p:spPr>
        <p:txBody>
          <a:bodyPr wrap="square">
            <a:spAutoFit/>
          </a:bodyPr>
          <a:lstStyle/>
          <a:p>
            <a:r>
              <a:rPr lang="en-US" b="1" dirty="0"/>
              <a:t>1. Label Encoding</a:t>
            </a:r>
          </a:p>
        </p:txBody>
      </p:sp>
      <p:sp>
        <p:nvSpPr>
          <p:cNvPr id="8" name="TextBox 7">
            <a:extLst>
              <a:ext uri="{FF2B5EF4-FFF2-40B4-BE49-F238E27FC236}">
                <a16:creationId xmlns:a16="http://schemas.microsoft.com/office/drawing/2014/main" id="{A1714FA9-302D-6E47-AEC7-668055C87A8B}"/>
              </a:ext>
            </a:extLst>
          </p:cNvPr>
          <p:cNvSpPr txBox="1"/>
          <p:nvPr/>
        </p:nvSpPr>
        <p:spPr>
          <a:xfrm>
            <a:off x="2382982" y="2412939"/>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t>Each category is </a:t>
            </a:r>
            <a:r>
              <a:rPr lang="en-US" b="1" dirty="0"/>
              <a:t>assigned</a:t>
            </a:r>
            <a:r>
              <a:rPr lang="en-US" dirty="0"/>
              <a:t> a </a:t>
            </a:r>
            <a:r>
              <a:rPr lang="en-US" b="1" dirty="0"/>
              <a:t>unique</a:t>
            </a:r>
            <a:r>
              <a:rPr lang="en-US" dirty="0"/>
              <a:t> integer value</a:t>
            </a:r>
          </a:p>
          <a:p>
            <a:pPr marL="285750" indent="-285750">
              <a:buFont typeface="Arial" panose="020B0604020202020204" pitchFamily="34" charset="0"/>
              <a:buChar char="•"/>
            </a:pPr>
            <a:r>
              <a:rPr lang="en-US" dirty="0"/>
              <a:t>Example: “Tall" = 0, “Medium" = 1, “Short" = 2.</a:t>
            </a:r>
          </a:p>
          <a:p>
            <a:pPr marL="285750" indent="-285750">
              <a:buFont typeface="Arial" panose="020B0604020202020204" pitchFamily="34" charset="0"/>
              <a:buChar char="•"/>
            </a:pPr>
            <a:r>
              <a:rPr lang="en-US" dirty="0"/>
              <a:t>Used when the categories have a meaningful order.</a:t>
            </a:r>
          </a:p>
        </p:txBody>
      </p:sp>
      <p:pic>
        <p:nvPicPr>
          <p:cNvPr id="1026" name="Picture 2" descr="Categorical Encoding using Label Encoding">
            <a:extLst>
              <a:ext uri="{FF2B5EF4-FFF2-40B4-BE49-F238E27FC236}">
                <a16:creationId xmlns:a16="http://schemas.microsoft.com/office/drawing/2014/main" id="{9D0ED3AC-32FE-718D-3A0B-B073A43D4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8351" y="3521732"/>
            <a:ext cx="5240193" cy="2022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341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CAE80F-9EB0-52D3-217E-32929B2FCC68}"/>
              </a:ext>
            </a:extLst>
          </p:cNvPr>
          <p:cNvSpPr txBox="1"/>
          <p:nvPr/>
        </p:nvSpPr>
        <p:spPr>
          <a:xfrm>
            <a:off x="558799" y="1581942"/>
            <a:ext cx="4382656" cy="461665"/>
          </a:xfrm>
          <a:prstGeom prst="rect">
            <a:avLst/>
          </a:prstGeom>
          <a:noFill/>
        </p:spPr>
        <p:txBody>
          <a:bodyPr wrap="square">
            <a:spAutoFit/>
          </a:bodyPr>
          <a:lstStyle/>
          <a:p>
            <a:r>
              <a:rPr lang="en-US" sz="2400" b="1" dirty="0">
                <a:solidFill>
                  <a:srgbClr val="1869A6"/>
                </a:solidFill>
              </a:rPr>
              <a:t>Common Types of Encoding</a:t>
            </a:r>
          </a:p>
        </p:txBody>
      </p:sp>
      <p:sp>
        <p:nvSpPr>
          <p:cNvPr id="3" name="TextBox 2">
            <a:extLst>
              <a:ext uri="{FF2B5EF4-FFF2-40B4-BE49-F238E27FC236}">
                <a16:creationId xmlns:a16="http://schemas.microsoft.com/office/drawing/2014/main" id="{01687B87-E0BB-7312-F036-72693E5EF778}"/>
              </a:ext>
            </a:extLst>
          </p:cNvPr>
          <p:cNvSpPr txBox="1"/>
          <p:nvPr/>
        </p:nvSpPr>
        <p:spPr>
          <a:xfrm>
            <a:off x="1768765" y="2043607"/>
            <a:ext cx="6096000" cy="369332"/>
          </a:xfrm>
          <a:prstGeom prst="rect">
            <a:avLst/>
          </a:prstGeom>
          <a:noFill/>
        </p:spPr>
        <p:txBody>
          <a:bodyPr wrap="square">
            <a:spAutoFit/>
          </a:bodyPr>
          <a:lstStyle/>
          <a:p>
            <a:r>
              <a:rPr lang="en-US" b="1" dirty="0"/>
              <a:t>2. One-Hot Encoding</a:t>
            </a:r>
          </a:p>
        </p:txBody>
      </p:sp>
      <p:sp>
        <p:nvSpPr>
          <p:cNvPr id="5" name="TextBox 4">
            <a:extLst>
              <a:ext uri="{FF2B5EF4-FFF2-40B4-BE49-F238E27FC236}">
                <a16:creationId xmlns:a16="http://schemas.microsoft.com/office/drawing/2014/main" id="{D448FE36-C448-A189-63C5-168D761F9535}"/>
              </a:ext>
            </a:extLst>
          </p:cNvPr>
          <p:cNvSpPr txBox="1"/>
          <p:nvPr/>
        </p:nvSpPr>
        <p:spPr>
          <a:xfrm>
            <a:off x="2373744" y="2412939"/>
            <a:ext cx="6770255" cy="923330"/>
          </a:xfrm>
          <a:prstGeom prst="rect">
            <a:avLst/>
          </a:prstGeom>
          <a:noFill/>
        </p:spPr>
        <p:txBody>
          <a:bodyPr wrap="square">
            <a:spAutoFit/>
          </a:bodyPr>
          <a:lstStyle/>
          <a:p>
            <a:pPr marL="285750" indent="-285750">
              <a:buFont typeface="Arial" panose="020B0604020202020204" pitchFamily="34" charset="0"/>
              <a:buChar char="•"/>
            </a:pPr>
            <a:r>
              <a:rPr lang="en-US" dirty="0"/>
              <a:t>Creates a new binary column for each category</a:t>
            </a:r>
          </a:p>
          <a:p>
            <a:pPr marL="285750" indent="-285750">
              <a:buFont typeface="Arial" panose="020B0604020202020204" pitchFamily="34" charset="0"/>
              <a:buChar char="•"/>
            </a:pPr>
            <a:r>
              <a:rPr lang="en-US" dirty="0"/>
              <a:t>Example: "Red" = [1, 0, 0], "Green" = [0, 1, 0], "Blue" = [0, 0, 1]</a:t>
            </a:r>
          </a:p>
          <a:p>
            <a:pPr marL="285750" indent="-285750">
              <a:buFont typeface="Arial" panose="020B0604020202020204" pitchFamily="34" charset="0"/>
              <a:buChar char="•"/>
            </a:pPr>
            <a:r>
              <a:rPr lang="en-US" dirty="0"/>
              <a:t>Used when there is no ordinal relationship between categories.</a:t>
            </a:r>
          </a:p>
        </p:txBody>
      </p:sp>
      <p:pic>
        <p:nvPicPr>
          <p:cNvPr id="2050" name="Picture 2" descr="Encoding Categorical Variables: One-hot vs Dummy Encoding | by Rukshan  Pramoditha | Towards Data Science">
            <a:extLst>
              <a:ext uri="{FF2B5EF4-FFF2-40B4-BE49-F238E27FC236}">
                <a16:creationId xmlns:a16="http://schemas.microsoft.com/office/drawing/2014/main" id="{AAA69220-8F58-98DE-B79D-D31368C982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8479" y="3573979"/>
            <a:ext cx="6071505" cy="2480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920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85BFB0-8C39-D421-DCE9-058FB4BDCD29}"/>
              </a:ext>
            </a:extLst>
          </p:cNvPr>
          <p:cNvSpPr txBox="1"/>
          <p:nvPr/>
        </p:nvSpPr>
        <p:spPr>
          <a:xfrm>
            <a:off x="558799" y="1581942"/>
            <a:ext cx="4382656" cy="461665"/>
          </a:xfrm>
          <a:prstGeom prst="rect">
            <a:avLst/>
          </a:prstGeom>
          <a:noFill/>
        </p:spPr>
        <p:txBody>
          <a:bodyPr wrap="square">
            <a:spAutoFit/>
          </a:bodyPr>
          <a:lstStyle/>
          <a:p>
            <a:r>
              <a:rPr lang="en-US" sz="2400" b="1" dirty="0">
                <a:solidFill>
                  <a:srgbClr val="1869A6"/>
                </a:solidFill>
              </a:rPr>
              <a:t>Common Types of Encoding</a:t>
            </a:r>
          </a:p>
        </p:txBody>
      </p:sp>
      <p:sp>
        <p:nvSpPr>
          <p:cNvPr id="4" name="TextBox 3">
            <a:extLst>
              <a:ext uri="{FF2B5EF4-FFF2-40B4-BE49-F238E27FC236}">
                <a16:creationId xmlns:a16="http://schemas.microsoft.com/office/drawing/2014/main" id="{9322BD0B-8F98-CED0-4835-5EDA5EEAB13E}"/>
              </a:ext>
            </a:extLst>
          </p:cNvPr>
          <p:cNvSpPr txBox="1"/>
          <p:nvPr/>
        </p:nvSpPr>
        <p:spPr>
          <a:xfrm>
            <a:off x="1450110" y="2043607"/>
            <a:ext cx="6096000" cy="369332"/>
          </a:xfrm>
          <a:prstGeom prst="rect">
            <a:avLst/>
          </a:prstGeom>
          <a:noFill/>
        </p:spPr>
        <p:txBody>
          <a:bodyPr wrap="square">
            <a:spAutoFit/>
          </a:bodyPr>
          <a:lstStyle/>
          <a:p>
            <a:r>
              <a:rPr lang="en-US" b="1" dirty="0"/>
              <a:t>When to Use Encoding ?</a:t>
            </a:r>
          </a:p>
        </p:txBody>
      </p:sp>
      <p:sp>
        <p:nvSpPr>
          <p:cNvPr id="8" name="TextBox 7">
            <a:extLst>
              <a:ext uri="{FF2B5EF4-FFF2-40B4-BE49-F238E27FC236}">
                <a16:creationId xmlns:a16="http://schemas.microsoft.com/office/drawing/2014/main" id="{556D3C66-C9BD-1921-EDE6-7F0C2E920AE8}"/>
              </a:ext>
            </a:extLst>
          </p:cNvPr>
          <p:cNvSpPr txBox="1"/>
          <p:nvPr/>
        </p:nvSpPr>
        <p:spPr>
          <a:xfrm>
            <a:off x="2050471" y="2412939"/>
            <a:ext cx="9144001" cy="1477328"/>
          </a:xfrm>
          <a:prstGeom prst="rect">
            <a:avLst/>
          </a:prstGeom>
          <a:noFill/>
        </p:spPr>
        <p:txBody>
          <a:bodyPr wrap="square">
            <a:spAutoFit/>
          </a:bodyPr>
          <a:lstStyle/>
          <a:p>
            <a:pPr marL="285750" indent="-285750">
              <a:buFont typeface="Arial" panose="020B0604020202020204" pitchFamily="34" charset="0"/>
              <a:buChar char="•"/>
            </a:pPr>
            <a:r>
              <a:rPr lang="en-US" b="1" dirty="0"/>
              <a:t>Label Encoding</a:t>
            </a:r>
            <a:r>
              <a:rPr lang="en-US" dirty="0"/>
              <a:t>: For </a:t>
            </a:r>
            <a:r>
              <a:rPr lang="en-US" b="1" dirty="0"/>
              <a:t>ordinal features</a:t>
            </a:r>
            <a:r>
              <a:rPr lang="en-US" dirty="0"/>
              <a:t>, such as education level (High School, Bachelor's, Master's, etc.), where the order matters.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One-Hot Encoding</a:t>
            </a:r>
            <a:r>
              <a:rPr lang="en-US" dirty="0"/>
              <a:t>: For </a:t>
            </a:r>
            <a:r>
              <a:rPr lang="en-US" b="1" dirty="0"/>
              <a:t>nominal features</a:t>
            </a:r>
            <a:r>
              <a:rPr lang="en-US" dirty="0"/>
              <a:t>, such as colors or product categories, where there is no inherent order.</a:t>
            </a:r>
          </a:p>
        </p:txBody>
      </p:sp>
    </p:spTree>
    <p:extLst>
      <p:ext uri="{BB962C8B-B14F-4D97-AF65-F5344CB8AC3E}">
        <p14:creationId xmlns:p14="http://schemas.microsoft.com/office/powerpoint/2010/main" val="1719356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BD99E0-2726-3B97-5FD1-5D9CC29E06D9}"/>
              </a:ext>
            </a:extLst>
          </p:cNvPr>
          <p:cNvSpPr txBox="1"/>
          <p:nvPr/>
        </p:nvSpPr>
        <p:spPr>
          <a:xfrm>
            <a:off x="4687454" y="2782669"/>
            <a:ext cx="2817091" cy="646331"/>
          </a:xfrm>
          <a:prstGeom prst="rect">
            <a:avLst/>
          </a:prstGeom>
          <a:noFill/>
        </p:spPr>
        <p:txBody>
          <a:bodyPr wrap="square">
            <a:spAutoFit/>
          </a:bodyPr>
          <a:lstStyle/>
          <a:p>
            <a:pPr algn="ctr"/>
            <a:r>
              <a:rPr lang="en-US" sz="3600" b="1" dirty="0">
                <a:solidFill>
                  <a:srgbClr val="2AAF82"/>
                </a:solidFill>
              </a:rPr>
              <a:t>Scaling</a:t>
            </a:r>
          </a:p>
        </p:txBody>
      </p:sp>
    </p:spTree>
    <p:extLst>
      <p:ext uri="{BB962C8B-B14F-4D97-AF65-F5344CB8AC3E}">
        <p14:creationId xmlns:p14="http://schemas.microsoft.com/office/powerpoint/2010/main" val="2151163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1BA687-C927-0867-47C5-BCDDDA1265BA}"/>
              </a:ext>
            </a:extLst>
          </p:cNvPr>
          <p:cNvSpPr txBox="1"/>
          <p:nvPr/>
        </p:nvSpPr>
        <p:spPr>
          <a:xfrm>
            <a:off x="558799" y="1581942"/>
            <a:ext cx="1297710" cy="461665"/>
          </a:xfrm>
          <a:prstGeom prst="rect">
            <a:avLst/>
          </a:prstGeom>
          <a:noFill/>
        </p:spPr>
        <p:txBody>
          <a:bodyPr wrap="square">
            <a:spAutoFit/>
          </a:bodyPr>
          <a:lstStyle/>
          <a:p>
            <a:r>
              <a:rPr lang="en-US" sz="2400" b="1" dirty="0">
                <a:solidFill>
                  <a:srgbClr val="1869A6"/>
                </a:solidFill>
              </a:rPr>
              <a:t>Scaling</a:t>
            </a:r>
          </a:p>
        </p:txBody>
      </p:sp>
      <p:sp>
        <p:nvSpPr>
          <p:cNvPr id="4" name="TextBox 3">
            <a:extLst>
              <a:ext uri="{FF2B5EF4-FFF2-40B4-BE49-F238E27FC236}">
                <a16:creationId xmlns:a16="http://schemas.microsoft.com/office/drawing/2014/main" id="{5BF94C4D-B57F-8BEB-0103-8CE3424B5A02}"/>
              </a:ext>
            </a:extLst>
          </p:cNvPr>
          <p:cNvSpPr txBox="1"/>
          <p:nvPr/>
        </p:nvSpPr>
        <p:spPr>
          <a:xfrm>
            <a:off x="1080655" y="2043607"/>
            <a:ext cx="6096000" cy="369332"/>
          </a:xfrm>
          <a:prstGeom prst="rect">
            <a:avLst/>
          </a:prstGeom>
          <a:noFill/>
        </p:spPr>
        <p:txBody>
          <a:bodyPr wrap="square">
            <a:spAutoFit/>
          </a:bodyPr>
          <a:lstStyle/>
          <a:p>
            <a:r>
              <a:rPr lang="en-US" b="1" dirty="0"/>
              <a:t>What is Scaling?</a:t>
            </a:r>
          </a:p>
        </p:txBody>
      </p:sp>
      <p:sp>
        <p:nvSpPr>
          <p:cNvPr id="6" name="TextBox 5">
            <a:extLst>
              <a:ext uri="{FF2B5EF4-FFF2-40B4-BE49-F238E27FC236}">
                <a16:creationId xmlns:a16="http://schemas.microsoft.com/office/drawing/2014/main" id="{EC34936F-535F-B26D-626A-94A52828968C}"/>
              </a:ext>
            </a:extLst>
          </p:cNvPr>
          <p:cNvSpPr txBox="1"/>
          <p:nvPr/>
        </p:nvSpPr>
        <p:spPr>
          <a:xfrm>
            <a:off x="1602510" y="2412939"/>
            <a:ext cx="9508835"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Scaling</a:t>
            </a:r>
            <a:r>
              <a:rPr lang="en-US" dirty="0"/>
              <a:t> is the process of </a:t>
            </a:r>
            <a:r>
              <a:rPr lang="en-US" b="1" dirty="0"/>
              <a:t>transforming</a:t>
            </a:r>
            <a:r>
              <a:rPr lang="en-US" dirty="0"/>
              <a:t> </a:t>
            </a:r>
            <a:r>
              <a:rPr lang="en-US" b="1" dirty="0"/>
              <a:t>features</a:t>
            </a:r>
            <a:r>
              <a:rPr lang="en-US" dirty="0"/>
              <a:t> so that they are on the </a:t>
            </a:r>
            <a:r>
              <a:rPr lang="en-US" b="1" dirty="0"/>
              <a:t>same scale</a:t>
            </a:r>
            <a:r>
              <a:rPr lang="en-US" dirty="0"/>
              <a:t>. This is crucial because many machine learning algorithms (such as gradient descent, K-nearest neighbors, etc.) are sensitive to the scale of the features.</a:t>
            </a:r>
          </a:p>
        </p:txBody>
      </p:sp>
    </p:spTree>
    <p:extLst>
      <p:ext uri="{BB962C8B-B14F-4D97-AF65-F5344CB8AC3E}">
        <p14:creationId xmlns:p14="http://schemas.microsoft.com/office/powerpoint/2010/main" val="3873376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C7FFB1-83BE-AC33-6C09-C56E69920B62}"/>
              </a:ext>
            </a:extLst>
          </p:cNvPr>
          <p:cNvSpPr txBox="1"/>
          <p:nvPr/>
        </p:nvSpPr>
        <p:spPr>
          <a:xfrm>
            <a:off x="558799" y="1581942"/>
            <a:ext cx="1297710" cy="461665"/>
          </a:xfrm>
          <a:prstGeom prst="rect">
            <a:avLst/>
          </a:prstGeom>
          <a:noFill/>
        </p:spPr>
        <p:txBody>
          <a:bodyPr wrap="square">
            <a:spAutoFit/>
          </a:bodyPr>
          <a:lstStyle/>
          <a:p>
            <a:r>
              <a:rPr lang="en-US" sz="2400" b="1" dirty="0">
                <a:solidFill>
                  <a:srgbClr val="1869A6"/>
                </a:solidFill>
              </a:rPr>
              <a:t>Scaling</a:t>
            </a:r>
          </a:p>
        </p:txBody>
      </p:sp>
      <p:sp>
        <p:nvSpPr>
          <p:cNvPr id="3" name="TextBox 2">
            <a:extLst>
              <a:ext uri="{FF2B5EF4-FFF2-40B4-BE49-F238E27FC236}">
                <a16:creationId xmlns:a16="http://schemas.microsoft.com/office/drawing/2014/main" id="{09E583F8-232C-5317-82C7-011E7A9DDA57}"/>
              </a:ext>
            </a:extLst>
          </p:cNvPr>
          <p:cNvSpPr txBox="1"/>
          <p:nvPr/>
        </p:nvSpPr>
        <p:spPr>
          <a:xfrm>
            <a:off x="1080655" y="2043607"/>
            <a:ext cx="6096000" cy="369332"/>
          </a:xfrm>
          <a:prstGeom prst="rect">
            <a:avLst/>
          </a:prstGeom>
          <a:noFill/>
        </p:spPr>
        <p:txBody>
          <a:bodyPr wrap="square">
            <a:spAutoFit/>
          </a:bodyPr>
          <a:lstStyle/>
          <a:p>
            <a:r>
              <a:rPr lang="en-US" b="1" dirty="0"/>
              <a:t>Why Scaling is Important?</a:t>
            </a:r>
          </a:p>
        </p:txBody>
      </p:sp>
      <p:sp>
        <p:nvSpPr>
          <p:cNvPr id="5" name="TextBox 4">
            <a:extLst>
              <a:ext uri="{FF2B5EF4-FFF2-40B4-BE49-F238E27FC236}">
                <a16:creationId xmlns:a16="http://schemas.microsoft.com/office/drawing/2014/main" id="{4867D0E6-36FF-2BE4-18D0-1DC836ACFDB9}"/>
              </a:ext>
            </a:extLst>
          </p:cNvPr>
          <p:cNvSpPr txBox="1"/>
          <p:nvPr/>
        </p:nvSpPr>
        <p:spPr>
          <a:xfrm>
            <a:off x="1717963" y="2412939"/>
            <a:ext cx="8829963" cy="923330"/>
          </a:xfrm>
          <a:prstGeom prst="rect">
            <a:avLst/>
          </a:prstGeom>
          <a:noFill/>
        </p:spPr>
        <p:txBody>
          <a:bodyPr wrap="square">
            <a:spAutoFit/>
          </a:bodyPr>
          <a:lstStyle/>
          <a:p>
            <a:pPr marL="285750" indent="-285750" algn="just">
              <a:buFont typeface="Arial" panose="020B0604020202020204" pitchFamily="34" charset="0"/>
              <a:buChar char="•"/>
            </a:pPr>
            <a:r>
              <a:rPr lang="en-US" dirty="0"/>
              <a:t>Without scaling, features with larger values may dominate the model, leading to biased predictions.</a:t>
            </a:r>
          </a:p>
          <a:p>
            <a:pPr marL="285750" indent="-285750" algn="just">
              <a:buFont typeface="Arial" panose="020B0604020202020204" pitchFamily="34" charset="0"/>
              <a:buChar char="•"/>
            </a:pPr>
            <a:r>
              <a:rPr lang="en-US" b="1" dirty="0"/>
              <a:t>Scaling</a:t>
            </a:r>
            <a:r>
              <a:rPr lang="en-US" dirty="0"/>
              <a:t> ensures that all features contribute equally to the model during training.</a:t>
            </a:r>
          </a:p>
        </p:txBody>
      </p:sp>
    </p:spTree>
    <p:extLst>
      <p:ext uri="{BB962C8B-B14F-4D97-AF65-F5344CB8AC3E}">
        <p14:creationId xmlns:p14="http://schemas.microsoft.com/office/powerpoint/2010/main" val="4028318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5F8612-9DB5-7EB2-2A33-3E13A369C5E5}"/>
              </a:ext>
            </a:extLst>
          </p:cNvPr>
          <p:cNvSpPr txBox="1"/>
          <p:nvPr/>
        </p:nvSpPr>
        <p:spPr>
          <a:xfrm>
            <a:off x="355598" y="1591178"/>
            <a:ext cx="4327237" cy="461665"/>
          </a:xfrm>
          <a:prstGeom prst="rect">
            <a:avLst/>
          </a:prstGeom>
          <a:noFill/>
        </p:spPr>
        <p:txBody>
          <a:bodyPr wrap="square">
            <a:spAutoFit/>
          </a:bodyPr>
          <a:lstStyle/>
          <a:p>
            <a:r>
              <a:rPr lang="en-US" sz="2400" b="1" dirty="0">
                <a:solidFill>
                  <a:srgbClr val="1869A6"/>
                </a:solidFill>
              </a:rPr>
              <a:t>Common Methods of Scaling</a:t>
            </a:r>
          </a:p>
        </p:txBody>
      </p:sp>
      <p:sp>
        <p:nvSpPr>
          <p:cNvPr id="4" name="TextBox 3">
            <a:extLst>
              <a:ext uri="{FF2B5EF4-FFF2-40B4-BE49-F238E27FC236}">
                <a16:creationId xmlns:a16="http://schemas.microsoft.com/office/drawing/2014/main" id="{4948B03D-B0B9-D914-5D3B-264760A53CC5}"/>
              </a:ext>
            </a:extLst>
          </p:cNvPr>
          <p:cNvSpPr txBox="1"/>
          <p:nvPr/>
        </p:nvSpPr>
        <p:spPr>
          <a:xfrm>
            <a:off x="1699491" y="2052843"/>
            <a:ext cx="6096000" cy="369332"/>
          </a:xfrm>
          <a:prstGeom prst="rect">
            <a:avLst/>
          </a:prstGeom>
          <a:noFill/>
        </p:spPr>
        <p:txBody>
          <a:bodyPr wrap="square">
            <a:spAutoFit/>
          </a:bodyPr>
          <a:lstStyle/>
          <a:p>
            <a:r>
              <a:rPr lang="en-US" b="1" dirty="0"/>
              <a:t>Min-Max Scaling (Normalization)</a:t>
            </a:r>
          </a:p>
        </p:txBody>
      </p:sp>
      <p:sp>
        <p:nvSpPr>
          <p:cNvPr id="6" name="TextBox 5">
            <a:extLst>
              <a:ext uri="{FF2B5EF4-FFF2-40B4-BE49-F238E27FC236}">
                <a16:creationId xmlns:a16="http://schemas.microsoft.com/office/drawing/2014/main" id="{2A4553F1-87A6-1EB0-6AC2-45BE51C35F14}"/>
              </a:ext>
            </a:extLst>
          </p:cNvPr>
          <p:cNvSpPr txBox="1"/>
          <p:nvPr/>
        </p:nvSpPr>
        <p:spPr>
          <a:xfrm>
            <a:off x="2262909" y="2422175"/>
            <a:ext cx="6945746" cy="369332"/>
          </a:xfrm>
          <a:prstGeom prst="rect">
            <a:avLst/>
          </a:prstGeom>
          <a:noFill/>
        </p:spPr>
        <p:txBody>
          <a:bodyPr wrap="square">
            <a:spAutoFit/>
          </a:bodyPr>
          <a:lstStyle/>
          <a:p>
            <a:pPr marL="285750" indent="-285750">
              <a:buFont typeface="Arial" panose="020B0604020202020204" pitchFamily="34" charset="0"/>
              <a:buChar char="•"/>
            </a:pPr>
            <a:r>
              <a:rPr lang="en-US" dirty="0"/>
              <a:t>Transforms features to a fixed range, usually between 0 and 1</a:t>
            </a:r>
          </a:p>
        </p:txBody>
      </p:sp>
      <p:sp>
        <p:nvSpPr>
          <p:cNvPr id="8" name="TextBox 7">
            <a:extLst>
              <a:ext uri="{FF2B5EF4-FFF2-40B4-BE49-F238E27FC236}">
                <a16:creationId xmlns:a16="http://schemas.microsoft.com/office/drawing/2014/main" id="{F175B772-AFF6-E2CE-F9B8-BE95821D1BF4}"/>
              </a:ext>
            </a:extLst>
          </p:cNvPr>
          <p:cNvSpPr txBox="1"/>
          <p:nvPr/>
        </p:nvSpPr>
        <p:spPr>
          <a:xfrm>
            <a:off x="2519216" y="2976173"/>
            <a:ext cx="6096000" cy="369332"/>
          </a:xfrm>
          <a:prstGeom prst="rect">
            <a:avLst/>
          </a:prstGeom>
          <a:noFill/>
        </p:spPr>
        <p:txBody>
          <a:bodyPr wrap="square">
            <a:spAutoFit/>
          </a:bodyPr>
          <a:lstStyle/>
          <a:p>
            <a:r>
              <a:rPr lang="en-US" b="1" dirty="0"/>
              <a:t>Formula</a:t>
            </a:r>
          </a:p>
        </p:txBody>
      </p:sp>
      <p:pic>
        <p:nvPicPr>
          <p:cNvPr id="10" name="Picture 9">
            <a:extLst>
              <a:ext uri="{FF2B5EF4-FFF2-40B4-BE49-F238E27FC236}">
                <a16:creationId xmlns:a16="http://schemas.microsoft.com/office/drawing/2014/main" id="{75054D6C-A52F-1282-2292-C9D1A7CAD2EE}"/>
              </a:ext>
            </a:extLst>
          </p:cNvPr>
          <p:cNvPicPr>
            <a:picLocks noChangeAspect="1"/>
          </p:cNvPicPr>
          <p:nvPr/>
        </p:nvPicPr>
        <p:blipFill>
          <a:blip r:embed="rId2"/>
          <a:stretch>
            <a:fillRect/>
          </a:stretch>
        </p:blipFill>
        <p:spPr>
          <a:xfrm>
            <a:off x="3509241" y="2751264"/>
            <a:ext cx="2476500" cy="819150"/>
          </a:xfrm>
          <a:prstGeom prst="rect">
            <a:avLst/>
          </a:prstGeom>
        </p:spPr>
      </p:pic>
    </p:spTree>
    <p:extLst>
      <p:ext uri="{BB962C8B-B14F-4D97-AF65-F5344CB8AC3E}">
        <p14:creationId xmlns:p14="http://schemas.microsoft.com/office/powerpoint/2010/main" val="608368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664BC4-4BCA-F8C7-621F-2DF844244A57}"/>
              </a:ext>
            </a:extLst>
          </p:cNvPr>
          <p:cNvSpPr txBox="1"/>
          <p:nvPr/>
        </p:nvSpPr>
        <p:spPr>
          <a:xfrm>
            <a:off x="355598" y="1591178"/>
            <a:ext cx="4327237" cy="461665"/>
          </a:xfrm>
          <a:prstGeom prst="rect">
            <a:avLst/>
          </a:prstGeom>
          <a:noFill/>
        </p:spPr>
        <p:txBody>
          <a:bodyPr wrap="square">
            <a:spAutoFit/>
          </a:bodyPr>
          <a:lstStyle/>
          <a:p>
            <a:r>
              <a:rPr lang="en-US" sz="2400" b="1" dirty="0">
                <a:solidFill>
                  <a:srgbClr val="1869A6"/>
                </a:solidFill>
              </a:rPr>
              <a:t>Common Methods of Scaling</a:t>
            </a:r>
          </a:p>
        </p:txBody>
      </p:sp>
      <p:sp>
        <p:nvSpPr>
          <p:cNvPr id="3" name="TextBox 2">
            <a:extLst>
              <a:ext uri="{FF2B5EF4-FFF2-40B4-BE49-F238E27FC236}">
                <a16:creationId xmlns:a16="http://schemas.microsoft.com/office/drawing/2014/main" id="{ADAB1BBB-BA7D-4E1F-B593-324D7E0CC7A6}"/>
              </a:ext>
            </a:extLst>
          </p:cNvPr>
          <p:cNvSpPr txBox="1"/>
          <p:nvPr/>
        </p:nvSpPr>
        <p:spPr>
          <a:xfrm>
            <a:off x="1699491" y="2052843"/>
            <a:ext cx="6096000" cy="369332"/>
          </a:xfrm>
          <a:prstGeom prst="rect">
            <a:avLst/>
          </a:prstGeom>
          <a:noFill/>
        </p:spPr>
        <p:txBody>
          <a:bodyPr wrap="square">
            <a:spAutoFit/>
          </a:bodyPr>
          <a:lstStyle/>
          <a:p>
            <a:r>
              <a:rPr lang="en-US" b="1" dirty="0"/>
              <a:t>Standardization (Z-Score Scaling)</a:t>
            </a:r>
          </a:p>
        </p:txBody>
      </p:sp>
      <p:sp>
        <p:nvSpPr>
          <p:cNvPr id="4" name="TextBox 3">
            <a:extLst>
              <a:ext uri="{FF2B5EF4-FFF2-40B4-BE49-F238E27FC236}">
                <a16:creationId xmlns:a16="http://schemas.microsoft.com/office/drawing/2014/main" id="{C4360011-93A2-6DA7-74A6-953045FB85F9}"/>
              </a:ext>
            </a:extLst>
          </p:cNvPr>
          <p:cNvSpPr txBox="1"/>
          <p:nvPr/>
        </p:nvSpPr>
        <p:spPr>
          <a:xfrm>
            <a:off x="2262909" y="2422175"/>
            <a:ext cx="8728364" cy="369332"/>
          </a:xfrm>
          <a:prstGeom prst="rect">
            <a:avLst/>
          </a:prstGeom>
          <a:noFill/>
        </p:spPr>
        <p:txBody>
          <a:bodyPr wrap="square">
            <a:spAutoFit/>
          </a:bodyPr>
          <a:lstStyle/>
          <a:p>
            <a:pPr marL="285750" indent="-285750">
              <a:buFont typeface="Arial" panose="020B0604020202020204" pitchFamily="34" charset="0"/>
              <a:buChar char="•"/>
            </a:pPr>
            <a:r>
              <a:rPr lang="en-US" dirty="0"/>
              <a:t>Transforms features so that they have a </a:t>
            </a:r>
            <a:r>
              <a:rPr lang="en-US" b="1" dirty="0"/>
              <a:t>mean of 0</a:t>
            </a:r>
            <a:r>
              <a:rPr lang="en-US" dirty="0"/>
              <a:t> and </a:t>
            </a:r>
            <a:r>
              <a:rPr lang="en-US" b="1" dirty="0"/>
              <a:t>standard deviation of 1</a:t>
            </a:r>
            <a:r>
              <a:rPr lang="en-US" dirty="0"/>
              <a:t>.</a:t>
            </a:r>
          </a:p>
        </p:txBody>
      </p:sp>
      <p:sp>
        <p:nvSpPr>
          <p:cNvPr id="5" name="TextBox 4">
            <a:extLst>
              <a:ext uri="{FF2B5EF4-FFF2-40B4-BE49-F238E27FC236}">
                <a16:creationId xmlns:a16="http://schemas.microsoft.com/office/drawing/2014/main" id="{B58FB4D8-E890-0BC2-1119-E4FBB7CF0973}"/>
              </a:ext>
            </a:extLst>
          </p:cNvPr>
          <p:cNvSpPr txBox="1"/>
          <p:nvPr/>
        </p:nvSpPr>
        <p:spPr>
          <a:xfrm>
            <a:off x="2519216" y="2976173"/>
            <a:ext cx="6096000" cy="369332"/>
          </a:xfrm>
          <a:prstGeom prst="rect">
            <a:avLst/>
          </a:prstGeom>
          <a:noFill/>
        </p:spPr>
        <p:txBody>
          <a:bodyPr wrap="square">
            <a:spAutoFit/>
          </a:bodyPr>
          <a:lstStyle/>
          <a:p>
            <a:r>
              <a:rPr lang="en-US" b="1" dirty="0"/>
              <a:t>Formula</a:t>
            </a:r>
          </a:p>
        </p:txBody>
      </p:sp>
      <p:pic>
        <p:nvPicPr>
          <p:cNvPr id="8" name="Picture 7">
            <a:extLst>
              <a:ext uri="{FF2B5EF4-FFF2-40B4-BE49-F238E27FC236}">
                <a16:creationId xmlns:a16="http://schemas.microsoft.com/office/drawing/2014/main" id="{35F8911B-31ED-E454-E504-9C20BB1E123B}"/>
              </a:ext>
            </a:extLst>
          </p:cNvPr>
          <p:cNvPicPr>
            <a:picLocks noChangeAspect="1"/>
          </p:cNvPicPr>
          <p:nvPr/>
        </p:nvPicPr>
        <p:blipFill>
          <a:blip r:embed="rId2"/>
          <a:stretch>
            <a:fillRect/>
          </a:stretch>
        </p:blipFill>
        <p:spPr>
          <a:xfrm>
            <a:off x="3652691" y="2902896"/>
            <a:ext cx="1914525" cy="609600"/>
          </a:xfrm>
          <a:prstGeom prst="rect">
            <a:avLst/>
          </a:prstGeom>
        </p:spPr>
      </p:pic>
      <p:sp>
        <p:nvSpPr>
          <p:cNvPr id="10" name="TextBox 9">
            <a:extLst>
              <a:ext uri="{FF2B5EF4-FFF2-40B4-BE49-F238E27FC236}">
                <a16:creationId xmlns:a16="http://schemas.microsoft.com/office/drawing/2014/main" id="{63821014-370A-E8B1-6E17-7B1E85EE3F85}"/>
              </a:ext>
            </a:extLst>
          </p:cNvPr>
          <p:cNvSpPr txBox="1"/>
          <p:nvPr/>
        </p:nvSpPr>
        <p:spPr>
          <a:xfrm>
            <a:off x="2925614" y="3551322"/>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t>where 𝜇 is the mean, and 𝜎 is the standard deviation.</a:t>
            </a:r>
          </a:p>
        </p:txBody>
      </p:sp>
    </p:spTree>
    <p:extLst>
      <p:ext uri="{BB962C8B-B14F-4D97-AF65-F5344CB8AC3E}">
        <p14:creationId xmlns:p14="http://schemas.microsoft.com/office/powerpoint/2010/main" val="3302342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EB4ED9-65AB-D0B5-782D-FE52B22F02F3}"/>
              </a:ext>
            </a:extLst>
          </p:cNvPr>
          <p:cNvSpPr txBox="1"/>
          <p:nvPr/>
        </p:nvSpPr>
        <p:spPr>
          <a:xfrm>
            <a:off x="355598" y="1591178"/>
            <a:ext cx="4327237" cy="461665"/>
          </a:xfrm>
          <a:prstGeom prst="rect">
            <a:avLst/>
          </a:prstGeom>
          <a:noFill/>
        </p:spPr>
        <p:txBody>
          <a:bodyPr wrap="square">
            <a:spAutoFit/>
          </a:bodyPr>
          <a:lstStyle/>
          <a:p>
            <a:r>
              <a:rPr lang="en-US" sz="2400" b="1" dirty="0">
                <a:solidFill>
                  <a:srgbClr val="1869A6"/>
                </a:solidFill>
              </a:rPr>
              <a:t>When to Use Scaling</a:t>
            </a:r>
          </a:p>
        </p:txBody>
      </p:sp>
      <p:sp>
        <p:nvSpPr>
          <p:cNvPr id="4" name="TextBox 3">
            <a:extLst>
              <a:ext uri="{FF2B5EF4-FFF2-40B4-BE49-F238E27FC236}">
                <a16:creationId xmlns:a16="http://schemas.microsoft.com/office/drawing/2014/main" id="{7A8208F0-DEDB-F07D-A0CC-77E6DEE36AB5}"/>
              </a:ext>
            </a:extLst>
          </p:cNvPr>
          <p:cNvSpPr txBox="1"/>
          <p:nvPr/>
        </p:nvSpPr>
        <p:spPr>
          <a:xfrm>
            <a:off x="1450109" y="2052843"/>
            <a:ext cx="7564582" cy="1754326"/>
          </a:xfrm>
          <a:prstGeom prst="rect">
            <a:avLst/>
          </a:prstGeom>
          <a:noFill/>
        </p:spPr>
        <p:txBody>
          <a:bodyPr wrap="square">
            <a:spAutoFit/>
          </a:bodyPr>
          <a:lstStyle/>
          <a:p>
            <a:pPr marL="285750" indent="-285750" algn="just">
              <a:buFont typeface="Arial" panose="020B0604020202020204" pitchFamily="34" charset="0"/>
              <a:buChar char="•"/>
            </a:pPr>
            <a:r>
              <a:rPr lang="en-US" b="1" dirty="0"/>
              <a:t>Normalization</a:t>
            </a:r>
            <a:r>
              <a:rPr lang="en-US" dirty="0"/>
              <a:t>: When you need your features to be in a bounded range (e.g., in neural networks).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Standardization</a:t>
            </a:r>
            <a:r>
              <a:rPr lang="en-US" dirty="0"/>
              <a:t>: When the algorithm expects normally distributed data (e.g., linear regression, logistic regression, etc.).</a:t>
            </a:r>
          </a:p>
          <a:p>
            <a:pPr marL="285750" indent="-285750" algn="just">
              <a:buFont typeface="Arial" panose="020B0604020202020204" pitchFamily="34" charset="0"/>
              <a:buChar char="•"/>
            </a:pPr>
            <a:endParaRPr lang="en-US" dirty="0"/>
          </a:p>
        </p:txBody>
      </p:sp>
    </p:spTree>
    <p:extLst>
      <p:ext uri="{BB962C8B-B14F-4D97-AF65-F5344CB8AC3E}">
        <p14:creationId xmlns:p14="http://schemas.microsoft.com/office/powerpoint/2010/main" val="1446291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1639DE-48F8-3ACC-1108-1DF12B67CF83}"/>
              </a:ext>
            </a:extLst>
          </p:cNvPr>
          <p:cNvPicPr>
            <a:picLocks noChangeAspect="1"/>
          </p:cNvPicPr>
          <p:nvPr/>
        </p:nvPicPr>
        <p:blipFill>
          <a:blip r:embed="rId2"/>
          <a:stretch>
            <a:fillRect/>
          </a:stretch>
        </p:blipFill>
        <p:spPr>
          <a:xfrm>
            <a:off x="2519216" y="3429000"/>
            <a:ext cx="5705475" cy="2228850"/>
          </a:xfrm>
          <a:prstGeom prst="rect">
            <a:avLst/>
          </a:prstGeom>
        </p:spPr>
      </p:pic>
      <p:sp>
        <p:nvSpPr>
          <p:cNvPr id="5" name="TextBox 4">
            <a:extLst>
              <a:ext uri="{FF2B5EF4-FFF2-40B4-BE49-F238E27FC236}">
                <a16:creationId xmlns:a16="http://schemas.microsoft.com/office/drawing/2014/main" id="{4948FA30-0532-3B53-061E-7FB96E03E051}"/>
              </a:ext>
            </a:extLst>
          </p:cNvPr>
          <p:cNvSpPr txBox="1"/>
          <p:nvPr/>
        </p:nvSpPr>
        <p:spPr>
          <a:xfrm>
            <a:off x="1634835" y="2052843"/>
            <a:ext cx="6096000" cy="369332"/>
          </a:xfrm>
          <a:prstGeom prst="rect">
            <a:avLst/>
          </a:prstGeom>
          <a:noFill/>
        </p:spPr>
        <p:txBody>
          <a:bodyPr wrap="square">
            <a:spAutoFit/>
          </a:bodyPr>
          <a:lstStyle/>
          <a:p>
            <a:r>
              <a:rPr lang="en-US" b="1" dirty="0"/>
              <a:t>Example Scenario</a:t>
            </a:r>
          </a:p>
        </p:txBody>
      </p:sp>
      <p:sp>
        <p:nvSpPr>
          <p:cNvPr id="6" name="TextBox 5">
            <a:extLst>
              <a:ext uri="{FF2B5EF4-FFF2-40B4-BE49-F238E27FC236}">
                <a16:creationId xmlns:a16="http://schemas.microsoft.com/office/drawing/2014/main" id="{886AC85A-72B2-6242-80A6-AB6C1C730C2C}"/>
              </a:ext>
            </a:extLst>
          </p:cNvPr>
          <p:cNvSpPr txBox="1"/>
          <p:nvPr/>
        </p:nvSpPr>
        <p:spPr>
          <a:xfrm>
            <a:off x="355598" y="1591178"/>
            <a:ext cx="4327237" cy="461665"/>
          </a:xfrm>
          <a:prstGeom prst="rect">
            <a:avLst/>
          </a:prstGeom>
          <a:noFill/>
        </p:spPr>
        <p:txBody>
          <a:bodyPr wrap="square">
            <a:spAutoFit/>
          </a:bodyPr>
          <a:lstStyle/>
          <a:p>
            <a:r>
              <a:rPr lang="en-US" sz="2400" b="1" dirty="0">
                <a:solidFill>
                  <a:srgbClr val="1869A6"/>
                </a:solidFill>
              </a:rPr>
              <a:t>When to Use Scaling</a:t>
            </a:r>
          </a:p>
        </p:txBody>
      </p:sp>
      <p:sp>
        <p:nvSpPr>
          <p:cNvPr id="8" name="TextBox 7">
            <a:extLst>
              <a:ext uri="{FF2B5EF4-FFF2-40B4-BE49-F238E27FC236}">
                <a16:creationId xmlns:a16="http://schemas.microsoft.com/office/drawing/2014/main" id="{23A63BC8-0BFF-614B-B853-D0C71165CF12}"/>
              </a:ext>
            </a:extLst>
          </p:cNvPr>
          <p:cNvSpPr txBox="1"/>
          <p:nvPr/>
        </p:nvSpPr>
        <p:spPr>
          <a:xfrm>
            <a:off x="2087418" y="2422175"/>
            <a:ext cx="8682182" cy="923330"/>
          </a:xfrm>
          <a:prstGeom prst="rect">
            <a:avLst/>
          </a:prstGeom>
          <a:noFill/>
        </p:spPr>
        <p:txBody>
          <a:bodyPr wrap="square">
            <a:spAutoFit/>
          </a:bodyPr>
          <a:lstStyle/>
          <a:p>
            <a:pPr marL="285750" indent="-285750" algn="just">
              <a:buFont typeface="Arial" panose="020B0604020202020204" pitchFamily="34" charset="0"/>
              <a:buChar char="•"/>
            </a:pPr>
            <a:r>
              <a:rPr lang="en-US" dirty="0"/>
              <a:t>We have a dataset with two features: </a:t>
            </a:r>
            <a:r>
              <a:rPr lang="en-US" b="1" dirty="0"/>
              <a:t>House Size (in square feet)</a:t>
            </a:r>
            <a:r>
              <a:rPr lang="en-US" dirty="0"/>
              <a:t> and </a:t>
            </a:r>
            <a:r>
              <a:rPr lang="en-US" b="1" dirty="0"/>
              <a:t>House Age (in years)</a:t>
            </a:r>
            <a:r>
              <a:rPr lang="en-US" dirty="0"/>
              <a:t>. The scales of these two features are very different, so we'll apply both </a:t>
            </a:r>
            <a:r>
              <a:rPr lang="en-US" b="1" dirty="0"/>
              <a:t>Min-Max Scaling</a:t>
            </a:r>
            <a:r>
              <a:rPr lang="en-US" dirty="0"/>
              <a:t> and </a:t>
            </a:r>
            <a:r>
              <a:rPr lang="en-US" b="1" dirty="0"/>
              <a:t>Standardization</a:t>
            </a:r>
            <a:r>
              <a:rPr lang="en-US" dirty="0"/>
              <a:t> to see how scaling changes the values.</a:t>
            </a:r>
          </a:p>
        </p:txBody>
      </p:sp>
    </p:spTree>
    <p:extLst>
      <p:ext uri="{BB962C8B-B14F-4D97-AF65-F5344CB8AC3E}">
        <p14:creationId xmlns:p14="http://schemas.microsoft.com/office/powerpoint/2010/main" val="4038130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AE1FD4-5D0F-A9FB-795F-F6D3D89E0FE4}"/>
              </a:ext>
            </a:extLst>
          </p:cNvPr>
          <p:cNvSpPr txBox="1"/>
          <p:nvPr/>
        </p:nvSpPr>
        <p:spPr>
          <a:xfrm>
            <a:off x="355598" y="1591178"/>
            <a:ext cx="4327237" cy="461665"/>
          </a:xfrm>
          <a:prstGeom prst="rect">
            <a:avLst/>
          </a:prstGeom>
          <a:noFill/>
        </p:spPr>
        <p:txBody>
          <a:bodyPr wrap="square">
            <a:spAutoFit/>
          </a:bodyPr>
          <a:lstStyle/>
          <a:p>
            <a:r>
              <a:rPr lang="en-US" sz="2400" b="1" dirty="0">
                <a:solidFill>
                  <a:srgbClr val="1869A6"/>
                </a:solidFill>
              </a:rPr>
              <a:t>When to Use Scaling</a:t>
            </a:r>
          </a:p>
        </p:txBody>
      </p:sp>
      <p:sp>
        <p:nvSpPr>
          <p:cNvPr id="4" name="TextBox 3">
            <a:extLst>
              <a:ext uri="{FF2B5EF4-FFF2-40B4-BE49-F238E27FC236}">
                <a16:creationId xmlns:a16="http://schemas.microsoft.com/office/drawing/2014/main" id="{2374066C-1333-9E33-055B-02BDBD78803F}"/>
              </a:ext>
            </a:extLst>
          </p:cNvPr>
          <p:cNvSpPr txBox="1"/>
          <p:nvPr/>
        </p:nvSpPr>
        <p:spPr>
          <a:xfrm>
            <a:off x="1764146" y="2052843"/>
            <a:ext cx="6096000" cy="369332"/>
          </a:xfrm>
          <a:prstGeom prst="rect">
            <a:avLst/>
          </a:prstGeom>
          <a:noFill/>
        </p:spPr>
        <p:txBody>
          <a:bodyPr wrap="square">
            <a:spAutoFit/>
          </a:bodyPr>
          <a:lstStyle/>
          <a:p>
            <a:r>
              <a:rPr lang="en-US" b="1" dirty="0"/>
              <a:t>Original Dataset</a:t>
            </a:r>
          </a:p>
        </p:txBody>
      </p:sp>
      <p:pic>
        <p:nvPicPr>
          <p:cNvPr id="12" name="Picture 11">
            <a:extLst>
              <a:ext uri="{FF2B5EF4-FFF2-40B4-BE49-F238E27FC236}">
                <a16:creationId xmlns:a16="http://schemas.microsoft.com/office/drawing/2014/main" id="{CF518858-8929-A675-4DDE-871AE9C644EC}"/>
              </a:ext>
            </a:extLst>
          </p:cNvPr>
          <p:cNvPicPr>
            <a:picLocks noChangeAspect="1"/>
          </p:cNvPicPr>
          <p:nvPr/>
        </p:nvPicPr>
        <p:blipFill>
          <a:blip r:embed="rId2"/>
          <a:stretch>
            <a:fillRect/>
          </a:stretch>
        </p:blipFill>
        <p:spPr>
          <a:xfrm>
            <a:off x="1890938" y="2422175"/>
            <a:ext cx="3595462" cy="2442201"/>
          </a:xfrm>
          <a:prstGeom prst="rect">
            <a:avLst/>
          </a:prstGeom>
        </p:spPr>
      </p:pic>
    </p:spTree>
    <p:extLst>
      <p:ext uri="{BB962C8B-B14F-4D97-AF65-F5344CB8AC3E}">
        <p14:creationId xmlns:p14="http://schemas.microsoft.com/office/powerpoint/2010/main" val="3825540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8DBF2F8-294A-77E0-D0EF-FDE10451888C}"/>
              </a:ext>
            </a:extLst>
          </p:cNvPr>
          <p:cNvSpPr txBox="1"/>
          <p:nvPr/>
        </p:nvSpPr>
        <p:spPr>
          <a:xfrm>
            <a:off x="1211690" y="2052843"/>
            <a:ext cx="6096000" cy="369332"/>
          </a:xfrm>
          <a:prstGeom prst="rect">
            <a:avLst/>
          </a:prstGeom>
          <a:noFill/>
        </p:spPr>
        <p:txBody>
          <a:bodyPr wrap="square">
            <a:spAutoFit/>
          </a:bodyPr>
          <a:lstStyle/>
          <a:p>
            <a:r>
              <a:rPr lang="en-US" b="1" dirty="0"/>
              <a:t>Min-Max Scaled Data (Values between 0 and 1)</a:t>
            </a:r>
          </a:p>
        </p:txBody>
      </p:sp>
      <p:pic>
        <p:nvPicPr>
          <p:cNvPr id="14" name="Picture 13">
            <a:extLst>
              <a:ext uri="{FF2B5EF4-FFF2-40B4-BE49-F238E27FC236}">
                <a16:creationId xmlns:a16="http://schemas.microsoft.com/office/drawing/2014/main" id="{EE6DAD74-A776-A97E-EA36-788C76EBDFBC}"/>
              </a:ext>
            </a:extLst>
          </p:cNvPr>
          <p:cNvPicPr>
            <a:picLocks noChangeAspect="1"/>
          </p:cNvPicPr>
          <p:nvPr/>
        </p:nvPicPr>
        <p:blipFill>
          <a:blip r:embed="rId2"/>
          <a:stretch>
            <a:fillRect/>
          </a:stretch>
        </p:blipFill>
        <p:spPr>
          <a:xfrm>
            <a:off x="1283064" y="2422175"/>
            <a:ext cx="2904458" cy="1642136"/>
          </a:xfrm>
          <a:prstGeom prst="rect">
            <a:avLst/>
          </a:prstGeom>
        </p:spPr>
      </p:pic>
      <p:sp>
        <p:nvSpPr>
          <p:cNvPr id="16" name="TextBox 15">
            <a:extLst>
              <a:ext uri="{FF2B5EF4-FFF2-40B4-BE49-F238E27FC236}">
                <a16:creationId xmlns:a16="http://schemas.microsoft.com/office/drawing/2014/main" id="{82DCFE4F-FB92-1383-C9F4-D803AC875F7E}"/>
              </a:ext>
            </a:extLst>
          </p:cNvPr>
          <p:cNvSpPr txBox="1"/>
          <p:nvPr/>
        </p:nvSpPr>
        <p:spPr>
          <a:xfrm>
            <a:off x="1283064" y="4066493"/>
            <a:ext cx="6226103"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The </a:t>
            </a:r>
            <a:r>
              <a:rPr lang="en-US" b="1" dirty="0"/>
              <a:t>Min-Max Scaled</a:t>
            </a:r>
            <a:r>
              <a:rPr lang="en-US" dirty="0"/>
              <a:t> values range between 0 and 1. The size of the house and its age are now on a common scale, which is important for algorithms like </a:t>
            </a:r>
            <a:r>
              <a:rPr lang="en-US" b="1" dirty="0"/>
              <a:t>K-Nearest Neighbors</a:t>
            </a:r>
            <a:r>
              <a:rPr lang="en-US" dirty="0"/>
              <a:t> or </a:t>
            </a:r>
            <a:r>
              <a:rPr lang="en-US" b="1" dirty="0"/>
              <a:t>Neural Networks</a:t>
            </a:r>
            <a:r>
              <a:rPr lang="en-US" dirty="0"/>
              <a:t>.</a:t>
            </a:r>
          </a:p>
        </p:txBody>
      </p:sp>
      <p:sp>
        <p:nvSpPr>
          <p:cNvPr id="2" name="TextBox 1">
            <a:extLst>
              <a:ext uri="{FF2B5EF4-FFF2-40B4-BE49-F238E27FC236}">
                <a16:creationId xmlns:a16="http://schemas.microsoft.com/office/drawing/2014/main" id="{23F5DB0F-2D42-2191-AB1F-3C4BC62C1FEF}"/>
              </a:ext>
            </a:extLst>
          </p:cNvPr>
          <p:cNvSpPr txBox="1"/>
          <p:nvPr/>
        </p:nvSpPr>
        <p:spPr>
          <a:xfrm>
            <a:off x="355598" y="1591178"/>
            <a:ext cx="4327237" cy="461665"/>
          </a:xfrm>
          <a:prstGeom prst="rect">
            <a:avLst/>
          </a:prstGeom>
          <a:noFill/>
        </p:spPr>
        <p:txBody>
          <a:bodyPr wrap="square">
            <a:spAutoFit/>
          </a:bodyPr>
          <a:lstStyle/>
          <a:p>
            <a:r>
              <a:rPr lang="en-US" sz="2400" b="1" dirty="0">
                <a:solidFill>
                  <a:srgbClr val="1869A6"/>
                </a:solidFill>
              </a:rPr>
              <a:t>When to Use Scaling</a:t>
            </a:r>
          </a:p>
        </p:txBody>
      </p:sp>
    </p:spTree>
    <p:extLst>
      <p:ext uri="{BB962C8B-B14F-4D97-AF65-F5344CB8AC3E}">
        <p14:creationId xmlns:p14="http://schemas.microsoft.com/office/powerpoint/2010/main" val="451142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427E71-02EB-A2BD-09B7-92CDB8B23DE2}"/>
              </a:ext>
            </a:extLst>
          </p:cNvPr>
          <p:cNvSpPr txBox="1"/>
          <p:nvPr/>
        </p:nvSpPr>
        <p:spPr>
          <a:xfrm>
            <a:off x="355598" y="1591178"/>
            <a:ext cx="4327237" cy="461665"/>
          </a:xfrm>
          <a:prstGeom prst="rect">
            <a:avLst/>
          </a:prstGeom>
          <a:noFill/>
        </p:spPr>
        <p:txBody>
          <a:bodyPr wrap="square">
            <a:spAutoFit/>
          </a:bodyPr>
          <a:lstStyle/>
          <a:p>
            <a:r>
              <a:rPr lang="en-US" sz="2400" b="1" dirty="0">
                <a:solidFill>
                  <a:srgbClr val="1869A6"/>
                </a:solidFill>
              </a:rPr>
              <a:t>When to Use Scaling</a:t>
            </a:r>
          </a:p>
        </p:txBody>
      </p:sp>
      <p:sp>
        <p:nvSpPr>
          <p:cNvPr id="4" name="TextBox 3">
            <a:extLst>
              <a:ext uri="{FF2B5EF4-FFF2-40B4-BE49-F238E27FC236}">
                <a16:creationId xmlns:a16="http://schemas.microsoft.com/office/drawing/2014/main" id="{5B9B46CF-EFEB-E355-FB3E-C6AEA0B74B9B}"/>
              </a:ext>
            </a:extLst>
          </p:cNvPr>
          <p:cNvSpPr txBox="1"/>
          <p:nvPr/>
        </p:nvSpPr>
        <p:spPr>
          <a:xfrm>
            <a:off x="1126836" y="2052843"/>
            <a:ext cx="6096000" cy="369332"/>
          </a:xfrm>
          <a:prstGeom prst="rect">
            <a:avLst/>
          </a:prstGeom>
          <a:noFill/>
        </p:spPr>
        <p:txBody>
          <a:bodyPr wrap="square">
            <a:spAutoFit/>
          </a:bodyPr>
          <a:lstStyle/>
          <a:p>
            <a:r>
              <a:rPr lang="en-US" b="1" dirty="0"/>
              <a:t>Standardized Data (Mean = 0, Standard Deviation = 1)</a:t>
            </a:r>
          </a:p>
        </p:txBody>
      </p:sp>
      <p:pic>
        <p:nvPicPr>
          <p:cNvPr id="6" name="Picture 5">
            <a:extLst>
              <a:ext uri="{FF2B5EF4-FFF2-40B4-BE49-F238E27FC236}">
                <a16:creationId xmlns:a16="http://schemas.microsoft.com/office/drawing/2014/main" id="{8439AA05-A2C6-2656-E44D-01D0D8D7E478}"/>
              </a:ext>
            </a:extLst>
          </p:cNvPr>
          <p:cNvPicPr>
            <a:picLocks noChangeAspect="1"/>
          </p:cNvPicPr>
          <p:nvPr/>
        </p:nvPicPr>
        <p:blipFill>
          <a:blip r:embed="rId2"/>
          <a:stretch>
            <a:fillRect/>
          </a:stretch>
        </p:blipFill>
        <p:spPr>
          <a:xfrm>
            <a:off x="1126836" y="2422175"/>
            <a:ext cx="3107170" cy="1564843"/>
          </a:xfrm>
          <a:prstGeom prst="rect">
            <a:avLst/>
          </a:prstGeom>
        </p:spPr>
      </p:pic>
      <p:sp>
        <p:nvSpPr>
          <p:cNvPr id="8" name="TextBox 7">
            <a:extLst>
              <a:ext uri="{FF2B5EF4-FFF2-40B4-BE49-F238E27FC236}">
                <a16:creationId xmlns:a16="http://schemas.microsoft.com/office/drawing/2014/main" id="{FDA21D85-5B5B-69C3-4BE7-957FFD3B3198}"/>
              </a:ext>
            </a:extLst>
          </p:cNvPr>
          <p:cNvSpPr txBox="1"/>
          <p:nvPr/>
        </p:nvSpPr>
        <p:spPr>
          <a:xfrm>
            <a:off x="1256145" y="4151991"/>
            <a:ext cx="7952510"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The </a:t>
            </a:r>
            <a:r>
              <a:rPr lang="en-US" b="1" dirty="0"/>
              <a:t>Standardized Data</a:t>
            </a:r>
            <a:r>
              <a:rPr lang="en-US" dirty="0"/>
              <a:t> has a mean of 0 and standard deviation of 1. The values are no longer between 0 and 1, but they are still scaled relative to the dataset. This scaling is particularly useful for algorithms like </a:t>
            </a:r>
            <a:r>
              <a:rPr lang="en-US" b="1" dirty="0"/>
              <a:t>Logistic Regression</a:t>
            </a:r>
            <a:r>
              <a:rPr lang="en-US" dirty="0"/>
              <a:t> or </a:t>
            </a:r>
            <a:r>
              <a:rPr lang="en-US" b="1" dirty="0"/>
              <a:t>Support Vector Machines</a:t>
            </a:r>
            <a:r>
              <a:rPr lang="en-US" dirty="0"/>
              <a:t>.</a:t>
            </a:r>
          </a:p>
        </p:txBody>
      </p:sp>
    </p:spTree>
    <p:extLst>
      <p:ext uri="{BB962C8B-B14F-4D97-AF65-F5344CB8AC3E}">
        <p14:creationId xmlns:p14="http://schemas.microsoft.com/office/powerpoint/2010/main" val="2108270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35BFAA-2DCA-CF97-8EC0-F58C0CAD378F}"/>
              </a:ext>
            </a:extLst>
          </p:cNvPr>
          <p:cNvSpPr txBox="1"/>
          <p:nvPr/>
        </p:nvSpPr>
        <p:spPr>
          <a:xfrm>
            <a:off x="355598" y="1591178"/>
            <a:ext cx="4327237" cy="461665"/>
          </a:xfrm>
          <a:prstGeom prst="rect">
            <a:avLst/>
          </a:prstGeom>
          <a:noFill/>
        </p:spPr>
        <p:txBody>
          <a:bodyPr wrap="square">
            <a:spAutoFit/>
          </a:bodyPr>
          <a:lstStyle/>
          <a:p>
            <a:r>
              <a:rPr lang="en-US" sz="2400" b="1" dirty="0">
                <a:solidFill>
                  <a:srgbClr val="1869A6"/>
                </a:solidFill>
              </a:rPr>
              <a:t>When to Use Scaling</a:t>
            </a:r>
          </a:p>
        </p:txBody>
      </p:sp>
      <p:sp>
        <p:nvSpPr>
          <p:cNvPr id="4" name="TextBox 3">
            <a:extLst>
              <a:ext uri="{FF2B5EF4-FFF2-40B4-BE49-F238E27FC236}">
                <a16:creationId xmlns:a16="http://schemas.microsoft.com/office/drawing/2014/main" id="{5E3D7E87-5D8C-1E51-E6A8-AE551A54C67A}"/>
              </a:ext>
            </a:extLst>
          </p:cNvPr>
          <p:cNvSpPr txBox="1"/>
          <p:nvPr/>
        </p:nvSpPr>
        <p:spPr>
          <a:xfrm>
            <a:off x="1487054" y="2052843"/>
            <a:ext cx="6096000" cy="369332"/>
          </a:xfrm>
          <a:prstGeom prst="rect">
            <a:avLst/>
          </a:prstGeom>
          <a:noFill/>
        </p:spPr>
        <p:txBody>
          <a:bodyPr wrap="square">
            <a:spAutoFit/>
          </a:bodyPr>
          <a:lstStyle/>
          <a:p>
            <a:r>
              <a:rPr lang="en-US" b="1" dirty="0"/>
              <a:t>Why Scaling Matters</a:t>
            </a:r>
          </a:p>
        </p:txBody>
      </p:sp>
      <p:sp>
        <p:nvSpPr>
          <p:cNvPr id="6" name="TextBox 5">
            <a:extLst>
              <a:ext uri="{FF2B5EF4-FFF2-40B4-BE49-F238E27FC236}">
                <a16:creationId xmlns:a16="http://schemas.microsoft.com/office/drawing/2014/main" id="{3648CC90-A47F-2C71-0451-6E40DE6F8FDC}"/>
              </a:ext>
            </a:extLst>
          </p:cNvPr>
          <p:cNvSpPr txBox="1"/>
          <p:nvPr/>
        </p:nvSpPr>
        <p:spPr>
          <a:xfrm>
            <a:off x="1893454" y="2422175"/>
            <a:ext cx="8811492" cy="1200329"/>
          </a:xfrm>
          <a:prstGeom prst="rect">
            <a:avLst/>
          </a:prstGeom>
          <a:noFill/>
        </p:spPr>
        <p:txBody>
          <a:bodyPr wrap="square">
            <a:spAutoFit/>
          </a:bodyPr>
          <a:lstStyle/>
          <a:p>
            <a:pPr marL="285750" indent="-285750" algn="just">
              <a:buFont typeface="Arial" panose="020B0604020202020204" pitchFamily="34" charset="0"/>
              <a:buChar char="•"/>
            </a:pPr>
            <a:r>
              <a:rPr lang="en-US" b="1" dirty="0"/>
              <a:t>Before Scaling</a:t>
            </a:r>
            <a:r>
              <a:rPr lang="en-US" dirty="0"/>
              <a:t>: Features like </a:t>
            </a:r>
            <a:r>
              <a:rPr lang="en-US" b="1" dirty="0"/>
              <a:t>House Size</a:t>
            </a:r>
            <a:r>
              <a:rPr lang="en-US" dirty="0"/>
              <a:t> and </a:t>
            </a:r>
            <a:r>
              <a:rPr lang="en-US" b="1" dirty="0"/>
              <a:t>House Age</a:t>
            </a:r>
            <a:r>
              <a:rPr lang="en-US" dirty="0"/>
              <a:t> have very different ranges. If used in algorithms like </a:t>
            </a:r>
            <a:r>
              <a:rPr lang="en-US" b="1" dirty="0"/>
              <a:t>KNN</a:t>
            </a:r>
            <a:r>
              <a:rPr lang="en-US" dirty="0"/>
              <a:t> or </a:t>
            </a:r>
            <a:r>
              <a:rPr lang="en-US" b="1" dirty="0"/>
              <a:t>Gradient Descent</a:t>
            </a:r>
            <a:r>
              <a:rPr lang="en-US" dirty="0"/>
              <a:t>, the model might give more importance to features with larger ranges (like </a:t>
            </a:r>
            <a:r>
              <a:rPr lang="en-US" b="1" dirty="0"/>
              <a:t>House Size</a:t>
            </a:r>
            <a:r>
              <a:rPr lang="en-US" dirty="0"/>
              <a:t>), even though they might not be more important.</a:t>
            </a:r>
          </a:p>
        </p:txBody>
      </p:sp>
      <p:sp>
        <p:nvSpPr>
          <p:cNvPr id="8" name="TextBox 7">
            <a:extLst>
              <a:ext uri="{FF2B5EF4-FFF2-40B4-BE49-F238E27FC236}">
                <a16:creationId xmlns:a16="http://schemas.microsoft.com/office/drawing/2014/main" id="{43B333F3-7D9E-2EAA-2502-C8E420519EBE}"/>
              </a:ext>
            </a:extLst>
          </p:cNvPr>
          <p:cNvSpPr txBox="1"/>
          <p:nvPr/>
        </p:nvSpPr>
        <p:spPr>
          <a:xfrm>
            <a:off x="2170546" y="3622504"/>
            <a:ext cx="6096000" cy="369332"/>
          </a:xfrm>
          <a:prstGeom prst="rect">
            <a:avLst/>
          </a:prstGeom>
          <a:noFill/>
        </p:spPr>
        <p:txBody>
          <a:bodyPr wrap="square">
            <a:spAutoFit/>
          </a:bodyPr>
          <a:lstStyle/>
          <a:p>
            <a:r>
              <a:rPr lang="en-US" b="1" dirty="0"/>
              <a:t>After Scaling</a:t>
            </a:r>
          </a:p>
        </p:txBody>
      </p:sp>
      <p:sp>
        <p:nvSpPr>
          <p:cNvPr id="10" name="TextBox 9">
            <a:extLst>
              <a:ext uri="{FF2B5EF4-FFF2-40B4-BE49-F238E27FC236}">
                <a16:creationId xmlns:a16="http://schemas.microsoft.com/office/drawing/2014/main" id="{D8D1845E-F18E-D7CC-13B3-6E4C0043A691}"/>
              </a:ext>
            </a:extLst>
          </p:cNvPr>
          <p:cNvSpPr txBox="1"/>
          <p:nvPr/>
        </p:nvSpPr>
        <p:spPr>
          <a:xfrm>
            <a:off x="2447638" y="3991836"/>
            <a:ext cx="8515926" cy="1754326"/>
          </a:xfrm>
          <a:prstGeom prst="rect">
            <a:avLst/>
          </a:prstGeom>
          <a:noFill/>
        </p:spPr>
        <p:txBody>
          <a:bodyPr wrap="square">
            <a:spAutoFit/>
          </a:bodyPr>
          <a:lstStyle/>
          <a:p>
            <a:pPr marL="285750" indent="-285750" algn="just">
              <a:buFont typeface="Arial" panose="020B0604020202020204" pitchFamily="34" charset="0"/>
              <a:buChar char="•"/>
            </a:pPr>
            <a:r>
              <a:rPr lang="en-US" b="1" dirty="0"/>
              <a:t>Min-Max Scaling</a:t>
            </a:r>
            <a:r>
              <a:rPr lang="en-US" dirty="0"/>
              <a:t>: All features are now within the same range (0-1), which ensures that no feature dominates over others based on magnitude.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Standardization</a:t>
            </a:r>
            <a:r>
              <a:rPr lang="en-US" dirty="0"/>
              <a:t>: Features are transformed to have a mean of 0 and a standard deviation of 1, which is important for algorithms that assume the data is normally distributed.</a:t>
            </a:r>
          </a:p>
        </p:txBody>
      </p:sp>
    </p:spTree>
    <p:extLst>
      <p:ext uri="{BB962C8B-B14F-4D97-AF65-F5344CB8AC3E}">
        <p14:creationId xmlns:p14="http://schemas.microsoft.com/office/powerpoint/2010/main" val="2723424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6CD146-6915-06DB-9F7D-91D81254C405}"/>
              </a:ext>
            </a:extLst>
          </p:cNvPr>
          <p:cNvSpPr txBox="1"/>
          <p:nvPr/>
        </p:nvSpPr>
        <p:spPr>
          <a:xfrm>
            <a:off x="3078018" y="2782669"/>
            <a:ext cx="6035964" cy="646331"/>
          </a:xfrm>
          <a:prstGeom prst="rect">
            <a:avLst/>
          </a:prstGeom>
          <a:noFill/>
        </p:spPr>
        <p:txBody>
          <a:bodyPr wrap="square">
            <a:spAutoFit/>
          </a:bodyPr>
          <a:lstStyle/>
          <a:p>
            <a:pPr algn="ctr"/>
            <a:r>
              <a:rPr lang="en-US" sz="3600" b="1" dirty="0">
                <a:solidFill>
                  <a:srgbClr val="2AAF82"/>
                </a:solidFill>
              </a:rPr>
              <a:t>Overfitting and Underfitting</a:t>
            </a:r>
          </a:p>
        </p:txBody>
      </p:sp>
    </p:spTree>
    <p:extLst>
      <p:ext uri="{BB962C8B-B14F-4D97-AF65-F5344CB8AC3E}">
        <p14:creationId xmlns:p14="http://schemas.microsoft.com/office/powerpoint/2010/main" val="99325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9C2E84-84D4-0A70-FB2B-CA17B54B05BD}"/>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4" name="TextBox 3">
            <a:extLst>
              <a:ext uri="{FF2B5EF4-FFF2-40B4-BE49-F238E27FC236}">
                <a16:creationId xmlns:a16="http://schemas.microsoft.com/office/drawing/2014/main" id="{D0B90035-25AB-A370-A842-CB0FE82811C2}"/>
              </a:ext>
            </a:extLst>
          </p:cNvPr>
          <p:cNvSpPr txBox="1"/>
          <p:nvPr/>
        </p:nvSpPr>
        <p:spPr>
          <a:xfrm>
            <a:off x="960582" y="2052843"/>
            <a:ext cx="1865745" cy="369332"/>
          </a:xfrm>
          <a:prstGeom prst="rect">
            <a:avLst/>
          </a:prstGeom>
          <a:noFill/>
        </p:spPr>
        <p:txBody>
          <a:bodyPr wrap="square">
            <a:spAutoFit/>
          </a:bodyPr>
          <a:lstStyle/>
          <a:p>
            <a:r>
              <a:rPr lang="en-US" b="1" dirty="0"/>
              <a:t>Bias</a:t>
            </a:r>
          </a:p>
        </p:txBody>
      </p:sp>
      <p:sp>
        <p:nvSpPr>
          <p:cNvPr id="6" name="TextBox 5">
            <a:extLst>
              <a:ext uri="{FF2B5EF4-FFF2-40B4-BE49-F238E27FC236}">
                <a16:creationId xmlns:a16="http://schemas.microsoft.com/office/drawing/2014/main" id="{C81F13A4-59D8-907A-25EA-C44F9C78B8C8}"/>
              </a:ext>
            </a:extLst>
          </p:cNvPr>
          <p:cNvSpPr txBox="1"/>
          <p:nvPr/>
        </p:nvSpPr>
        <p:spPr>
          <a:xfrm>
            <a:off x="1207653" y="2422175"/>
            <a:ext cx="9737438" cy="923330"/>
          </a:xfrm>
          <a:prstGeom prst="rect">
            <a:avLst/>
          </a:prstGeom>
          <a:noFill/>
        </p:spPr>
        <p:txBody>
          <a:bodyPr wrap="square">
            <a:spAutoFit/>
          </a:bodyPr>
          <a:lstStyle/>
          <a:p>
            <a:pPr marL="285750" indent="-285750" algn="just">
              <a:buFont typeface="Arial" panose="020B0604020202020204" pitchFamily="34" charset="0"/>
              <a:buChar char="•"/>
            </a:pPr>
            <a:r>
              <a:rPr lang="en-US" dirty="0"/>
              <a:t>Bias refers to the difference between the model’s predicted values and the true values we are trying to predict. High bias means that the model has </a:t>
            </a:r>
            <a:r>
              <a:rPr lang="en-US" b="1" dirty="0"/>
              <a:t>oversimplified</a:t>
            </a:r>
            <a:r>
              <a:rPr lang="en-US" dirty="0"/>
              <a:t> the data and has missed key patterns.</a:t>
            </a:r>
          </a:p>
        </p:txBody>
      </p:sp>
      <p:sp>
        <p:nvSpPr>
          <p:cNvPr id="8" name="TextBox 7">
            <a:extLst>
              <a:ext uri="{FF2B5EF4-FFF2-40B4-BE49-F238E27FC236}">
                <a16:creationId xmlns:a16="http://schemas.microsoft.com/office/drawing/2014/main" id="{CB89EEC8-602D-D225-E337-F2F81D48D3BC}"/>
              </a:ext>
            </a:extLst>
          </p:cNvPr>
          <p:cNvSpPr txBox="1"/>
          <p:nvPr/>
        </p:nvSpPr>
        <p:spPr>
          <a:xfrm>
            <a:off x="1496291" y="3345505"/>
            <a:ext cx="6096000" cy="369332"/>
          </a:xfrm>
          <a:prstGeom prst="rect">
            <a:avLst/>
          </a:prstGeom>
          <a:noFill/>
        </p:spPr>
        <p:txBody>
          <a:bodyPr wrap="square">
            <a:spAutoFit/>
          </a:bodyPr>
          <a:lstStyle/>
          <a:p>
            <a:r>
              <a:rPr lang="en-US" b="1" dirty="0"/>
              <a:t>High Bias Model Characteristics</a:t>
            </a:r>
          </a:p>
        </p:txBody>
      </p:sp>
      <p:sp>
        <p:nvSpPr>
          <p:cNvPr id="10" name="TextBox 9">
            <a:extLst>
              <a:ext uri="{FF2B5EF4-FFF2-40B4-BE49-F238E27FC236}">
                <a16:creationId xmlns:a16="http://schemas.microsoft.com/office/drawing/2014/main" id="{84089D7B-0DBD-6F86-C20D-E6A546335C67}"/>
              </a:ext>
            </a:extLst>
          </p:cNvPr>
          <p:cNvSpPr txBox="1"/>
          <p:nvPr/>
        </p:nvSpPr>
        <p:spPr>
          <a:xfrm>
            <a:off x="1784928" y="3714837"/>
            <a:ext cx="7673107" cy="1477328"/>
          </a:xfrm>
          <a:prstGeom prst="rect">
            <a:avLst/>
          </a:prstGeom>
          <a:noFill/>
        </p:spPr>
        <p:txBody>
          <a:bodyPr wrap="square">
            <a:spAutoFit/>
          </a:bodyPr>
          <a:lstStyle/>
          <a:p>
            <a:pPr marL="285750" indent="-285750" algn="just">
              <a:buFont typeface="Arial" panose="020B0604020202020204" pitchFamily="34" charset="0"/>
              <a:buChar char="•"/>
            </a:pPr>
            <a:r>
              <a:rPr lang="en-US" b="1" dirty="0"/>
              <a:t>Fails to capture patterns</a:t>
            </a:r>
            <a:r>
              <a:rPr lang="en-US" dirty="0"/>
              <a:t> in the data.</a:t>
            </a:r>
          </a:p>
          <a:p>
            <a:pPr marL="285750" indent="-285750" algn="just">
              <a:buFont typeface="Arial" panose="020B0604020202020204" pitchFamily="34" charset="0"/>
              <a:buChar char="•"/>
            </a:pPr>
            <a:r>
              <a:rPr lang="en-US" b="1" dirty="0"/>
              <a:t>Underfitting</a:t>
            </a:r>
            <a:r>
              <a:rPr lang="en-US" dirty="0"/>
              <a:t>: The model is too simple to accurately represent the data.</a:t>
            </a:r>
          </a:p>
          <a:p>
            <a:pPr marL="285750" indent="-285750" algn="just">
              <a:buFont typeface="Arial" panose="020B0604020202020204" pitchFamily="34" charset="0"/>
              <a:buChar char="•"/>
            </a:pPr>
            <a:r>
              <a:rPr lang="en-US" dirty="0"/>
              <a:t>Produces </a:t>
            </a:r>
            <a:r>
              <a:rPr lang="en-US" b="1" dirty="0"/>
              <a:t>high error rates</a:t>
            </a:r>
            <a:r>
              <a:rPr lang="en-US" dirty="0"/>
              <a:t> on both training and test data.</a:t>
            </a:r>
          </a:p>
          <a:p>
            <a:pPr marL="285750" indent="-285750" algn="just">
              <a:buFont typeface="Arial" panose="020B0604020202020204" pitchFamily="34" charset="0"/>
              <a:buChar char="•"/>
            </a:pPr>
            <a:r>
              <a:rPr lang="en-US" dirty="0"/>
              <a:t>The model might be </a:t>
            </a:r>
            <a:r>
              <a:rPr lang="en-US" b="1" dirty="0"/>
              <a:t>too generalized</a:t>
            </a:r>
            <a:r>
              <a:rPr lang="en-US" dirty="0"/>
              <a:t> and unable to handle the complexity of the data.</a:t>
            </a:r>
          </a:p>
        </p:txBody>
      </p:sp>
    </p:spTree>
    <p:extLst>
      <p:ext uri="{BB962C8B-B14F-4D97-AF65-F5344CB8AC3E}">
        <p14:creationId xmlns:p14="http://schemas.microsoft.com/office/powerpoint/2010/main" val="1762490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BE5F3A-AD09-C78A-6193-415EC4F39CEA}"/>
              </a:ext>
            </a:extLst>
          </p:cNvPr>
          <p:cNvSpPr txBox="1"/>
          <p:nvPr/>
        </p:nvSpPr>
        <p:spPr>
          <a:xfrm>
            <a:off x="960582" y="2052843"/>
            <a:ext cx="1865745" cy="369332"/>
          </a:xfrm>
          <a:prstGeom prst="rect">
            <a:avLst/>
          </a:prstGeom>
          <a:noFill/>
        </p:spPr>
        <p:txBody>
          <a:bodyPr wrap="square">
            <a:spAutoFit/>
          </a:bodyPr>
          <a:lstStyle/>
          <a:p>
            <a:r>
              <a:rPr lang="en-US" b="1" dirty="0"/>
              <a:t>Variance </a:t>
            </a:r>
          </a:p>
        </p:txBody>
      </p:sp>
      <p:sp>
        <p:nvSpPr>
          <p:cNvPr id="6" name="TextBox 5">
            <a:extLst>
              <a:ext uri="{FF2B5EF4-FFF2-40B4-BE49-F238E27FC236}">
                <a16:creationId xmlns:a16="http://schemas.microsoft.com/office/drawing/2014/main" id="{D45CDF11-D78E-E39D-0D37-EC0BD01DB8FA}"/>
              </a:ext>
            </a:extLst>
          </p:cNvPr>
          <p:cNvSpPr txBox="1"/>
          <p:nvPr/>
        </p:nvSpPr>
        <p:spPr>
          <a:xfrm>
            <a:off x="1207653" y="2422175"/>
            <a:ext cx="9737438" cy="923330"/>
          </a:xfrm>
          <a:prstGeom prst="rect">
            <a:avLst/>
          </a:prstGeom>
          <a:noFill/>
        </p:spPr>
        <p:txBody>
          <a:bodyPr wrap="square">
            <a:spAutoFit/>
          </a:bodyPr>
          <a:lstStyle/>
          <a:p>
            <a:pPr marL="285750" indent="-285750" algn="just">
              <a:buFont typeface="Arial" panose="020B0604020202020204" pitchFamily="34" charset="0"/>
              <a:buChar char="•"/>
            </a:pPr>
            <a:r>
              <a:rPr lang="en-US" dirty="0"/>
              <a:t>Variance measures how much the model’s predictions vary when applied to different training sets. A model with high variance will </a:t>
            </a:r>
            <a:r>
              <a:rPr lang="en-US" b="1" dirty="0"/>
              <a:t>overfit</a:t>
            </a:r>
            <a:r>
              <a:rPr lang="en-US" dirty="0"/>
              <a:t>, meaning it will perform well on training data but poorly on unseen data.</a:t>
            </a:r>
          </a:p>
        </p:txBody>
      </p:sp>
      <p:sp>
        <p:nvSpPr>
          <p:cNvPr id="7" name="TextBox 6">
            <a:extLst>
              <a:ext uri="{FF2B5EF4-FFF2-40B4-BE49-F238E27FC236}">
                <a16:creationId xmlns:a16="http://schemas.microsoft.com/office/drawing/2014/main" id="{EC32A9EB-E963-BCEA-BA44-C26046E685C7}"/>
              </a:ext>
            </a:extLst>
          </p:cNvPr>
          <p:cNvSpPr txBox="1"/>
          <p:nvPr/>
        </p:nvSpPr>
        <p:spPr>
          <a:xfrm>
            <a:off x="1496291" y="3345505"/>
            <a:ext cx="6096000" cy="369332"/>
          </a:xfrm>
          <a:prstGeom prst="rect">
            <a:avLst/>
          </a:prstGeom>
          <a:noFill/>
        </p:spPr>
        <p:txBody>
          <a:bodyPr wrap="square">
            <a:spAutoFit/>
          </a:bodyPr>
          <a:lstStyle/>
          <a:p>
            <a:r>
              <a:rPr lang="en-US" b="1" dirty="0"/>
              <a:t>High Bias Model Characteristics</a:t>
            </a:r>
          </a:p>
        </p:txBody>
      </p:sp>
      <p:sp>
        <p:nvSpPr>
          <p:cNvPr id="8" name="TextBox 7">
            <a:extLst>
              <a:ext uri="{FF2B5EF4-FFF2-40B4-BE49-F238E27FC236}">
                <a16:creationId xmlns:a16="http://schemas.microsoft.com/office/drawing/2014/main" id="{0BB82AE1-5844-6C75-4487-FD7ECB57FEB6}"/>
              </a:ext>
            </a:extLst>
          </p:cNvPr>
          <p:cNvSpPr txBox="1"/>
          <p:nvPr/>
        </p:nvSpPr>
        <p:spPr>
          <a:xfrm>
            <a:off x="1784928" y="3714837"/>
            <a:ext cx="7673107" cy="1200329"/>
          </a:xfrm>
          <a:prstGeom prst="rect">
            <a:avLst/>
          </a:prstGeom>
          <a:noFill/>
        </p:spPr>
        <p:txBody>
          <a:bodyPr wrap="square">
            <a:spAutoFit/>
          </a:bodyPr>
          <a:lstStyle/>
          <a:p>
            <a:pPr marL="285750" indent="-285750" algn="just">
              <a:buFont typeface="Arial" panose="020B0604020202020204" pitchFamily="34" charset="0"/>
              <a:buChar char="•"/>
            </a:pPr>
            <a:r>
              <a:rPr lang="en-US" b="1" dirty="0"/>
              <a:t>Overfitting</a:t>
            </a:r>
            <a:r>
              <a:rPr lang="en-US" dirty="0"/>
              <a:t>: The model captures noise or irrelevant patterns in the data.</a:t>
            </a:r>
          </a:p>
          <a:p>
            <a:pPr marL="285750" indent="-285750" algn="just">
              <a:buFont typeface="Arial" panose="020B0604020202020204" pitchFamily="34" charset="0"/>
              <a:buChar char="•"/>
            </a:pPr>
            <a:r>
              <a:rPr lang="en-US" b="1" dirty="0"/>
              <a:t>Complex models</a:t>
            </a:r>
            <a:r>
              <a:rPr lang="en-US" dirty="0"/>
              <a:t> that adapt too closely to the training set.</a:t>
            </a:r>
          </a:p>
          <a:p>
            <a:pPr marL="285750" indent="-285750" algn="just">
              <a:buFont typeface="Arial" panose="020B0604020202020204" pitchFamily="34" charset="0"/>
              <a:buChar char="•"/>
            </a:pPr>
            <a:r>
              <a:rPr lang="en-US" dirty="0"/>
              <a:t>High sensitivity to </a:t>
            </a:r>
            <a:r>
              <a:rPr lang="en-US" b="1" dirty="0"/>
              <a:t>small changes</a:t>
            </a:r>
            <a:r>
              <a:rPr lang="en-US" dirty="0"/>
              <a:t> in the data.</a:t>
            </a:r>
          </a:p>
          <a:p>
            <a:pPr marL="285750" indent="-285750" algn="just">
              <a:buFont typeface="Arial" panose="020B0604020202020204" pitchFamily="34" charset="0"/>
              <a:buChar char="•"/>
            </a:pPr>
            <a:endParaRPr lang="en-US" dirty="0"/>
          </a:p>
        </p:txBody>
      </p:sp>
      <p:sp>
        <p:nvSpPr>
          <p:cNvPr id="9" name="TextBox 8">
            <a:extLst>
              <a:ext uri="{FF2B5EF4-FFF2-40B4-BE49-F238E27FC236}">
                <a16:creationId xmlns:a16="http://schemas.microsoft.com/office/drawing/2014/main" id="{A17B4BC4-974D-5FA3-712C-96A688858D54}"/>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Tree>
    <p:extLst>
      <p:ext uri="{BB962C8B-B14F-4D97-AF65-F5344CB8AC3E}">
        <p14:creationId xmlns:p14="http://schemas.microsoft.com/office/powerpoint/2010/main" val="2371313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BB86D3-AEDB-0D46-2CC5-0CE67473CD37}"/>
              </a:ext>
            </a:extLst>
          </p:cNvPr>
          <p:cNvSpPr txBox="1"/>
          <p:nvPr/>
        </p:nvSpPr>
        <p:spPr>
          <a:xfrm>
            <a:off x="951346" y="2052843"/>
            <a:ext cx="6096000" cy="369332"/>
          </a:xfrm>
          <a:prstGeom prst="rect">
            <a:avLst/>
          </a:prstGeom>
          <a:noFill/>
        </p:spPr>
        <p:txBody>
          <a:bodyPr wrap="square">
            <a:spAutoFit/>
          </a:bodyPr>
          <a:lstStyle/>
          <a:p>
            <a:r>
              <a:rPr lang="en-US" b="1" dirty="0"/>
              <a:t>Balancing Bias and Variance</a:t>
            </a:r>
          </a:p>
        </p:txBody>
      </p:sp>
      <p:sp>
        <p:nvSpPr>
          <p:cNvPr id="6" name="TextBox 5">
            <a:extLst>
              <a:ext uri="{FF2B5EF4-FFF2-40B4-BE49-F238E27FC236}">
                <a16:creationId xmlns:a16="http://schemas.microsoft.com/office/drawing/2014/main" id="{3BFE51F4-B7C6-486E-C51B-3CC4685EFE06}"/>
              </a:ext>
            </a:extLst>
          </p:cNvPr>
          <p:cNvSpPr txBox="1"/>
          <p:nvPr/>
        </p:nvSpPr>
        <p:spPr>
          <a:xfrm>
            <a:off x="1413164" y="2422175"/>
            <a:ext cx="8506691"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Bias-Variance Tradeoff</a:t>
            </a:r>
            <a:r>
              <a:rPr lang="en-US" dirty="0"/>
              <a:t>: When building models, we aim to find the balance between bias and variance. Increasing the complexity of a model decreases bias but increases variance, and vice versa.</a:t>
            </a:r>
          </a:p>
        </p:txBody>
      </p:sp>
      <p:sp>
        <p:nvSpPr>
          <p:cNvPr id="8" name="TextBox 7">
            <a:extLst>
              <a:ext uri="{FF2B5EF4-FFF2-40B4-BE49-F238E27FC236}">
                <a16:creationId xmlns:a16="http://schemas.microsoft.com/office/drawing/2014/main" id="{CBB72DE0-BA4E-7FDF-260C-7569F5301A3D}"/>
              </a:ext>
            </a:extLst>
          </p:cNvPr>
          <p:cNvSpPr txBox="1"/>
          <p:nvPr/>
        </p:nvSpPr>
        <p:spPr>
          <a:xfrm>
            <a:off x="1727200" y="3327830"/>
            <a:ext cx="6096000" cy="369332"/>
          </a:xfrm>
          <a:prstGeom prst="rect">
            <a:avLst/>
          </a:prstGeom>
          <a:noFill/>
        </p:spPr>
        <p:txBody>
          <a:bodyPr wrap="square">
            <a:spAutoFit/>
          </a:bodyPr>
          <a:lstStyle/>
          <a:p>
            <a:r>
              <a:rPr lang="en-US" b="1" dirty="0"/>
              <a:t>Ways to Reduce High Bias</a:t>
            </a:r>
          </a:p>
        </p:txBody>
      </p:sp>
      <p:sp>
        <p:nvSpPr>
          <p:cNvPr id="10" name="TextBox 9">
            <a:extLst>
              <a:ext uri="{FF2B5EF4-FFF2-40B4-BE49-F238E27FC236}">
                <a16:creationId xmlns:a16="http://schemas.microsoft.com/office/drawing/2014/main" id="{EFFC99B7-2DA3-0CD2-D23A-C898F8FBF598}"/>
              </a:ext>
            </a:extLst>
          </p:cNvPr>
          <p:cNvSpPr txBox="1"/>
          <p:nvPr/>
        </p:nvSpPr>
        <p:spPr>
          <a:xfrm>
            <a:off x="2059709" y="3697162"/>
            <a:ext cx="7509164" cy="1477328"/>
          </a:xfrm>
          <a:prstGeom prst="rect">
            <a:avLst/>
          </a:prstGeom>
          <a:noFill/>
        </p:spPr>
        <p:txBody>
          <a:bodyPr wrap="square">
            <a:spAutoFit/>
          </a:bodyPr>
          <a:lstStyle/>
          <a:p>
            <a:pPr marL="285750" indent="-285750">
              <a:buFont typeface="Arial" panose="020B0604020202020204" pitchFamily="34" charset="0"/>
              <a:buChar char="•"/>
            </a:pPr>
            <a:r>
              <a:rPr lang="en-US" b="1" dirty="0"/>
              <a:t>Add more features</a:t>
            </a:r>
            <a:r>
              <a:rPr lang="en-US" dirty="0"/>
              <a:t>: This helps the model learn better from the data.</a:t>
            </a:r>
          </a:p>
          <a:p>
            <a:pPr marL="285750" indent="-285750">
              <a:buFont typeface="Arial" panose="020B0604020202020204" pitchFamily="34" charset="0"/>
              <a:buChar char="•"/>
            </a:pPr>
            <a:r>
              <a:rPr lang="en-US" b="1" dirty="0"/>
              <a:t>Decrease regularization</a:t>
            </a:r>
            <a:r>
              <a:rPr lang="en-US" dirty="0"/>
              <a:t>: Too much regularization forces the model to be simple, leading to underfitting.</a:t>
            </a:r>
          </a:p>
          <a:p>
            <a:pPr marL="285750" indent="-285750">
              <a:buFont typeface="Arial" panose="020B0604020202020204" pitchFamily="34" charset="0"/>
              <a:buChar char="•"/>
            </a:pPr>
            <a:r>
              <a:rPr lang="en-US" dirty="0"/>
              <a:t>Use </a:t>
            </a:r>
            <a:r>
              <a:rPr lang="en-US" b="1" dirty="0"/>
              <a:t>more complex models</a:t>
            </a:r>
            <a:r>
              <a:rPr lang="en-US" dirty="0"/>
              <a:t>, like polynomial regression, to capture more patterns in the data.</a:t>
            </a:r>
          </a:p>
        </p:txBody>
      </p:sp>
      <p:sp>
        <p:nvSpPr>
          <p:cNvPr id="11" name="TextBox 10">
            <a:extLst>
              <a:ext uri="{FF2B5EF4-FFF2-40B4-BE49-F238E27FC236}">
                <a16:creationId xmlns:a16="http://schemas.microsoft.com/office/drawing/2014/main" id="{01FACB89-6CB8-A366-7D10-49A085BB65F4}"/>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Tree>
    <p:extLst>
      <p:ext uri="{BB962C8B-B14F-4D97-AF65-F5344CB8AC3E}">
        <p14:creationId xmlns:p14="http://schemas.microsoft.com/office/powerpoint/2010/main" val="3083621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0BBC2A-CE98-25EF-0D9A-1D8B3E02FDC6}"/>
              </a:ext>
            </a:extLst>
          </p:cNvPr>
          <p:cNvSpPr txBox="1"/>
          <p:nvPr/>
        </p:nvSpPr>
        <p:spPr>
          <a:xfrm>
            <a:off x="951346" y="2052843"/>
            <a:ext cx="6096000" cy="369332"/>
          </a:xfrm>
          <a:prstGeom prst="rect">
            <a:avLst/>
          </a:prstGeom>
          <a:noFill/>
        </p:spPr>
        <p:txBody>
          <a:bodyPr wrap="square">
            <a:spAutoFit/>
          </a:bodyPr>
          <a:lstStyle/>
          <a:p>
            <a:r>
              <a:rPr lang="en-US" b="1" dirty="0"/>
              <a:t>Balancing Bias and Variance</a:t>
            </a:r>
          </a:p>
        </p:txBody>
      </p:sp>
      <p:sp>
        <p:nvSpPr>
          <p:cNvPr id="5" name="TextBox 4">
            <a:extLst>
              <a:ext uri="{FF2B5EF4-FFF2-40B4-BE49-F238E27FC236}">
                <a16:creationId xmlns:a16="http://schemas.microsoft.com/office/drawing/2014/main" id="{4831EA4B-21C0-2100-8DFA-77FA826CD5C2}"/>
              </a:ext>
            </a:extLst>
          </p:cNvPr>
          <p:cNvSpPr txBox="1"/>
          <p:nvPr/>
        </p:nvSpPr>
        <p:spPr>
          <a:xfrm>
            <a:off x="1681019" y="2422175"/>
            <a:ext cx="6096000" cy="369332"/>
          </a:xfrm>
          <a:prstGeom prst="rect">
            <a:avLst/>
          </a:prstGeom>
          <a:noFill/>
        </p:spPr>
        <p:txBody>
          <a:bodyPr wrap="square">
            <a:spAutoFit/>
          </a:bodyPr>
          <a:lstStyle/>
          <a:p>
            <a:r>
              <a:rPr lang="en-US" b="1" dirty="0"/>
              <a:t>Ways to Reduce High Variance</a:t>
            </a:r>
          </a:p>
        </p:txBody>
      </p:sp>
      <p:sp>
        <p:nvSpPr>
          <p:cNvPr id="6" name="TextBox 5">
            <a:extLst>
              <a:ext uri="{FF2B5EF4-FFF2-40B4-BE49-F238E27FC236}">
                <a16:creationId xmlns:a16="http://schemas.microsoft.com/office/drawing/2014/main" id="{A384F403-BBC9-2CC4-ED8D-C9A1A92DEFA2}"/>
              </a:ext>
            </a:extLst>
          </p:cNvPr>
          <p:cNvSpPr txBox="1"/>
          <p:nvPr/>
        </p:nvSpPr>
        <p:spPr>
          <a:xfrm>
            <a:off x="2013527" y="2791507"/>
            <a:ext cx="8968509" cy="1477328"/>
          </a:xfrm>
          <a:prstGeom prst="rect">
            <a:avLst/>
          </a:prstGeom>
          <a:noFill/>
        </p:spPr>
        <p:txBody>
          <a:bodyPr wrap="square">
            <a:spAutoFit/>
          </a:bodyPr>
          <a:lstStyle/>
          <a:p>
            <a:pPr marL="285750" indent="-285750">
              <a:buFont typeface="Arial" panose="020B0604020202020204" pitchFamily="34" charset="0"/>
              <a:buChar char="•"/>
            </a:pPr>
            <a:r>
              <a:rPr lang="en-US" b="1" dirty="0"/>
              <a:t>Reduce the number of features</a:t>
            </a:r>
            <a:r>
              <a:rPr lang="en-US" dirty="0"/>
              <a:t> or </a:t>
            </a:r>
            <a:r>
              <a:rPr lang="en-US" b="1" dirty="0"/>
              <a:t>parameters</a:t>
            </a:r>
            <a:r>
              <a:rPr lang="en-US" dirty="0"/>
              <a:t>: Simplifying the model reduces overfitting.</a:t>
            </a:r>
          </a:p>
          <a:p>
            <a:pPr marL="285750" indent="-285750">
              <a:buFont typeface="Arial" panose="020B0604020202020204" pitchFamily="34" charset="0"/>
              <a:buChar char="•"/>
            </a:pPr>
            <a:r>
              <a:rPr lang="en-US" dirty="0"/>
              <a:t>Avoid overly complex models.</a:t>
            </a:r>
          </a:p>
          <a:p>
            <a:pPr marL="285750" indent="-285750">
              <a:buFont typeface="Arial" panose="020B0604020202020204" pitchFamily="34" charset="0"/>
              <a:buChar char="•"/>
            </a:pPr>
            <a:r>
              <a:rPr lang="en-US" b="1" dirty="0"/>
              <a:t>Increase the training data size</a:t>
            </a:r>
            <a:r>
              <a:rPr lang="en-US" dirty="0"/>
              <a:t>: More data helps the model generalize better.</a:t>
            </a:r>
          </a:p>
          <a:p>
            <a:pPr marL="285750" indent="-285750">
              <a:buFont typeface="Arial" panose="020B0604020202020204" pitchFamily="34" charset="0"/>
              <a:buChar char="•"/>
            </a:pPr>
            <a:r>
              <a:rPr lang="en-US" b="1" dirty="0"/>
              <a:t>Increase regularization</a:t>
            </a:r>
            <a:r>
              <a:rPr lang="en-US" dirty="0"/>
              <a:t>: This helps prevent overfitting by keeping the model simpler.</a:t>
            </a:r>
          </a:p>
        </p:txBody>
      </p:sp>
      <p:sp>
        <p:nvSpPr>
          <p:cNvPr id="7" name="TextBox 6">
            <a:extLst>
              <a:ext uri="{FF2B5EF4-FFF2-40B4-BE49-F238E27FC236}">
                <a16:creationId xmlns:a16="http://schemas.microsoft.com/office/drawing/2014/main" id="{2E577B79-C23A-F755-1D64-277EBCF9AA06}"/>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Tree>
    <p:extLst>
      <p:ext uri="{BB962C8B-B14F-4D97-AF65-F5344CB8AC3E}">
        <p14:creationId xmlns:p14="http://schemas.microsoft.com/office/powerpoint/2010/main" val="146163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0AE0DC-FD8D-BFBD-A16D-A9696064A1DE}"/>
              </a:ext>
            </a:extLst>
          </p:cNvPr>
          <p:cNvSpPr txBox="1"/>
          <p:nvPr/>
        </p:nvSpPr>
        <p:spPr>
          <a:xfrm>
            <a:off x="960582" y="2052843"/>
            <a:ext cx="1865745" cy="369332"/>
          </a:xfrm>
          <a:prstGeom prst="rect">
            <a:avLst/>
          </a:prstGeom>
          <a:noFill/>
        </p:spPr>
        <p:txBody>
          <a:bodyPr wrap="square">
            <a:spAutoFit/>
          </a:bodyPr>
          <a:lstStyle/>
          <a:p>
            <a:r>
              <a:rPr lang="en-US" b="1" dirty="0"/>
              <a:t>Bias &amp; Variance </a:t>
            </a:r>
          </a:p>
        </p:txBody>
      </p:sp>
      <p:pic>
        <p:nvPicPr>
          <p:cNvPr id="5" name="Picture 4">
            <a:extLst>
              <a:ext uri="{FF2B5EF4-FFF2-40B4-BE49-F238E27FC236}">
                <a16:creationId xmlns:a16="http://schemas.microsoft.com/office/drawing/2014/main" id="{437D6173-0E53-260C-A4AD-4A9D89CBFCF5}"/>
              </a:ext>
            </a:extLst>
          </p:cNvPr>
          <p:cNvPicPr>
            <a:picLocks noChangeAspect="1"/>
          </p:cNvPicPr>
          <p:nvPr/>
        </p:nvPicPr>
        <p:blipFill>
          <a:blip r:embed="rId2"/>
          <a:stretch>
            <a:fillRect/>
          </a:stretch>
        </p:blipFill>
        <p:spPr>
          <a:xfrm>
            <a:off x="1893454" y="2514508"/>
            <a:ext cx="7914894" cy="3639621"/>
          </a:xfrm>
          <a:prstGeom prst="rect">
            <a:avLst/>
          </a:prstGeom>
        </p:spPr>
      </p:pic>
      <p:sp>
        <p:nvSpPr>
          <p:cNvPr id="6" name="TextBox 5">
            <a:extLst>
              <a:ext uri="{FF2B5EF4-FFF2-40B4-BE49-F238E27FC236}">
                <a16:creationId xmlns:a16="http://schemas.microsoft.com/office/drawing/2014/main" id="{41091C36-1825-D2E9-4AB5-72023BABCAA4}"/>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Tree>
    <p:extLst>
      <p:ext uri="{BB962C8B-B14F-4D97-AF65-F5344CB8AC3E}">
        <p14:creationId xmlns:p14="http://schemas.microsoft.com/office/powerpoint/2010/main" val="4109586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0465F6-D827-8962-0385-12323C16F20D}"/>
              </a:ext>
            </a:extLst>
          </p:cNvPr>
          <p:cNvSpPr txBox="1"/>
          <p:nvPr/>
        </p:nvSpPr>
        <p:spPr>
          <a:xfrm>
            <a:off x="969818" y="2052843"/>
            <a:ext cx="6096000" cy="369332"/>
          </a:xfrm>
          <a:prstGeom prst="rect">
            <a:avLst/>
          </a:prstGeom>
          <a:noFill/>
        </p:spPr>
        <p:txBody>
          <a:bodyPr wrap="square">
            <a:spAutoFit/>
          </a:bodyPr>
          <a:lstStyle/>
          <a:p>
            <a:r>
              <a:rPr lang="en-US" b="1" dirty="0"/>
              <a:t>What is Overfitting?</a:t>
            </a:r>
          </a:p>
        </p:txBody>
      </p:sp>
      <p:sp>
        <p:nvSpPr>
          <p:cNvPr id="8" name="TextBox 7">
            <a:extLst>
              <a:ext uri="{FF2B5EF4-FFF2-40B4-BE49-F238E27FC236}">
                <a16:creationId xmlns:a16="http://schemas.microsoft.com/office/drawing/2014/main" id="{7F201FEC-7602-7DE1-236E-70BDDAEC8033}"/>
              </a:ext>
            </a:extLst>
          </p:cNvPr>
          <p:cNvSpPr txBox="1"/>
          <p:nvPr/>
        </p:nvSpPr>
        <p:spPr>
          <a:xfrm>
            <a:off x="1403926" y="2422175"/>
            <a:ext cx="9374909"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Overfitting</a:t>
            </a:r>
            <a:r>
              <a:rPr lang="en-US" dirty="0"/>
              <a:t> occurs when a machine learning model performs extremely well on the training data but fails to generalize to new, unseen data. The model has essentially "memorized" the training data, capturing noise rather than learning the underlying patterns.</a:t>
            </a:r>
          </a:p>
        </p:txBody>
      </p:sp>
      <p:pic>
        <p:nvPicPr>
          <p:cNvPr id="4098" name="Picture 2" descr="What is Overfitting in Machine Learning?">
            <a:extLst>
              <a:ext uri="{FF2B5EF4-FFF2-40B4-BE49-F238E27FC236}">
                <a16:creationId xmlns:a16="http://schemas.microsoft.com/office/drawing/2014/main" id="{9660FB0B-453F-FAE3-0750-3F55C8157C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161" y="3345505"/>
            <a:ext cx="5896438" cy="29482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55412F5-95E4-870D-44CF-E67D13A1D10A}"/>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Tree>
    <p:extLst>
      <p:ext uri="{BB962C8B-B14F-4D97-AF65-F5344CB8AC3E}">
        <p14:creationId xmlns:p14="http://schemas.microsoft.com/office/powerpoint/2010/main" val="2482882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1E61AC-2C62-807A-6EAE-1EF77CEBA193}"/>
              </a:ext>
            </a:extLst>
          </p:cNvPr>
          <p:cNvSpPr txBox="1"/>
          <p:nvPr/>
        </p:nvSpPr>
        <p:spPr>
          <a:xfrm>
            <a:off x="355598" y="1591178"/>
            <a:ext cx="1704111" cy="461665"/>
          </a:xfrm>
          <a:prstGeom prst="rect">
            <a:avLst/>
          </a:prstGeom>
          <a:noFill/>
        </p:spPr>
        <p:txBody>
          <a:bodyPr wrap="square">
            <a:spAutoFit/>
          </a:bodyPr>
          <a:lstStyle/>
          <a:p>
            <a:r>
              <a:rPr lang="en-US" sz="2400" b="1" dirty="0">
                <a:solidFill>
                  <a:srgbClr val="1869A6"/>
                </a:solidFill>
              </a:rPr>
              <a:t>Overfitting</a:t>
            </a:r>
          </a:p>
        </p:txBody>
      </p:sp>
      <p:sp>
        <p:nvSpPr>
          <p:cNvPr id="3" name="TextBox 2">
            <a:extLst>
              <a:ext uri="{FF2B5EF4-FFF2-40B4-BE49-F238E27FC236}">
                <a16:creationId xmlns:a16="http://schemas.microsoft.com/office/drawing/2014/main" id="{62B1CAAE-87DC-1425-F28A-2524C8386CAA}"/>
              </a:ext>
            </a:extLst>
          </p:cNvPr>
          <p:cNvSpPr txBox="1"/>
          <p:nvPr/>
        </p:nvSpPr>
        <p:spPr>
          <a:xfrm>
            <a:off x="969818" y="2052843"/>
            <a:ext cx="6096000" cy="369332"/>
          </a:xfrm>
          <a:prstGeom prst="rect">
            <a:avLst/>
          </a:prstGeom>
          <a:noFill/>
        </p:spPr>
        <p:txBody>
          <a:bodyPr wrap="square">
            <a:spAutoFit/>
          </a:bodyPr>
          <a:lstStyle/>
          <a:p>
            <a:r>
              <a:rPr lang="en-US" b="1" dirty="0"/>
              <a:t>What is Underfitting?</a:t>
            </a:r>
          </a:p>
        </p:txBody>
      </p:sp>
      <p:sp>
        <p:nvSpPr>
          <p:cNvPr id="4" name="TextBox 3">
            <a:extLst>
              <a:ext uri="{FF2B5EF4-FFF2-40B4-BE49-F238E27FC236}">
                <a16:creationId xmlns:a16="http://schemas.microsoft.com/office/drawing/2014/main" id="{4890B4D1-19F4-5796-7E8D-2A705F10CD62}"/>
              </a:ext>
            </a:extLst>
          </p:cNvPr>
          <p:cNvSpPr txBox="1"/>
          <p:nvPr/>
        </p:nvSpPr>
        <p:spPr>
          <a:xfrm>
            <a:off x="1403926" y="2422175"/>
            <a:ext cx="9374909" cy="923330"/>
          </a:xfrm>
          <a:prstGeom prst="rect">
            <a:avLst/>
          </a:prstGeom>
          <a:noFill/>
        </p:spPr>
        <p:txBody>
          <a:bodyPr wrap="square">
            <a:spAutoFit/>
          </a:bodyPr>
          <a:lstStyle/>
          <a:p>
            <a:pPr marL="285750" indent="-285750" algn="just">
              <a:buFont typeface="Arial" panose="020B0604020202020204" pitchFamily="34" charset="0"/>
              <a:buChar char="•"/>
            </a:pPr>
            <a:r>
              <a:rPr lang="en-US" dirty="0"/>
              <a:t>The model is too simple and does not capture the patterns in the data well. It performs poorly on both the training and test datasets, indicating that the model is not complex enough to understand the data.</a:t>
            </a:r>
          </a:p>
        </p:txBody>
      </p:sp>
      <p:sp>
        <p:nvSpPr>
          <p:cNvPr id="5" name="TextBox 4">
            <a:extLst>
              <a:ext uri="{FF2B5EF4-FFF2-40B4-BE49-F238E27FC236}">
                <a16:creationId xmlns:a16="http://schemas.microsoft.com/office/drawing/2014/main" id="{8A31B40A-3125-CE26-1F2A-3190D89DED8E}"/>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Tree>
    <p:extLst>
      <p:ext uri="{BB962C8B-B14F-4D97-AF65-F5344CB8AC3E}">
        <p14:creationId xmlns:p14="http://schemas.microsoft.com/office/powerpoint/2010/main" val="2821282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DBE029-32B0-3EEC-0533-135CEAD1EE33}"/>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4" name="TextBox 3">
            <a:extLst>
              <a:ext uri="{FF2B5EF4-FFF2-40B4-BE49-F238E27FC236}">
                <a16:creationId xmlns:a16="http://schemas.microsoft.com/office/drawing/2014/main" id="{63913912-5770-BF99-83F9-7412E1EDE23D}"/>
              </a:ext>
            </a:extLst>
          </p:cNvPr>
          <p:cNvSpPr txBox="1"/>
          <p:nvPr/>
        </p:nvSpPr>
        <p:spPr>
          <a:xfrm>
            <a:off x="1588654" y="2052843"/>
            <a:ext cx="6096000" cy="369332"/>
          </a:xfrm>
          <a:prstGeom prst="rect">
            <a:avLst/>
          </a:prstGeom>
          <a:noFill/>
        </p:spPr>
        <p:txBody>
          <a:bodyPr wrap="square">
            <a:spAutoFit/>
          </a:bodyPr>
          <a:lstStyle/>
          <a:p>
            <a:r>
              <a:rPr lang="en-US" b="1" dirty="0"/>
              <a:t>Understanding Overfitting and Underfitting</a:t>
            </a:r>
          </a:p>
        </p:txBody>
      </p:sp>
      <p:sp>
        <p:nvSpPr>
          <p:cNvPr id="6" name="TextBox 5">
            <a:extLst>
              <a:ext uri="{FF2B5EF4-FFF2-40B4-BE49-F238E27FC236}">
                <a16:creationId xmlns:a16="http://schemas.microsoft.com/office/drawing/2014/main" id="{12931F33-45C6-FB98-2D3F-FDB85C5BB034}"/>
              </a:ext>
            </a:extLst>
          </p:cNvPr>
          <p:cNvSpPr txBox="1"/>
          <p:nvPr/>
        </p:nvSpPr>
        <p:spPr>
          <a:xfrm>
            <a:off x="2124364" y="2422175"/>
            <a:ext cx="6096000" cy="369332"/>
          </a:xfrm>
          <a:prstGeom prst="rect">
            <a:avLst/>
          </a:prstGeom>
          <a:noFill/>
        </p:spPr>
        <p:txBody>
          <a:bodyPr wrap="square">
            <a:spAutoFit/>
          </a:bodyPr>
          <a:lstStyle/>
          <a:p>
            <a:r>
              <a:rPr lang="en-US" dirty="0"/>
              <a:t>1. Underfitting</a:t>
            </a:r>
          </a:p>
        </p:txBody>
      </p:sp>
      <p:sp>
        <p:nvSpPr>
          <p:cNvPr id="8" name="TextBox 7">
            <a:extLst>
              <a:ext uri="{FF2B5EF4-FFF2-40B4-BE49-F238E27FC236}">
                <a16:creationId xmlns:a16="http://schemas.microsoft.com/office/drawing/2014/main" id="{735B602D-7A80-3C3E-30F9-68DA08A89A7A}"/>
              </a:ext>
            </a:extLst>
          </p:cNvPr>
          <p:cNvSpPr txBox="1"/>
          <p:nvPr/>
        </p:nvSpPr>
        <p:spPr>
          <a:xfrm>
            <a:off x="2528452" y="2791507"/>
            <a:ext cx="6707911" cy="646331"/>
          </a:xfrm>
          <a:prstGeom prst="rect">
            <a:avLst/>
          </a:prstGeom>
          <a:noFill/>
        </p:spPr>
        <p:txBody>
          <a:bodyPr wrap="square">
            <a:spAutoFit/>
          </a:bodyPr>
          <a:lstStyle/>
          <a:p>
            <a:pPr marL="285750" indent="-285750">
              <a:buFont typeface="Arial" panose="020B0604020202020204" pitchFamily="34" charset="0"/>
              <a:buChar char="•"/>
            </a:pPr>
            <a:r>
              <a:rPr lang="en-US" dirty="0"/>
              <a:t>Occurs when the model is too simple.</a:t>
            </a:r>
          </a:p>
          <a:p>
            <a:pPr marL="285750" indent="-285750">
              <a:buFont typeface="Arial" panose="020B0604020202020204" pitchFamily="34" charset="0"/>
              <a:buChar char="•"/>
            </a:pPr>
            <a:r>
              <a:rPr lang="en-US" dirty="0"/>
              <a:t>It has </a:t>
            </a:r>
            <a:r>
              <a:rPr lang="en-US" b="1" dirty="0"/>
              <a:t>high bias</a:t>
            </a:r>
            <a:r>
              <a:rPr lang="en-US" dirty="0"/>
              <a:t> and cannot capture the patterns in the data.</a:t>
            </a:r>
          </a:p>
        </p:txBody>
      </p:sp>
      <p:sp>
        <p:nvSpPr>
          <p:cNvPr id="10" name="TextBox 9">
            <a:extLst>
              <a:ext uri="{FF2B5EF4-FFF2-40B4-BE49-F238E27FC236}">
                <a16:creationId xmlns:a16="http://schemas.microsoft.com/office/drawing/2014/main" id="{81EC471F-EF53-9A3A-E7B7-619B60CE298D}"/>
              </a:ext>
            </a:extLst>
          </p:cNvPr>
          <p:cNvSpPr txBox="1"/>
          <p:nvPr/>
        </p:nvSpPr>
        <p:spPr>
          <a:xfrm>
            <a:off x="2124364" y="3429000"/>
            <a:ext cx="6096000" cy="369332"/>
          </a:xfrm>
          <a:prstGeom prst="rect">
            <a:avLst/>
          </a:prstGeom>
          <a:noFill/>
        </p:spPr>
        <p:txBody>
          <a:bodyPr wrap="square">
            <a:spAutoFit/>
          </a:bodyPr>
          <a:lstStyle/>
          <a:p>
            <a:r>
              <a:rPr lang="en-US" dirty="0"/>
              <a:t>2. Overfitting</a:t>
            </a:r>
          </a:p>
        </p:txBody>
      </p:sp>
      <p:sp>
        <p:nvSpPr>
          <p:cNvPr id="12" name="TextBox 11">
            <a:extLst>
              <a:ext uri="{FF2B5EF4-FFF2-40B4-BE49-F238E27FC236}">
                <a16:creationId xmlns:a16="http://schemas.microsoft.com/office/drawing/2014/main" id="{DA4BDC85-E799-732C-2563-1D2B82256F29}"/>
              </a:ext>
            </a:extLst>
          </p:cNvPr>
          <p:cNvSpPr txBox="1"/>
          <p:nvPr/>
        </p:nvSpPr>
        <p:spPr>
          <a:xfrm>
            <a:off x="2528452" y="3818777"/>
            <a:ext cx="7474530" cy="923330"/>
          </a:xfrm>
          <a:prstGeom prst="rect">
            <a:avLst/>
          </a:prstGeom>
          <a:noFill/>
        </p:spPr>
        <p:txBody>
          <a:bodyPr wrap="square">
            <a:spAutoFit/>
          </a:bodyPr>
          <a:lstStyle/>
          <a:p>
            <a:pPr marL="285750" indent="-285750">
              <a:buFont typeface="Arial" panose="020B0604020202020204" pitchFamily="34" charset="0"/>
              <a:buChar char="•"/>
            </a:pPr>
            <a:r>
              <a:rPr lang="en-US" dirty="0"/>
              <a:t>Happens when the model is too complex.</a:t>
            </a:r>
          </a:p>
          <a:p>
            <a:pPr marL="285750" indent="-285750">
              <a:buFont typeface="Arial" panose="020B0604020202020204" pitchFamily="34" charset="0"/>
              <a:buChar char="•"/>
            </a:pPr>
            <a:r>
              <a:rPr lang="en-US" dirty="0"/>
              <a:t>It has </a:t>
            </a:r>
            <a:r>
              <a:rPr lang="en-US" b="1" dirty="0"/>
              <a:t>high variance</a:t>
            </a:r>
            <a:r>
              <a:rPr lang="en-US" dirty="0"/>
              <a:t> and fits the noise in the training data, making it perform poorly on unseen data.</a:t>
            </a:r>
          </a:p>
        </p:txBody>
      </p:sp>
    </p:spTree>
    <p:extLst>
      <p:ext uri="{BB962C8B-B14F-4D97-AF65-F5344CB8AC3E}">
        <p14:creationId xmlns:p14="http://schemas.microsoft.com/office/powerpoint/2010/main" val="3570501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37A071-F0DC-DAAA-C034-B70D24A145E1}"/>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5" name="TextBox 4">
            <a:extLst>
              <a:ext uri="{FF2B5EF4-FFF2-40B4-BE49-F238E27FC236}">
                <a16:creationId xmlns:a16="http://schemas.microsoft.com/office/drawing/2014/main" id="{1C06C891-3E69-2105-242B-21BF0CA3691D}"/>
              </a:ext>
            </a:extLst>
          </p:cNvPr>
          <p:cNvSpPr txBox="1"/>
          <p:nvPr/>
        </p:nvSpPr>
        <p:spPr>
          <a:xfrm>
            <a:off x="1588654" y="2052843"/>
            <a:ext cx="6096000" cy="369332"/>
          </a:xfrm>
          <a:prstGeom prst="rect">
            <a:avLst/>
          </a:prstGeom>
          <a:noFill/>
        </p:spPr>
        <p:txBody>
          <a:bodyPr wrap="square">
            <a:spAutoFit/>
          </a:bodyPr>
          <a:lstStyle/>
          <a:p>
            <a:r>
              <a:rPr lang="en-US" b="1" dirty="0"/>
              <a:t>Understanding Overfitting and Underfitting</a:t>
            </a:r>
          </a:p>
        </p:txBody>
      </p:sp>
      <p:pic>
        <p:nvPicPr>
          <p:cNvPr id="7" name="Picture 6">
            <a:extLst>
              <a:ext uri="{FF2B5EF4-FFF2-40B4-BE49-F238E27FC236}">
                <a16:creationId xmlns:a16="http://schemas.microsoft.com/office/drawing/2014/main" id="{BCE7C1A1-4EA4-BE8D-F90E-3741D50AACA9}"/>
              </a:ext>
            </a:extLst>
          </p:cNvPr>
          <p:cNvPicPr>
            <a:picLocks noChangeAspect="1"/>
          </p:cNvPicPr>
          <p:nvPr/>
        </p:nvPicPr>
        <p:blipFill>
          <a:blip r:embed="rId2"/>
          <a:stretch>
            <a:fillRect/>
          </a:stretch>
        </p:blipFill>
        <p:spPr>
          <a:xfrm>
            <a:off x="1588654" y="2592029"/>
            <a:ext cx="7949479" cy="3057492"/>
          </a:xfrm>
          <a:prstGeom prst="rect">
            <a:avLst/>
          </a:prstGeom>
        </p:spPr>
      </p:pic>
    </p:spTree>
    <p:extLst>
      <p:ext uri="{BB962C8B-B14F-4D97-AF65-F5344CB8AC3E}">
        <p14:creationId xmlns:p14="http://schemas.microsoft.com/office/powerpoint/2010/main" val="4280871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B3D213-250A-8EE3-EEF6-B19F643BA12F}"/>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8" name="TextBox 7">
            <a:extLst>
              <a:ext uri="{FF2B5EF4-FFF2-40B4-BE49-F238E27FC236}">
                <a16:creationId xmlns:a16="http://schemas.microsoft.com/office/drawing/2014/main" id="{7AF1AAA2-01CA-942B-2AF7-4F23C4CDD23B}"/>
              </a:ext>
            </a:extLst>
          </p:cNvPr>
          <p:cNvSpPr txBox="1"/>
          <p:nvPr/>
        </p:nvSpPr>
        <p:spPr>
          <a:xfrm>
            <a:off x="1560945" y="2052843"/>
            <a:ext cx="6096000" cy="369332"/>
          </a:xfrm>
          <a:prstGeom prst="rect">
            <a:avLst/>
          </a:prstGeom>
          <a:noFill/>
        </p:spPr>
        <p:txBody>
          <a:bodyPr wrap="square">
            <a:spAutoFit/>
          </a:bodyPr>
          <a:lstStyle/>
          <a:p>
            <a:r>
              <a:rPr lang="en-US" b="1" dirty="0"/>
              <a:t>Techniques to Reduce Underfitting</a:t>
            </a:r>
          </a:p>
        </p:txBody>
      </p:sp>
      <p:sp>
        <p:nvSpPr>
          <p:cNvPr id="10" name="TextBox 9">
            <a:extLst>
              <a:ext uri="{FF2B5EF4-FFF2-40B4-BE49-F238E27FC236}">
                <a16:creationId xmlns:a16="http://schemas.microsoft.com/office/drawing/2014/main" id="{14BBEC53-2F61-96D7-7B45-87F7D2A55E1C}"/>
              </a:ext>
            </a:extLst>
          </p:cNvPr>
          <p:cNvSpPr txBox="1"/>
          <p:nvPr/>
        </p:nvSpPr>
        <p:spPr>
          <a:xfrm>
            <a:off x="1976581" y="2422175"/>
            <a:ext cx="8654473" cy="1200329"/>
          </a:xfrm>
          <a:prstGeom prst="rect">
            <a:avLst/>
          </a:prstGeom>
          <a:noFill/>
        </p:spPr>
        <p:txBody>
          <a:bodyPr wrap="square">
            <a:spAutoFit/>
          </a:bodyPr>
          <a:lstStyle/>
          <a:p>
            <a:pPr marL="285750" indent="-285750">
              <a:buFont typeface="Arial" panose="020B0604020202020204" pitchFamily="34" charset="0"/>
              <a:buChar char="•"/>
            </a:pPr>
            <a:r>
              <a:rPr lang="en-US" b="1" dirty="0"/>
              <a:t>increase model complexity</a:t>
            </a:r>
            <a:r>
              <a:rPr lang="en-US" dirty="0"/>
              <a:t>: Add more features </a:t>
            </a:r>
          </a:p>
          <a:p>
            <a:pPr marL="285750" indent="-285750">
              <a:buFont typeface="Arial" panose="020B0604020202020204" pitchFamily="34" charset="0"/>
              <a:buChar char="•"/>
            </a:pPr>
            <a:r>
              <a:rPr lang="en-US" b="1" dirty="0"/>
              <a:t>Increase the number of features</a:t>
            </a:r>
            <a:r>
              <a:rPr lang="en-US" dirty="0"/>
              <a:t> or use </a:t>
            </a:r>
            <a:r>
              <a:rPr lang="en-US" b="1" dirty="0"/>
              <a:t>feature engineering</a:t>
            </a:r>
            <a:r>
              <a:rPr lang="en-US" dirty="0"/>
              <a:t> to capture more useful information from the data.</a:t>
            </a:r>
          </a:p>
          <a:p>
            <a:pPr marL="285750" indent="-285750">
              <a:buFont typeface="Arial" panose="020B0604020202020204" pitchFamily="34" charset="0"/>
              <a:buChar char="•"/>
            </a:pPr>
            <a:r>
              <a:rPr lang="en-US" b="1" dirty="0"/>
              <a:t>Remove noise</a:t>
            </a:r>
            <a:r>
              <a:rPr lang="en-US" dirty="0"/>
              <a:t>: Clean up the data to avoid irrelevant patterns.</a:t>
            </a:r>
          </a:p>
        </p:txBody>
      </p:sp>
    </p:spTree>
    <p:extLst>
      <p:ext uri="{BB962C8B-B14F-4D97-AF65-F5344CB8AC3E}">
        <p14:creationId xmlns:p14="http://schemas.microsoft.com/office/powerpoint/2010/main" val="471562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D0ED5C-6FE4-14EC-E7D2-369074A4AEC1}"/>
              </a:ext>
            </a:extLst>
          </p:cNvPr>
          <p:cNvSpPr txBox="1"/>
          <p:nvPr/>
        </p:nvSpPr>
        <p:spPr>
          <a:xfrm>
            <a:off x="355598" y="1591178"/>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3" name="TextBox 2">
            <a:extLst>
              <a:ext uri="{FF2B5EF4-FFF2-40B4-BE49-F238E27FC236}">
                <a16:creationId xmlns:a16="http://schemas.microsoft.com/office/drawing/2014/main" id="{20355F37-ACB5-DFDC-AF48-6C5C342FB91D}"/>
              </a:ext>
            </a:extLst>
          </p:cNvPr>
          <p:cNvSpPr txBox="1"/>
          <p:nvPr/>
        </p:nvSpPr>
        <p:spPr>
          <a:xfrm>
            <a:off x="1560945" y="2052843"/>
            <a:ext cx="6096000" cy="369332"/>
          </a:xfrm>
          <a:prstGeom prst="rect">
            <a:avLst/>
          </a:prstGeom>
          <a:noFill/>
        </p:spPr>
        <p:txBody>
          <a:bodyPr wrap="square">
            <a:spAutoFit/>
          </a:bodyPr>
          <a:lstStyle/>
          <a:p>
            <a:r>
              <a:rPr lang="en-US" b="1" dirty="0"/>
              <a:t>Techniques to Reduce Overfitting</a:t>
            </a:r>
          </a:p>
        </p:txBody>
      </p:sp>
      <p:sp>
        <p:nvSpPr>
          <p:cNvPr id="4" name="TextBox 3">
            <a:extLst>
              <a:ext uri="{FF2B5EF4-FFF2-40B4-BE49-F238E27FC236}">
                <a16:creationId xmlns:a16="http://schemas.microsoft.com/office/drawing/2014/main" id="{B4551A6B-EF96-6C0D-59B3-7AFF8664D673}"/>
              </a:ext>
            </a:extLst>
          </p:cNvPr>
          <p:cNvSpPr txBox="1"/>
          <p:nvPr/>
        </p:nvSpPr>
        <p:spPr>
          <a:xfrm>
            <a:off x="1976581" y="2422175"/>
            <a:ext cx="9236364" cy="1200329"/>
          </a:xfrm>
          <a:prstGeom prst="rect">
            <a:avLst/>
          </a:prstGeom>
          <a:noFill/>
        </p:spPr>
        <p:txBody>
          <a:bodyPr wrap="square">
            <a:spAutoFit/>
          </a:bodyPr>
          <a:lstStyle/>
          <a:p>
            <a:pPr marL="285750" indent="-285750">
              <a:buFont typeface="Arial" panose="020B0604020202020204" pitchFamily="34" charset="0"/>
              <a:buChar char="•"/>
            </a:pPr>
            <a:r>
              <a:rPr lang="en-US" b="1" dirty="0"/>
              <a:t>Increase training data</a:t>
            </a:r>
            <a:r>
              <a:rPr lang="en-US" dirty="0"/>
              <a:t>: More data helps the model generalize better</a:t>
            </a:r>
          </a:p>
          <a:p>
            <a:pPr marL="285750" indent="-285750">
              <a:buFont typeface="Arial" panose="020B0604020202020204" pitchFamily="34" charset="0"/>
              <a:buChar char="•"/>
            </a:pPr>
            <a:r>
              <a:rPr lang="en-US" b="1" dirty="0"/>
              <a:t>Reduce model complexity</a:t>
            </a:r>
            <a:r>
              <a:rPr lang="en-US" dirty="0"/>
              <a:t>: Simpler models have less variance and generalize better.</a:t>
            </a:r>
          </a:p>
          <a:p>
            <a:pPr marL="285750" indent="-285750">
              <a:buFont typeface="Arial" panose="020B0604020202020204" pitchFamily="34" charset="0"/>
              <a:buChar char="•"/>
            </a:pPr>
            <a:r>
              <a:rPr lang="en-US" b="1" dirty="0"/>
              <a:t>Regularization : L1 (Lasso)</a:t>
            </a:r>
            <a:r>
              <a:rPr lang="en-US" dirty="0"/>
              <a:t> and </a:t>
            </a:r>
            <a:r>
              <a:rPr lang="en-US" b="1" dirty="0"/>
              <a:t>L2 (Ridge)</a:t>
            </a:r>
            <a:r>
              <a:rPr lang="en-US" dirty="0"/>
              <a:t> regularization add penalties to the model to reduce complexity.</a:t>
            </a:r>
            <a:endParaRPr lang="en-US" b="1" dirty="0"/>
          </a:p>
        </p:txBody>
      </p:sp>
    </p:spTree>
    <p:extLst>
      <p:ext uri="{BB962C8B-B14F-4D97-AF65-F5344CB8AC3E}">
        <p14:creationId xmlns:p14="http://schemas.microsoft.com/office/powerpoint/2010/main" val="2148953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E55071-90A4-AAF6-C747-CB96D521FBF5}"/>
              </a:ext>
            </a:extLst>
          </p:cNvPr>
          <p:cNvSpPr txBox="1"/>
          <p:nvPr/>
        </p:nvSpPr>
        <p:spPr>
          <a:xfrm>
            <a:off x="355598" y="1485474"/>
            <a:ext cx="4345711" cy="461665"/>
          </a:xfrm>
          <a:prstGeom prst="rect">
            <a:avLst/>
          </a:prstGeom>
          <a:noFill/>
        </p:spPr>
        <p:txBody>
          <a:bodyPr wrap="square">
            <a:spAutoFit/>
          </a:bodyPr>
          <a:lstStyle/>
          <a:p>
            <a:r>
              <a:rPr lang="en-US" sz="2400" b="1" dirty="0">
                <a:solidFill>
                  <a:srgbClr val="1869A6"/>
                </a:solidFill>
              </a:rPr>
              <a:t>Overfitting and Underfitting</a:t>
            </a:r>
          </a:p>
        </p:txBody>
      </p:sp>
      <p:pic>
        <p:nvPicPr>
          <p:cNvPr id="4" name="Picture 3">
            <a:extLst>
              <a:ext uri="{FF2B5EF4-FFF2-40B4-BE49-F238E27FC236}">
                <a16:creationId xmlns:a16="http://schemas.microsoft.com/office/drawing/2014/main" id="{0BBEC786-A1DA-F1D4-44D7-45EA015EC561}"/>
              </a:ext>
            </a:extLst>
          </p:cNvPr>
          <p:cNvPicPr>
            <a:picLocks noChangeAspect="1"/>
          </p:cNvPicPr>
          <p:nvPr/>
        </p:nvPicPr>
        <p:blipFill>
          <a:blip r:embed="rId2"/>
          <a:stretch>
            <a:fillRect/>
          </a:stretch>
        </p:blipFill>
        <p:spPr>
          <a:xfrm>
            <a:off x="423862" y="1947139"/>
            <a:ext cx="7617118" cy="2255405"/>
          </a:xfrm>
          <a:prstGeom prst="rect">
            <a:avLst/>
          </a:prstGeom>
        </p:spPr>
      </p:pic>
      <p:sp>
        <p:nvSpPr>
          <p:cNvPr id="6" name="TextBox 5">
            <a:extLst>
              <a:ext uri="{FF2B5EF4-FFF2-40B4-BE49-F238E27FC236}">
                <a16:creationId xmlns:a16="http://schemas.microsoft.com/office/drawing/2014/main" id="{5AB65BAA-A2B5-1942-059A-BEB225F94804}"/>
              </a:ext>
            </a:extLst>
          </p:cNvPr>
          <p:cNvSpPr txBox="1"/>
          <p:nvPr/>
        </p:nvSpPr>
        <p:spPr>
          <a:xfrm>
            <a:off x="905163" y="4315860"/>
            <a:ext cx="9476509" cy="1477328"/>
          </a:xfrm>
          <a:prstGeom prst="rect">
            <a:avLst/>
          </a:prstGeom>
          <a:noFill/>
        </p:spPr>
        <p:txBody>
          <a:bodyPr wrap="square">
            <a:spAutoFit/>
          </a:bodyPr>
          <a:lstStyle/>
          <a:p>
            <a:pPr marL="285750" indent="-285750">
              <a:buFont typeface="Arial" panose="020B0604020202020204" pitchFamily="34" charset="0"/>
              <a:buChar char="•"/>
            </a:pPr>
            <a:r>
              <a:rPr lang="en-US" b="1" dirty="0"/>
              <a:t>Underfitting</a:t>
            </a:r>
            <a:r>
              <a:rPr lang="en-US" dirty="0"/>
              <a:t>: The model fails to capture the trend and has high error.</a:t>
            </a:r>
          </a:p>
          <a:p>
            <a:pPr marL="285750" indent="-285750">
              <a:buFont typeface="Arial" panose="020B0604020202020204" pitchFamily="34" charset="0"/>
              <a:buChar char="•"/>
            </a:pPr>
            <a:r>
              <a:rPr lang="en-US" b="1" dirty="0"/>
              <a:t>Overfitting</a:t>
            </a:r>
            <a:r>
              <a:rPr lang="en-US" dirty="0"/>
              <a:t>: The model captures every detail (including noise) and fits the training data too well but fails to generalize.</a:t>
            </a:r>
          </a:p>
          <a:p>
            <a:pPr marL="285750" indent="-285750">
              <a:buFont typeface="Arial" panose="020B0604020202020204" pitchFamily="34" charset="0"/>
              <a:buChar char="•"/>
            </a:pPr>
            <a:r>
              <a:rPr lang="en-US" b="1" dirty="0"/>
              <a:t>Good Fit</a:t>
            </a:r>
            <a:r>
              <a:rPr lang="en-US" dirty="0"/>
              <a:t>: The model finds a balance between bias and variance, fitting the data well without being too complex or too simple.</a:t>
            </a:r>
          </a:p>
        </p:txBody>
      </p:sp>
    </p:spTree>
    <p:extLst>
      <p:ext uri="{BB962C8B-B14F-4D97-AF65-F5344CB8AC3E}">
        <p14:creationId xmlns:p14="http://schemas.microsoft.com/office/powerpoint/2010/main" val="517457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B382A1-5DB2-A971-A3C6-94C5192D73A3}"/>
              </a:ext>
            </a:extLst>
          </p:cNvPr>
          <p:cNvSpPr txBox="1"/>
          <p:nvPr/>
        </p:nvSpPr>
        <p:spPr>
          <a:xfrm>
            <a:off x="355598" y="1485474"/>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4" name="TextBox 3">
            <a:extLst>
              <a:ext uri="{FF2B5EF4-FFF2-40B4-BE49-F238E27FC236}">
                <a16:creationId xmlns:a16="http://schemas.microsoft.com/office/drawing/2014/main" id="{C4B7D046-B56C-C5FA-CF8C-D31E5ED3488F}"/>
              </a:ext>
            </a:extLst>
          </p:cNvPr>
          <p:cNvSpPr txBox="1"/>
          <p:nvPr/>
        </p:nvSpPr>
        <p:spPr>
          <a:xfrm>
            <a:off x="1791854" y="1947139"/>
            <a:ext cx="6096000" cy="369332"/>
          </a:xfrm>
          <a:prstGeom prst="rect">
            <a:avLst/>
          </a:prstGeom>
          <a:noFill/>
        </p:spPr>
        <p:txBody>
          <a:bodyPr wrap="square">
            <a:spAutoFit/>
          </a:bodyPr>
          <a:lstStyle/>
          <a:p>
            <a:r>
              <a:rPr lang="en-US" b="1" dirty="0"/>
              <a:t>Regularization</a:t>
            </a:r>
          </a:p>
        </p:txBody>
      </p:sp>
      <p:sp>
        <p:nvSpPr>
          <p:cNvPr id="6" name="TextBox 5">
            <a:extLst>
              <a:ext uri="{FF2B5EF4-FFF2-40B4-BE49-F238E27FC236}">
                <a16:creationId xmlns:a16="http://schemas.microsoft.com/office/drawing/2014/main" id="{95EED576-677B-259D-F176-5D1345BA78F2}"/>
              </a:ext>
            </a:extLst>
          </p:cNvPr>
          <p:cNvSpPr txBox="1"/>
          <p:nvPr/>
        </p:nvSpPr>
        <p:spPr>
          <a:xfrm>
            <a:off x="2262908" y="2316471"/>
            <a:ext cx="8054109"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Regularization is a technique designed to </a:t>
            </a:r>
            <a:r>
              <a:rPr lang="en-US" b="1" dirty="0"/>
              <a:t>reduce overfitting</a:t>
            </a:r>
            <a:r>
              <a:rPr lang="en-US" dirty="0"/>
              <a:t> by adding a penalty term to the cost function of a model. Overfitting happens when a model is too complex and fits the noise in the training data, failing to generalize well on new, unseen data.</a:t>
            </a:r>
          </a:p>
        </p:txBody>
      </p:sp>
      <p:sp>
        <p:nvSpPr>
          <p:cNvPr id="8" name="TextBox 7">
            <a:extLst>
              <a:ext uri="{FF2B5EF4-FFF2-40B4-BE49-F238E27FC236}">
                <a16:creationId xmlns:a16="http://schemas.microsoft.com/office/drawing/2014/main" id="{659C80CE-6ACE-F215-2777-515C8A6C2ECE}"/>
              </a:ext>
            </a:extLst>
          </p:cNvPr>
          <p:cNvSpPr txBox="1"/>
          <p:nvPr/>
        </p:nvSpPr>
        <p:spPr>
          <a:xfrm>
            <a:off x="1791854" y="3516800"/>
            <a:ext cx="6096000" cy="369332"/>
          </a:xfrm>
          <a:prstGeom prst="rect">
            <a:avLst/>
          </a:prstGeom>
          <a:noFill/>
        </p:spPr>
        <p:txBody>
          <a:bodyPr wrap="square">
            <a:spAutoFit/>
          </a:bodyPr>
          <a:lstStyle/>
          <a:p>
            <a:r>
              <a:rPr lang="en-US" b="1" dirty="0"/>
              <a:t>Regularized Regression</a:t>
            </a:r>
          </a:p>
        </p:txBody>
      </p:sp>
      <p:sp>
        <p:nvSpPr>
          <p:cNvPr id="10" name="TextBox 9">
            <a:extLst>
              <a:ext uri="{FF2B5EF4-FFF2-40B4-BE49-F238E27FC236}">
                <a16:creationId xmlns:a16="http://schemas.microsoft.com/office/drawing/2014/main" id="{31455F86-9BCF-473B-9452-AFF9B67ED570}"/>
              </a:ext>
            </a:extLst>
          </p:cNvPr>
          <p:cNvSpPr txBox="1"/>
          <p:nvPr/>
        </p:nvSpPr>
        <p:spPr>
          <a:xfrm>
            <a:off x="2262907" y="3895198"/>
            <a:ext cx="8054109" cy="923330"/>
          </a:xfrm>
          <a:prstGeom prst="rect">
            <a:avLst/>
          </a:prstGeom>
          <a:noFill/>
        </p:spPr>
        <p:txBody>
          <a:bodyPr wrap="square">
            <a:spAutoFit/>
          </a:bodyPr>
          <a:lstStyle/>
          <a:p>
            <a:pPr marL="285750" indent="-285750" algn="just">
              <a:buFont typeface="Arial" panose="020B0604020202020204" pitchFamily="34" charset="0"/>
              <a:buChar char="•"/>
            </a:pPr>
            <a:r>
              <a:rPr lang="en-US" dirty="0"/>
              <a:t>Regularized regression constrains the coefficient estimates to prevent them from becoming too large or too flexible. This ensures that the model doesn’t overly adapt to the training data, reducing the likelihood of overfitting.</a:t>
            </a:r>
          </a:p>
        </p:txBody>
      </p:sp>
    </p:spTree>
    <p:extLst>
      <p:ext uri="{BB962C8B-B14F-4D97-AF65-F5344CB8AC3E}">
        <p14:creationId xmlns:p14="http://schemas.microsoft.com/office/powerpoint/2010/main" val="2775431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24CD114-C398-E266-F888-A3EC389FA18F}"/>
              </a:ext>
            </a:extLst>
          </p:cNvPr>
          <p:cNvPicPr>
            <a:picLocks noChangeAspect="1"/>
          </p:cNvPicPr>
          <p:nvPr/>
        </p:nvPicPr>
        <p:blipFill>
          <a:blip r:embed="rId2"/>
          <a:stretch>
            <a:fillRect/>
          </a:stretch>
        </p:blipFill>
        <p:spPr>
          <a:xfrm>
            <a:off x="681037" y="2271712"/>
            <a:ext cx="6405563" cy="3808376"/>
          </a:xfrm>
          <a:prstGeom prst="rect">
            <a:avLst/>
          </a:prstGeom>
        </p:spPr>
      </p:pic>
      <p:sp>
        <p:nvSpPr>
          <p:cNvPr id="2" name="TextBox 1">
            <a:extLst>
              <a:ext uri="{FF2B5EF4-FFF2-40B4-BE49-F238E27FC236}">
                <a16:creationId xmlns:a16="http://schemas.microsoft.com/office/drawing/2014/main" id="{63C36EFA-F833-B438-844A-897C1C8F9609}"/>
              </a:ext>
            </a:extLst>
          </p:cNvPr>
          <p:cNvSpPr txBox="1"/>
          <p:nvPr/>
        </p:nvSpPr>
        <p:spPr>
          <a:xfrm>
            <a:off x="355598" y="1485474"/>
            <a:ext cx="4345711" cy="461665"/>
          </a:xfrm>
          <a:prstGeom prst="rect">
            <a:avLst/>
          </a:prstGeom>
          <a:noFill/>
        </p:spPr>
        <p:txBody>
          <a:bodyPr wrap="square">
            <a:spAutoFit/>
          </a:bodyPr>
          <a:lstStyle/>
          <a:p>
            <a:r>
              <a:rPr lang="en-US" sz="2400" b="1" dirty="0">
                <a:solidFill>
                  <a:srgbClr val="1869A6"/>
                </a:solidFill>
              </a:rPr>
              <a:t>Overfitting and Underfitting</a:t>
            </a:r>
          </a:p>
        </p:txBody>
      </p:sp>
    </p:spTree>
    <p:extLst>
      <p:ext uri="{BB962C8B-B14F-4D97-AF65-F5344CB8AC3E}">
        <p14:creationId xmlns:p14="http://schemas.microsoft.com/office/powerpoint/2010/main" val="47141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97143C-3585-7675-E289-F6C1E2AF082F}"/>
              </a:ext>
            </a:extLst>
          </p:cNvPr>
          <p:cNvSpPr txBox="1"/>
          <p:nvPr/>
        </p:nvSpPr>
        <p:spPr>
          <a:xfrm>
            <a:off x="355598" y="1485474"/>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4" name="TextBox 3">
            <a:extLst>
              <a:ext uri="{FF2B5EF4-FFF2-40B4-BE49-F238E27FC236}">
                <a16:creationId xmlns:a16="http://schemas.microsoft.com/office/drawing/2014/main" id="{BC7C03E5-EC74-9040-22FC-AD9C0CB30010}"/>
              </a:ext>
            </a:extLst>
          </p:cNvPr>
          <p:cNvSpPr txBox="1"/>
          <p:nvPr/>
        </p:nvSpPr>
        <p:spPr>
          <a:xfrm>
            <a:off x="1043708" y="1947139"/>
            <a:ext cx="6096000" cy="369332"/>
          </a:xfrm>
          <a:prstGeom prst="rect">
            <a:avLst/>
          </a:prstGeom>
          <a:noFill/>
        </p:spPr>
        <p:txBody>
          <a:bodyPr wrap="square">
            <a:spAutoFit/>
          </a:bodyPr>
          <a:lstStyle/>
          <a:p>
            <a:r>
              <a:rPr lang="en-US" b="1" dirty="0"/>
              <a:t>Regularization Parameter</a:t>
            </a:r>
          </a:p>
        </p:txBody>
      </p:sp>
      <p:sp>
        <p:nvSpPr>
          <p:cNvPr id="8" name="TextBox 7">
            <a:extLst>
              <a:ext uri="{FF2B5EF4-FFF2-40B4-BE49-F238E27FC236}">
                <a16:creationId xmlns:a16="http://schemas.microsoft.com/office/drawing/2014/main" id="{BF7CE9BF-0C75-F20C-EA5A-6061E536FF0E}"/>
              </a:ext>
            </a:extLst>
          </p:cNvPr>
          <p:cNvSpPr txBox="1"/>
          <p:nvPr/>
        </p:nvSpPr>
        <p:spPr>
          <a:xfrm>
            <a:off x="1567872" y="2314615"/>
            <a:ext cx="6096000" cy="369332"/>
          </a:xfrm>
          <a:prstGeom prst="rect">
            <a:avLst/>
          </a:prstGeom>
          <a:noFill/>
        </p:spPr>
        <p:txBody>
          <a:bodyPr wrap="square">
            <a:spAutoFit/>
          </a:bodyPr>
          <a:lstStyle/>
          <a:p>
            <a:r>
              <a:rPr lang="en-US" dirty="0"/>
              <a:t>Regularization Parameter (Lambda)</a:t>
            </a:r>
          </a:p>
        </p:txBody>
      </p:sp>
      <p:sp>
        <p:nvSpPr>
          <p:cNvPr id="10" name="TextBox 9">
            <a:extLst>
              <a:ext uri="{FF2B5EF4-FFF2-40B4-BE49-F238E27FC236}">
                <a16:creationId xmlns:a16="http://schemas.microsoft.com/office/drawing/2014/main" id="{0FE50B87-433A-89F7-4827-532B57AB1D7A}"/>
              </a:ext>
            </a:extLst>
          </p:cNvPr>
          <p:cNvSpPr txBox="1"/>
          <p:nvPr/>
        </p:nvSpPr>
        <p:spPr>
          <a:xfrm>
            <a:off x="2022763" y="2696726"/>
            <a:ext cx="8922327" cy="1754326"/>
          </a:xfrm>
          <a:prstGeom prst="rect">
            <a:avLst/>
          </a:prstGeom>
          <a:noFill/>
        </p:spPr>
        <p:txBody>
          <a:bodyPr wrap="square">
            <a:spAutoFit/>
          </a:bodyPr>
          <a:lstStyle/>
          <a:p>
            <a:pPr marL="285750" indent="-285750" algn="just">
              <a:buFont typeface="Arial" panose="020B0604020202020204" pitchFamily="34" charset="0"/>
              <a:buChar char="•"/>
            </a:pPr>
            <a:r>
              <a:rPr lang="en-US" dirty="0"/>
              <a:t>Lambda (λ) is the </a:t>
            </a:r>
            <a:r>
              <a:rPr lang="en-US" b="1" dirty="0"/>
              <a:t>regularization parameter</a:t>
            </a:r>
            <a:r>
              <a:rPr lang="en-US" dirty="0"/>
              <a:t> that controls the strength of the regularization applied. A </a:t>
            </a:r>
            <a:r>
              <a:rPr lang="en-US" b="1" dirty="0"/>
              <a:t>higher lambda</a:t>
            </a:r>
            <a:r>
              <a:rPr lang="en-US" dirty="0"/>
              <a:t> increases the penalty on large coefficients, effectively reducing overfitting but potentially causing underfitting if λ is too large.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If λ is </a:t>
            </a:r>
            <a:r>
              <a:rPr lang="en-US" b="1" dirty="0"/>
              <a:t>small</a:t>
            </a:r>
            <a:r>
              <a:rPr lang="en-US" dirty="0"/>
              <a:t>, the model will behave more like a traditional regression model (e.g., without regularization), potentially overfitting the data.</a:t>
            </a:r>
          </a:p>
        </p:txBody>
      </p:sp>
      <p:sp>
        <p:nvSpPr>
          <p:cNvPr id="12" name="TextBox 11">
            <a:extLst>
              <a:ext uri="{FF2B5EF4-FFF2-40B4-BE49-F238E27FC236}">
                <a16:creationId xmlns:a16="http://schemas.microsoft.com/office/drawing/2014/main" id="{C77CF6DB-4176-5D22-C773-6C1794D3F37A}"/>
              </a:ext>
            </a:extLst>
          </p:cNvPr>
          <p:cNvSpPr txBox="1"/>
          <p:nvPr/>
        </p:nvSpPr>
        <p:spPr>
          <a:xfrm>
            <a:off x="1567872" y="4356864"/>
            <a:ext cx="6096000" cy="369332"/>
          </a:xfrm>
          <a:prstGeom prst="rect">
            <a:avLst/>
          </a:prstGeom>
          <a:noFill/>
        </p:spPr>
        <p:txBody>
          <a:bodyPr wrap="square">
            <a:spAutoFit/>
          </a:bodyPr>
          <a:lstStyle/>
          <a:p>
            <a:r>
              <a:rPr lang="en-US" dirty="0"/>
              <a:t>Effect of Increasing Lambda</a:t>
            </a:r>
          </a:p>
        </p:txBody>
      </p:sp>
      <p:sp>
        <p:nvSpPr>
          <p:cNvPr id="14" name="TextBox 13">
            <a:extLst>
              <a:ext uri="{FF2B5EF4-FFF2-40B4-BE49-F238E27FC236}">
                <a16:creationId xmlns:a16="http://schemas.microsoft.com/office/drawing/2014/main" id="{38DEC3C7-4CD7-892E-6AE7-1CE5FC94614C}"/>
              </a:ext>
            </a:extLst>
          </p:cNvPr>
          <p:cNvSpPr txBox="1"/>
          <p:nvPr/>
        </p:nvSpPr>
        <p:spPr>
          <a:xfrm>
            <a:off x="2022762" y="4835390"/>
            <a:ext cx="8922327" cy="646331"/>
          </a:xfrm>
          <a:prstGeom prst="rect">
            <a:avLst/>
          </a:prstGeom>
          <a:noFill/>
        </p:spPr>
        <p:txBody>
          <a:bodyPr wrap="square">
            <a:spAutoFit/>
          </a:bodyPr>
          <a:lstStyle/>
          <a:p>
            <a:pPr marL="285750" indent="-285750">
              <a:buFont typeface="Arial" panose="020B0604020202020204" pitchFamily="34" charset="0"/>
              <a:buChar char="•"/>
            </a:pPr>
            <a:r>
              <a:rPr lang="en-US" dirty="0"/>
              <a:t>Increasing lambda results in </a:t>
            </a:r>
            <a:r>
              <a:rPr lang="en-US" b="1" dirty="0"/>
              <a:t>less overfitting</a:t>
            </a:r>
            <a:r>
              <a:rPr lang="en-US" dirty="0"/>
              <a:t> but at the cost of higher bias. This is often referred to as the </a:t>
            </a:r>
            <a:r>
              <a:rPr lang="en-US" b="1" dirty="0"/>
              <a:t>bias-variance tradeoff</a:t>
            </a:r>
            <a:r>
              <a:rPr lang="en-US" dirty="0"/>
              <a:t>.</a:t>
            </a:r>
          </a:p>
        </p:txBody>
      </p:sp>
      <p:pic>
        <p:nvPicPr>
          <p:cNvPr id="16" name="Picture 15">
            <a:extLst>
              <a:ext uri="{FF2B5EF4-FFF2-40B4-BE49-F238E27FC236}">
                <a16:creationId xmlns:a16="http://schemas.microsoft.com/office/drawing/2014/main" id="{607B74E2-347D-B9B0-8A90-D287458707C2}"/>
              </a:ext>
            </a:extLst>
          </p:cNvPr>
          <p:cNvPicPr>
            <a:picLocks noChangeAspect="1"/>
          </p:cNvPicPr>
          <p:nvPr/>
        </p:nvPicPr>
        <p:blipFill>
          <a:blip r:embed="rId2"/>
          <a:stretch>
            <a:fillRect/>
          </a:stretch>
        </p:blipFill>
        <p:spPr>
          <a:xfrm>
            <a:off x="2812040" y="5580421"/>
            <a:ext cx="6996978" cy="486018"/>
          </a:xfrm>
          <a:prstGeom prst="rect">
            <a:avLst/>
          </a:prstGeom>
        </p:spPr>
      </p:pic>
    </p:spTree>
    <p:extLst>
      <p:ext uri="{BB962C8B-B14F-4D97-AF65-F5344CB8AC3E}">
        <p14:creationId xmlns:p14="http://schemas.microsoft.com/office/powerpoint/2010/main" val="2383992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20408C-E5D0-50F5-9619-C342BCFEAA3B}"/>
              </a:ext>
            </a:extLst>
          </p:cNvPr>
          <p:cNvSpPr txBox="1"/>
          <p:nvPr/>
        </p:nvSpPr>
        <p:spPr>
          <a:xfrm>
            <a:off x="355598" y="1485474"/>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4" name="TextBox 3">
            <a:extLst>
              <a:ext uri="{FF2B5EF4-FFF2-40B4-BE49-F238E27FC236}">
                <a16:creationId xmlns:a16="http://schemas.microsoft.com/office/drawing/2014/main" id="{F1E6F434-0BC4-3F09-1306-C201F39C622E}"/>
              </a:ext>
            </a:extLst>
          </p:cNvPr>
          <p:cNvSpPr txBox="1"/>
          <p:nvPr/>
        </p:nvSpPr>
        <p:spPr>
          <a:xfrm>
            <a:off x="1736436" y="1947139"/>
            <a:ext cx="6096000" cy="369332"/>
          </a:xfrm>
          <a:prstGeom prst="rect">
            <a:avLst/>
          </a:prstGeom>
          <a:noFill/>
        </p:spPr>
        <p:txBody>
          <a:bodyPr wrap="square">
            <a:spAutoFit/>
          </a:bodyPr>
          <a:lstStyle/>
          <a:p>
            <a:r>
              <a:rPr lang="en-US" b="1" dirty="0"/>
              <a:t>Types of Regularization (L1 &amp; L2)</a:t>
            </a:r>
          </a:p>
        </p:txBody>
      </p:sp>
      <p:sp>
        <p:nvSpPr>
          <p:cNvPr id="6" name="TextBox 5">
            <a:extLst>
              <a:ext uri="{FF2B5EF4-FFF2-40B4-BE49-F238E27FC236}">
                <a16:creationId xmlns:a16="http://schemas.microsoft.com/office/drawing/2014/main" id="{88611989-7B89-16E2-1920-E7A985D844F8}"/>
              </a:ext>
            </a:extLst>
          </p:cNvPr>
          <p:cNvSpPr txBox="1"/>
          <p:nvPr/>
        </p:nvSpPr>
        <p:spPr>
          <a:xfrm>
            <a:off x="2272146" y="2316471"/>
            <a:ext cx="6096000" cy="369332"/>
          </a:xfrm>
          <a:prstGeom prst="rect">
            <a:avLst/>
          </a:prstGeom>
          <a:noFill/>
        </p:spPr>
        <p:txBody>
          <a:bodyPr wrap="square">
            <a:spAutoFit/>
          </a:bodyPr>
          <a:lstStyle/>
          <a:p>
            <a:r>
              <a:rPr lang="en-US" dirty="0"/>
              <a:t>1. L2 Regularization (Ridge)</a:t>
            </a:r>
          </a:p>
        </p:txBody>
      </p:sp>
      <p:sp>
        <p:nvSpPr>
          <p:cNvPr id="8" name="TextBox 7">
            <a:extLst>
              <a:ext uri="{FF2B5EF4-FFF2-40B4-BE49-F238E27FC236}">
                <a16:creationId xmlns:a16="http://schemas.microsoft.com/office/drawing/2014/main" id="{6F5F4E04-5A35-2D50-A17A-0E078ADDF223}"/>
              </a:ext>
            </a:extLst>
          </p:cNvPr>
          <p:cNvSpPr txBox="1"/>
          <p:nvPr/>
        </p:nvSpPr>
        <p:spPr>
          <a:xfrm>
            <a:off x="2632364" y="2685803"/>
            <a:ext cx="7167418" cy="1477328"/>
          </a:xfrm>
          <a:prstGeom prst="rect">
            <a:avLst/>
          </a:prstGeom>
          <a:noFill/>
        </p:spPr>
        <p:txBody>
          <a:bodyPr wrap="square">
            <a:spAutoFit/>
          </a:bodyPr>
          <a:lstStyle/>
          <a:p>
            <a:pPr marL="285750" indent="-285750">
              <a:buFont typeface="Arial" panose="020B0604020202020204" pitchFamily="34" charset="0"/>
              <a:buChar char="•"/>
            </a:pPr>
            <a:r>
              <a:rPr lang="en-US" dirty="0"/>
              <a:t>In L2 regularization, a </a:t>
            </a:r>
            <a:r>
              <a:rPr lang="en-US" b="1" dirty="0"/>
              <a:t>squared penalty</a:t>
            </a:r>
            <a:r>
              <a:rPr lang="en-US" dirty="0"/>
              <a:t> is added to the sum of the squared coefficients. It helps in shrinking all coefficients, leading to a simpler model with smaller weights.</a:t>
            </a:r>
          </a:p>
          <a:p>
            <a:pPr marL="285750" indent="-285750">
              <a:buFont typeface="Arial" panose="020B0604020202020204" pitchFamily="34" charset="0"/>
              <a:buChar char="•"/>
            </a:pPr>
            <a:r>
              <a:rPr lang="en-US" dirty="0"/>
              <a:t>This method </a:t>
            </a:r>
            <a:r>
              <a:rPr lang="en-US" b="1" dirty="0"/>
              <a:t>reduces the impact of irrelevant features</a:t>
            </a:r>
            <a:r>
              <a:rPr lang="en-US" dirty="0"/>
              <a:t> but doesn't force the coefficients of less important features to exactly zero.</a:t>
            </a:r>
          </a:p>
        </p:txBody>
      </p:sp>
    </p:spTree>
    <p:extLst>
      <p:ext uri="{BB962C8B-B14F-4D97-AF65-F5344CB8AC3E}">
        <p14:creationId xmlns:p14="http://schemas.microsoft.com/office/powerpoint/2010/main" val="32958345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8ECCC9-F243-B1B6-42C4-454C5A36BF9A}"/>
              </a:ext>
            </a:extLst>
          </p:cNvPr>
          <p:cNvSpPr txBox="1"/>
          <p:nvPr/>
        </p:nvSpPr>
        <p:spPr>
          <a:xfrm>
            <a:off x="355598" y="1485474"/>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3" name="TextBox 2">
            <a:extLst>
              <a:ext uri="{FF2B5EF4-FFF2-40B4-BE49-F238E27FC236}">
                <a16:creationId xmlns:a16="http://schemas.microsoft.com/office/drawing/2014/main" id="{585A166F-7FCB-4DB3-9E16-E35913602B7D}"/>
              </a:ext>
            </a:extLst>
          </p:cNvPr>
          <p:cNvSpPr txBox="1"/>
          <p:nvPr/>
        </p:nvSpPr>
        <p:spPr>
          <a:xfrm>
            <a:off x="1736436" y="1947139"/>
            <a:ext cx="6096000" cy="369332"/>
          </a:xfrm>
          <a:prstGeom prst="rect">
            <a:avLst/>
          </a:prstGeom>
          <a:noFill/>
        </p:spPr>
        <p:txBody>
          <a:bodyPr wrap="square">
            <a:spAutoFit/>
          </a:bodyPr>
          <a:lstStyle/>
          <a:p>
            <a:r>
              <a:rPr lang="en-US" b="1" dirty="0"/>
              <a:t>Types of Regularization (L1 &amp; L2)</a:t>
            </a:r>
          </a:p>
        </p:txBody>
      </p:sp>
      <p:sp>
        <p:nvSpPr>
          <p:cNvPr id="4" name="TextBox 3">
            <a:extLst>
              <a:ext uri="{FF2B5EF4-FFF2-40B4-BE49-F238E27FC236}">
                <a16:creationId xmlns:a16="http://schemas.microsoft.com/office/drawing/2014/main" id="{6F569692-F66A-C798-FE33-DA9E958630FB}"/>
              </a:ext>
            </a:extLst>
          </p:cNvPr>
          <p:cNvSpPr txBox="1"/>
          <p:nvPr/>
        </p:nvSpPr>
        <p:spPr>
          <a:xfrm>
            <a:off x="2272146" y="2316471"/>
            <a:ext cx="6096000" cy="369332"/>
          </a:xfrm>
          <a:prstGeom prst="rect">
            <a:avLst/>
          </a:prstGeom>
          <a:noFill/>
        </p:spPr>
        <p:txBody>
          <a:bodyPr wrap="square">
            <a:spAutoFit/>
          </a:bodyPr>
          <a:lstStyle/>
          <a:p>
            <a:r>
              <a:rPr lang="en-US" dirty="0"/>
              <a:t>2. L1 Regularization (Lasso)</a:t>
            </a:r>
          </a:p>
        </p:txBody>
      </p:sp>
      <p:sp>
        <p:nvSpPr>
          <p:cNvPr id="5" name="TextBox 4">
            <a:extLst>
              <a:ext uri="{FF2B5EF4-FFF2-40B4-BE49-F238E27FC236}">
                <a16:creationId xmlns:a16="http://schemas.microsoft.com/office/drawing/2014/main" id="{3D4ABED6-2A22-7136-E8E2-05B0FA859238}"/>
              </a:ext>
            </a:extLst>
          </p:cNvPr>
          <p:cNvSpPr txBox="1"/>
          <p:nvPr/>
        </p:nvSpPr>
        <p:spPr>
          <a:xfrm>
            <a:off x="2632364" y="2685803"/>
            <a:ext cx="7167418" cy="1200329"/>
          </a:xfrm>
          <a:prstGeom prst="rect">
            <a:avLst/>
          </a:prstGeom>
          <a:noFill/>
        </p:spPr>
        <p:txBody>
          <a:bodyPr wrap="square">
            <a:spAutoFit/>
          </a:bodyPr>
          <a:lstStyle/>
          <a:p>
            <a:pPr marL="285750" indent="-285750">
              <a:buFont typeface="Arial" panose="020B0604020202020204" pitchFamily="34" charset="0"/>
              <a:buChar char="•"/>
            </a:pPr>
            <a:r>
              <a:rPr lang="en-US" dirty="0"/>
              <a:t>L1 regularization adds a </a:t>
            </a:r>
            <a:r>
              <a:rPr lang="en-US" b="1" dirty="0"/>
              <a:t>penalty equal to the absolute value</a:t>
            </a:r>
            <a:r>
              <a:rPr lang="en-US" dirty="0"/>
              <a:t> of the magnitude of the coefficients. This has the effect of shrinking some coefficients to </a:t>
            </a:r>
            <a:r>
              <a:rPr lang="en-US" b="1" dirty="0"/>
              <a:t>zero</a:t>
            </a:r>
            <a:r>
              <a:rPr lang="en-US" dirty="0"/>
              <a:t>, which can result in a sparse model (i.e., feature selection).</a:t>
            </a:r>
          </a:p>
        </p:txBody>
      </p:sp>
    </p:spTree>
    <p:extLst>
      <p:ext uri="{BB962C8B-B14F-4D97-AF65-F5344CB8AC3E}">
        <p14:creationId xmlns:p14="http://schemas.microsoft.com/office/powerpoint/2010/main" val="2932352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4538DA-9CEE-FE3B-B791-07301BF5914D}"/>
              </a:ext>
            </a:extLst>
          </p:cNvPr>
          <p:cNvSpPr txBox="1"/>
          <p:nvPr/>
        </p:nvSpPr>
        <p:spPr>
          <a:xfrm>
            <a:off x="355598" y="1485474"/>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6" name="TextBox 5">
            <a:extLst>
              <a:ext uri="{FF2B5EF4-FFF2-40B4-BE49-F238E27FC236}">
                <a16:creationId xmlns:a16="http://schemas.microsoft.com/office/drawing/2014/main" id="{E72AFA08-6A6F-D22F-FBB1-98095BAF3D97}"/>
              </a:ext>
            </a:extLst>
          </p:cNvPr>
          <p:cNvSpPr txBox="1"/>
          <p:nvPr/>
        </p:nvSpPr>
        <p:spPr>
          <a:xfrm>
            <a:off x="1089891" y="1947139"/>
            <a:ext cx="6096000" cy="369332"/>
          </a:xfrm>
          <a:prstGeom prst="rect">
            <a:avLst/>
          </a:prstGeom>
          <a:noFill/>
        </p:spPr>
        <p:txBody>
          <a:bodyPr wrap="square">
            <a:spAutoFit/>
          </a:bodyPr>
          <a:lstStyle/>
          <a:p>
            <a:r>
              <a:rPr lang="en-US" b="1" dirty="0"/>
              <a:t>Types of Regularization (Mathematical Representation)</a:t>
            </a:r>
          </a:p>
        </p:txBody>
      </p:sp>
      <p:sp>
        <p:nvSpPr>
          <p:cNvPr id="8" name="TextBox 7">
            <a:extLst>
              <a:ext uri="{FF2B5EF4-FFF2-40B4-BE49-F238E27FC236}">
                <a16:creationId xmlns:a16="http://schemas.microsoft.com/office/drawing/2014/main" id="{C024EB96-AB70-8299-E012-7E76E196529D}"/>
              </a:ext>
            </a:extLst>
          </p:cNvPr>
          <p:cNvSpPr txBox="1"/>
          <p:nvPr/>
        </p:nvSpPr>
        <p:spPr>
          <a:xfrm>
            <a:off x="1089891" y="2316471"/>
            <a:ext cx="6096000" cy="369332"/>
          </a:xfrm>
          <a:prstGeom prst="rect">
            <a:avLst/>
          </a:prstGeom>
          <a:noFill/>
        </p:spPr>
        <p:txBody>
          <a:bodyPr wrap="square">
            <a:spAutoFit/>
          </a:bodyPr>
          <a:lstStyle/>
          <a:p>
            <a:r>
              <a:rPr lang="en-US"/>
              <a:t>L1 Regularization (Lasso) Equation</a:t>
            </a:r>
            <a:endParaRPr lang="en-US" dirty="0"/>
          </a:p>
        </p:txBody>
      </p:sp>
      <p:sp>
        <p:nvSpPr>
          <p:cNvPr id="10" name="TextBox 9">
            <a:extLst>
              <a:ext uri="{FF2B5EF4-FFF2-40B4-BE49-F238E27FC236}">
                <a16:creationId xmlns:a16="http://schemas.microsoft.com/office/drawing/2014/main" id="{7F117260-438D-322E-FAC9-7D7A0948FA68}"/>
              </a:ext>
            </a:extLst>
          </p:cNvPr>
          <p:cNvSpPr txBox="1"/>
          <p:nvPr/>
        </p:nvSpPr>
        <p:spPr>
          <a:xfrm>
            <a:off x="1560945" y="2685803"/>
            <a:ext cx="9679709" cy="646331"/>
          </a:xfrm>
          <a:prstGeom prst="rect">
            <a:avLst/>
          </a:prstGeom>
          <a:noFill/>
        </p:spPr>
        <p:txBody>
          <a:bodyPr wrap="square">
            <a:spAutoFit/>
          </a:bodyPr>
          <a:lstStyle/>
          <a:p>
            <a:pPr marL="285750" indent="-285750">
              <a:buFont typeface="Arial" panose="020B0604020202020204" pitchFamily="34" charset="0"/>
              <a:buChar char="•"/>
            </a:pPr>
            <a:r>
              <a:rPr lang="en-US" dirty="0"/>
              <a:t>The cost function for L1 regularization adds a penalty term proportional to the absolute value of the coefficients (|W|). This results in some coefficients being zeroed out (feature selection).</a:t>
            </a:r>
          </a:p>
        </p:txBody>
      </p:sp>
      <p:pic>
        <p:nvPicPr>
          <p:cNvPr id="12" name="Picture 11">
            <a:extLst>
              <a:ext uri="{FF2B5EF4-FFF2-40B4-BE49-F238E27FC236}">
                <a16:creationId xmlns:a16="http://schemas.microsoft.com/office/drawing/2014/main" id="{B73427A8-0F7E-19CF-796F-374C2B724F82}"/>
              </a:ext>
            </a:extLst>
          </p:cNvPr>
          <p:cNvPicPr>
            <a:picLocks noChangeAspect="1"/>
          </p:cNvPicPr>
          <p:nvPr/>
        </p:nvPicPr>
        <p:blipFill>
          <a:blip r:embed="rId2"/>
          <a:stretch>
            <a:fillRect/>
          </a:stretch>
        </p:blipFill>
        <p:spPr>
          <a:xfrm>
            <a:off x="3515591" y="3525867"/>
            <a:ext cx="5601482" cy="992800"/>
          </a:xfrm>
          <a:prstGeom prst="rect">
            <a:avLst/>
          </a:prstGeom>
        </p:spPr>
      </p:pic>
    </p:spTree>
    <p:extLst>
      <p:ext uri="{BB962C8B-B14F-4D97-AF65-F5344CB8AC3E}">
        <p14:creationId xmlns:p14="http://schemas.microsoft.com/office/powerpoint/2010/main" val="16617445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59B1B5-13DF-F7F0-31B4-A62E24316AD6}"/>
              </a:ext>
            </a:extLst>
          </p:cNvPr>
          <p:cNvSpPr txBox="1"/>
          <p:nvPr/>
        </p:nvSpPr>
        <p:spPr>
          <a:xfrm>
            <a:off x="355598" y="1485474"/>
            <a:ext cx="4345711" cy="461665"/>
          </a:xfrm>
          <a:prstGeom prst="rect">
            <a:avLst/>
          </a:prstGeom>
          <a:noFill/>
        </p:spPr>
        <p:txBody>
          <a:bodyPr wrap="square">
            <a:spAutoFit/>
          </a:bodyPr>
          <a:lstStyle/>
          <a:p>
            <a:r>
              <a:rPr lang="en-US" sz="2400" b="1" dirty="0">
                <a:solidFill>
                  <a:srgbClr val="1869A6"/>
                </a:solidFill>
              </a:rPr>
              <a:t>Overfitting and Underfitting</a:t>
            </a:r>
          </a:p>
        </p:txBody>
      </p:sp>
      <p:sp>
        <p:nvSpPr>
          <p:cNvPr id="5" name="TextBox 4">
            <a:extLst>
              <a:ext uri="{FF2B5EF4-FFF2-40B4-BE49-F238E27FC236}">
                <a16:creationId xmlns:a16="http://schemas.microsoft.com/office/drawing/2014/main" id="{7EE75BEE-C229-C4FB-3B93-3453415C82D0}"/>
              </a:ext>
            </a:extLst>
          </p:cNvPr>
          <p:cNvSpPr txBox="1"/>
          <p:nvPr/>
        </p:nvSpPr>
        <p:spPr>
          <a:xfrm>
            <a:off x="1089891" y="1947139"/>
            <a:ext cx="6096000" cy="369332"/>
          </a:xfrm>
          <a:prstGeom prst="rect">
            <a:avLst/>
          </a:prstGeom>
          <a:noFill/>
        </p:spPr>
        <p:txBody>
          <a:bodyPr wrap="square">
            <a:spAutoFit/>
          </a:bodyPr>
          <a:lstStyle/>
          <a:p>
            <a:r>
              <a:rPr lang="en-US" b="1" dirty="0"/>
              <a:t>Types of Regularization (Mathematical Representation)</a:t>
            </a:r>
          </a:p>
        </p:txBody>
      </p:sp>
      <p:sp>
        <p:nvSpPr>
          <p:cNvPr id="6" name="TextBox 5">
            <a:extLst>
              <a:ext uri="{FF2B5EF4-FFF2-40B4-BE49-F238E27FC236}">
                <a16:creationId xmlns:a16="http://schemas.microsoft.com/office/drawing/2014/main" id="{483A107A-25E6-DDD2-5911-28019185DD78}"/>
              </a:ext>
            </a:extLst>
          </p:cNvPr>
          <p:cNvSpPr txBox="1"/>
          <p:nvPr/>
        </p:nvSpPr>
        <p:spPr>
          <a:xfrm>
            <a:off x="1089891" y="2316471"/>
            <a:ext cx="6096000" cy="369332"/>
          </a:xfrm>
          <a:prstGeom prst="rect">
            <a:avLst/>
          </a:prstGeom>
          <a:noFill/>
        </p:spPr>
        <p:txBody>
          <a:bodyPr wrap="square">
            <a:spAutoFit/>
          </a:bodyPr>
          <a:lstStyle/>
          <a:p>
            <a:r>
              <a:rPr lang="en-US" dirty="0"/>
              <a:t>L2 Regularization (Ridge) Equation</a:t>
            </a:r>
          </a:p>
        </p:txBody>
      </p:sp>
      <p:sp>
        <p:nvSpPr>
          <p:cNvPr id="7" name="TextBox 6">
            <a:extLst>
              <a:ext uri="{FF2B5EF4-FFF2-40B4-BE49-F238E27FC236}">
                <a16:creationId xmlns:a16="http://schemas.microsoft.com/office/drawing/2014/main" id="{F030EA9B-25A1-762A-9C81-AAF6E9375E39}"/>
              </a:ext>
            </a:extLst>
          </p:cNvPr>
          <p:cNvSpPr txBox="1"/>
          <p:nvPr/>
        </p:nvSpPr>
        <p:spPr>
          <a:xfrm>
            <a:off x="1560945" y="2685803"/>
            <a:ext cx="9679709" cy="923330"/>
          </a:xfrm>
          <a:prstGeom prst="rect">
            <a:avLst/>
          </a:prstGeom>
          <a:noFill/>
        </p:spPr>
        <p:txBody>
          <a:bodyPr wrap="square">
            <a:spAutoFit/>
          </a:bodyPr>
          <a:lstStyle/>
          <a:p>
            <a:pPr marL="285750" indent="-285750">
              <a:buFont typeface="Arial" panose="020B0604020202020204" pitchFamily="34" charset="0"/>
              <a:buChar char="•"/>
            </a:pPr>
            <a:r>
              <a:rPr lang="en-US" dirty="0"/>
              <a:t>The cost function for L2 regularization adds a penalty proportional to the </a:t>
            </a:r>
            <a:r>
              <a:rPr lang="en-US" b="1" dirty="0"/>
              <a:t>square of the coefficients</a:t>
            </a:r>
            <a:r>
              <a:rPr lang="en-US" dirty="0"/>
              <a:t> (W²). This shrinks the coefficients without setting any to zero, which is effective when all features are useful, but we want to reduce their influence.</a:t>
            </a:r>
          </a:p>
        </p:txBody>
      </p:sp>
      <p:pic>
        <p:nvPicPr>
          <p:cNvPr id="10" name="Picture 9">
            <a:extLst>
              <a:ext uri="{FF2B5EF4-FFF2-40B4-BE49-F238E27FC236}">
                <a16:creationId xmlns:a16="http://schemas.microsoft.com/office/drawing/2014/main" id="{0E2A731D-B2C8-BE84-F819-2979B0DB35C6}"/>
              </a:ext>
            </a:extLst>
          </p:cNvPr>
          <p:cNvPicPr>
            <a:picLocks noChangeAspect="1"/>
          </p:cNvPicPr>
          <p:nvPr/>
        </p:nvPicPr>
        <p:blipFill>
          <a:blip r:embed="rId2"/>
          <a:stretch>
            <a:fillRect/>
          </a:stretch>
        </p:blipFill>
        <p:spPr>
          <a:xfrm>
            <a:off x="3755448" y="3834984"/>
            <a:ext cx="5124450" cy="1590675"/>
          </a:xfrm>
          <a:prstGeom prst="rect">
            <a:avLst/>
          </a:prstGeom>
        </p:spPr>
      </p:pic>
    </p:spTree>
    <p:extLst>
      <p:ext uri="{BB962C8B-B14F-4D97-AF65-F5344CB8AC3E}">
        <p14:creationId xmlns:p14="http://schemas.microsoft.com/office/powerpoint/2010/main" val="3086151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TotalTime>
  <Words>1820</Words>
  <Application>Microsoft Office PowerPoint</Application>
  <PresentationFormat>Widescreen</PresentationFormat>
  <Paragraphs>161</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Nader Genidy</dc:creator>
  <cp:lastModifiedBy>Mahmoud Dy</cp:lastModifiedBy>
  <cp:revision>29</cp:revision>
  <dcterms:created xsi:type="dcterms:W3CDTF">2024-09-03T04:13:48Z</dcterms:created>
  <dcterms:modified xsi:type="dcterms:W3CDTF">2025-09-07T10:19:44Z</dcterms:modified>
</cp:coreProperties>
</file>