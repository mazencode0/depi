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80" r:id="rId25"/>
    <p:sldId id="279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869A6"/>
    <a:srgbClr val="2AAF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0C6DA-5040-4F2E-85A3-0FADE66BF7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E82991-01CA-43B5-8040-AC7246EBEC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60B2BD-E83D-4279-A518-2E709BFB2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5CEFD-06AE-484F-ACB9-2A88EDAB519A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C8035D-BBC2-48BF-86EE-58949E225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D1BB6-76F8-4963-9DF6-660E65825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542CC-0291-444C-BF67-11983F219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28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5187D-114E-4585-B942-9C7F2E321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4D29E-C96A-4CE8-8BF3-4BC6CAF5A5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32341C-B11A-4C02-90CE-9C2522B2C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5CEFD-06AE-484F-ACB9-2A88EDAB519A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E69860-89D2-4C10-8BA6-0FA1C0929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2411B4-4819-40CB-B4E9-3DB9CF468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542CC-0291-444C-BF67-11983F219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613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FF3F3-4D70-4A9C-BC73-E7D529FC4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EEF415-3F26-4890-B1B4-6989E8A78B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25AD3-0D76-4556-85F4-F4D8B0057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5CEFD-06AE-484F-ACB9-2A88EDAB519A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7571E2-9936-4C45-A55B-1A296221E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6B7834-AC64-4D03-9D10-2400E2DB0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542CC-0291-444C-BF67-11983F219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154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4CEE4-DD6A-4C92-BF90-DC80A3B10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8C1826-01A4-4299-AC72-14F07C721E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BB31F3-862B-4096-A8DD-8ACE4554AB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4F811A-D7A3-4BAE-B211-37AF53ACE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5CEFD-06AE-484F-ACB9-2A88EDAB519A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4E1421-B7C1-49F5-887F-902916D5C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414DB2-D47F-42A0-BB82-56228526C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542CC-0291-444C-BF67-11983F219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691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D3893-0054-47A1-A740-8C2C087B5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103410-0FA1-4884-AC09-0B3DED82C1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A9B2C3-4642-47CF-858B-5337E79277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78CEE1-CCCD-4385-9067-A32718EC29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D436D5-32B9-449B-8E29-23224ABAAA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C636D2-6343-453C-BA00-33AA98236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5CEFD-06AE-484F-ACB9-2A88EDAB519A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91016D-9E1D-4285-ADA4-A6D580A7E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85C2D9-C930-40DC-998C-8646C3264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542CC-0291-444C-BF67-11983F219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561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1397F-7AD7-45CD-9303-74DF5878A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2DB87A-874C-4F80-A0C0-A31C57E80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5CEFD-06AE-484F-ACB9-2A88EDAB519A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7DC606-A77E-4AE9-87BA-99E5FFD34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257D34-E0E1-43EB-B52F-EF8435B60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542CC-0291-444C-BF67-11983F219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555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85B1E1-689B-4474-8676-50596400E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5CEFD-06AE-484F-ACB9-2A88EDAB519A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0124C6-1BDF-4051-8C16-47F653E6D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86AF14-375D-4B17-B08E-C9B2CC102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542CC-0291-444C-BF67-11983F219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8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FACB0-3F4D-4EE6-8A32-6B4282168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0D321D-E055-4483-827A-6310490F28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573E66-A7D4-4830-A975-F9D876C6AE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CF5F88-ADFA-4910-BDF5-AF7378385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5CEFD-06AE-484F-ACB9-2A88EDAB519A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53CF9-1586-4C0F-AE33-4FE290E39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24320D-67CD-42F8-86A6-D4F458AAA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542CC-0291-444C-BF67-11983F219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916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48D67-B951-4D8C-B4C9-71A2AC717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8896E4-4708-4096-83DD-1711EC4977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4E9DC3-36F8-4202-A7FB-8465FD784D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B0DFE8-638F-44CF-8D1C-F0E14EF21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5CEFD-06AE-484F-ACB9-2A88EDAB519A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A3DC82-80F8-4385-B554-D1733F0A0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0817CD-D65C-4367-B0D2-99A8B80AE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542CC-0291-444C-BF67-11983F219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147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AC8DA-8D7B-4779-9811-E30051DA1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570BD3-7769-4FE8-8D2E-F7500EE91B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0D8F83-1748-4F61-917A-441F15B5C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5CEFD-06AE-484F-ACB9-2A88EDAB519A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02F4A0-22D9-4C85-B414-EC5766ECB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FC723D-F2D2-464E-88C1-145D36075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542CC-0291-444C-BF67-11983F219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0552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79DD48-86F1-4F64-9F3D-01B721959E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8A9C35-36C9-474E-B117-7A1E34B608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E08942-04EC-493E-871D-E15EEE1D5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5CEFD-06AE-484F-ACB9-2A88EDAB519A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5C801C-AD50-499C-937D-8067ECB19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B190FC-16C8-48DE-A45F-536E18576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542CC-0291-444C-BF67-11983F219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1876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294C43-5C16-45A5-AA8E-B580AA304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74F185-1779-48BB-820F-9E42B4C776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3FB864-FDE0-467B-B9C5-0F7C9197F1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45CEFD-06AE-484F-ACB9-2A88EDAB519A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DD2ED2-8C8D-427E-A0A0-C7980416C3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DCD9DF-732C-45BC-B8E4-BA707667D8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9542CC-0291-444C-BF67-11983F219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377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DE5275A-0336-86F3-8B1A-E5E788B08D1F}"/>
              </a:ext>
            </a:extLst>
          </p:cNvPr>
          <p:cNvSpPr txBox="1"/>
          <p:nvPr/>
        </p:nvSpPr>
        <p:spPr>
          <a:xfrm>
            <a:off x="3556291" y="2782669"/>
            <a:ext cx="50794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2AAF82"/>
                </a:solidFill>
              </a:rPr>
              <a:t>Python Programming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007547-CEEB-DF47-1870-9E41992054C7}"/>
              </a:ext>
            </a:extLst>
          </p:cNvPr>
          <p:cNvSpPr txBox="1"/>
          <p:nvPr/>
        </p:nvSpPr>
        <p:spPr>
          <a:xfrm>
            <a:off x="3930314" y="3422073"/>
            <a:ext cx="43313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rgbClr val="2AAF82"/>
                </a:solidFill>
              </a:rPr>
              <a:t>Session 2: (Functions)</a:t>
            </a:r>
          </a:p>
        </p:txBody>
      </p:sp>
    </p:spTree>
    <p:extLst>
      <p:ext uri="{BB962C8B-B14F-4D97-AF65-F5344CB8AC3E}">
        <p14:creationId xmlns:p14="http://schemas.microsoft.com/office/powerpoint/2010/main" val="1741754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DF3E1C-471C-62F8-31CA-8189B1E7DCAB}"/>
              </a:ext>
            </a:extLst>
          </p:cNvPr>
          <p:cNvSpPr txBox="1"/>
          <p:nvPr/>
        </p:nvSpPr>
        <p:spPr>
          <a:xfrm>
            <a:off x="1723541" y="1283228"/>
            <a:ext cx="17456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1869A6"/>
                </a:solidFill>
              </a:rPr>
              <a:t>Agenda</a:t>
            </a:r>
            <a:r>
              <a:rPr lang="en-US" sz="2800" dirty="0">
                <a:solidFill>
                  <a:srgbClr val="1869A6"/>
                </a:solidFill>
              </a:rPr>
              <a:t>: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2395798-C975-A726-FFB4-1BECBA712A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4219576"/>
              </p:ext>
            </p:extLst>
          </p:nvPr>
        </p:nvGraphicFramePr>
        <p:xfrm>
          <a:off x="2596378" y="2225964"/>
          <a:ext cx="6999244" cy="14749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8311">
                  <a:extLst>
                    <a:ext uri="{9D8B030D-6E8A-4147-A177-3AD203B41FA5}">
                      <a16:colId xmlns:a16="http://schemas.microsoft.com/office/drawing/2014/main" val="2296649913"/>
                    </a:ext>
                  </a:extLst>
                </a:gridCol>
                <a:gridCol w="6430933">
                  <a:extLst>
                    <a:ext uri="{9D8B030D-6E8A-4147-A177-3AD203B41FA5}">
                      <a16:colId xmlns:a16="http://schemas.microsoft.com/office/drawing/2014/main" val="4021298204"/>
                    </a:ext>
                  </a:extLst>
                </a:gridCol>
              </a:tblGrid>
              <a:tr h="482121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69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Defining and Using Functions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69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8608899"/>
                  </a:ext>
                </a:extLst>
              </a:tr>
              <a:tr h="496421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69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Advanced Function Concepts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69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2344712"/>
                  </a:ext>
                </a:extLst>
              </a:tr>
              <a:tr h="496421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69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Practical Examples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69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5105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19658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B928387-C099-463A-05EE-041A0CDAC233}"/>
              </a:ext>
            </a:extLst>
          </p:cNvPr>
          <p:cNvSpPr txBox="1"/>
          <p:nvPr/>
        </p:nvSpPr>
        <p:spPr>
          <a:xfrm>
            <a:off x="2179782" y="2782669"/>
            <a:ext cx="78324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2AAF82"/>
                </a:solidFill>
              </a:rPr>
              <a:t>Defining and Using Functions</a:t>
            </a:r>
          </a:p>
        </p:txBody>
      </p:sp>
    </p:spTree>
    <p:extLst>
      <p:ext uri="{BB962C8B-B14F-4D97-AF65-F5344CB8AC3E}">
        <p14:creationId xmlns:p14="http://schemas.microsoft.com/office/powerpoint/2010/main" val="1402586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FE92C8E-4353-C719-3D71-8E91E9C88E3E}"/>
              </a:ext>
            </a:extLst>
          </p:cNvPr>
          <p:cNvSpPr txBox="1"/>
          <p:nvPr/>
        </p:nvSpPr>
        <p:spPr>
          <a:xfrm>
            <a:off x="221673" y="1535760"/>
            <a:ext cx="40732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1869A6"/>
                </a:solidFill>
              </a:rPr>
              <a:t>Defining and Using Functions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5BD78C-A3F1-E1B5-1A3A-3332BF4F4326}"/>
              </a:ext>
            </a:extLst>
          </p:cNvPr>
          <p:cNvSpPr txBox="1"/>
          <p:nvPr/>
        </p:nvSpPr>
        <p:spPr>
          <a:xfrm>
            <a:off x="1588654" y="1935870"/>
            <a:ext cx="99937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Functions are blocks of reusable code that perform a specific task. They help organize code into smaller, manageable pieces and can be used multiple times throughout a program.</a:t>
            </a:r>
          </a:p>
        </p:txBody>
      </p:sp>
    </p:spTree>
    <p:extLst>
      <p:ext uri="{BB962C8B-B14F-4D97-AF65-F5344CB8AC3E}">
        <p14:creationId xmlns:p14="http://schemas.microsoft.com/office/powerpoint/2010/main" val="34699403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F2D455D-C9B4-3F5C-11E9-4805494A2B29}"/>
              </a:ext>
            </a:extLst>
          </p:cNvPr>
          <p:cNvSpPr txBox="1"/>
          <p:nvPr/>
        </p:nvSpPr>
        <p:spPr>
          <a:xfrm>
            <a:off x="212436" y="1351032"/>
            <a:ext cx="40732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1869A6"/>
                </a:solidFill>
              </a:rPr>
              <a:t>Defining and Using Functions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BFC141-7559-6A28-E1EC-1CB1199B46C7}"/>
              </a:ext>
            </a:extLst>
          </p:cNvPr>
          <p:cNvSpPr txBox="1"/>
          <p:nvPr/>
        </p:nvSpPr>
        <p:spPr>
          <a:xfrm>
            <a:off x="1671781" y="1916606"/>
            <a:ext cx="35929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Basic Function Definition and Call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2AF8E57-EB33-7CE2-918B-15DF79EC40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2497" y="2451402"/>
            <a:ext cx="2647950" cy="12573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7C45D5F-9314-D2C5-DDF3-D0E4F07C18BF}"/>
              </a:ext>
            </a:extLst>
          </p:cNvPr>
          <p:cNvSpPr txBox="1"/>
          <p:nvPr/>
        </p:nvSpPr>
        <p:spPr>
          <a:xfrm>
            <a:off x="1671781" y="387829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function named greet() is defined with no parameters. When greet() is called, it prints "Hello, world!".</a:t>
            </a:r>
          </a:p>
        </p:txBody>
      </p:sp>
    </p:spTree>
    <p:extLst>
      <p:ext uri="{BB962C8B-B14F-4D97-AF65-F5344CB8AC3E}">
        <p14:creationId xmlns:p14="http://schemas.microsoft.com/office/powerpoint/2010/main" val="26971521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ABF0B6-7BAB-29C2-BF9A-808410C8B467}"/>
              </a:ext>
            </a:extLst>
          </p:cNvPr>
          <p:cNvSpPr txBox="1"/>
          <p:nvPr/>
        </p:nvSpPr>
        <p:spPr>
          <a:xfrm>
            <a:off x="277091" y="1369505"/>
            <a:ext cx="40732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1869A6"/>
                </a:solidFill>
              </a:rPr>
              <a:t>Defining and Using Functions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519EDE-6017-9D77-FE9C-812524460E7C}"/>
              </a:ext>
            </a:extLst>
          </p:cNvPr>
          <p:cNvSpPr txBox="1"/>
          <p:nvPr/>
        </p:nvSpPr>
        <p:spPr>
          <a:xfrm>
            <a:off x="1736436" y="1935079"/>
            <a:ext cx="35929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Function with Parameters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0199B4-8E8B-79DB-D157-13CD1C273DE5}"/>
              </a:ext>
            </a:extLst>
          </p:cNvPr>
          <p:cNvSpPr txBox="1"/>
          <p:nvPr/>
        </p:nvSpPr>
        <p:spPr>
          <a:xfrm>
            <a:off x="1736436" y="411583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This function add(a, b) takes two parameters and returns their sum. Calling add(5, 3) results in 8 being printed.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9D1C85-A648-FBE3-45E9-C8C9F78FD7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2943" y="2304411"/>
            <a:ext cx="2114550" cy="1647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5601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4CFE295-16FD-7C87-F64E-0B79AD457FAE}"/>
              </a:ext>
            </a:extLst>
          </p:cNvPr>
          <p:cNvSpPr txBox="1"/>
          <p:nvPr/>
        </p:nvSpPr>
        <p:spPr>
          <a:xfrm>
            <a:off x="230909" y="1378741"/>
            <a:ext cx="40732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1869A6"/>
                </a:solidFill>
              </a:rPr>
              <a:t>Defining and Using Functions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C7CCCA-BB50-9508-62CB-DB9986FA0221}"/>
              </a:ext>
            </a:extLst>
          </p:cNvPr>
          <p:cNvSpPr txBox="1"/>
          <p:nvPr/>
        </p:nvSpPr>
        <p:spPr>
          <a:xfrm>
            <a:off x="1690254" y="1944315"/>
            <a:ext cx="4267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Function with Default Parameter Values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113EA7-ECA3-2AA7-49CE-D16F2334F0D4}"/>
              </a:ext>
            </a:extLst>
          </p:cNvPr>
          <p:cNvSpPr txBox="1"/>
          <p:nvPr/>
        </p:nvSpPr>
        <p:spPr>
          <a:xfrm>
            <a:off x="1690254" y="412507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function greet(name="Guest") has a default parameter value. If no argument is provided, it defaults to "Guest".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CA35AE4-AB6F-EEB7-F729-BBBDA89BCF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575" y="2313647"/>
            <a:ext cx="2686050" cy="1781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1168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9BCB8A-8D85-096F-CF3B-40FA001FB666}"/>
              </a:ext>
            </a:extLst>
          </p:cNvPr>
          <p:cNvSpPr txBox="1"/>
          <p:nvPr/>
        </p:nvSpPr>
        <p:spPr>
          <a:xfrm>
            <a:off x="212437" y="1314087"/>
            <a:ext cx="40732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1869A6"/>
                </a:solidFill>
              </a:rPr>
              <a:t>Defining and Using Functions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E458B8-439C-08D0-CF41-F139B811DB5F}"/>
              </a:ext>
            </a:extLst>
          </p:cNvPr>
          <p:cNvSpPr txBox="1"/>
          <p:nvPr/>
        </p:nvSpPr>
        <p:spPr>
          <a:xfrm>
            <a:off x="1671782" y="1879661"/>
            <a:ext cx="4267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Function Returning Multiple Values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8B16D8-84E0-F844-D302-6BFD590E2FE5}"/>
              </a:ext>
            </a:extLst>
          </p:cNvPr>
          <p:cNvSpPr txBox="1"/>
          <p:nvPr/>
        </p:nvSpPr>
        <p:spPr>
          <a:xfrm>
            <a:off x="1671782" y="473467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divide(a, b) function returns both the quotient and remainder. These values are unpacked into q and r.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21DFB06-FA6F-E029-62A9-FC3AB88294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6557" y="2263883"/>
            <a:ext cx="2943225" cy="2305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457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97FE901-DE5A-FE37-08E9-7A5CA6523E63}"/>
              </a:ext>
            </a:extLst>
          </p:cNvPr>
          <p:cNvSpPr txBox="1"/>
          <p:nvPr/>
        </p:nvSpPr>
        <p:spPr>
          <a:xfrm>
            <a:off x="212436" y="1240196"/>
            <a:ext cx="40732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1869A6"/>
                </a:solidFill>
              </a:rPr>
              <a:t>Defining and Using Functions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6B852D-262A-B01D-6E5F-2065E3BFC42D}"/>
              </a:ext>
            </a:extLst>
          </p:cNvPr>
          <p:cNvSpPr txBox="1"/>
          <p:nvPr/>
        </p:nvSpPr>
        <p:spPr>
          <a:xfrm>
            <a:off x="1671780" y="1805770"/>
            <a:ext cx="52554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Using Docstrings for Function Documentation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378250-42DB-B4B8-C1D4-214DBEAD41C3}"/>
              </a:ext>
            </a:extLst>
          </p:cNvPr>
          <p:cNvSpPr txBox="1"/>
          <p:nvPr/>
        </p:nvSpPr>
        <p:spPr>
          <a:xfrm>
            <a:off x="1671780" y="4851627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This function multiply(a, b) includes a docstring to describe what the function does. The __doc__ attribute prints the docstring.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11EE05C-4A60-3E5E-6C8A-A869ADA362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888" y="2175102"/>
            <a:ext cx="4333875" cy="267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1653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8154E9-2812-D454-03A7-809946C96F2E}"/>
              </a:ext>
            </a:extLst>
          </p:cNvPr>
          <p:cNvSpPr txBox="1"/>
          <p:nvPr/>
        </p:nvSpPr>
        <p:spPr>
          <a:xfrm>
            <a:off x="2184400" y="2782669"/>
            <a:ext cx="7823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2AAF82"/>
                </a:solidFill>
              </a:rPr>
              <a:t>Advanced Function Concepts</a:t>
            </a:r>
          </a:p>
        </p:txBody>
      </p:sp>
    </p:spTree>
    <p:extLst>
      <p:ext uri="{BB962C8B-B14F-4D97-AF65-F5344CB8AC3E}">
        <p14:creationId xmlns:p14="http://schemas.microsoft.com/office/powerpoint/2010/main" val="28187854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0E0D3A4-5D99-BBCD-D696-1490DB207F26}"/>
              </a:ext>
            </a:extLst>
          </p:cNvPr>
          <p:cNvSpPr txBox="1"/>
          <p:nvPr/>
        </p:nvSpPr>
        <p:spPr>
          <a:xfrm>
            <a:off x="1006763" y="1371662"/>
            <a:ext cx="24014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869A6"/>
                </a:solidFill>
              </a:rPr>
              <a:t>Lambda Functions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F9AB04-0286-2141-A68E-F32633623139}"/>
              </a:ext>
            </a:extLst>
          </p:cNvPr>
          <p:cNvSpPr txBox="1"/>
          <p:nvPr/>
        </p:nvSpPr>
        <p:spPr>
          <a:xfrm>
            <a:off x="1681017" y="1771772"/>
            <a:ext cx="96704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Lambda functions are small, anonymous functions defined using the lambda keyword. They are used for short, simple operations.</a:t>
            </a:r>
          </a:p>
        </p:txBody>
      </p:sp>
    </p:spTree>
    <p:extLst>
      <p:ext uri="{BB962C8B-B14F-4D97-AF65-F5344CB8AC3E}">
        <p14:creationId xmlns:p14="http://schemas.microsoft.com/office/powerpoint/2010/main" val="26316529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216A6B-CB44-6960-30EA-517CA0A4D57B}"/>
              </a:ext>
            </a:extLst>
          </p:cNvPr>
          <p:cNvSpPr txBox="1"/>
          <p:nvPr/>
        </p:nvSpPr>
        <p:spPr>
          <a:xfrm>
            <a:off x="1071417" y="1270062"/>
            <a:ext cx="24014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869A6"/>
                </a:solidFill>
              </a:rPr>
              <a:t>Lambda Functions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F5BE90-F7CE-9869-3B3F-BEEE89771165}"/>
              </a:ext>
            </a:extLst>
          </p:cNvPr>
          <p:cNvSpPr txBox="1"/>
          <p:nvPr/>
        </p:nvSpPr>
        <p:spPr>
          <a:xfrm>
            <a:off x="1967345" y="176882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Basic Lambda Function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218D8D-F45E-A702-44F0-DF48A6D2AF45}"/>
              </a:ext>
            </a:extLst>
          </p:cNvPr>
          <p:cNvSpPr txBox="1"/>
          <p:nvPr/>
        </p:nvSpPr>
        <p:spPr>
          <a:xfrm>
            <a:off x="1967345" y="353070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lambda function is defined to square a number. The output is 25.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FC6EE7B-EF65-FD3D-FBB9-A05DA7D0B2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3154" y="2261359"/>
            <a:ext cx="2362200" cy="96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5398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6FF680C-D470-D71B-A83A-34F40603CC0F}"/>
              </a:ext>
            </a:extLst>
          </p:cNvPr>
          <p:cNvSpPr txBox="1"/>
          <p:nvPr/>
        </p:nvSpPr>
        <p:spPr>
          <a:xfrm>
            <a:off x="1062181" y="1334716"/>
            <a:ext cx="24014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869A6"/>
                </a:solidFill>
              </a:rPr>
              <a:t>Lambda Functions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54E09D-BD27-8885-3E9C-A23D86280890}"/>
              </a:ext>
            </a:extLst>
          </p:cNvPr>
          <p:cNvSpPr txBox="1"/>
          <p:nvPr/>
        </p:nvSpPr>
        <p:spPr>
          <a:xfrm>
            <a:off x="1958109" y="183347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Lambda Function with Multiple Arguments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12DA0A-F8A2-6036-8510-67EF924532EC}"/>
              </a:ext>
            </a:extLst>
          </p:cNvPr>
          <p:cNvSpPr txBox="1"/>
          <p:nvPr/>
        </p:nvSpPr>
        <p:spPr>
          <a:xfrm>
            <a:off x="1958109" y="359536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This lambda function takes two arguments and multiplies them. The output is 12.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90EBABC-B021-DCBD-CEF4-8B6543F8A3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8109" y="2373746"/>
            <a:ext cx="2949932" cy="958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8499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B32681-6A3B-7608-0EAA-CF2A029B5B11}"/>
              </a:ext>
            </a:extLst>
          </p:cNvPr>
          <p:cNvSpPr txBox="1"/>
          <p:nvPr/>
        </p:nvSpPr>
        <p:spPr>
          <a:xfrm>
            <a:off x="1052945" y="1260825"/>
            <a:ext cx="24014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869A6"/>
                </a:solidFill>
              </a:rPr>
              <a:t>Lambda Functions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381AE9-4972-CF30-2226-B367D5AD7BCC}"/>
              </a:ext>
            </a:extLst>
          </p:cNvPr>
          <p:cNvSpPr txBox="1"/>
          <p:nvPr/>
        </p:nvSpPr>
        <p:spPr>
          <a:xfrm>
            <a:off x="1948873" y="175958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Using Lambda in map() Function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0B82A4-12C8-CC84-6A79-7D65BE4A3A7D}"/>
              </a:ext>
            </a:extLst>
          </p:cNvPr>
          <p:cNvSpPr txBox="1"/>
          <p:nvPr/>
        </p:nvSpPr>
        <p:spPr>
          <a:xfrm>
            <a:off x="1948873" y="352147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map() function applies the lambda function to each element of the list. The result is [1, 4, 9, 16, 25].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6AEC105-7F7A-888A-ABBF-DE4F9C0E31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8873" y="2227573"/>
            <a:ext cx="3990975" cy="1152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8448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6ABCD-B554-2A8A-01C7-6033FE359976}"/>
              </a:ext>
            </a:extLst>
          </p:cNvPr>
          <p:cNvSpPr txBox="1"/>
          <p:nvPr/>
        </p:nvSpPr>
        <p:spPr>
          <a:xfrm>
            <a:off x="1043708" y="1491735"/>
            <a:ext cx="24014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869A6"/>
                </a:solidFill>
              </a:rPr>
              <a:t>Lambda Functions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075DEF-E588-5CB3-1F6F-5B87BDCAB60A}"/>
              </a:ext>
            </a:extLst>
          </p:cNvPr>
          <p:cNvSpPr txBox="1"/>
          <p:nvPr/>
        </p:nvSpPr>
        <p:spPr>
          <a:xfrm>
            <a:off x="1939636" y="199049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Using Lambda in filter() Function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D2292E-0C0D-09E0-0ADD-4DFD20E2DD20}"/>
              </a:ext>
            </a:extLst>
          </p:cNvPr>
          <p:cNvSpPr txBox="1"/>
          <p:nvPr/>
        </p:nvSpPr>
        <p:spPr>
          <a:xfrm>
            <a:off x="1939636" y="375238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filter() function uses the lambda to keep only even numbers. The output is [2, 4, 6].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ECF9626-5DD5-C546-DADD-55239A0BA1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9636" y="2422692"/>
            <a:ext cx="4762500" cy="126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1946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5AF39C5-49C7-18FF-29A5-6B9CF8C45706}"/>
              </a:ext>
            </a:extLst>
          </p:cNvPr>
          <p:cNvSpPr txBox="1"/>
          <p:nvPr/>
        </p:nvSpPr>
        <p:spPr>
          <a:xfrm>
            <a:off x="997526" y="1482498"/>
            <a:ext cx="29925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869A6"/>
                </a:solidFill>
              </a:rPr>
              <a:t>Recursive Functions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BC6301-18BE-D37D-9A5A-C0FE94F2C7AC}"/>
              </a:ext>
            </a:extLst>
          </p:cNvPr>
          <p:cNvSpPr txBox="1"/>
          <p:nvPr/>
        </p:nvSpPr>
        <p:spPr>
          <a:xfrm>
            <a:off x="1671780" y="1999825"/>
            <a:ext cx="96704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Recursive functions are functions that call themselves to solve a problem by breaking it down into smaller subproblems.</a:t>
            </a:r>
          </a:p>
        </p:txBody>
      </p:sp>
    </p:spTree>
    <p:extLst>
      <p:ext uri="{BB962C8B-B14F-4D97-AF65-F5344CB8AC3E}">
        <p14:creationId xmlns:p14="http://schemas.microsoft.com/office/powerpoint/2010/main" val="8808650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A0792-CF61-5868-CE09-F62E01081B43}"/>
              </a:ext>
            </a:extLst>
          </p:cNvPr>
          <p:cNvSpPr txBox="1"/>
          <p:nvPr/>
        </p:nvSpPr>
        <p:spPr>
          <a:xfrm>
            <a:off x="1071418" y="1297771"/>
            <a:ext cx="27524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869A6"/>
                </a:solidFill>
              </a:rPr>
              <a:t>Recursive Functions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5D0C49-73A9-1DD3-FFB2-1CC5A2FABBE0}"/>
              </a:ext>
            </a:extLst>
          </p:cNvPr>
          <p:cNvSpPr txBox="1"/>
          <p:nvPr/>
        </p:nvSpPr>
        <p:spPr>
          <a:xfrm>
            <a:off x="1967346" y="17965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Calculating Factorial Using Recursion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574505-D1FD-E44B-52F4-494B11C4115A}"/>
              </a:ext>
            </a:extLst>
          </p:cNvPr>
          <p:cNvSpPr txBox="1"/>
          <p:nvPr/>
        </p:nvSpPr>
        <p:spPr>
          <a:xfrm>
            <a:off x="1967346" y="459480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factorial(n) function calls itself with decremented values of n. It calculates 5! = 5 * 4 * 3 * 2 * 1 = 120.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1C43B5C-4783-02CB-B8A7-E8062BF8DA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0305" y="2264519"/>
            <a:ext cx="3467100" cy="196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1128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63B0E9-7B36-E3BA-8F2B-4C9D3AD019EB}"/>
              </a:ext>
            </a:extLst>
          </p:cNvPr>
          <p:cNvSpPr txBox="1"/>
          <p:nvPr/>
        </p:nvSpPr>
        <p:spPr>
          <a:xfrm>
            <a:off x="1052944" y="1343952"/>
            <a:ext cx="27524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869A6"/>
                </a:solidFill>
              </a:rPr>
              <a:t>Recursive Functions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5D8187-11A5-95D1-92F8-8B56029EBB26}"/>
              </a:ext>
            </a:extLst>
          </p:cNvPr>
          <p:cNvSpPr txBox="1"/>
          <p:nvPr/>
        </p:nvSpPr>
        <p:spPr>
          <a:xfrm>
            <a:off x="1948872" y="184271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Fibonacci Sequence Using Recursion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7FFDAF-768A-C48E-8624-75901517030C}"/>
              </a:ext>
            </a:extLst>
          </p:cNvPr>
          <p:cNvSpPr txBox="1"/>
          <p:nvPr/>
        </p:nvSpPr>
        <p:spPr>
          <a:xfrm>
            <a:off x="1948872" y="4640984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This function calculates the Fibonacci number at position n by summing the previous two Fibonacci numbers. The output is 8.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D028147-04BB-83A4-BCFB-C868B98B6C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8872" y="2464490"/>
            <a:ext cx="4267200" cy="192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1449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56F6C3-2BD9-59EA-84B0-5A682C747594}"/>
              </a:ext>
            </a:extLst>
          </p:cNvPr>
          <p:cNvSpPr txBox="1"/>
          <p:nvPr/>
        </p:nvSpPr>
        <p:spPr>
          <a:xfrm>
            <a:off x="1071417" y="1371662"/>
            <a:ext cx="29925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869A6"/>
                </a:solidFill>
              </a:rPr>
              <a:t>Higher-Order Functions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893C0F-6712-3D39-1766-388FFE9F6610}"/>
              </a:ext>
            </a:extLst>
          </p:cNvPr>
          <p:cNvSpPr txBox="1"/>
          <p:nvPr/>
        </p:nvSpPr>
        <p:spPr>
          <a:xfrm>
            <a:off x="1745671" y="1888989"/>
            <a:ext cx="96704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Higher-order functions are functions that can take other functions as arguments or return them as results.</a:t>
            </a:r>
          </a:p>
        </p:txBody>
      </p:sp>
    </p:spTree>
    <p:extLst>
      <p:ext uri="{BB962C8B-B14F-4D97-AF65-F5344CB8AC3E}">
        <p14:creationId xmlns:p14="http://schemas.microsoft.com/office/powerpoint/2010/main" val="38770464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7FCD641-9DB2-2CBC-9EE8-6FD157C51E94}"/>
              </a:ext>
            </a:extLst>
          </p:cNvPr>
          <p:cNvSpPr txBox="1"/>
          <p:nvPr/>
        </p:nvSpPr>
        <p:spPr>
          <a:xfrm>
            <a:off x="1025235" y="1316243"/>
            <a:ext cx="33989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869A6"/>
                </a:solidFill>
              </a:rPr>
              <a:t>Higher-Order Functions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BAF17A-3DC1-F1D8-C100-4C619B93056C}"/>
              </a:ext>
            </a:extLst>
          </p:cNvPr>
          <p:cNvSpPr txBox="1"/>
          <p:nvPr/>
        </p:nvSpPr>
        <p:spPr>
          <a:xfrm>
            <a:off x="1921163" y="181500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Using a Function as an Argument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AFC64B-8E64-D0CB-D208-7E85A4DB6210}"/>
              </a:ext>
            </a:extLst>
          </p:cNvPr>
          <p:cNvSpPr txBox="1"/>
          <p:nvPr/>
        </p:nvSpPr>
        <p:spPr>
          <a:xfrm>
            <a:off x="1921162" y="4613275"/>
            <a:ext cx="62253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apply_operation(a, b, operation) function takes another function (add) as an argument and applies it. The output is 8.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A14FCC2-F84C-E0FA-449F-560A0C6BC7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1162" y="2282991"/>
            <a:ext cx="3267075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3024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8C361A-6919-2F0A-93CD-180410658244}"/>
              </a:ext>
            </a:extLst>
          </p:cNvPr>
          <p:cNvSpPr txBox="1"/>
          <p:nvPr/>
        </p:nvSpPr>
        <p:spPr>
          <a:xfrm>
            <a:off x="997526" y="1380898"/>
            <a:ext cx="33989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869A6"/>
                </a:solidFill>
              </a:rPr>
              <a:t>Higher-Order Functions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78932E-8D7E-0204-361D-5839CEEAB894}"/>
              </a:ext>
            </a:extLst>
          </p:cNvPr>
          <p:cNvSpPr txBox="1"/>
          <p:nvPr/>
        </p:nvSpPr>
        <p:spPr>
          <a:xfrm>
            <a:off x="1893454" y="187966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Returning a Function from Another Function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BE79E1-DFAF-6769-5A41-C8199F96358C}"/>
              </a:ext>
            </a:extLst>
          </p:cNvPr>
          <p:cNvSpPr txBox="1"/>
          <p:nvPr/>
        </p:nvSpPr>
        <p:spPr>
          <a:xfrm>
            <a:off x="1893453" y="4677930"/>
            <a:ext cx="62253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outer_function() returns an inner_function that prints a message. When greet() is called, it prints "Hello!".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567D236-8096-0ED3-1E4D-34266EB010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8704" y="2352570"/>
            <a:ext cx="2952750" cy="185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744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E078424-68F3-4C84-0E40-4F2489E6A66D}"/>
              </a:ext>
            </a:extLst>
          </p:cNvPr>
          <p:cNvSpPr txBox="1"/>
          <p:nvPr/>
        </p:nvSpPr>
        <p:spPr>
          <a:xfrm>
            <a:off x="3048000" y="27826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2AAF82"/>
                </a:solidFill>
              </a:rPr>
              <a:t>Practical Examples</a:t>
            </a:r>
          </a:p>
        </p:txBody>
      </p:sp>
    </p:spTree>
    <p:extLst>
      <p:ext uri="{BB962C8B-B14F-4D97-AF65-F5344CB8AC3E}">
        <p14:creationId xmlns:p14="http://schemas.microsoft.com/office/powerpoint/2010/main" val="30342329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FDB8C97-52AF-DAE6-6602-15605DFFE10D}"/>
              </a:ext>
            </a:extLst>
          </p:cNvPr>
          <p:cNvSpPr txBox="1"/>
          <p:nvPr/>
        </p:nvSpPr>
        <p:spPr>
          <a:xfrm>
            <a:off x="443345" y="1371661"/>
            <a:ext cx="60590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869A6"/>
                </a:solidFill>
              </a:rPr>
              <a:t>Calculating Average of Numbers Using Functions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2F693B-80C6-DB11-B4CB-08406F419985}"/>
              </a:ext>
            </a:extLst>
          </p:cNvPr>
          <p:cNvSpPr txBox="1"/>
          <p:nvPr/>
        </p:nvSpPr>
        <p:spPr>
          <a:xfrm>
            <a:off x="1958108" y="406630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This function calculates the average of a list of numbers. The output is 30.0.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C575653-E5BD-C809-0433-2DAC94218D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000" y="2411772"/>
            <a:ext cx="3848100" cy="14954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1D1FD54-DDA5-21F2-9B1E-FE989782956E}"/>
              </a:ext>
            </a:extLst>
          </p:cNvPr>
          <p:cNvSpPr txBox="1"/>
          <p:nvPr/>
        </p:nvSpPr>
        <p:spPr>
          <a:xfrm>
            <a:off x="2032000" y="194431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Calculating Average of Numbers Using Functions</a:t>
            </a:r>
          </a:p>
        </p:txBody>
      </p:sp>
    </p:spTree>
    <p:extLst>
      <p:ext uri="{BB962C8B-B14F-4D97-AF65-F5344CB8AC3E}">
        <p14:creationId xmlns:p14="http://schemas.microsoft.com/office/powerpoint/2010/main" val="32853993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C18DCD3-F154-FF4C-1094-8977D2FA705C}"/>
              </a:ext>
            </a:extLst>
          </p:cNvPr>
          <p:cNvSpPr txBox="1"/>
          <p:nvPr/>
        </p:nvSpPr>
        <p:spPr>
          <a:xfrm>
            <a:off x="397164" y="1223879"/>
            <a:ext cx="60590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869A6"/>
                </a:solidFill>
              </a:rPr>
              <a:t>Calculating Average of Numbers Using Functions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19FBB2-D703-D163-4252-940D6576B979}"/>
              </a:ext>
            </a:extLst>
          </p:cNvPr>
          <p:cNvSpPr txBox="1"/>
          <p:nvPr/>
        </p:nvSpPr>
        <p:spPr>
          <a:xfrm>
            <a:off x="1985819" y="460165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This function iterates over a list of words and returns the longest one. The output is "banana".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76ADD2-5F84-354F-D975-E53D5BCCD7B4}"/>
              </a:ext>
            </a:extLst>
          </p:cNvPr>
          <p:cNvSpPr txBox="1"/>
          <p:nvPr/>
        </p:nvSpPr>
        <p:spPr>
          <a:xfrm>
            <a:off x="1985819" y="17965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Finding the Longest Word in a List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BE6447-47B8-AAB1-9D20-2CA413AFE5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5819" y="2202658"/>
            <a:ext cx="4038600" cy="236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0797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E4F7FB-FD86-EC7B-C090-DE73F590F9F8}"/>
              </a:ext>
            </a:extLst>
          </p:cNvPr>
          <p:cNvSpPr txBox="1"/>
          <p:nvPr/>
        </p:nvSpPr>
        <p:spPr>
          <a:xfrm>
            <a:off x="378691" y="1270062"/>
            <a:ext cx="60590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869A6"/>
                </a:solidFill>
              </a:rPr>
              <a:t>Calculating Average of Numbers Using Functions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6491B4-B9D1-4FCC-26F6-28E62FEDFA92}"/>
              </a:ext>
            </a:extLst>
          </p:cNvPr>
          <p:cNvSpPr txBox="1"/>
          <p:nvPr/>
        </p:nvSpPr>
        <p:spPr>
          <a:xfrm>
            <a:off x="1967346" y="481408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The is_prime(n) function checks if a number is prime by testing divisibility up to its square root. The output is True.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59869A-7952-3ACD-1C00-5ACC8E8A3F5D}"/>
              </a:ext>
            </a:extLst>
          </p:cNvPr>
          <p:cNvSpPr txBox="1"/>
          <p:nvPr/>
        </p:nvSpPr>
        <p:spPr>
          <a:xfrm>
            <a:off x="1967346" y="184271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Checking if a Number is Prime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0CD0AD-A416-D3DE-E6E0-74103DD087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8963" y="2253603"/>
            <a:ext cx="3505200" cy="235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648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0B48B1-2A7B-FA49-CFC6-CA2839BA46DA}"/>
              </a:ext>
            </a:extLst>
          </p:cNvPr>
          <p:cNvSpPr txBox="1"/>
          <p:nvPr/>
        </p:nvSpPr>
        <p:spPr>
          <a:xfrm>
            <a:off x="397164" y="1307007"/>
            <a:ext cx="60590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869A6"/>
                </a:solidFill>
              </a:rPr>
              <a:t>Calculating Average of Numbers Using Functions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D20730-C3B4-7385-3CD6-73210A96A4A8}"/>
              </a:ext>
            </a:extLst>
          </p:cNvPr>
          <p:cNvSpPr txBox="1"/>
          <p:nvPr/>
        </p:nvSpPr>
        <p:spPr>
          <a:xfrm>
            <a:off x="1985819" y="48510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Two functions convert temperatures between Celsius and Fahrenheit. The output is 77.0 and 25.0.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97A6D2-27A0-4BA5-0D20-1E3AC8973F50}"/>
              </a:ext>
            </a:extLst>
          </p:cNvPr>
          <p:cNvSpPr txBox="1"/>
          <p:nvPr/>
        </p:nvSpPr>
        <p:spPr>
          <a:xfrm>
            <a:off x="1985819" y="187966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Converting Temperature Units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4E3083-4B57-15C9-45D3-940A5CBE21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5819" y="2336944"/>
            <a:ext cx="4600575" cy="227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0172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CA455A2-3861-4117-18C9-3C9E15F6EF3B}"/>
              </a:ext>
            </a:extLst>
          </p:cNvPr>
          <p:cNvSpPr txBox="1"/>
          <p:nvPr/>
        </p:nvSpPr>
        <p:spPr>
          <a:xfrm>
            <a:off x="369455" y="1325480"/>
            <a:ext cx="60590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869A6"/>
                </a:solidFill>
              </a:rPr>
              <a:t>Calculating Average of Numbers Using Functions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01A7A8-2B00-FF02-0135-D246DC3177E8}"/>
              </a:ext>
            </a:extLst>
          </p:cNvPr>
          <p:cNvSpPr txBox="1"/>
          <p:nvPr/>
        </p:nvSpPr>
        <p:spPr>
          <a:xfrm>
            <a:off x="1958109" y="4327057"/>
            <a:ext cx="8331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function square_list(numbers) uses list comprehension to generate a list of squares for the given input list. It iterates over each number, squares it, and creates a new list with these squared values. The output is [1, 4, 9, 16, 25].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FD6F07-44DA-C8F6-6300-360F79094D78}"/>
              </a:ext>
            </a:extLst>
          </p:cNvPr>
          <p:cNvSpPr txBox="1"/>
          <p:nvPr/>
        </p:nvSpPr>
        <p:spPr>
          <a:xfrm>
            <a:off x="1958109" y="1898135"/>
            <a:ext cx="74075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Generating a List of Squares Using List Comprehension and Functions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411E472-8731-2293-0B62-3EFCF9D631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8164" y="2440012"/>
            <a:ext cx="40386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8408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15A0F39-25AF-1026-6EF9-D90719F0B256}"/>
              </a:ext>
            </a:extLst>
          </p:cNvPr>
          <p:cNvSpPr txBox="1"/>
          <p:nvPr/>
        </p:nvSpPr>
        <p:spPr>
          <a:xfrm>
            <a:off x="350981" y="1371661"/>
            <a:ext cx="60590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869A6"/>
                </a:solidFill>
              </a:rPr>
              <a:t>Calculating Average of Numbers Using Functions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2AE77D-1F24-58F3-1618-27DFAA9E76C9}"/>
              </a:ext>
            </a:extLst>
          </p:cNvPr>
          <p:cNvSpPr txBox="1"/>
          <p:nvPr/>
        </p:nvSpPr>
        <p:spPr>
          <a:xfrm>
            <a:off x="1939635" y="4271638"/>
            <a:ext cx="8331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function convert_to_uppercase(words) uses list comprehension to iterate over each word in the input list, converting each word to uppercase. The output is ['HELLO', 'WORLD', 'PYTHON', 'FUNCTIONS'].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9EDFDF-CC2C-210E-EF24-8B37B0A1FDED}"/>
              </a:ext>
            </a:extLst>
          </p:cNvPr>
          <p:cNvSpPr txBox="1"/>
          <p:nvPr/>
        </p:nvSpPr>
        <p:spPr>
          <a:xfrm>
            <a:off x="1939635" y="1944316"/>
            <a:ext cx="74075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Converting a List of Strings to Uppercase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E370F7B-F4AA-9404-657F-DA82447B1E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9635" y="2421719"/>
            <a:ext cx="4838700" cy="165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1491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CDB1B2-9B34-5CF0-493A-D43F3E4532E3}"/>
              </a:ext>
            </a:extLst>
          </p:cNvPr>
          <p:cNvSpPr txBox="1"/>
          <p:nvPr/>
        </p:nvSpPr>
        <p:spPr>
          <a:xfrm>
            <a:off x="341746" y="1353189"/>
            <a:ext cx="60590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869A6"/>
                </a:solidFill>
              </a:rPr>
              <a:t>Calculating Average of Numbers Using Functions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09FDEF-0B7E-451E-E60D-FCB976EA6B2D}"/>
              </a:ext>
            </a:extLst>
          </p:cNvPr>
          <p:cNvSpPr txBox="1"/>
          <p:nvPr/>
        </p:nvSpPr>
        <p:spPr>
          <a:xfrm>
            <a:off x="1930400" y="4687276"/>
            <a:ext cx="8331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function calculate_total_price(prices, tax_rate) calculates the total price of items in the list and then applies the tax rate. The output is 660.0.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2D5F04-D23F-5391-72E2-8C2903727FB2}"/>
              </a:ext>
            </a:extLst>
          </p:cNvPr>
          <p:cNvSpPr txBox="1"/>
          <p:nvPr/>
        </p:nvSpPr>
        <p:spPr>
          <a:xfrm>
            <a:off x="1930400" y="1925844"/>
            <a:ext cx="74075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Calculating the Total Price Including Tax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8D06D78-5BE1-3A01-327B-F4ED4950D1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0400" y="2295176"/>
            <a:ext cx="5743575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6277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2BD695A-7323-5525-B2E4-58754C34B7FF}"/>
              </a:ext>
            </a:extLst>
          </p:cNvPr>
          <p:cNvSpPr txBox="1"/>
          <p:nvPr/>
        </p:nvSpPr>
        <p:spPr>
          <a:xfrm>
            <a:off x="397164" y="1362425"/>
            <a:ext cx="60590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869A6"/>
                </a:solidFill>
              </a:rPr>
              <a:t>Calculating Average of Numbers Using Functions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5E8506-3BBD-BA89-8E66-43FE50A3387A}"/>
              </a:ext>
            </a:extLst>
          </p:cNvPr>
          <p:cNvSpPr txBox="1"/>
          <p:nvPr/>
        </p:nvSpPr>
        <p:spPr>
          <a:xfrm>
            <a:off x="1985818" y="4696512"/>
            <a:ext cx="8331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function find_min_max(numbers) uses the built-in min() and max() functions to find the smallest and largest numbers in the input list. The output is 2 (minimum) and 9 (maximum).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4CBD2D-07F4-5F14-E61A-509ED2440E1C}"/>
              </a:ext>
            </a:extLst>
          </p:cNvPr>
          <p:cNvSpPr txBox="1"/>
          <p:nvPr/>
        </p:nvSpPr>
        <p:spPr>
          <a:xfrm>
            <a:off x="1985818" y="1935080"/>
            <a:ext cx="74075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Finding the Minimum and Maximum Values in a List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5D194E-F3B4-8B5D-1BBE-DF3491BF24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5818" y="2341309"/>
            <a:ext cx="3762375" cy="215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9476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E4D13A-4F3A-3308-F0B1-E0D041FF5EA9}"/>
              </a:ext>
            </a:extLst>
          </p:cNvPr>
          <p:cNvSpPr txBox="1"/>
          <p:nvPr/>
        </p:nvSpPr>
        <p:spPr>
          <a:xfrm>
            <a:off x="424873" y="1353188"/>
            <a:ext cx="60590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869A6"/>
                </a:solidFill>
              </a:rPr>
              <a:t>Calculating Average of Numbers Using Functions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3129E2-FA77-A6CB-2922-E441E2D40C16}"/>
              </a:ext>
            </a:extLst>
          </p:cNvPr>
          <p:cNvSpPr txBox="1"/>
          <p:nvPr/>
        </p:nvSpPr>
        <p:spPr>
          <a:xfrm>
            <a:off x="2013527" y="4687275"/>
            <a:ext cx="8331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function is_valid_email(email) checks if a given string contains "@" and a "." after the "@", which are basic checks for a valid email format. The output is True.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E89464-9BE5-B3D3-584A-AD646DFCDFB5}"/>
              </a:ext>
            </a:extLst>
          </p:cNvPr>
          <p:cNvSpPr txBox="1"/>
          <p:nvPr/>
        </p:nvSpPr>
        <p:spPr>
          <a:xfrm>
            <a:off x="2013527" y="1925843"/>
            <a:ext cx="74075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Checking if a String is a Valid Email Address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7FD952A-6AEF-162C-1374-53303C0C18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3527" y="2579722"/>
            <a:ext cx="4572000" cy="165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6503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1DAB2A-0CD1-F9CA-91E4-1D55190DCE4B}"/>
              </a:ext>
            </a:extLst>
          </p:cNvPr>
          <p:cNvSpPr txBox="1"/>
          <p:nvPr/>
        </p:nvSpPr>
        <p:spPr>
          <a:xfrm>
            <a:off x="397164" y="1233116"/>
            <a:ext cx="60590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1869A6"/>
                </a:solidFill>
              </a:rPr>
              <a:t>Calculating Average of Numbers Using Functions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711229-AE96-8362-77D3-E73397F880EA}"/>
              </a:ext>
            </a:extLst>
          </p:cNvPr>
          <p:cNvSpPr txBox="1"/>
          <p:nvPr/>
        </p:nvSpPr>
        <p:spPr>
          <a:xfrm>
            <a:off x="1985817" y="5126427"/>
            <a:ext cx="909781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function count_character_frequency(text) counts the occurrences of each character in the input string and returns a dictionary with characters as keys and their frequencies as values. The output is {'h': 1, 'e': 1, 'l': 3, 'o': 2, ' ': 1, 'w': 1, 'r': 1, 'd': 1}.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F655F4-05D1-FBBE-A92F-E312E59FA380}"/>
              </a:ext>
            </a:extLst>
          </p:cNvPr>
          <p:cNvSpPr txBox="1"/>
          <p:nvPr/>
        </p:nvSpPr>
        <p:spPr>
          <a:xfrm>
            <a:off x="1985818" y="1805771"/>
            <a:ext cx="74075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Counting the Frequency of Each Character in a String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B56929-B1EE-C6BF-6824-11B0D6BE70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5817" y="2175103"/>
            <a:ext cx="6743700" cy="275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2908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</TotalTime>
  <Words>1045</Words>
  <Application>Microsoft Office PowerPoint</Application>
  <PresentationFormat>Widescreen</PresentationFormat>
  <Paragraphs>89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Nader Genidy</dc:creator>
  <cp:lastModifiedBy>Mahmoud Dy</cp:lastModifiedBy>
  <cp:revision>23</cp:revision>
  <dcterms:created xsi:type="dcterms:W3CDTF">2024-09-02T04:28:41Z</dcterms:created>
  <dcterms:modified xsi:type="dcterms:W3CDTF">2025-09-07T10:15:18Z</dcterms:modified>
</cp:coreProperties>
</file>