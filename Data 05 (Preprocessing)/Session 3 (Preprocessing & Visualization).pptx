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306" r:id="rId12"/>
    <p:sldId id="307" r:id="rId13"/>
    <p:sldId id="266" r:id="rId14"/>
    <p:sldId id="267" r:id="rId15"/>
    <p:sldId id="268" r:id="rId16"/>
    <p:sldId id="269" r:id="rId17"/>
    <p:sldId id="270" r:id="rId18"/>
    <p:sldId id="271" r:id="rId19"/>
    <p:sldId id="272" r:id="rId20"/>
    <p:sldId id="273" r:id="rId21"/>
    <p:sldId id="274" r:id="rId22"/>
    <p:sldId id="276" r:id="rId23"/>
    <p:sldId id="277" r:id="rId24"/>
    <p:sldId id="278" r:id="rId25"/>
    <p:sldId id="279" r:id="rId26"/>
    <p:sldId id="280" r:id="rId27"/>
    <p:sldId id="281" r:id="rId28"/>
    <p:sldId id="282" r:id="rId29"/>
    <p:sldId id="283" r:id="rId30"/>
    <p:sldId id="28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69A6"/>
    <a:srgbClr val="2AAF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F03F8-FB11-40F5-8E5A-4B92DF4DD3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56769D8-58A4-445B-B10D-E405DD4132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9637C-51C9-4AF8-A90C-DE6605676A8A}"/>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5" name="Footer Placeholder 4">
            <a:extLst>
              <a:ext uri="{FF2B5EF4-FFF2-40B4-BE49-F238E27FC236}">
                <a16:creationId xmlns:a16="http://schemas.microsoft.com/office/drawing/2014/main" id="{1D09B5DA-CB9C-4C62-8DEE-45C9EA06F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6A8A85-E773-45A7-BB05-B76AAB7E5E60}"/>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3720870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05A04-44D5-4998-8E98-31FB3D6B0B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3A1938-4245-4832-BD3B-B0546EB721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F4C156-F4A8-4B0B-B3B0-4C8B4E4F0632}"/>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5" name="Footer Placeholder 4">
            <a:extLst>
              <a:ext uri="{FF2B5EF4-FFF2-40B4-BE49-F238E27FC236}">
                <a16:creationId xmlns:a16="http://schemas.microsoft.com/office/drawing/2014/main" id="{DC643544-9B35-42F8-B8AA-48C8C42FA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C40E0-30DF-47A4-92C3-0841F98215E8}"/>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3141762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1D2B6-EE90-4CCA-9616-3E6F0BD714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493FDF-26D2-40A0-B93E-126D946D42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C25CFF-C2C3-4A9B-B723-D1B6CA4C12C1}"/>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5" name="Footer Placeholder 4">
            <a:extLst>
              <a:ext uri="{FF2B5EF4-FFF2-40B4-BE49-F238E27FC236}">
                <a16:creationId xmlns:a16="http://schemas.microsoft.com/office/drawing/2014/main" id="{F478F430-6E6E-4E26-88DB-F73BA870E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A30B73-DB13-4E62-B4B4-7A2FA501AD51}"/>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4002240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04475-8501-4F52-A1CB-90C1292F3D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E4D622-55CB-4E8E-BE7B-99049BBD1F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3DBFE51-60B1-4478-BA04-DFE57F6F47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1DCA15-F862-40AE-A44D-3FDBDFDC4544}"/>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6" name="Footer Placeholder 5">
            <a:extLst>
              <a:ext uri="{FF2B5EF4-FFF2-40B4-BE49-F238E27FC236}">
                <a16:creationId xmlns:a16="http://schemas.microsoft.com/office/drawing/2014/main" id="{21FF1617-D952-4A42-829F-0FE0794BFD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020C44-B0C3-4310-9126-0710FBDB9611}"/>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1702728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BA9AE-2020-48A1-B3CF-5396CD9C52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87DF23-55F5-4D55-A7E2-B02E87DB4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075E14-1B39-45A2-BD55-8421A1A495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B42FA0-B511-4E11-A749-B310A281D2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3CEFB7-17B6-4817-89C4-DF7ECF5743B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C2CA81-D5C2-4DD8-AAA7-037B22DF434C}"/>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8" name="Footer Placeholder 7">
            <a:extLst>
              <a:ext uri="{FF2B5EF4-FFF2-40B4-BE49-F238E27FC236}">
                <a16:creationId xmlns:a16="http://schemas.microsoft.com/office/drawing/2014/main" id="{BE5EEDB2-7C3D-4840-8F93-89ACD1DE94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4DCFD2-8230-4D6A-A62B-5EDE6F080EFE}"/>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3564715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D1C41-755B-413B-883B-93AABDFBCD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E48B43D-697B-464A-B803-C3209EE46249}"/>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4" name="Footer Placeholder 3">
            <a:extLst>
              <a:ext uri="{FF2B5EF4-FFF2-40B4-BE49-F238E27FC236}">
                <a16:creationId xmlns:a16="http://schemas.microsoft.com/office/drawing/2014/main" id="{7E31C56C-B2E9-4703-9D72-6E62693D8C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4B6508-1FD8-4459-A072-E7595539AA9C}"/>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3747485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C0CB91-D1A3-44CD-ABF1-9F76B6A0B200}"/>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3" name="Footer Placeholder 2">
            <a:extLst>
              <a:ext uri="{FF2B5EF4-FFF2-40B4-BE49-F238E27FC236}">
                <a16:creationId xmlns:a16="http://schemas.microsoft.com/office/drawing/2014/main" id="{B12A2A4B-9B19-42E7-84E2-08A2E7D4D5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CAD7FC-A55E-40FA-BCFC-B51B141415E0}"/>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2608887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8C509-25E1-4E1A-ABFF-E4BDC6174D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3AFB21-9A48-4105-B376-6B4996D729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43D0D8-2567-46FD-8D59-2E061A3B31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59C65F-DACD-434E-A4B6-E037B567596C}"/>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6" name="Footer Placeholder 5">
            <a:extLst>
              <a:ext uri="{FF2B5EF4-FFF2-40B4-BE49-F238E27FC236}">
                <a16:creationId xmlns:a16="http://schemas.microsoft.com/office/drawing/2014/main" id="{F2761809-E6E1-4EBC-A480-15F884986E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33E492-7891-48A0-A0FD-F8D4357DA844}"/>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2594127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3D2C3-E834-4904-8B92-03AB3E5D8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6C1418-D423-4B71-9A5F-048A04E7EE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F91E2B-72D0-44AF-9EBF-495CA90F7A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DBFDB5-CC73-498E-B900-08E58E222F0D}"/>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6" name="Footer Placeholder 5">
            <a:extLst>
              <a:ext uri="{FF2B5EF4-FFF2-40B4-BE49-F238E27FC236}">
                <a16:creationId xmlns:a16="http://schemas.microsoft.com/office/drawing/2014/main" id="{49B940FC-DBE7-49DF-96E7-795C3717BC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B728AC-8829-49AB-8542-A19FAF6A7735}"/>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60662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134CD-AAE2-474E-BE79-9EB50BE561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7A03499-5800-49E3-AE70-5E57D2F9B9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7670A6-7F6F-445F-84FF-F0E46055047C}"/>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5" name="Footer Placeholder 4">
            <a:extLst>
              <a:ext uri="{FF2B5EF4-FFF2-40B4-BE49-F238E27FC236}">
                <a16:creationId xmlns:a16="http://schemas.microsoft.com/office/drawing/2014/main" id="{F60ED8CD-1AB2-4C74-BB50-A3B3F22B63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A2604F-5EC2-4219-B018-9F333C349779}"/>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2115065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95EC59-4F50-4626-8296-1CD29D999D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B51308-34F4-4F2A-8BEB-23BA2FFEE9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7322F-D947-4D09-953C-E12C710565A6}"/>
              </a:ext>
            </a:extLst>
          </p:cNvPr>
          <p:cNvSpPr>
            <a:spLocks noGrp="1"/>
          </p:cNvSpPr>
          <p:nvPr>
            <p:ph type="dt" sz="half" idx="10"/>
          </p:nvPr>
        </p:nvSpPr>
        <p:spPr/>
        <p:txBody>
          <a:bodyPr/>
          <a:lstStyle/>
          <a:p>
            <a:fld id="{666EB5D0-7817-4225-ACD6-9C3502075780}" type="datetimeFigureOut">
              <a:rPr lang="en-US" smtClean="0"/>
              <a:t>9/7/2025</a:t>
            </a:fld>
            <a:endParaRPr lang="en-US"/>
          </a:p>
        </p:txBody>
      </p:sp>
      <p:sp>
        <p:nvSpPr>
          <p:cNvPr id="5" name="Footer Placeholder 4">
            <a:extLst>
              <a:ext uri="{FF2B5EF4-FFF2-40B4-BE49-F238E27FC236}">
                <a16:creationId xmlns:a16="http://schemas.microsoft.com/office/drawing/2014/main" id="{3E6CA394-507F-42A0-97BA-4EB46C7FA5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C5676E-6407-4521-A7FB-CFFA1309BF8A}"/>
              </a:ext>
            </a:extLst>
          </p:cNvPr>
          <p:cNvSpPr>
            <a:spLocks noGrp="1"/>
          </p:cNvSpPr>
          <p:nvPr>
            <p:ph type="sldNum" sz="quarter" idx="12"/>
          </p:nvPr>
        </p:nvSpPr>
        <p:spPr/>
        <p:txBody>
          <a:bodyPr/>
          <a:lstStyle/>
          <a:p>
            <a:fld id="{726D570F-8A9C-4DA3-9837-FEB244B389FF}" type="slidenum">
              <a:rPr lang="en-US" smtClean="0"/>
              <a:t>‹#›</a:t>
            </a:fld>
            <a:endParaRPr lang="en-US"/>
          </a:p>
        </p:txBody>
      </p:sp>
    </p:spTree>
    <p:extLst>
      <p:ext uri="{BB962C8B-B14F-4D97-AF65-F5344CB8AC3E}">
        <p14:creationId xmlns:p14="http://schemas.microsoft.com/office/powerpoint/2010/main" val="3606528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6A187D-BC15-4110-955C-50F9034E4B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F37FBB-2385-4363-820A-10F0D990E3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0EBC5-0A4E-496D-884C-BB417F89E7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6EB5D0-7817-4225-ACD6-9C3502075780}" type="datetimeFigureOut">
              <a:rPr lang="en-US" smtClean="0"/>
              <a:t>9/7/2025</a:t>
            </a:fld>
            <a:endParaRPr lang="en-US"/>
          </a:p>
        </p:txBody>
      </p:sp>
      <p:sp>
        <p:nvSpPr>
          <p:cNvPr id="5" name="Footer Placeholder 4">
            <a:extLst>
              <a:ext uri="{FF2B5EF4-FFF2-40B4-BE49-F238E27FC236}">
                <a16:creationId xmlns:a16="http://schemas.microsoft.com/office/drawing/2014/main" id="{16BAA7BC-9BDD-46FE-80D7-4959882293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F5C918-5AB6-4359-873A-24CCEE6CA0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6D570F-8A9C-4DA3-9837-FEB244B389FF}" type="slidenum">
              <a:rPr lang="en-US" smtClean="0"/>
              <a:t>‹#›</a:t>
            </a:fld>
            <a:endParaRPr lang="en-US"/>
          </a:p>
        </p:txBody>
      </p:sp>
    </p:spTree>
    <p:extLst>
      <p:ext uri="{BB962C8B-B14F-4D97-AF65-F5344CB8AC3E}">
        <p14:creationId xmlns:p14="http://schemas.microsoft.com/office/powerpoint/2010/main" val="8304327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6A486F3-785A-5639-B467-1414685A14BD}"/>
              </a:ext>
            </a:extLst>
          </p:cNvPr>
          <p:cNvSpPr txBox="1"/>
          <p:nvPr/>
        </p:nvSpPr>
        <p:spPr>
          <a:xfrm>
            <a:off x="2147598" y="2782669"/>
            <a:ext cx="7896800" cy="646331"/>
          </a:xfrm>
          <a:prstGeom prst="rect">
            <a:avLst/>
          </a:prstGeom>
          <a:noFill/>
        </p:spPr>
        <p:txBody>
          <a:bodyPr wrap="square">
            <a:spAutoFit/>
          </a:bodyPr>
          <a:lstStyle/>
          <a:p>
            <a:pPr algn="ctr"/>
            <a:r>
              <a:rPr lang="en-US" sz="3600" b="1" dirty="0">
                <a:solidFill>
                  <a:srgbClr val="2AAF82"/>
                </a:solidFill>
              </a:rPr>
              <a:t>Data Preprocessing &amp; Visualization</a:t>
            </a:r>
          </a:p>
        </p:txBody>
      </p:sp>
      <p:sp>
        <p:nvSpPr>
          <p:cNvPr id="5" name="TextBox 4">
            <a:extLst>
              <a:ext uri="{FF2B5EF4-FFF2-40B4-BE49-F238E27FC236}">
                <a16:creationId xmlns:a16="http://schemas.microsoft.com/office/drawing/2014/main" id="{78E3E16E-39BD-951D-DEDE-E582F8D1635E}"/>
              </a:ext>
            </a:extLst>
          </p:cNvPr>
          <p:cNvSpPr txBox="1"/>
          <p:nvPr/>
        </p:nvSpPr>
        <p:spPr>
          <a:xfrm>
            <a:off x="3930313" y="3429000"/>
            <a:ext cx="4331369" cy="307777"/>
          </a:xfrm>
          <a:prstGeom prst="rect">
            <a:avLst/>
          </a:prstGeom>
          <a:noFill/>
        </p:spPr>
        <p:txBody>
          <a:bodyPr wrap="square">
            <a:spAutoFit/>
          </a:bodyPr>
          <a:lstStyle/>
          <a:p>
            <a:pPr algn="ctr"/>
            <a:r>
              <a:rPr lang="en-US" sz="1400" b="1" dirty="0">
                <a:solidFill>
                  <a:srgbClr val="2AAF82"/>
                </a:solidFill>
              </a:rPr>
              <a:t>Session 3: (Matplotlib &amp; Seaborn)</a:t>
            </a:r>
          </a:p>
        </p:txBody>
      </p:sp>
    </p:spTree>
    <p:extLst>
      <p:ext uri="{BB962C8B-B14F-4D97-AF65-F5344CB8AC3E}">
        <p14:creationId xmlns:p14="http://schemas.microsoft.com/office/powerpoint/2010/main" val="3487747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36E163-EC02-CA74-CBE2-C297692FB6C6}"/>
              </a:ext>
            </a:extLst>
          </p:cNvPr>
          <p:cNvSpPr txBox="1"/>
          <p:nvPr/>
        </p:nvSpPr>
        <p:spPr>
          <a:xfrm>
            <a:off x="1723541" y="1283228"/>
            <a:ext cx="1745673" cy="523220"/>
          </a:xfrm>
          <a:prstGeom prst="rect">
            <a:avLst/>
          </a:prstGeom>
          <a:noFill/>
        </p:spPr>
        <p:txBody>
          <a:bodyPr wrap="square">
            <a:spAutoFit/>
          </a:bodyPr>
          <a:lstStyle/>
          <a:p>
            <a:r>
              <a:rPr lang="en-US" sz="2800" b="1" dirty="0">
                <a:solidFill>
                  <a:srgbClr val="1869A6"/>
                </a:solidFill>
              </a:rPr>
              <a:t>Agenda</a:t>
            </a:r>
            <a:r>
              <a:rPr lang="en-US" sz="2800" dirty="0">
                <a:solidFill>
                  <a:srgbClr val="1869A6"/>
                </a:solidFill>
              </a:rPr>
              <a:t>:</a:t>
            </a:r>
          </a:p>
        </p:txBody>
      </p:sp>
      <p:graphicFrame>
        <p:nvGraphicFramePr>
          <p:cNvPr id="3" name="Table 2">
            <a:extLst>
              <a:ext uri="{FF2B5EF4-FFF2-40B4-BE49-F238E27FC236}">
                <a16:creationId xmlns:a16="http://schemas.microsoft.com/office/drawing/2014/main" id="{FBAC5225-B438-4BE4-6868-D2F7AE61ECA7}"/>
              </a:ext>
            </a:extLst>
          </p:cNvPr>
          <p:cNvGraphicFramePr>
            <a:graphicFrameLocks noGrp="1"/>
          </p:cNvGraphicFramePr>
          <p:nvPr>
            <p:extLst>
              <p:ext uri="{D42A27DB-BD31-4B8C-83A1-F6EECF244321}">
                <p14:modId xmlns:p14="http://schemas.microsoft.com/office/powerpoint/2010/main" val="436713560"/>
              </p:ext>
            </p:extLst>
          </p:nvPr>
        </p:nvGraphicFramePr>
        <p:xfrm>
          <a:off x="2596378" y="2225964"/>
          <a:ext cx="6999244" cy="1474963"/>
        </p:xfrm>
        <a:graphic>
          <a:graphicData uri="http://schemas.openxmlformats.org/drawingml/2006/table">
            <a:tbl>
              <a:tblPr firstRow="1" bandRow="1">
                <a:tableStyleId>{5C22544A-7EE6-4342-B048-85BDC9FD1C3A}</a:tableStyleId>
              </a:tblPr>
              <a:tblGrid>
                <a:gridCol w="568311">
                  <a:extLst>
                    <a:ext uri="{9D8B030D-6E8A-4147-A177-3AD203B41FA5}">
                      <a16:colId xmlns:a16="http://schemas.microsoft.com/office/drawing/2014/main" val="2296649913"/>
                    </a:ext>
                  </a:extLst>
                </a:gridCol>
                <a:gridCol w="6430933">
                  <a:extLst>
                    <a:ext uri="{9D8B030D-6E8A-4147-A177-3AD203B41FA5}">
                      <a16:colId xmlns:a16="http://schemas.microsoft.com/office/drawing/2014/main" val="4021298204"/>
                    </a:ext>
                  </a:extLst>
                </a:gridCol>
              </a:tblGrid>
              <a:tr h="482121">
                <a:tc>
                  <a:txBody>
                    <a:bodyPr/>
                    <a:lstStyle/>
                    <a:p>
                      <a:pPr algn="ctr"/>
                      <a:r>
                        <a:rPr lang="en-US" b="1" dirty="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dirty="0"/>
                        <a:t>Introduction to Matplotlib</a:t>
                      </a:r>
                      <a:endParaRPr lang="en-US"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3138608899"/>
                  </a:ext>
                </a:extLst>
              </a:tr>
              <a:tr h="496421">
                <a:tc>
                  <a:txBody>
                    <a:bodyPr/>
                    <a:lstStyle/>
                    <a:p>
                      <a:pPr algn="ctr"/>
                      <a:r>
                        <a:rPr lang="en-US" b="1" dirty="0">
                          <a:solidFill>
                            <a:schemeClr val="bg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 Introduction to Seaborn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4082344712"/>
                  </a:ext>
                </a:extLst>
              </a:tr>
              <a:tr h="496421">
                <a:tc>
                  <a:txBody>
                    <a:bodyPr/>
                    <a:lstStyle/>
                    <a:p>
                      <a:pPr algn="ctr"/>
                      <a:r>
                        <a:rPr lang="en-US" b="1" dirty="0">
                          <a:solidFill>
                            <a:schemeClr val="bg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Practical Visualization Examples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1545105015"/>
                  </a:ext>
                </a:extLst>
              </a:tr>
            </a:tbl>
          </a:graphicData>
        </a:graphic>
      </p:graphicFrame>
    </p:spTree>
    <p:extLst>
      <p:ext uri="{BB962C8B-B14F-4D97-AF65-F5344CB8AC3E}">
        <p14:creationId xmlns:p14="http://schemas.microsoft.com/office/powerpoint/2010/main" val="494180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709540-2930-C13D-82AE-5932E151A1EC}"/>
              </a:ext>
            </a:extLst>
          </p:cNvPr>
          <p:cNvSpPr txBox="1"/>
          <p:nvPr/>
        </p:nvSpPr>
        <p:spPr>
          <a:xfrm>
            <a:off x="3034145" y="2782669"/>
            <a:ext cx="6123709" cy="646331"/>
          </a:xfrm>
          <a:prstGeom prst="rect">
            <a:avLst/>
          </a:prstGeom>
          <a:noFill/>
        </p:spPr>
        <p:txBody>
          <a:bodyPr wrap="square">
            <a:spAutoFit/>
          </a:bodyPr>
          <a:lstStyle/>
          <a:p>
            <a:pPr algn="ctr"/>
            <a:r>
              <a:rPr lang="en-US" sz="3600" b="1" dirty="0">
                <a:solidFill>
                  <a:srgbClr val="2AAF82"/>
                </a:solidFill>
              </a:rPr>
              <a:t>Introduction to Matplotlib</a:t>
            </a:r>
          </a:p>
        </p:txBody>
      </p:sp>
    </p:spTree>
    <p:extLst>
      <p:ext uri="{BB962C8B-B14F-4D97-AF65-F5344CB8AC3E}">
        <p14:creationId xmlns:p14="http://schemas.microsoft.com/office/powerpoint/2010/main" val="3655880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DCF49C-85F2-1DC6-09C9-E02961223766}"/>
              </a:ext>
            </a:extLst>
          </p:cNvPr>
          <p:cNvSpPr txBox="1"/>
          <p:nvPr/>
        </p:nvSpPr>
        <p:spPr>
          <a:xfrm>
            <a:off x="189345" y="1415688"/>
            <a:ext cx="3551382" cy="400110"/>
          </a:xfrm>
          <a:prstGeom prst="rect">
            <a:avLst/>
          </a:prstGeom>
          <a:noFill/>
        </p:spPr>
        <p:txBody>
          <a:bodyPr wrap="square">
            <a:spAutoFit/>
          </a:bodyPr>
          <a:lstStyle/>
          <a:p>
            <a:pPr algn="ctr"/>
            <a:r>
              <a:rPr lang="en-US" sz="2000" b="1" dirty="0">
                <a:solidFill>
                  <a:srgbClr val="1869A6"/>
                </a:solidFill>
              </a:rPr>
              <a:t>Introduction to Matplotlib</a:t>
            </a:r>
          </a:p>
        </p:txBody>
      </p:sp>
      <p:sp>
        <p:nvSpPr>
          <p:cNvPr id="4" name="TextBox 3">
            <a:extLst>
              <a:ext uri="{FF2B5EF4-FFF2-40B4-BE49-F238E27FC236}">
                <a16:creationId xmlns:a16="http://schemas.microsoft.com/office/drawing/2014/main" id="{C4F07714-5123-75D5-1A52-70958F16475F}"/>
              </a:ext>
            </a:extLst>
          </p:cNvPr>
          <p:cNvSpPr txBox="1"/>
          <p:nvPr/>
        </p:nvSpPr>
        <p:spPr>
          <a:xfrm>
            <a:off x="1965036" y="1962973"/>
            <a:ext cx="6096000" cy="369332"/>
          </a:xfrm>
          <a:prstGeom prst="rect">
            <a:avLst/>
          </a:prstGeom>
          <a:noFill/>
        </p:spPr>
        <p:txBody>
          <a:bodyPr wrap="square">
            <a:spAutoFit/>
          </a:bodyPr>
          <a:lstStyle/>
          <a:p>
            <a:r>
              <a:rPr lang="en-US" dirty="0"/>
              <a:t>What is Matplotlib?</a:t>
            </a:r>
          </a:p>
        </p:txBody>
      </p:sp>
      <p:sp>
        <p:nvSpPr>
          <p:cNvPr id="6" name="TextBox 5">
            <a:extLst>
              <a:ext uri="{FF2B5EF4-FFF2-40B4-BE49-F238E27FC236}">
                <a16:creationId xmlns:a16="http://schemas.microsoft.com/office/drawing/2014/main" id="{9F329679-2357-E844-FBA4-82488B0ED5FF}"/>
              </a:ext>
            </a:extLst>
          </p:cNvPr>
          <p:cNvSpPr txBox="1"/>
          <p:nvPr/>
        </p:nvSpPr>
        <p:spPr>
          <a:xfrm>
            <a:off x="2447635" y="2332305"/>
            <a:ext cx="9393381" cy="1477328"/>
          </a:xfrm>
          <a:prstGeom prst="rect">
            <a:avLst/>
          </a:prstGeom>
          <a:noFill/>
        </p:spPr>
        <p:txBody>
          <a:bodyPr wrap="square">
            <a:spAutoFit/>
          </a:bodyPr>
          <a:lstStyle/>
          <a:p>
            <a:r>
              <a:rPr lang="en-US" dirty="0"/>
              <a:t>Matplotlib is a comprehensive library for creating static, animated, and interactive visualizations in Python. It is highly customizable and is widely used for producing high-quality 2D graphics.</a:t>
            </a:r>
          </a:p>
          <a:p>
            <a:r>
              <a:rPr lang="en-US" dirty="0"/>
              <a:t>It provides a MATLAB-like interface via the pyplot module, making it easy to create plots by calling a series of simple functions.</a:t>
            </a:r>
          </a:p>
        </p:txBody>
      </p:sp>
    </p:spTree>
    <p:extLst>
      <p:ext uri="{BB962C8B-B14F-4D97-AF65-F5344CB8AC3E}">
        <p14:creationId xmlns:p14="http://schemas.microsoft.com/office/powerpoint/2010/main" val="3540590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845DE0F-09C0-144D-74DE-0492E678FB34}"/>
              </a:ext>
            </a:extLst>
          </p:cNvPr>
          <p:cNvSpPr txBox="1"/>
          <p:nvPr/>
        </p:nvSpPr>
        <p:spPr>
          <a:xfrm>
            <a:off x="1431635" y="2000194"/>
            <a:ext cx="8811491" cy="1754326"/>
          </a:xfrm>
          <a:prstGeom prst="rect">
            <a:avLst/>
          </a:prstGeom>
          <a:noFill/>
        </p:spPr>
        <p:txBody>
          <a:bodyPr wrap="square">
            <a:spAutoFit/>
          </a:bodyPr>
          <a:lstStyle/>
          <a:p>
            <a:pPr marL="285750" indent="-285750">
              <a:buFont typeface="Arial" panose="020B0604020202020204" pitchFamily="34" charset="0"/>
              <a:buChar char="•"/>
            </a:pPr>
            <a:r>
              <a:rPr lang="en-US" b="1" dirty="0"/>
              <a:t>Line Plots</a:t>
            </a:r>
            <a:r>
              <a:rPr lang="en-US" dirty="0"/>
              <a:t>: Basic line plots for showing trends over time.</a:t>
            </a:r>
          </a:p>
          <a:p>
            <a:pPr marL="285750" indent="-285750">
              <a:buFont typeface="Arial" panose="020B0604020202020204" pitchFamily="34" charset="0"/>
              <a:buChar char="•"/>
            </a:pPr>
            <a:r>
              <a:rPr lang="en-US" b="1" dirty="0"/>
              <a:t>Scatter Plots</a:t>
            </a:r>
            <a:r>
              <a:rPr lang="en-US" dirty="0"/>
              <a:t>: For visualizing the relationship between two numerical variables.</a:t>
            </a:r>
          </a:p>
          <a:p>
            <a:pPr marL="285750" indent="-285750">
              <a:buFont typeface="Arial" panose="020B0604020202020204" pitchFamily="34" charset="0"/>
              <a:buChar char="•"/>
            </a:pPr>
            <a:r>
              <a:rPr lang="en-US" b="1" dirty="0"/>
              <a:t>Bar Charts</a:t>
            </a:r>
            <a:r>
              <a:rPr lang="en-US" dirty="0"/>
              <a:t>: Displaying categorical data with rectangular bars.</a:t>
            </a:r>
          </a:p>
          <a:p>
            <a:pPr marL="285750" indent="-285750">
              <a:buFont typeface="Arial" panose="020B0604020202020204" pitchFamily="34" charset="0"/>
              <a:buChar char="•"/>
            </a:pPr>
            <a:r>
              <a:rPr lang="en-US" b="1" dirty="0"/>
              <a:t>Histograms</a:t>
            </a:r>
            <a:r>
              <a:rPr lang="en-US" dirty="0"/>
              <a:t>: Showing the distribution of numerical data.</a:t>
            </a:r>
          </a:p>
          <a:p>
            <a:pPr marL="285750" indent="-285750">
              <a:buFont typeface="Arial" panose="020B0604020202020204" pitchFamily="34" charset="0"/>
              <a:buChar char="•"/>
            </a:pPr>
            <a:r>
              <a:rPr lang="en-US" b="1" dirty="0"/>
              <a:t>Subplots</a:t>
            </a:r>
            <a:r>
              <a:rPr lang="en-US" dirty="0"/>
              <a:t>: Creating multiple plots within a single figure.</a:t>
            </a:r>
          </a:p>
          <a:p>
            <a:pPr marL="285750" indent="-285750">
              <a:buFont typeface="Arial" panose="020B0604020202020204" pitchFamily="34" charset="0"/>
              <a:buChar char="•"/>
            </a:pPr>
            <a:r>
              <a:rPr lang="en-US" b="1" dirty="0"/>
              <a:t>Customization</a:t>
            </a:r>
            <a:r>
              <a:rPr lang="en-US" dirty="0"/>
              <a:t>: Highly customizable with titles, labels, legends, colors, and more</a:t>
            </a:r>
          </a:p>
        </p:txBody>
      </p:sp>
      <p:sp>
        <p:nvSpPr>
          <p:cNvPr id="5" name="TextBox 4">
            <a:extLst>
              <a:ext uri="{FF2B5EF4-FFF2-40B4-BE49-F238E27FC236}">
                <a16:creationId xmlns:a16="http://schemas.microsoft.com/office/drawing/2014/main" id="{CDD514C2-DDDC-A30B-C0F9-A35FFAC6BE5E}"/>
              </a:ext>
            </a:extLst>
          </p:cNvPr>
          <p:cNvSpPr txBox="1"/>
          <p:nvPr/>
        </p:nvSpPr>
        <p:spPr>
          <a:xfrm>
            <a:off x="378691" y="1454789"/>
            <a:ext cx="3251200" cy="400110"/>
          </a:xfrm>
          <a:prstGeom prst="rect">
            <a:avLst/>
          </a:prstGeom>
          <a:noFill/>
        </p:spPr>
        <p:txBody>
          <a:bodyPr wrap="square">
            <a:spAutoFit/>
          </a:bodyPr>
          <a:lstStyle/>
          <a:p>
            <a:r>
              <a:rPr lang="en-US" sz="2000" b="1" dirty="0">
                <a:solidFill>
                  <a:srgbClr val="1869A6"/>
                </a:solidFill>
              </a:rPr>
              <a:t>Key Features of Matplotlib</a:t>
            </a:r>
          </a:p>
        </p:txBody>
      </p:sp>
    </p:spTree>
    <p:extLst>
      <p:ext uri="{BB962C8B-B14F-4D97-AF65-F5344CB8AC3E}">
        <p14:creationId xmlns:p14="http://schemas.microsoft.com/office/powerpoint/2010/main" val="3626232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C9FA37-01A3-B39A-72D0-71CCAAD31B81}"/>
              </a:ext>
            </a:extLst>
          </p:cNvPr>
          <p:cNvSpPr txBox="1"/>
          <p:nvPr/>
        </p:nvSpPr>
        <p:spPr>
          <a:xfrm>
            <a:off x="563418" y="1500970"/>
            <a:ext cx="4498109" cy="400110"/>
          </a:xfrm>
          <a:prstGeom prst="rect">
            <a:avLst/>
          </a:prstGeom>
          <a:noFill/>
        </p:spPr>
        <p:txBody>
          <a:bodyPr wrap="square">
            <a:spAutoFit/>
          </a:bodyPr>
          <a:lstStyle/>
          <a:p>
            <a:r>
              <a:rPr lang="en-US" sz="2000" b="1" dirty="0">
                <a:solidFill>
                  <a:srgbClr val="1869A6"/>
                </a:solidFill>
              </a:rPr>
              <a:t>Basic Plotting with Matplotlib</a:t>
            </a:r>
          </a:p>
        </p:txBody>
      </p:sp>
      <p:sp>
        <p:nvSpPr>
          <p:cNvPr id="5" name="TextBox 4">
            <a:extLst>
              <a:ext uri="{FF2B5EF4-FFF2-40B4-BE49-F238E27FC236}">
                <a16:creationId xmlns:a16="http://schemas.microsoft.com/office/drawing/2014/main" id="{3DEAF1B3-ECCA-333E-B487-395516CB9D97}"/>
              </a:ext>
            </a:extLst>
          </p:cNvPr>
          <p:cNvSpPr txBox="1"/>
          <p:nvPr/>
        </p:nvSpPr>
        <p:spPr>
          <a:xfrm>
            <a:off x="1856509" y="2027443"/>
            <a:ext cx="6096000" cy="369332"/>
          </a:xfrm>
          <a:prstGeom prst="rect">
            <a:avLst/>
          </a:prstGeom>
          <a:noFill/>
        </p:spPr>
        <p:txBody>
          <a:bodyPr wrap="square">
            <a:spAutoFit/>
          </a:bodyPr>
          <a:lstStyle/>
          <a:p>
            <a:r>
              <a:rPr lang="en-US" dirty="0"/>
              <a:t>Line Plot</a:t>
            </a:r>
          </a:p>
        </p:txBody>
      </p:sp>
      <p:sp>
        <p:nvSpPr>
          <p:cNvPr id="7" name="TextBox 6">
            <a:extLst>
              <a:ext uri="{FF2B5EF4-FFF2-40B4-BE49-F238E27FC236}">
                <a16:creationId xmlns:a16="http://schemas.microsoft.com/office/drawing/2014/main" id="{CDB88567-C18C-1C3E-0052-0665E4D00FB5}"/>
              </a:ext>
            </a:extLst>
          </p:cNvPr>
          <p:cNvSpPr txBox="1"/>
          <p:nvPr/>
        </p:nvSpPr>
        <p:spPr>
          <a:xfrm>
            <a:off x="5337175" y="2396775"/>
            <a:ext cx="3853007" cy="1200329"/>
          </a:xfrm>
          <a:prstGeom prst="rect">
            <a:avLst/>
          </a:prstGeom>
          <a:noFill/>
        </p:spPr>
        <p:txBody>
          <a:bodyPr wrap="square">
            <a:spAutoFit/>
          </a:bodyPr>
          <a:lstStyle/>
          <a:p>
            <a:pPr marL="285750" indent="-285750">
              <a:buFont typeface="Arial" panose="020B0604020202020204" pitchFamily="34" charset="0"/>
              <a:buChar char="•"/>
            </a:pPr>
            <a:r>
              <a:rPr lang="en-US" dirty="0"/>
              <a:t>This creates a basic line plot with x and y data points. plt.title(), plt.xlabel(), and plt.ylabel() add a title and labels to the axes.</a:t>
            </a:r>
          </a:p>
        </p:txBody>
      </p:sp>
      <p:pic>
        <p:nvPicPr>
          <p:cNvPr id="9" name="Picture 8">
            <a:extLst>
              <a:ext uri="{FF2B5EF4-FFF2-40B4-BE49-F238E27FC236}">
                <a16:creationId xmlns:a16="http://schemas.microsoft.com/office/drawing/2014/main" id="{FC9B4B8A-D4A0-374B-1038-AF936962D759}"/>
              </a:ext>
            </a:extLst>
          </p:cNvPr>
          <p:cNvPicPr>
            <a:picLocks noChangeAspect="1"/>
          </p:cNvPicPr>
          <p:nvPr/>
        </p:nvPicPr>
        <p:blipFill>
          <a:blip r:embed="rId2"/>
          <a:stretch>
            <a:fillRect/>
          </a:stretch>
        </p:blipFill>
        <p:spPr>
          <a:xfrm>
            <a:off x="1856509" y="2396775"/>
            <a:ext cx="3335603" cy="3764467"/>
          </a:xfrm>
          <a:prstGeom prst="rect">
            <a:avLst/>
          </a:prstGeom>
        </p:spPr>
      </p:pic>
    </p:spTree>
    <p:extLst>
      <p:ext uri="{BB962C8B-B14F-4D97-AF65-F5344CB8AC3E}">
        <p14:creationId xmlns:p14="http://schemas.microsoft.com/office/powerpoint/2010/main" val="2994219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873DED-B4EA-35F9-3961-16437436F9F5}"/>
              </a:ext>
            </a:extLst>
          </p:cNvPr>
          <p:cNvSpPr txBox="1"/>
          <p:nvPr/>
        </p:nvSpPr>
        <p:spPr>
          <a:xfrm>
            <a:off x="489527" y="1528679"/>
            <a:ext cx="4498109" cy="400110"/>
          </a:xfrm>
          <a:prstGeom prst="rect">
            <a:avLst/>
          </a:prstGeom>
          <a:noFill/>
        </p:spPr>
        <p:txBody>
          <a:bodyPr wrap="square">
            <a:spAutoFit/>
          </a:bodyPr>
          <a:lstStyle/>
          <a:p>
            <a:r>
              <a:rPr lang="en-US" sz="2000" b="1" dirty="0">
                <a:solidFill>
                  <a:srgbClr val="1869A6"/>
                </a:solidFill>
              </a:rPr>
              <a:t>Basic Plotting with Matplotlib</a:t>
            </a:r>
          </a:p>
        </p:txBody>
      </p:sp>
      <p:sp>
        <p:nvSpPr>
          <p:cNvPr id="3" name="TextBox 2">
            <a:extLst>
              <a:ext uri="{FF2B5EF4-FFF2-40B4-BE49-F238E27FC236}">
                <a16:creationId xmlns:a16="http://schemas.microsoft.com/office/drawing/2014/main" id="{874E8AD0-4E61-6C1A-086F-F84C436802D7}"/>
              </a:ext>
            </a:extLst>
          </p:cNvPr>
          <p:cNvSpPr txBox="1"/>
          <p:nvPr/>
        </p:nvSpPr>
        <p:spPr>
          <a:xfrm>
            <a:off x="1782618" y="2055152"/>
            <a:ext cx="6096000" cy="369332"/>
          </a:xfrm>
          <a:prstGeom prst="rect">
            <a:avLst/>
          </a:prstGeom>
          <a:noFill/>
        </p:spPr>
        <p:txBody>
          <a:bodyPr wrap="square">
            <a:spAutoFit/>
          </a:bodyPr>
          <a:lstStyle/>
          <a:p>
            <a:r>
              <a:rPr lang="en-US" dirty="0"/>
              <a:t>Scatter Plot</a:t>
            </a:r>
          </a:p>
        </p:txBody>
      </p:sp>
      <p:sp>
        <p:nvSpPr>
          <p:cNvPr id="4" name="TextBox 3">
            <a:extLst>
              <a:ext uri="{FF2B5EF4-FFF2-40B4-BE49-F238E27FC236}">
                <a16:creationId xmlns:a16="http://schemas.microsoft.com/office/drawing/2014/main" id="{5DECFE45-46B3-745B-1A4B-CB14BD5AC9AB}"/>
              </a:ext>
            </a:extLst>
          </p:cNvPr>
          <p:cNvSpPr txBox="1"/>
          <p:nvPr/>
        </p:nvSpPr>
        <p:spPr>
          <a:xfrm>
            <a:off x="5623503" y="2550847"/>
            <a:ext cx="3853007" cy="1477328"/>
          </a:xfrm>
          <a:prstGeom prst="rect">
            <a:avLst/>
          </a:prstGeom>
          <a:noFill/>
        </p:spPr>
        <p:txBody>
          <a:bodyPr wrap="square">
            <a:spAutoFit/>
          </a:bodyPr>
          <a:lstStyle/>
          <a:p>
            <a:pPr marL="285750" indent="-285750">
              <a:buFont typeface="Arial" panose="020B0604020202020204" pitchFamily="34" charset="0"/>
              <a:buChar char="•"/>
            </a:pPr>
            <a:r>
              <a:rPr lang="en-US" dirty="0"/>
              <a:t>A scatter plot is used to observe the relationship between two variables. plt.scatter() creates a scatter plot with x and y coordinates.</a:t>
            </a:r>
          </a:p>
        </p:txBody>
      </p:sp>
      <p:pic>
        <p:nvPicPr>
          <p:cNvPr id="7" name="Picture 6">
            <a:extLst>
              <a:ext uri="{FF2B5EF4-FFF2-40B4-BE49-F238E27FC236}">
                <a16:creationId xmlns:a16="http://schemas.microsoft.com/office/drawing/2014/main" id="{E0FC33D8-4581-5866-43E3-AE3E67D88AF5}"/>
              </a:ext>
            </a:extLst>
          </p:cNvPr>
          <p:cNvPicPr>
            <a:picLocks noChangeAspect="1"/>
          </p:cNvPicPr>
          <p:nvPr/>
        </p:nvPicPr>
        <p:blipFill>
          <a:blip r:embed="rId2"/>
          <a:stretch>
            <a:fillRect/>
          </a:stretch>
        </p:blipFill>
        <p:spPr>
          <a:xfrm>
            <a:off x="1927622" y="2687781"/>
            <a:ext cx="3578003" cy="3722457"/>
          </a:xfrm>
          <a:prstGeom prst="rect">
            <a:avLst/>
          </a:prstGeom>
        </p:spPr>
      </p:pic>
    </p:spTree>
    <p:extLst>
      <p:ext uri="{BB962C8B-B14F-4D97-AF65-F5344CB8AC3E}">
        <p14:creationId xmlns:p14="http://schemas.microsoft.com/office/powerpoint/2010/main" val="1435567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EA6932-7006-4A25-6C2F-5E88CA560E6C}"/>
              </a:ext>
            </a:extLst>
          </p:cNvPr>
          <p:cNvSpPr txBox="1"/>
          <p:nvPr/>
        </p:nvSpPr>
        <p:spPr>
          <a:xfrm>
            <a:off x="535709" y="1430102"/>
            <a:ext cx="4498109" cy="400110"/>
          </a:xfrm>
          <a:prstGeom prst="rect">
            <a:avLst/>
          </a:prstGeom>
          <a:noFill/>
        </p:spPr>
        <p:txBody>
          <a:bodyPr wrap="square">
            <a:spAutoFit/>
          </a:bodyPr>
          <a:lstStyle/>
          <a:p>
            <a:r>
              <a:rPr lang="en-US" sz="2000" b="1" dirty="0">
                <a:solidFill>
                  <a:srgbClr val="1869A6"/>
                </a:solidFill>
              </a:rPr>
              <a:t>Basic Plotting with Matplotlib</a:t>
            </a:r>
          </a:p>
        </p:txBody>
      </p:sp>
      <p:sp>
        <p:nvSpPr>
          <p:cNvPr id="3" name="TextBox 2">
            <a:extLst>
              <a:ext uri="{FF2B5EF4-FFF2-40B4-BE49-F238E27FC236}">
                <a16:creationId xmlns:a16="http://schemas.microsoft.com/office/drawing/2014/main" id="{AEF83977-84BD-84DA-1BB8-89B8988D39C4}"/>
              </a:ext>
            </a:extLst>
          </p:cNvPr>
          <p:cNvSpPr txBox="1"/>
          <p:nvPr/>
        </p:nvSpPr>
        <p:spPr>
          <a:xfrm>
            <a:off x="1856509" y="1962297"/>
            <a:ext cx="6096000" cy="369332"/>
          </a:xfrm>
          <a:prstGeom prst="rect">
            <a:avLst/>
          </a:prstGeom>
          <a:noFill/>
        </p:spPr>
        <p:txBody>
          <a:bodyPr wrap="square">
            <a:spAutoFit/>
          </a:bodyPr>
          <a:lstStyle/>
          <a:p>
            <a:r>
              <a:rPr lang="en-US" dirty="0"/>
              <a:t>Bar Chart</a:t>
            </a:r>
          </a:p>
        </p:txBody>
      </p:sp>
      <p:sp>
        <p:nvSpPr>
          <p:cNvPr id="4" name="TextBox 3">
            <a:extLst>
              <a:ext uri="{FF2B5EF4-FFF2-40B4-BE49-F238E27FC236}">
                <a16:creationId xmlns:a16="http://schemas.microsoft.com/office/drawing/2014/main" id="{9DEAB7A2-1283-8F01-49F3-64BCA4FAED2A}"/>
              </a:ext>
            </a:extLst>
          </p:cNvPr>
          <p:cNvSpPr txBox="1"/>
          <p:nvPr/>
        </p:nvSpPr>
        <p:spPr>
          <a:xfrm>
            <a:off x="5553596" y="2317713"/>
            <a:ext cx="3853007" cy="1477328"/>
          </a:xfrm>
          <a:prstGeom prst="rect">
            <a:avLst/>
          </a:prstGeom>
          <a:noFill/>
        </p:spPr>
        <p:txBody>
          <a:bodyPr wrap="square">
            <a:spAutoFit/>
          </a:bodyPr>
          <a:lstStyle/>
          <a:p>
            <a:pPr marL="285750" indent="-285750">
              <a:buFont typeface="Arial" panose="020B0604020202020204" pitchFamily="34" charset="0"/>
              <a:buChar char="•"/>
            </a:pPr>
            <a:r>
              <a:rPr lang="en-US" dirty="0"/>
              <a:t>A bar chart displays data with rectangular bars. plt.bar() is used to create a bar chart with specified categories and their corresponding values.</a:t>
            </a:r>
          </a:p>
        </p:txBody>
      </p:sp>
      <p:pic>
        <p:nvPicPr>
          <p:cNvPr id="8" name="Picture 7">
            <a:extLst>
              <a:ext uri="{FF2B5EF4-FFF2-40B4-BE49-F238E27FC236}">
                <a16:creationId xmlns:a16="http://schemas.microsoft.com/office/drawing/2014/main" id="{47C88A95-F4A1-B0B6-79D3-6600CFE6670B}"/>
              </a:ext>
            </a:extLst>
          </p:cNvPr>
          <p:cNvPicPr>
            <a:picLocks noChangeAspect="1"/>
          </p:cNvPicPr>
          <p:nvPr/>
        </p:nvPicPr>
        <p:blipFill>
          <a:blip r:embed="rId2"/>
          <a:stretch>
            <a:fillRect/>
          </a:stretch>
        </p:blipFill>
        <p:spPr>
          <a:xfrm>
            <a:off x="1976583" y="2331629"/>
            <a:ext cx="3456939" cy="3812801"/>
          </a:xfrm>
          <a:prstGeom prst="rect">
            <a:avLst/>
          </a:prstGeom>
        </p:spPr>
      </p:pic>
    </p:spTree>
    <p:extLst>
      <p:ext uri="{BB962C8B-B14F-4D97-AF65-F5344CB8AC3E}">
        <p14:creationId xmlns:p14="http://schemas.microsoft.com/office/powerpoint/2010/main" val="2173088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248E6B-6DD9-6BB5-C2C0-67F8E241CBD8}"/>
              </a:ext>
            </a:extLst>
          </p:cNvPr>
          <p:cNvSpPr txBox="1"/>
          <p:nvPr/>
        </p:nvSpPr>
        <p:spPr>
          <a:xfrm>
            <a:off x="517817" y="1471893"/>
            <a:ext cx="4498109" cy="400110"/>
          </a:xfrm>
          <a:prstGeom prst="rect">
            <a:avLst/>
          </a:prstGeom>
          <a:noFill/>
        </p:spPr>
        <p:txBody>
          <a:bodyPr wrap="square">
            <a:spAutoFit/>
          </a:bodyPr>
          <a:lstStyle/>
          <a:p>
            <a:r>
              <a:rPr lang="en-US" sz="2000" b="1" dirty="0">
                <a:solidFill>
                  <a:srgbClr val="1869A6"/>
                </a:solidFill>
              </a:rPr>
              <a:t>Basic Plotting with Matplotlib</a:t>
            </a:r>
          </a:p>
        </p:txBody>
      </p:sp>
      <p:sp>
        <p:nvSpPr>
          <p:cNvPr id="3" name="TextBox 2">
            <a:extLst>
              <a:ext uri="{FF2B5EF4-FFF2-40B4-BE49-F238E27FC236}">
                <a16:creationId xmlns:a16="http://schemas.microsoft.com/office/drawing/2014/main" id="{97A7BE2E-7C53-DB3E-8A3E-5359EAFF7042}"/>
              </a:ext>
            </a:extLst>
          </p:cNvPr>
          <p:cNvSpPr txBox="1"/>
          <p:nvPr/>
        </p:nvSpPr>
        <p:spPr>
          <a:xfrm>
            <a:off x="1810908" y="1998366"/>
            <a:ext cx="6096000" cy="369332"/>
          </a:xfrm>
          <a:prstGeom prst="rect">
            <a:avLst/>
          </a:prstGeom>
          <a:noFill/>
        </p:spPr>
        <p:txBody>
          <a:bodyPr wrap="square">
            <a:spAutoFit/>
          </a:bodyPr>
          <a:lstStyle/>
          <a:p>
            <a:r>
              <a:rPr lang="en-US" dirty="0"/>
              <a:t>Histogram</a:t>
            </a:r>
          </a:p>
        </p:txBody>
      </p:sp>
      <p:sp>
        <p:nvSpPr>
          <p:cNvPr id="4" name="TextBox 3">
            <a:extLst>
              <a:ext uri="{FF2B5EF4-FFF2-40B4-BE49-F238E27FC236}">
                <a16:creationId xmlns:a16="http://schemas.microsoft.com/office/drawing/2014/main" id="{E4F246EA-E7C0-6FE6-CC82-3BD9F0B138CB}"/>
              </a:ext>
            </a:extLst>
          </p:cNvPr>
          <p:cNvSpPr txBox="1"/>
          <p:nvPr/>
        </p:nvSpPr>
        <p:spPr>
          <a:xfrm>
            <a:off x="5110583" y="2586348"/>
            <a:ext cx="3853007" cy="1477328"/>
          </a:xfrm>
          <a:prstGeom prst="rect">
            <a:avLst/>
          </a:prstGeom>
          <a:noFill/>
        </p:spPr>
        <p:txBody>
          <a:bodyPr wrap="square">
            <a:spAutoFit/>
          </a:bodyPr>
          <a:lstStyle/>
          <a:p>
            <a:pPr marL="285750" indent="-285750">
              <a:buFont typeface="Arial" panose="020B0604020202020204" pitchFamily="34" charset="0"/>
              <a:buChar char="•"/>
            </a:pPr>
            <a:r>
              <a:rPr lang="en-US" dirty="0"/>
              <a:t>A histogram is used to show the distribution of a numerical variable. plt.hist() creates a histogram with a specified number of bins.</a:t>
            </a:r>
          </a:p>
        </p:txBody>
      </p:sp>
      <p:pic>
        <p:nvPicPr>
          <p:cNvPr id="7" name="Picture 6">
            <a:extLst>
              <a:ext uri="{FF2B5EF4-FFF2-40B4-BE49-F238E27FC236}">
                <a16:creationId xmlns:a16="http://schemas.microsoft.com/office/drawing/2014/main" id="{1AF369EA-A585-D4CC-E308-3CF0E946B4CF}"/>
              </a:ext>
            </a:extLst>
          </p:cNvPr>
          <p:cNvPicPr>
            <a:picLocks noChangeAspect="1"/>
          </p:cNvPicPr>
          <p:nvPr/>
        </p:nvPicPr>
        <p:blipFill>
          <a:blip r:embed="rId2"/>
          <a:stretch>
            <a:fillRect/>
          </a:stretch>
        </p:blipFill>
        <p:spPr>
          <a:xfrm>
            <a:off x="1856510" y="2697018"/>
            <a:ext cx="3159416" cy="3426630"/>
          </a:xfrm>
          <a:prstGeom prst="rect">
            <a:avLst/>
          </a:prstGeom>
        </p:spPr>
      </p:pic>
    </p:spTree>
    <p:extLst>
      <p:ext uri="{BB962C8B-B14F-4D97-AF65-F5344CB8AC3E}">
        <p14:creationId xmlns:p14="http://schemas.microsoft.com/office/powerpoint/2010/main" val="4060152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A89E64-2222-C382-FE87-22305C0FFEE2}"/>
              </a:ext>
            </a:extLst>
          </p:cNvPr>
          <p:cNvSpPr txBox="1"/>
          <p:nvPr/>
        </p:nvSpPr>
        <p:spPr>
          <a:xfrm>
            <a:off x="526473" y="1413446"/>
            <a:ext cx="4498109" cy="400110"/>
          </a:xfrm>
          <a:prstGeom prst="rect">
            <a:avLst/>
          </a:prstGeom>
          <a:noFill/>
        </p:spPr>
        <p:txBody>
          <a:bodyPr wrap="square">
            <a:spAutoFit/>
          </a:bodyPr>
          <a:lstStyle/>
          <a:p>
            <a:r>
              <a:rPr lang="en-US" sz="2000" b="1" dirty="0">
                <a:solidFill>
                  <a:srgbClr val="1869A6"/>
                </a:solidFill>
              </a:rPr>
              <a:t>Basic Plotting with Matplotlib</a:t>
            </a:r>
          </a:p>
        </p:txBody>
      </p:sp>
      <p:sp>
        <p:nvSpPr>
          <p:cNvPr id="3" name="TextBox 2">
            <a:extLst>
              <a:ext uri="{FF2B5EF4-FFF2-40B4-BE49-F238E27FC236}">
                <a16:creationId xmlns:a16="http://schemas.microsoft.com/office/drawing/2014/main" id="{EA3A0269-E056-6492-5AB8-F0FF7A29A473}"/>
              </a:ext>
            </a:extLst>
          </p:cNvPr>
          <p:cNvSpPr txBox="1"/>
          <p:nvPr/>
        </p:nvSpPr>
        <p:spPr>
          <a:xfrm>
            <a:off x="1824180" y="1861188"/>
            <a:ext cx="6096000" cy="369332"/>
          </a:xfrm>
          <a:prstGeom prst="rect">
            <a:avLst/>
          </a:prstGeom>
          <a:noFill/>
        </p:spPr>
        <p:txBody>
          <a:bodyPr wrap="square">
            <a:spAutoFit/>
          </a:bodyPr>
          <a:lstStyle/>
          <a:p>
            <a:r>
              <a:rPr lang="en-US" dirty="0"/>
              <a:t>Subplots</a:t>
            </a:r>
          </a:p>
        </p:txBody>
      </p:sp>
      <p:sp>
        <p:nvSpPr>
          <p:cNvPr id="4" name="TextBox 3">
            <a:extLst>
              <a:ext uri="{FF2B5EF4-FFF2-40B4-BE49-F238E27FC236}">
                <a16:creationId xmlns:a16="http://schemas.microsoft.com/office/drawing/2014/main" id="{60AFFDBE-C180-D798-00F5-580BD1DB6100}"/>
              </a:ext>
            </a:extLst>
          </p:cNvPr>
          <p:cNvSpPr txBox="1"/>
          <p:nvPr/>
        </p:nvSpPr>
        <p:spPr>
          <a:xfrm>
            <a:off x="4872180" y="2230520"/>
            <a:ext cx="3853007" cy="1477328"/>
          </a:xfrm>
          <a:prstGeom prst="rect">
            <a:avLst/>
          </a:prstGeom>
          <a:noFill/>
        </p:spPr>
        <p:txBody>
          <a:bodyPr wrap="square">
            <a:spAutoFit/>
          </a:bodyPr>
          <a:lstStyle/>
          <a:p>
            <a:pPr marL="285750" indent="-285750">
              <a:buFont typeface="Arial" panose="020B0604020202020204" pitchFamily="34" charset="0"/>
              <a:buChar char="•"/>
            </a:pPr>
            <a:r>
              <a:rPr lang="en-US" dirty="0"/>
              <a:t>Subplots allow multiple plots to be shown in a single figure. plt.subplot(1, 2, 1) creates the first subplot, and plt.subplot(1, 2, 2) creates the second.</a:t>
            </a:r>
          </a:p>
        </p:txBody>
      </p:sp>
      <p:pic>
        <p:nvPicPr>
          <p:cNvPr id="7" name="Picture 6">
            <a:extLst>
              <a:ext uri="{FF2B5EF4-FFF2-40B4-BE49-F238E27FC236}">
                <a16:creationId xmlns:a16="http://schemas.microsoft.com/office/drawing/2014/main" id="{49FD7FB8-0A1B-87D9-AD9C-94F73B7D83C3}"/>
              </a:ext>
            </a:extLst>
          </p:cNvPr>
          <p:cNvPicPr>
            <a:picLocks noChangeAspect="1"/>
          </p:cNvPicPr>
          <p:nvPr/>
        </p:nvPicPr>
        <p:blipFill>
          <a:blip r:embed="rId2"/>
          <a:stretch>
            <a:fillRect/>
          </a:stretch>
        </p:blipFill>
        <p:spPr>
          <a:xfrm>
            <a:off x="1856509" y="2346036"/>
            <a:ext cx="2747405" cy="3442419"/>
          </a:xfrm>
          <a:prstGeom prst="rect">
            <a:avLst/>
          </a:prstGeom>
        </p:spPr>
      </p:pic>
    </p:spTree>
    <p:extLst>
      <p:ext uri="{BB962C8B-B14F-4D97-AF65-F5344CB8AC3E}">
        <p14:creationId xmlns:p14="http://schemas.microsoft.com/office/powerpoint/2010/main" val="3551532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54A9373-ECF6-3DB5-CAD2-D7A71385D0B6}"/>
              </a:ext>
            </a:extLst>
          </p:cNvPr>
          <p:cNvSpPr txBox="1"/>
          <p:nvPr/>
        </p:nvSpPr>
        <p:spPr>
          <a:xfrm>
            <a:off x="1034472" y="1568571"/>
            <a:ext cx="10252364" cy="1200329"/>
          </a:xfrm>
          <a:prstGeom prst="rect">
            <a:avLst/>
          </a:prstGeom>
          <a:noFill/>
        </p:spPr>
        <p:txBody>
          <a:bodyPr wrap="square">
            <a:spAutoFit/>
          </a:bodyPr>
          <a:lstStyle/>
          <a:p>
            <a:r>
              <a:rPr lang="en-US" b="1" dirty="0"/>
              <a:t>Outliers</a:t>
            </a:r>
            <a:r>
              <a:rPr lang="en-US" dirty="0"/>
              <a:t> are data points that significantly deviate from the rest of the data in a dataset. These anomalies can occur due to inconsistencies in measurement, errors during data collection, or actual variations. Outliers have the potential to distort statistical results and negatively influence machine learning models. Hence, it's crucial to detect and manage them effectively.</a:t>
            </a:r>
          </a:p>
        </p:txBody>
      </p:sp>
      <p:sp>
        <p:nvSpPr>
          <p:cNvPr id="8" name="TextBox 7">
            <a:extLst>
              <a:ext uri="{FF2B5EF4-FFF2-40B4-BE49-F238E27FC236}">
                <a16:creationId xmlns:a16="http://schemas.microsoft.com/office/drawing/2014/main" id="{7E03FF81-92C7-8EC3-3034-D45F2A8F8795}"/>
              </a:ext>
            </a:extLst>
          </p:cNvPr>
          <p:cNvSpPr txBox="1"/>
          <p:nvPr/>
        </p:nvSpPr>
        <p:spPr>
          <a:xfrm>
            <a:off x="665018" y="1168461"/>
            <a:ext cx="1163782" cy="400110"/>
          </a:xfrm>
          <a:prstGeom prst="rect">
            <a:avLst/>
          </a:prstGeom>
          <a:noFill/>
        </p:spPr>
        <p:txBody>
          <a:bodyPr wrap="square">
            <a:spAutoFit/>
          </a:bodyPr>
          <a:lstStyle/>
          <a:p>
            <a:r>
              <a:rPr lang="en-US" sz="2000" b="1" dirty="0">
                <a:solidFill>
                  <a:srgbClr val="1869A6"/>
                </a:solidFill>
              </a:rPr>
              <a:t>Outliers</a:t>
            </a:r>
            <a:endParaRPr lang="en-US" dirty="0">
              <a:solidFill>
                <a:srgbClr val="1869A6"/>
              </a:solidFill>
            </a:endParaRPr>
          </a:p>
        </p:txBody>
      </p:sp>
      <p:pic>
        <p:nvPicPr>
          <p:cNvPr id="2050" name="Picture 2" descr="Outliers-Part 1:Causes, Philosophy and General Rules | Ou Zhang">
            <a:extLst>
              <a:ext uri="{FF2B5EF4-FFF2-40B4-BE49-F238E27FC236}">
                <a16:creationId xmlns:a16="http://schemas.microsoft.com/office/drawing/2014/main" id="{547E2CE2-AA2D-CACD-4D2D-AD7BDB5052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3484" y="3256516"/>
            <a:ext cx="4437207" cy="2940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7714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65460A3-082B-A6A7-7CDA-69329091ED30}"/>
              </a:ext>
            </a:extLst>
          </p:cNvPr>
          <p:cNvSpPr txBox="1"/>
          <p:nvPr/>
        </p:nvSpPr>
        <p:spPr>
          <a:xfrm>
            <a:off x="1330035" y="1944914"/>
            <a:ext cx="9864437" cy="2862322"/>
          </a:xfrm>
          <a:prstGeom prst="rect">
            <a:avLst/>
          </a:prstGeom>
          <a:noFill/>
        </p:spPr>
        <p:txBody>
          <a:bodyPr wrap="square">
            <a:spAutoFit/>
          </a:bodyPr>
          <a:lstStyle/>
          <a:p>
            <a:pPr marL="285750" indent="-285750">
              <a:buFont typeface="Arial" panose="020B0604020202020204" pitchFamily="34" charset="0"/>
              <a:buChar char="•"/>
            </a:pPr>
            <a:r>
              <a:rPr lang="en-US" b="1" dirty="0"/>
              <a:t>Visualization Methods</a:t>
            </a:r>
            <a:r>
              <a:rPr lang="en-US" dirty="0"/>
              <a:t>: Techniques such as box plots, scatter plots, histograms, and density plots are valuable tools for detecting outliers visually.</a:t>
            </a:r>
          </a:p>
          <a:p>
            <a:pPr marL="285750" indent="-285750">
              <a:buFont typeface="Arial" panose="020B0604020202020204" pitchFamily="34" charset="0"/>
              <a:buChar char="•"/>
            </a:pPr>
            <a:r>
              <a:rPr lang="en-US" b="1" dirty="0"/>
              <a:t>Box Plot</a:t>
            </a:r>
            <a:r>
              <a:rPr lang="en-US" dirty="0"/>
              <a:t>: Displays data distribution, highlighting outliers as individual points outside the whiskers.</a:t>
            </a:r>
          </a:p>
          <a:p>
            <a:pPr marL="285750" indent="-285750">
              <a:buFont typeface="Arial" panose="020B0604020202020204" pitchFamily="34" charset="0"/>
              <a:buChar char="•"/>
            </a:pPr>
            <a:r>
              <a:rPr lang="en-US" b="1" dirty="0"/>
              <a:t>Scatter Plot</a:t>
            </a:r>
            <a:r>
              <a:rPr lang="en-US" dirty="0"/>
              <a:t>: Shows relationships between variables, where outliers can be seen as points far from the main cluster.</a:t>
            </a:r>
          </a:p>
          <a:p>
            <a:pPr marL="285750" indent="-285750">
              <a:buFont typeface="Arial" panose="020B0604020202020204" pitchFamily="34" charset="0"/>
              <a:buChar char="•"/>
            </a:pPr>
            <a:r>
              <a:rPr lang="en-US" b="1" dirty="0"/>
              <a:t>Histogram</a:t>
            </a:r>
            <a:r>
              <a:rPr lang="en-US" dirty="0"/>
              <a:t>: Illustrates the frequency of data points, with outliers appearing as bars that are distant from the rest.</a:t>
            </a:r>
          </a:p>
          <a:p>
            <a:pPr marL="285750" indent="-285750">
              <a:buFont typeface="Arial" panose="020B0604020202020204" pitchFamily="34" charset="0"/>
              <a:buChar char="•"/>
            </a:pPr>
            <a:r>
              <a:rPr lang="en-US" b="1" dirty="0"/>
              <a:t>Density Plot</a:t>
            </a:r>
            <a:r>
              <a:rPr lang="en-US" dirty="0"/>
              <a:t>: Provides a smooth curve of the data distribution, with outliers showing up as irregular bumps outside the main peak.</a:t>
            </a:r>
          </a:p>
        </p:txBody>
      </p:sp>
      <p:sp>
        <p:nvSpPr>
          <p:cNvPr id="7" name="TextBox 6">
            <a:extLst>
              <a:ext uri="{FF2B5EF4-FFF2-40B4-BE49-F238E27FC236}">
                <a16:creationId xmlns:a16="http://schemas.microsoft.com/office/drawing/2014/main" id="{AA48C80E-7720-47D7-2A07-53E1BF5D98AB}"/>
              </a:ext>
            </a:extLst>
          </p:cNvPr>
          <p:cNvSpPr txBox="1"/>
          <p:nvPr/>
        </p:nvSpPr>
        <p:spPr>
          <a:xfrm>
            <a:off x="267855" y="1362425"/>
            <a:ext cx="2281382" cy="369332"/>
          </a:xfrm>
          <a:prstGeom prst="rect">
            <a:avLst/>
          </a:prstGeom>
          <a:noFill/>
        </p:spPr>
        <p:txBody>
          <a:bodyPr wrap="square">
            <a:spAutoFit/>
          </a:bodyPr>
          <a:lstStyle/>
          <a:p>
            <a:r>
              <a:rPr lang="en-US" b="1" dirty="0">
                <a:solidFill>
                  <a:srgbClr val="1869A6"/>
                </a:solidFill>
              </a:rPr>
              <a:t>Identifying Outliers</a:t>
            </a:r>
          </a:p>
        </p:txBody>
      </p:sp>
    </p:spTree>
    <p:extLst>
      <p:ext uri="{BB962C8B-B14F-4D97-AF65-F5344CB8AC3E}">
        <p14:creationId xmlns:p14="http://schemas.microsoft.com/office/powerpoint/2010/main" val="3167982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4A2D31-0C60-C1FA-C3BE-A70E61123250}"/>
              </a:ext>
            </a:extLst>
          </p:cNvPr>
          <p:cNvSpPr txBox="1"/>
          <p:nvPr/>
        </p:nvSpPr>
        <p:spPr>
          <a:xfrm>
            <a:off x="3302000" y="2782669"/>
            <a:ext cx="5588000" cy="646331"/>
          </a:xfrm>
          <a:prstGeom prst="rect">
            <a:avLst/>
          </a:prstGeom>
          <a:noFill/>
        </p:spPr>
        <p:txBody>
          <a:bodyPr wrap="square">
            <a:spAutoFit/>
          </a:bodyPr>
          <a:lstStyle/>
          <a:p>
            <a:pPr algn="ctr"/>
            <a:r>
              <a:rPr lang="en-US" sz="3600" b="1" dirty="0">
                <a:solidFill>
                  <a:srgbClr val="2AAF82"/>
                </a:solidFill>
              </a:rPr>
              <a:t> Introduction to Seaborn</a:t>
            </a:r>
          </a:p>
        </p:txBody>
      </p:sp>
    </p:spTree>
    <p:extLst>
      <p:ext uri="{BB962C8B-B14F-4D97-AF65-F5344CB8AC3E}">
        <p14:creationId xmlns:p14="http://schemas.microsoft.com/office/powerpoint/2010/main" val="4268630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9E8873-E94F-6113-B771-390BBF9A77AC}"/>
              </a:ext>
            </a:extLst>
          </p:cNvPr>
          <p:cNvSpPr txBox="1"/>
          <p:nvPr/>
        </p:nvSpPr>
        <p:spPr>
          <a:xfrm>
            <a:off x="2015835" y="2119806"/>
            <a:ext cx="6096000" cy="369332"/>
          </a:xfrm>
          <a:prstGeom prst="rect">
            <a:avLst/>
          </a:prstGeom>
          <a:noFill/>
        </p:spPr>
        <p:txBody>
          <a:bodyPr wrap="square">
            <a:spAutoFit/>
          </a:bodyPr>
          <a:lstStyle/>
          <a:p>
            <a:r>
              <a:rPr lang="en-US" dirty="0"/>
              <a:t>What is Seaborn?</a:t>
            </a:r>
          </a:p>
        </p:txBody>
      </p:sp>
      <p:sp>
        <p:nvSpPr>
          <p:cNvPr id="4" name="TextBox 3">
            <a:extLst>
              <a:ext uri="{FF2B5EF4-FFF2-40B4-BE49-F238E27FC236}">
                <a16:creationId xmlns:a16="http://schemas.microsoft.com/office/drawing/2014/main" id="{0B8884AD-0383-9435-B576-FD9B4AB63811}"/>
              </a:ext>
            </a:extLst>
          </p:cNvPr>
          <p:cNvSpPr txBox="1"/>
          <p:nvPr/>
        </p:nvSpPr>
        <p:spPr>
          <a:xfrm>
            <a:off x="429490" y="1581941"/>
            <a:ext cx="3172691" cy="400110"/>
          </a:xfrm>
          <a:prstGeom prst="rect">
            <a:avLst/>
          </a:prstGeom>
          <a:noFill/>
        </p:spPr>
        <p:txBody>
          <a:bodyPr wrap="square">
            <a:spAutoFit/>
          </a:bodyPr>
          <a:lstStyle/>
          <a:p>
            <a:pPr algn="ctr"/>
            <a:r>
              <a:rPr lang="en-US" sz="2000" b="1" dirty="0">
                <a:solidFill>
                  <a:srgbClr val="1869A6"/>
                </a:solidFill>
              </a:rPr>
              <a:t> Introduction to Seaborn</a:t>
            </a:r>
          </a:p>
        </p:txBody>
      </p:sp>
      <p:sp>
        <p:nvSpPr>
          <p:cNvPr id="6" name="TextBox 5">
            <a:extLst>
              <a:ext uri="{FF2B5EF4-FFF2-40B4-BE49-F238E27FC236}">
                <a16:creationId xmlns:a16="http://schemas.microsoft.com/office/drawing/2014/main" id="{F31E4E58-B8E8-060E-E6C6-8E368967374C}"/>
              </a:ext>
            </a:extLst>
          </p:cNvPr>
          <p:cNvSpPr txBox="1"/>
          <p:nvPr/>
        </p:nvSpPr>
        <p:spPr>
          <a:xfrm>
            <a:off x="2484581" y="2489138"/>
            <a:ext cx="8931564" cy="1200329"/>
          </a:xfrm>
          <a:prstGeom prst="rect">
            <a:avLst/>
          </a:prstGeom>
          <a:noFill/>
        </p:spPr>
        <p:txBody>
          <a:bodyPr wrap="square">
            <a:spAutoFit/>
          </a:bodyPr>
          <a:lstStyle/>
          <a:p>
            <a:r>
              <a:rPr lang="en-US" dirty="0"/>
              <a:t>Seaborn is a Python data visualization library based on Matplotlib. It provides a high-level interface for drawing attractive and informative statistical graphics. Seaborn makes it easy to create complex visualizations, including relationships, categorical data, and statistical plots.</a:t>
            </a:r>
          </a:p>
        </p:txBody>
      </p:sp>
    </p:spTree>
    <p:extLst>
      <p:ext uri="{BB962C8B-B14F-4D97-AF65-F5344CB8AC3E}">
        <p14:creationId xmlns:p14="http://schemas.microsoft.com/office/powerpoint/2010/main" val="4204139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E27883-CE85-A2AA-94AC-CDC95F31D4A8}"/>
              </a:ext>
            </a:extLst>
          </p:cNvPr>
          <p:cNvSpPr txBox="1"/>
          <p:nvPr/>
        </p:nvSpPr>
        <p:spPr>
          <a:xfrm>
            <a:off x="466435" y="1646596"/>
            <a:ext cx="3172691" cy="400110"/>
          </a:xfrm>
          <a:prstGeom prst="rect">
            <a:avLst/>
          </a:prstGeom>
          <a:noFill/>
        </p:spPr>
        <p:txBody>
          <a:bodyPr wrap="square">
            <a:spAutoFit/>
          </a:bodyPr>
          <a:lstStyle/>
          <a:p>
            <a:pPr algn="ctr"/>
            <a:r>
              <a:rPr lang="en-US" sz="2000" b="1" dirty="0">
                <a:solidFill>
                  <a:srgbClr val="1869A6"/>
                </a:solidFill>
              </a:rPr>
              <a:t>Key Features of Seaborn</a:t>
            </a:r>
          </a:p>
        </p:txBody>
      </p:sp>
      <p:sp>
        <p:nvSpPr>
          <p:cNvPr id="6" name="TextBox 5">
            <a:extLst>
              <a:ext uri="{FF2B5EF4-FFF2-40B4-BE49-F238E27FC236}">
                <a16:creationId xmlns:a16="http://schemas.microsoft.com/office/drawing/2014/main" id="{9ED0F316-AF8E-2358-3342-FC0AD7209243}"/>
              </a:ext>
            </a:extLst>
          </p:cNvPr>
          <p:cNvSpPr txBox="1"/>
          <p:nvPr/>
        </p:nvSpPr>
        <p:spPr>
          <a:xfrm>
            <a:off x="1542471" y="2175547"/>
            <a:ext cx="9827491" cy="1477328"/>
          </a:xfrm>
          <a:prstGeom prst="rect">
            <a:avLst/>
          </a:prstGeom>
          <a:noFill/>
        </p:spPr>
        <p:txBody>
          <a:bodyPr wrap="square">
            <a:spAutoFit/>
          </a:bodyPr>
          <a:lstStyle/>
          <a:p>
            <a:pPr marL="285750" indent="-285750">
              <a:buFont typeface="Arial" panose="020B0604020202020204" pitchFamily="34" charset="0"/>
              <a:buChar char="•"/>
            </a:pPr>
            <a:r>
              <a:rPr lang="en-US" b="1" dirty="0"/>
              <a:t>Visualizing Distributions</a:t>
            </a:r>
            <a:r>
              <a:rPr lang="en-US" dirty="0"/>
              <a:t>: Histograms, KDE plots, and rug plots.</a:t>
            </a:r>
          </a:p>
          <a:p>
            <a:pPr marL="285750" indent="-285750">
              <a:buFont typeface="Arial" panose="020B0604020202020204" pitchFamily="34" charset="0"/>
              <a:buChar char="•"/>
            </a:pPr>
            <a:r>
              <a:rPr lang="en-US" b="1" dirty="0"/>
              <a:t>Visualizing Categorical Data</a:t>
            </a:r>
            <a:r>
              <a:rPr lang="en-US" dirty="0"/>
              <a:t>: Bar plots, count plots, box plots, and violin plots.</a:t>
            </a:r>
          </a:p>
          <a:p>
            <a:pPr marL="285750" indent="-285750">
              <a:buFont typeface="Arial" panose="020B0604020202020204" pitchFamily="34" charset="0"/>
              <a:buChar char="•"/>
            </a:pPr>
            <a:r>
              <a:rPr lang="en-US" b="1" dirty="0"/>
              <a:t>Visualizing Relationships</a:t>
            </a:r>
            <a:r>
              <a:rPr lang="en-US" dirty="0"/>
              <a:t>: Scatter plots, line plots, and pair plots.</a:t>
            </a:r>
          </a:p>
          <a:p>
            <a:pPr marL="285750" indent="-285750">
              <a:buFont typeface="Arial" panose="020B0604020202020204" pitchFamily="34" charset="0"/>
              <a:buChar char="•"/>
            </a:pPr>
            <a:r>
              <a:rPr lang="en-US" b="1" dirty="0"/>
              <a:t>Heatmaps</a:t>
            </a:r>
            <a:r>
              <a:rPr lang="en-US" dirty="0"/>
              <a:t>: For showing data correlations.</a:t>
            </a:r>
          </a:p>
          <a:p>
            <a:pPr marL="285750" indent="-285750">
              <a:buFont typeface="Arial" panose="020B0604020202020204" pitchFamily="34" charset="0"/>
              <a:buChar char="•"/>
            </a:pPr>
            <a:r>
              <a:rPr lang="en-US" b="1" dirty="0"/>
              <a:t>Themes</a:t>
            </a:r>
            <a:r>
              <a:rPr lang="en-US" dirty="0"/>
              <a:t>: Built-in themes for better-looking plots.</a:t>
            </a:r>
          </a:p>
        </p:txBody>
      </p:sp>
    </p:spTree>
    <p:extLst>
      <p:ext uri="{BB962C8B-B14F-4D97-AF65-F5344CB8AC3E}">
        <p14:creationId xmlns:p14="http://schemas.microsoft.com/office/powerpoint/2010/main" val="399219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267649-9E75-3DB9-30DD-C488EC2561ED}"/>
              </a:ext>
            </a:extLst>
          </p:cNvPr>
          <p:cNvSpPr txBox="1"/>
          <p:nvPr/>
        </p:nvSpPr>
        <p:spPr>
          <a:xfrm>
            <a:off x="535709" y="1556465"/>
            <a:ext cx="4498109" cy="400110"/>
          </a:xfrm>
          <a:prstGeom prst="rect">
            <a:avLst/>
          </a:prstGeom>
          <a:noFill/>
        </p:spPr>
        <p:txBody>
          <a:bodyPr wrap="square">
            <a:spAutoFit/>
          </a:bodyPr>
          <a:lstStyle/>
          <a:p>
            <a:r>
              <a:rPr lang="en-US" sz="2000" b="1" dirty="0">
                <a:solidFill>
                  <a:srgbClr val="1869A6"/>
                </a:solidFill>
              </a:rPr>
              <a:t>Basic Plotting with Seaborn</a:t>
            </a:r>
          </a:p>
        </p:txBody>
      </p:sp>
      <p:sp>
        <p:nvSpPr>
          <p:cNvPr id="3" name="TextBox 2">
            <a:extLst>
              <a:ext uri="{FF2B5EF4-FFF2-40B4-BE49-F238E27FC236}">
                <a16:creationId xmlns:a16="http://schemas.microsoft.com/office/drawing/2014/main" id="{07578129-C0CC-6086-DFA5-865EB6B5D59A}"/>
              </a:ext>
            </a:extLst>
          </p:cNvPr>
          <p:cNvSpPr txBox="1"/>
          <p:nvPr/>
        </p:nvSpPr>
        <p:spPr>
          <a:xfrm>
            <a:off x="1828800" y="2082938"/>
            <a:ext cx="6096000" cy="369332"/>
          </a:xfrm>
          <a:prstGeom prst="rect">
            <a:avLst/>
          </a:prstGeom>
          <a:noFill/>
        </p:spPr>
        <p:txBody>
          <a:bodyPr wrap="square">
            <a:spAutoFit/>
          </a:bodyPr>
          <a:lstStyle/>
          <a:p>
            <a:r>
              <a:rPr lang="en-US" dirty="0"/>
              <a:t>Line Plot</a:t>
            </a:r>
          </a:p>
        </p:txBody>
      </p:sp>
      <p:sp>
        <p:nvSpPr>
          <p:cNvPr id="4" name="TextBox 3">
            <a:extLst>
              <a:ext uri="{FF2B5EF4-FFF2-40B4-BE49-F238E27FC236}">
                <a16:creationId xmlns:a16="http://schemas.microsoft.com/office/drawing/2014/main" id="{75B4C415-BE9B-1D8D-8720-749631DDFA69}"/>
              </a:ext>
            </a:extLst>
          </p:cNvPr>
          <p:cNvSpPr txBox="1"/>
          <p:nvPr/>
        </p:nvSpPr>
        <p:spPr>
          <a:xfrm>
            <a:off x="5711968" y="2475376"/>
            <a:ext cx="3853007" cy="1200329"/>
          </a:xfrm>
          <a:prstGeom prst="rect">
            <a:avLst/>
          </a:prstGeom>
          <a:noFill/>
        </p:spPr>
        <p:txBody>
          <a:bodyPr wrap="square">
            <a:spAutoFit/>
          </a:bodyPr>
          <a:lstStyle/>
          <a:p>
            <a:pPr marL="285750" indent="-285750">
              <a:buFont typeface="Arial" panose="020B0604020202020204" pitchFamily="34" charset="0"/>
              <a:buChar char="•"/>
            </a:pPr>
            <a:r>
              <a:rPr lang="en-US" dirty="0"/>
              <a:t>This uses Seaborn's lineplot() to create a line plot using the 'tips' dataset, showing the relationship between total bill and tip.</a:t>
            </a:r>
          </a:p>
        </p:txBody>
      </p:sp>
      <p:pic>
        <p:nvPicPr>
          <p:cNvPr id="7" name="Picture 6">
            <a:extLst>
              <a:ext uri="{FF2B5EF4-FFF2-40B4-BE49-F238E27FC236}">
                <a16:creationId xmlns:a16="http://schemas.microsoft.com/office/drawing/2014/main" id="{B56412A1-E386-2599-A323-395D85A7BD3B}"/>
              </a:ext>
            </a:extLst>
          </p:cNvPr>
          <p:cNvPicPr>
            <a:picLocks noChangeAspect="1"/>
          </p:cNvPicPr>
          <p:nvPr/>
        </p:nvPicPr>
        <p:blipFill>
          <a:blip r:embed="rId2"/>
          <a:stretch>
            <a:fillRect/>
          </a:stretch>
        </p:blipFill>
        <p:spPr>
          <a:xfrm>
            <a:off x="1856509" y="2587517"/>
            <a:ext cx="3672002" cy="3689460"/>
          </a:xfrm>
          <a:prstGeom prst="rect">
            <a:avLst/>
          </a:prstGeom>
        </p:spPr>
      </p:pic>
    </p:spTree>
    <p:extLst>
      <p:ext uri="{BB962C8B-B14F-4D97-AF65-F5344CB8AC3E}">
        <p14:creationId xmlns:p14="http://schemas.microsoft.com/office/powerpoint/2010/main" val="3660689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07E406-9E0B-2D7E-12C2-EE6BF19CBD79}"/>
              </a:ext>
            </a:extLst>
          </p:cNvPr>
          <p:cNvSpPr txBox="1"/>
          <p:nvPr/>
        </p:nvSpPr>
        <p:spPr>
          <a:xfrm>
            <a:off x="526473" y="1485321"/>
            <a:ext cx="4498109" cy="400110"/>
          </a:xfrm>
          <a:prstGeom prst="rect">
            <a:avLst/>
          </a:prstGeom>
          <a:noFill/>
        </p:spPr>
        <p:txBody>
          <a:bodyPr wrap="square">
            <a:spAutoFit/>
          </a:bodyPr>
          <a:lstStyle/>
          <a:p>
            <a:r>
              <a:rPr lang="en-US" sz="2000" b="1" dirty="0">
                <a:solidFill>
                  <a:srgbClr val="1869A6"/>
                </a:solidFill>
              </a:rPr>
              <a:t>Basic Plotting with Seaborn</a:t>
            </a:r>
          </a:p>
        </p:txBody>
      </p:sp>
      <p:sp>
        <p:nvSpPr>
          <p:cNvPr id="3" name="TextBox 2">
            <a:extLst>
              <a:ext uri="{FF2B5EF4-FFF2-40B4-BE49-F238E27FC236}">
                <a16:creationId xmlns:a16="http://schemas.microsoft.com/office/drawing/2014/main" id="{B6F6D088-4D41-FF57-FFF2-0DCAD1DA5BF9}"/>
              </a:ext>
            </a:extLst>
          </p:cNvPr>
          <p:cNvSpPr txBox="1"/>
          <p:nvPr/>
        </p:nvSpPr>
        <p:spPr>
          <a:xfrm>
            <a:off x="1856509" y="1885431"/>
            <a:ext cx="6096000" cy="369332"/>
          </a:xfrm>
          <a:prstGeom prst="rect">
            <a:avLst/>
          </a:prstGeom>
          <a:noFill/>
        </p:spPr>
        <p:txBody>
          <a:bodyPr wrap="square">
            <a:spAutoFit/>
          </a:bodyPr>
          <a:lstStyle/>
          <a:p>
            <a:r>
              <a:rPr lang="en-US" dirty="0"/>
              <a:t>Scatter Plot with Regression Line</a:t>
            </a:r>
          </a:p>
        </p:txBody>
      </p:sp>
      <p:sp>
        <p:nvSpPr>
          <p:cNvPr id="4" name="TextBox 3">
            <a:extLst>
              <a:ext uri="{FF2B5EF4-FFF2-40B4-BE49-F238E27FC236}">
                <a16:creationId xmlns:a16="http://schemas.microsoft.com/office/drawing/2014/main" id="{4761A76C-1266-A42E-F634-A03D98105A7F}"/>
              </a:ext>
            </a:extLst>
          </p:cNvPr>
          <p:cNvSpPr txBox="1"/>
          <p:nvPr/>
        </p:nvSpPr>
        <p:spPr>
          <a:xfrm>
            <a:off x="5282663" y="2438400"/>
            <a:ext cx="3853007" cy="1200329"/>
          </a:xfrm>
          <a:prstGeom prst="rect">
            <a:avLst/>
          </a:prstGeom>
          <a:noFill/>
        </p:spPr>
        <p:txBody>
          <a:bodyPr wrap="square">
            <a:spAutoFit/>
          </a:bodyPr>
          <a:lstStyle/>
          <a:p>
            <a:pPr marL="285750" indent="-285750">
              <a:buFont typeface="Arial" panose="020B0604020202020204" pitchFamily="34" charset="0"/>
              <a:buChar char="•"/>
            </a:pPr>
            <a:r>
              <a:rPr lang="en-US" dirty="0"/>
              <a:t>Seaborn's lmplot() creates a scatter plot with a linear regression line, illustrating the trend between total bill and tip.</a:t>
            </a:r>
          </a:p>
        </p:txBody>
      </p:sp>
      <p:pic>
        <p:nvPicPr>
          <p:cNvPr id="7" name="Picture 6">
            <a:extLst>
              <a:ext uri="{FF2B5EF4-FFF2-40B4-BE49-F238E27FC236}">
                <a16:creationId xmlns:a16="http://schemas.microsoft.com/office/drawing/2014/main" id="{4AA66ABA-200C-BDC2-4CE5-B75BF9152BCE}"/>
              </a:ext>
            </a:extLst>
          </p:cNvPr>
          <p:cNvPicPr>
            <a:picLocks noChangeAspect="1"/>
          </p:cNvPicPr>
          <p:nvPr/>
        </p:nvPicPr>
        <p:blipFill>
          <a:blip r:embed="rId2"/>
          <a:stretch>
            <a:fillRect/>
          </a:stretch>
        </p:blipFill>
        <p:spPr>
          <a:xfrm>
            <a:off x="2017228" y="2438400"/>
            <a:ext cx="2887281" cy="3397740"/>
          </a:xfrm>
          <a:prstGeom prst="rect">
            <a:avLst/>
          </a:prstGeom>
        </p:spPr>
      </p:pic>
    </p:spTree>
    <p:extLst>
      <p:ext uri="{BB962C8B-B14F-4D97-AF65-F5344CB8AC3E}">
        <p14:creationId xmlns:p14="http://schemas.microsoft.com/office/powerpoint/2010/main" val="5070053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72D6F3-B62E-DED6-DA11-1687050B1D51}"/>
              </a:ext>
            </a:extLst>
          </p:cNvPr>
          <p:cNvSpPr txBox="1"/>
          <p:nvPr/>
        </p:nvSpPr>
        <p:spPr>
          <a:xfrm>
            <a:off x="498764" y="1556389"/>
            <a:ext cx="4498109" cy="400110"/>
          </a:xfrm>
          <a:prstGeom prst="rect">
            <a:avLst/>
          </a:prstGeom>
          <a:noFill/>
        </p:spPr>
        <p:txBody>
          <a:bodyPr wrap="square">
            <a:spAutoFit/>
          </a:bodyPr>
          <a:lstStyle/>
          <a:p>
            <a:r>
              <a:rPr lang="en-US" sz="2000" b="1" dirty="0">
                <a:solidFill>
                  <a:srgbClr val="1869A6"/>
                </a:solidFill>
              </a:rPr>
              <a:t>Basic Plotting with Seaborn</a:t>
            </a:r>
          </a:p>
        </p:txBody>
      </p:sp>
      <p:sp>
        <p:nvSpPr>
          <p:cNvPr id="3" name="TextBox 2">
            <a:extLst>
              <a:ext uri="{FF2B5EF4-FFF2-40B4-BE49-F238E27FC236}">
                <a16:creationId xmlns:a16="http://schemas.microsoft.com/office/drawing/2014/main" id="{06455880-5A4E-1940-AE53-E757FD98458F}"/>
              </a:ext>
            </a:extLst>
          </p:cNvPr>
          <p:cNvSpPr txBox="1"/>
          <p:nvPr/>
        </p:nvSpPr>
        <p:spPr>
          <a:xfrm>
            <a:off x="1791855" y="2082862"/>
            <a:ext cx="6096000" cy="369332"/>
          </a:xfrm>
          <a:prstGeom prst="rect">
            <a:avLst/>
          </a:prstGeom>
          <a:noFill/>
        </p:spPr>
        <p:txBody>
          <a:bodyPr wrap="square">
            <a:spAutoFit/>
          </a:bodyPr>
          <a:lstStyle/>
          <a:p>
            <a:r>
              <a:rPr lang="en-US" dirty="0"/>
              <a:t>Bar Plot</a:t>
            </a:r>
          </a:p>
        </p:txBody>
      </p:sp>
      <p:sp>
        <p:nvSpPr>
          <p:cNvPr id="4" name="TextBox 3">
            <a:extLst>
              <a:ext uri="{FF2B5EF4-FFF2-40B4-BE49-F238E27FC236}">
                <a16:creationId xmlns:a16="http://schemas.microsoft.com/office/drawing/2014/main" id="{26652717-5897-D5BE-1C9B-979466741600}"/>
              </a:ext>
            </a:extLst>
          </p:cNvPr>
          <p:cNvSpPr txBox="1"/>
          <p:nvPr/>
        </p:nvSpPr>
        <p:spPr>
          <a:xfrm>
            <a:off x="5961351" y="2697018"/>
            <a:ext cx="3853007" cy="1200329"/>
          </a:xfrm>
          <a:prstGeom prst="rect">
            <a:avLst/>
          </a:prstGeom>
          <a:noFill/>
        </p:spPr>
        <p:txBody>
          <a:bodyPr wrap="square">
            <a:spAutoFit/>
          </a:bodyPr>
          <a:lstStyle/>
          <a:p>
            <a:pPr marL="285750" indent="-285750">
              <a:buFont typeface="Arial" panose="020B0604020202020204" pitchFamily="34" charset="0"/>
              <a:buChar char="•"/>
            </a:pPr>
            <a:r>
              <a:rPr lang="en-US" dirty="0"/>
              <a:t>barplot() creates a bar chart showing the average total bill for each day of the week. It aggregates the data automatically.</a:t>
            </a:r>
          </a:p>
        </p:txBody>
      </p:sp>
      <p:pic>
        <p:nvPicPr>
          <p:cNvPr id="7" name="Picture 6">
            <a:extLst>
              <a:ext uri="{FF2B5EF4-FFF2-40B4-BE49-F238E27FC236}">
                <a16:creationId xmlns:a16="http://schemas.microsoft.com/office/drawing/2014/main" id="{803A9E87-880A-57BF-43E6-ED1E4F5DC68A}"/>
              </a:ext>
            </a:extLst>
          </p:cNvPr>
          <p:cNvPicPr>
            <a:picLocks noChangeAspect="1"/>
          </p:cNvPicPr>
          <p:nvPr/>
        </p:nvPicPr>
        <p:blipFill>
          <a:blip r:embed="rId2"/>
          <a:stretch>
            <a:fillRect/>
          </a:stretch>
        </p:blipFill>
        <p:spPr>
          <a:xfrm>
            <a:off x="1947966" y="2697018"/>
            <a:ext cx="3736378" cy="3342118"/>
          </a:xfrm>
          <a:prstGeom prst="rect">
            <a:avLst/>
          </a:prstGeom>
        </p:spPr>
      </p:pic>
    </p:spTree>
    <p:extLst>
      <p:ext uri="{BB962C8B-B14F-4D97-AF65-F5344CB8AC3E}">
        <p14:creationId xmlns:p14="http://schemas.microsoft.com/office/powerpoint/2010/main" val="3521777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3C57B8-3FB1-5DC2-1414-A69C109F2C05}"/>
              </a:ext>
            </a:extLst>
          </p:cNvPr>
          <p:cNvSpPr txBox="1"/>
          <p:nvPr/>
        </p:nvSpPr>
        <p:spPr>
          <a:xfrm>
            <a:off x="489527" y="1390134"/>
            <a:ext cx="4498109" cy="400110"/>
          </a:xfrm>
          <a:prstGeom prst="rect">
            <a:avLst/>
          </a:prstGeom>
          <a:noFill/>
        </p:spPr>
        <p:txBody>
          <a:bodyPr wrap="square">
            <a:spAutoFit/>
          </a:bodyPr>
          <a:lstStyle/>
          <a:p>
            <a:r>
              <a:rPr lang="en-US" sz="2000" b="1" dirty="0">
                <a:solidFill>
                  <a:srgbClr val="1869A6"/>
                </a:solidFill>
              </a:rPr>
              <a:t>Basic Plotting with Seaborn</a:t>
            </a:r>
          </a:p>
        </p:txBody>
      </p:sp>
      <p:sp>
        <p:nvSpPr>
          <p:cNvPr id="3" name="TextBox 2">
            <a:extLst>
              <a:ext uri="{FF2B5EF4-FFF2-40B4-BE49-F238E27FC236}">
                <a16:creationId xmlns:a16="http://schemas.microsoft.com/office/drawing/2014/main" id="{F376A587-7801-0FC0-F4DA-BDC56AE8108E}"/>
              </a:ext>
            </a:extLst>
          </p:cNvPr>
          <p:cNvSpPr txBox="1"/>
          <p:nvPr/>
        </p:nvSpPr>
        <p:spPr>
          <a:xfrm>
            <a:off x="1782618" y="1916607"/>
            <a:ext cx="6096000" cy="369332"/>
          </a:xfrm>
          <a:prstGeom prst="rect">
            <a:avLst/>
          </a:prstGeom>
          <a:noFill/>
        </p:spPr>
        <p:txBody>
          <a:bodyPr wrap="square">
            <a:spAutoFit/>
          </a:bodyPr>
          <a:lstStyle/>
          <a:p>
            <a:r>
              <a:rPr lang="en-US" dirty="0"/>
              <a:t>Box Plot</a:t>
            </a:r>
          </a:p>
        </p:txBody>
      </p:sp>
      <p:sp>
        <p:nvSpPr>
          <p:cNvPr id="4" name="TextBox 3">
            <a:extLst>
              <a:ext uri="{FF2B5EF4-FFF2-40B4-BE49-F238E27FC236}">
                <a16:creationId xmlns:a16="http://schemas.microsoft.com/office/drawing/2014/main" id="{2F5BB7AB-FC3F-AF4D-47E5-9E7AE84D28DA}"/>
              </a:ext>
            </a:extLst>
          </p:cNvPr>
          <p:cNvSpPr txBox="1"/>
          <p:nvPr/>
        </p:nvSpPr>
        <p:spPr>
          <a:xfrm>
            <a:off x="5721608" y="2412302"/>
            <a:ext cx="3853007" cy="1477328"/>
          </a:xfrm>
          <a:prstGeom prst="rect">
            <a:avLst/>
          </a:prstGeom>
          <a:noFill/>
        </p:spPr>
        <p:txBody>
          <a:bodyPr wrap="square">
            <a:spAutoFit/>
          </a:bodyPr>
          <a:lstStyle/>
          <a:p>
            <a:pPr marL="285750" indent="-285750">
              <a:buFont typeface="Arial" panose="020B0604020202020204" pitchFamily="34" charset="0"/>
              <a:buChar char="•"/>
            </a:pPr>
            <a:r>
              <a:rPr lang="en-US" dirty="0"/>
              <a:t>boxplot() is used to show the distribution of total bills across different days, highlighting the median, quartiles, and potential outliers.</a:t>
            </a:r>
          </a:p>
        </p:txBody>
      </p:sp>
      <p:pic>
        <p:nvPicPr>
          <p:cNvPr id="7" name="Picture 6">
            <a:extLst>
              <a:ext uri="{FF2B5EF4-FFF2-40B4-BE49-F238E27FC236}">
                <a16:creationId xmlns:a16="http://schemas.microsoft.com/office/drawing/2014/main" id="{B9309ADB-CCF3-3B23-2A52-7FCB2695A54D}"/>
              </a:ext>
            </a:extLst>
          </p:cNvPr>
          <p:cNvPicPr>
            <a:picLocks noChangeAspect="1"/>
          </p:cNvPicPr>
          <p:nvPr/>
        </p:nvPicPr>
        <p:blipFill>
          <a:blip r:embed="rId2"/>
          <a:stretch>
            <a:fillRect/>
          </a:stretch>
        </p:blipFill>
        <p:spPr>
          <a:xfrm>
            <a:off x="2016413" y="2429163"/>
            <a:ext cx="3555250" cy="3320145"/>
          </a:xfrm>
          <a:prstGeom prst="rect">
            <a:avLst/>
          </a:prstGeom>
        </p:spPr>
      </p:pic>
    </p:spTree>
    <p:extLst>
      <p:ext uri="{BB962C8B-B14F-4D97-AF65-F5344CB8AC3E}">
        <p14:creationId xmlns:p14="http://schemas.microsoft.com/office/powerpoint/2010/main" val="34820098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85921D-12E3-6B71-4D1C-24A925203A0C}"/>
              </a:ext>
            </a:extLst>
          </p:cNvPr>
          <p:cNvSpPr txBox="1"/>
          <p:nvPr/>
        </p:nvSpPr>
        <p:spPr>
          <a:xfrm>
            <a:off x="544945" y="1230047"/>
            <a:ext cx="4498109" cy="400110"/>
          </a:xfrm>
          <a:prstGeom prst="rect">
            <a:avLst/>
          </a:prstGeom>
          <a:noFill/>
        </p:spPr>
        <p:txBody>
          <a:bodyPr wrap="square">
            <a:spAutoFit/>
          </a:bodyPr>
          <a:lstStyle/>
          <a:p>
            <a:r>
              <a:rPr lang="en-US" sz="2000" b="1" dirty="0">
                <a:solidFill>
                  <a:srgbClr val="1869A6"/>
                </a:solidFill>
              </a:rPr>
              <a:t>Basic Plotting with Seaborn</a:t>
            </a:r>
          </a:p>
        </p:txBody>
      </p:sp>
      <p:sp>
        <p:nvSpPr>
          <p:cNvPr id="3" name="TextBox 2">
            <a:extLst>
              <a:ext uri="{FF2B5EF4-FFF2-40B4-BE49-F238E27FC236}">
                <a16:creationId xmlns:a16="http://schemas.microsoft.com/office/drawing/2014/main" id="{B66048D0-78BC-62DF-E895-9BE2D12DDA11}"/>
              </a:ext>
            </a:extLst>
          </p:cNvPr>
          <p:cNvSpPr txBox="1"/>
          <p:nvPr/>
        </p:nvSpPr>
        <p:spPr>
          <a:xfrm>
            <a:off x="1810327" y="1766002"/>
            <a:ext cx="6096000" cy="369332"/>
          </a:xfrm>
          <a:prstGeom prst="rect">
            <a:avLst/>
          </a:prstGeom>
          <a:noFill/>
        </p:spPr>
        <p:txBody>
          <a:bodyPr wrap="square">
            <a:spAutoFit/>
          </a:bodyPr>
          <a:lstStyle/>
          <a:p>
            <a:r>
              <a:rPr lang="en-US" dirty="0"/>
              <a:t>Heatmap</a:t>
            </a:r>
          </a:p>
        </p:txBody>
      </p:sp>
      <p:sp>
        <p:nvSpPr>
          <p:cNvPr id="4" name="TextBox 3">
            <a:extLst>
              <a:ext uri="{FF2B5EF4-FFF2-40B4-BE49-F238E27FC236}">
                <a16:creationId xmlns:a16="http://schemas.microsoft.com/office/drawing/2014/main" id="{74110AC9-B1BF-5BC6-C399-C953B3DE0BD0}"/>
              </a:ext>
            </a:extLst>
          </p:cNvPr>
          <p:cNvSpPr txBox="1"/>
          <p:nvPr/>
        </p:nvSpPr>
        <p:spPr>
          <a:xfrm>
            <a:off x="5559151" y="2087541"/>
            <a:ext cx="3853007" cy="1200329"/>
          </a:xfrm>
          <a:prstGeom prst="rect">
            <a:avLst/>
          </a:prstGeom>
          <a:noFill/>
        </p:spPr>
        <p:txBody>
          <a:bodyPr wrap="square">
            <a:spAutoFit/>
          </a:bodyPr>
          <a:lstStyle/>
          <a:p>
            <a:pPr marL="285750" indent="-285750">
              <a:buFont typeface="Arial" panose="020B0604020202020204" pitchFamily="34" charset="0"/>
              <a:buChar char="•"/>
            </a:pPr>
            <a:r>
              <a:rPr lang="en-US" dirty="0"/>
              <a:t>heatmap() visualizes the correlation matrix of the dataset, showing relationships between variables using color gradients.</a:t>
            </a:r>
          </a:p>
        </p:txBody>
      </p:sp>
      <p:pic>
        <p:nvPicPr>
          <p:cNvPr id="8" name="Picture 7">
            <a:extLst>
              <a:ext uri="{FF2B5EF4-FFF2-40B4-BE49-F238E27FC236}">
                <a16:creationId xmlns:a16="http://schemas.microsoft.com/office/drawing/2014/main" id="{E26A4938-6ED2-5E31-925A-D10CD8EE77DA}"/>
              </a:ext>
            </a:extLst>
          </p:cNvPr>
          <p:cNvPicPr>
            <a:picLocks noChangeAspect="1"/>
          </p:cNvPicPr>
          <p:nvPr/>
        </p:nvPicPr>
        <p:blipFill>
          <a:blip r:embed="rId2"/>
          <a:stretch>
            <a:fillRect/>
          </a:stretch>
        </p:blipFill>
        <p:spPr>
          <a:xfrm>
            <a:off x="1938497" y="2087541"/>
            <a:ext cx="3434322" cy="4082411"/>
          </a:xfrm>
          <a:prstGeom prst="rect">
            <a:avLst/>
          </a:prstGeom>
        </p:spPr>
      </p:pic>
    </p:spTree>
    <p:extLst>
      <p:ext uri="{BB962C8B-B14F-4D97-AF65-F5344CB8AC3E}">
        <p14:creationId xmlns:p14="http://schemas.microsoft.com/office/powerpoint/2010/main" val="314004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939E68-64DD-97E7-086B-21E3E7D5588B}"/>
              </a:ext>
            </a:extLst>
          </p:cNvPr>
          <p:cNvSpPr txBox="1"/>
          <p:nvPr/>
        </p:nvSpPr>
        <p:spPr>
          <a:xfrm>
            <a:off x="2424545" y="2782669"/>
            <a:ext cx="7342909" cy="646331"/>
          </a:xfrm>
          <a:prstGeom prst="rect">
            <a:avLst/>
          </a:prstGeom>
          <a:noFill/>
        </p:spPr>
        <p:txBody>
          <a:bodyPr wrap="square">
            <a:spAutoFit/>
          </a:bodyPr>
          <a:lstStyle/>
          <a:p>
            <a:pPr algn="ctr"/>
            <a:r>
              <a:rPr lang="en-US" sz="3600" b="1" dirty="0">
                <a:solidFill>
                  <a:srgbClr val="2AAF82"/>
                </a:solidFill>
              </a:rPr>
              <a:t>Practical Visualization Examples</a:t>
            </a:r>
          </a:p>
        </p:txBody>
      </p:sp>
    </p:spTree>
    <p:extLst>
      <p:ext uri="{BB962C8B-B14F-4D97-AF65-F5344CB8AC3E}">
        <p14:creationId xmlns:p14="http://schemas.microsoft.com/office/powerpoint/2010/main" val="7617167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A8957A-3FD9-C497-15CC-A0404C5AE0B9}"/>
              </a:ext>
            </a:extLst>
          </p:cNvPr>
          <p:cNvSpPr txBox="1"/>
          <p:nvPr/>
        </p:nvSpPr>
        <p:spPr>
          <a:xfrm>
            <a:off x="378691" y="1282395"/>
            <a:ext cx="4276436" cy="400110"/>
          </a:xfrm>
          <a:prstGeom prst="rect">
            <a:avLst/>
          </a:prstGeom>
          <a:noFill/>
        </p:spPr>
        <p:txBody>
          <a:bodyPr wrap="square">
            <a:spAutoFit/>
          </a:bodyPr>
          <a:lstStyle/>
          <a:p>
            <a:r>
              <a:rPr lang="en-US" sz="2000" b="1" dirty="0">
                <a:solidFill>
                  <a:srgbClr val="1869A6"/>
                </a:solidFill>
              </a:rPr>
              <a:t>Practical Visualization Examples</a:t>
            </a:r>
          </a:p>
        </p:txBody>
      </p:sp>
      <p:sp>
        <p:nvSpPr>
          <p:cNvPr id="3" name="TextBox 2">
            <a:extLst>
              <a:ext uri="{FF2B5EF4-FFF2-40B4-BE49-F238E27FC236}">
                <a16:creationId xmlns:a16="http://schemas.microsoft.com/office/drawing/2014/main" id="{74A23217-FBB7-B68C-4F1C-56510ABA447C}"/>
              </a:ext>
            </a:extLst>
          </p:cNvPr>
          <p:cNvSpPr txBox="1"/>
          <p:nvPr/>
        </p:nvSpPr>
        <p:spPr>
          <a:xfrm>
            <a:off x="5292437" y="2370581"/>
            <a:ext cx="3713018" cy="1477328"/>
          </a:xfrm>
          <a:prstGeom prst="rect">
            <a:avLst/>
          </a:prstGeom>
          <a:noFill/>
        </p:spPr>
        <p:txBody>
          <a:bodyPr wrap="square">
            <a:spAutoFit/>
          </a:bodyPr>
          <a:lstStyle/>
          <a:p>
            <a:pPr marL="285750" indent="-285750">
              <a:buFont typeface="Arial" panose="020B0604020202020204" pitchFamily="34" charset="0"/>
              <a:buChar char="•"/>
            </a:pPr>
            <a:r>
              <a:rPr lang="en-US" dirty="0"/>
              <a:t>This line plot shows the trend in the number of passengers over time using the 'flights' dataset. It helps to identify overall growth or decline trends.</a:t>
            </a:r>
          </a:p>
        </p:txBody>
      </p:sp>
      <p:pic>
        <p:nvPicPr>
          <p:cNvPr id="4" name="Picture 3">
            <a:extLst>
              <a:ext uri="{FF2B5EF4-FFF2-40B4-BE49-F238E27FC236}">
                <a16:creationId xmlns:a16="http://schemas.microsoft.com/office/drawing/2014/main" id="{110BC2B5-01A6-A422-011E-37209BB253BB}"/>
              </a:ext>
            </a:extLst>
          </p:cNvPr>
          <p:cNvPicPr>
            <a:picLocks noChangeAspect="1"/>
          </p:cNvPicPr>
          <p:nvPr/>
        </p:nvPicPr>
        <p:blipFill>
          <a:blip r:embed="rId2"/>
          <a:stretch>
            <a:fillRect/>
          </a:stretch>
        </p:blipFill>
        <p:spPr>
          <a:xfrm>
            <a:off x="1865746" y="2410690"/>
            <a:ext cx="3245043" cy="3755203"/>
          </a:xfrm>
          <a:prstGeom prst="rect">
            <a:avLst/>
          </a:prstGeom>
        </p:spPr>
      </p:pic>
      <p:sp>
        <p:nvSpPr>
          <p:cNvPr id="6" name="TextBox 5">
            <a:extLst>
              <a:ext uri="{FF2B5EF4-FFF2-40B4-BE49-F238E27FC236}">
                <a16:creationId xmlns:a16="http://schemas.microsoft.com/office/drawing/2014/main" id="{82EE969C-CD9E-D811-7521-AC0D8434A645}"/>
              </a:ext>
            </a:extLst>
          </p:cNvPr>
          <p:cNvSpPr txBox="1"/>
          <p:nvPr/>
        </p:nvSpPr>
        <p:spPr>
          <a:xfrm>
            <a:off x="1773382" y="1831897"/>
            <a:ext cx="6096000" cy="369332"/>
          </a:xfrm>
          <a:prstGeom prst="rect">
            <a:avLst/>
          </a:prstGeom>
          <a:noFill/>
        </p:spPr>
        <p:txBody>
          <a:bodyPr wrap="square">
            <a:spAutoFit/>
          </a:bodyPr>
          <a:lstStyle/>
          <a:p>
            <a:r>
              <a:rPr lang="en-US" dirty="0"/>
              <a:t>Line Plot to Show Trends Over Time</a:t>
            </a:r>
          </a:p>
        </p:txBody>
      </p:sp>
    </p:spTree>
    <p:extLst>
      <p:ext uri="{BB962C8B-B14F-4D97-AF65-F5344CB8AC3E}">
        <p14:creationId xmlns:p14="http://schemas.microsoft.com/office/powerpoint/2010/main" val="286532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F9B55B-ADF7-D9EA-BC9A-95640FDAEDFB}"/>
              </a:ext>
            </a:extLst>
          </p:cNvPr>
          <p:cNvSpPr txBox="1"/>
          <p:nvPr/>
        </p:nvSpPr>
        <p:spPr>
          <a:xfrm>
            <a:off x="332509" y="1400766"/>
            <a:ext cx="4056135" cy="400110"/>
          </a:xfrm>
          <a:prstGeom prst="rect">
            <a:avLst/>
          </a:prstGeom>
          <a:noFill/>
        </p:spPr>
        <p:txBody>
          <a:bodyPr wrap="square">
            <a:spAutoFit/>
          </a:bodyPr>
          <a:lstStyle/>
          <a:p>
            <a:r>
              <a:rPr lang="en-US" sz="2000" b="1" dirty="0">
                <a:solidFill>
                  <a:srgbClr val="1869A6"/>
                </a:solidFill>
              </a:rPr>
              <a:t>Practical Visualization Examples</a:t>
            </a:r>
          </a:p>
        </p:txBody>
      </p:sp>
      <p:sp>
        <p:nvSpPr>
          <p:cNvPr id="3" name="TextBox 2">
            <a:extLst>
              <a:ext uri="{FF2B5EF4-FFF2-40B4-BE49-F238E27FC236}">
                <a16:creationId xmlns:a16="http://schemas.microsoft.com/office/drawing/2014/main" id="{73D19399-18D4-0F21-D48B-E901536FF63F}"/>
              </a:ext>
            </a:extLst>
          </p:cNvPr>
          <p:cNvSpPr txBox="1"/>
          <p:nvPr/>
        </p:nvSpPr>
        <p:spPr>
          <a:xfrm>
            <a:off x="5052292" y="2696968"/>
            <a:ext cx="3713018" cy="1754326"/>
          </a:xfrm>
          <a:prstGeom prst="rect">
            <a:avLst/>
          </a:prstGeom>
          <a:noFill/>
        </p:spPr>
        <p:txBody>
          <a:bodyPr wrap="square">
            <a:spAutoFit/>
          </a:bodyPr>
          <a:lstStyle/>
          <a:p>
            <a:pPr marL="285750" indent="-285750">
              <a:buFont typeface="Arial" panose="020B0604020202020204" pitchFamily="34" charset="0"/>
              <a:buChar char="•"/>
            </a:pPr>
            <a:r>
              <a:rPr lang="en-US" dirty="0"/>
              <a:t>A scatter plot shows the relationship between the total bill and the tip amount in the 'tips' dataset. It helps in identifying patterns or correlations.</a:t>
            </a:r>
          </a:p>
        </p:txBody>
      </p:sp>
      <p:sp>
        <p:nvSpPr>
          <p:cNvPr id="5" name="TextBox 4">
            <a:extLst>
              <a:ext uri="{FF2B5EF4-FFF2-40B4-BE49-F238E27FC236}">
                <a16:creationId xmlns:a16="http://schemas.microsoft.com/office/drawing/2014/main" id="{5593D767-AE22-75B9-BD9E-C4D99CB10C71}"/>
              </a:ext>
            </a:extLst>
          </p:cNvPr>
          <p:cNvSpPr txBox="1"/>
          <p:nvPr/>
        </p:nvSpPr>
        <p:spPr>
          <a:xfrm>
            <a:off x="1727200" y="1950268"/>
            <a:ext cx="4056135" cy="646331"/>
          </a:xfrm>
          <a:prstGeom prst="rect">
            <a:avLst/>
          </a:prstGeom>
          <a:noFill/>
        </p:spPr>
        <p:txBody>
          <a:bodyPr wrap="square">
            <a:spAutoFit/>
          </a:bodyPr>
          <a:lstStyle/>
          <a:p>
            <a:r>
              <a:rPr lang="en-US" dirty="0"/>
              <a:t>Scatter Plot to Visualize Relationships Between Two Variables</a:t>
            </a:r>
          </a:p>
        </p:txBody>
      </p:sp>
      <p:pic>
        <p:nvPicPr>
          <p:cNvPr id="7" name="Picture 6">
            <a:extLst>
              <a:ext uri="{FF2B5EF4-FFF2-40B4-BE49-F238E27FC236}">
                <a16:creationId xmlns:a16="http://schemas.microsoft.com/office/drawing/2014/main" id="{AF11E153-C9D5-75F0-3F4C-1E2FB9D8A21E}"/>
              </a:ext>
            </a:extLst>
          </p:cNvPr>
          <p:cNvPicPr>
            <a:picLocks noChangeAspect="1"/>
          </p:cNvPicPr>
          <p:nvPr/>
        </p:nvPicPr>
        <p:blipFill>
          <a:blip r:embed="rId2"/>
          <a:stretch>
            <a:fillRect/>
          </a:stretch>
        </p:blipFill>
        <p:spPr>
          <a:xfrm>
            <a:off x="1935957" y="2826812"/>
            <a:ext cx="2931607" cy="3267866"/>
          </a:xfrm>
          <a:prstGeom prst="rect">
            <a:avLst/>
          </a:prstGeom>
        </p:spPr>
      </p:pic>
    </p:spTree>
    <p:extLst>
      <p:ext uri="{BB962C8B-B14F-4D97-AF65-F5344CB8AC3E}">
        <p14:creationId xmlns:p14="http://schemas.microsoft.com/office/powerpoint/2010/main" val="782685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D47B57-A920-E4AA-5D91-938E0A7111C1}"/>
              </a:ext>
            </a:extLst>
          </p:cNvPr>
          <p:cNvSpPr txBox="1"/>
          <p:nvPr/>
        </p:nvSpPr>
        <p:spPr>
          <a:xfrm>
            <a:off x="424874" y="1316243"/>
            <a:ext cx="4276436" cy="400110"/>
          </a:xfrm>
          <a:prstGeom prst="rect">
            <a:avLst/>
          </a:prstGeom>
          <a:noFill/>
        </p:spPr>
        <p:txBody>
          <a:bodyPr wrap="square">
            <a:spAutoFit/>
          </a:bodyPr>
          <a:lstStyle/>
          <a:p>
            <a:r>
              <a:rPr lang="en-US" sz="2000" b="1" dirty="0">
                <a:solidFill>
                  <a:srgbClr val="1869A6"/>
                </a:solidFill>
              </a:rPr>
              <a:t>Practical Visualization Examples</a:t>
            </a:r>
          </a:p>
        </p:txBody>
      </p:sp>
      <p:sp>
        <p:nvSpPr>
          <p:cNvPr id="3" name="TextBox 2">
            <a:extLst>
              <a:ext uri="{FF2B5EF4-FFF2-40B4-BE49-F238E27FC236}">
                <a16:creationId xmlns:a16="http://schemas.microsoft.com/office/drawing/2014/main" id="{078D4906-996C-1DFA-8201-E1EAEB4629D1}"/>
              </a:ext>
            </a:extLst>
          </p:cNvPr>
          <p:cNvSpPr txBox="1"/>
          <p:nvPr/>
        </p:nvSpPr>
        <p:spPr>
          <a:xfrm>
            <a:off x="5329381" y="2364509"/>
            <a:ext cx="3713018" cy="1754326"/>
          </a:xfrm>
          <a:prstGeom prst="rect">
            <a:avLst/>
          </a:prstGeom>
          <a:noFill/>
        </p:spPr>
        <p:txBody>
          <a:bodyPr wrap="square">
            <a:spAutoFit/>
          </a:bodyPr>
          <a:lstStyle/>
          <a:p>
            <a:pPr marL="285750" indent="-285750">
              <a:buFont typeface="Arial" panose="020B0604020202020204" pitchFamily="34" charset="0"/>
              <a:buChar char="•"/>
            </a:pPr>
            <a:r>
              <a:rPr lang="en-US" dirty="0"/>
              <a:t>This bar plot shows the sum of tips collected for each day. It's useful for comparing categorical data and understanding how different days perform in terms of tip collection.</a:t>
            </a:r>
          </a:p>
        </p:txBody>
      </p:sp>
      <p:sp>
        <p:nvSpPr>
          <p:cNvPr id="4" name="TextBox 3">
            <a:extLst>
              <a:ext uri="{FF2B5EF4-FFF2-40B4-BE49-F238E27FC236}">
                <a16:creationId xmlns:a16="http://schemas.microsoft.com/office/drawing/2014/main" id="{9136060A-A5CA-9682-E46F-EB0F70F2A132}"/>
              </a:ext>
            </a:extLst>
          </p:cNvPr>
          <p:cNvSpPr txBox="1"/>
          <p:nvPr/>
        </p:nvSpPr>
        <p:spPr>
          <a:xfrm>
            <a:off x="1865746" y="1855765"/>
            <a:ext cx="6096000" cy="369332"/>
          </a:xfrm>
          <a:prstGeom prst="rect">
            <a:avLst/>
          </a:prstGeom>
          <a:noFill/>
        </p:spPr>
        <p:txBody>
          <a:bodyPr wrap="square">
            <a:spAutoFit/>
          </a:bodyPr>
          <a:lstStyle/>
          <a:p>
            <a:r>
              <a:rPr lang="en-US" dirty="0"/>
              <a:t>Bar Plot to Show Categorical Data</a:t>
            </a:r>
          </a:p>
        </p:txBody>
      </p:sp>
      <p:pic>
        <p:nvPicPr>
          <p:cNvPr id="7" name="Picture 6">
            <a:extLst>
              <a:ext uri="{FF2B5EF4-FFF2-40B4-BE49-F238E27FC236}">
                <a16:creationId xmlns:a16="http://schemas.microsoft.com/office/drawing/2014/main" id="{67CBEE8D-3AA7-30E4-7B72-D31AEDAE5B77}"/>
              </a:ext>
            </a:extLst>
          </p:cNvPr>
          <p:cNvPicPr>
            <a:picLocks noChangeAspect="1"/>
          </p:cNvPicPr>
          <p:nvPr/>
        </p:nvPicPr>
        <p:blipFill>
          <a:blip r:embed="rId2"/>
          <a:stretch>
            <a:fillRect/>
          </a:stretch>
        </p:blipFill>
        <p:spPr>
          <a:xfrm>
            <a:off x="1865746" y="2364509"/>
            <a:ext cx="3268184" cy="3613272"/>
          </a:xfrm>
          <a:prstGeom prst="rect">
            <a:avLst/>
          </a:prstGeom>
        </p:spPr>
      </p:pic>
    </p:spTree>
    <p:extLst>
      <p:ext uri="{BB962C8B-B14F-4D97-AF65-F5344CB8AC3E}">
        <p14:creationId xmlns:p14="http://schemas.microsoft.com/office/powerpoint/2010/main" val="2356417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999F89-CA90-FE72-BA92-16E8C911C82F}"/>
              </a:ext>
            </a:extLst>
          </p:cNvPr>
          <p:cNvSpPr txBox="1"/>
          <p:nvPr/>
        </p:nvSpPr>
        <p:spPr>
          <a:xfrm>
            <a:off x="450220" y="1214643"/>
            <a:ext cx="4276436" cy="400110"/>
          </a:xfrm>
          <a:prstGeom prst="rect">
            <a:avLst/>
          </a:prstGeom>
          <a:noFill/>
        </p:spPr>
        <p:txBody>
          <a:bodyPr wrap="square">
            <a:spAutoFit/>
          </a:bodyPr>
          <a:lstStyle/>
          <a:p>
            <a:r>
              <a:rPr lang="en-US" sz="2000" b="1" dirty="0">
                <a:solidFill>
                  <a:srgbClr val="1869A6"/>
                </a:solidFill>
              </a:rPr>
              <a:t>Practical Visualization Examples</a:t>
            </a:r>
          </a:p>
        </p:txBody>
      </p:sp>
      <p:sp>
        <p:nvSpPr>
          <p:cNvPr id="3" name="TextBox 2">
            <a:extLst>
              <a:ext uri="{FF2B5EF4-FFF2-40B4-BE49-F238E27FC236}">
                <a16:creationId xmlns:a16="http://schemas.microsoft.com/office/drawing/2014/main" id="{57833DC3-62CB-7DDA-5210-7AB1A368DA9C}"/>
              </a:ext>
            </a:extLst>
          </p:cNvPr>
          <p:cNvSpPr txBox="1"/>
          <p:nvPr/>
        </p:nvSpPr>
        <p:spPr>
          <a:xfrm>
            <a:off x="5726546" y="2133477"/>
            <a:ext cx="3713018" cy="2031325"/>
          </a:xfrm>
          <a:prstGeom prst="rect">
            <a:avLst/>
          </a:prstGeom>
          <a:noFill/>
        </p:spPr>
        <p:txBody>
          <a:bodyPr wrap="square">
            <a:spAutoFit/>
          </a:bodyPr>
          <a:lstStyle/>
          <a:p>
            <a:pPr marL="285750" indent="-285750">
              <a:buFont typeface="Arial" panose="020B0604020202020204" pitchFamily="34" charset="0"/>
              <a:buChar char="•"/>
            </a:pPr>
            <a:r>
              <a:rPr lang="en-US" dirty="0"/>
              <a:t>This histogram displays the distribution of total bill amounts. The KDE (Kernel Density Estimate) line provides a smoothed version of the distribution, making it easier to see the underlying pattern.</a:t>
            </a:r>
          </a:p>
        </p:txBody>
      </p:sp>
      <p:sp>
        <p:nvSpPr>
          <p:cNvPr id="4" name="TextBox 3">
            <a:extLst>
              <a:ext uri="{FF2B5EF4-FFF2-40B4-BE49-F238E27FC236}">
                <a16:creationId xmlns:a16="http://schemas.microsoft.com/office/drawing/2014/main" id="{704A1FBF-DF9A-7015-ADF8-74A62930C9AE}"/>
              </a:ext>
            </a:extLst>
          </p:cNvPr>
          <p:cNvSpPr txBox="1"/>
          <p:nvPr/>
        </p:nvSpPr>
        <p:spPr>
          <a:xfrm>
            <a:off x="1844911" y="1764145"/>
            <a:ext cx="6096000" cy="369332"/>
          </a:xfrm>
          <a:prstGeom prst="rect">
            <a:avLst/>
          </a:prstGeom>
          <a:noFill/>
        </p:spPr>
        <p:txBody>
          <a:bodyPr wrap="square">
            <a:spAutoFit/>
          </a:bodyPr>
          <a:lstStyle/>
          <a:p>
            <a:r>
              <a:rPr lang="en-US" dirty="0"/>
              <a:t>Histogram to Show Data Distribution</a:t>
            </a:r>
          </a:p>
        </p:txBody>
      </p:sp>
      <p:pic>
        <p:nvPicPr>
          <p:cNvPr id="7" name="Picture 6">
            <a:extLst>
              <a:ext uri="{FF2B5EF4-FFF2-40B4-BE49-F238E27FC236}">
                <a16:creationId xmlns:a16="http://schemas.microsoft.com/office/drawing/2014/main" id="{BF6058BF-CDA3-27B7-B644-711E6747A303}"/>
              </a:ext>
            </a:extLst>
          </p:cNvPr>
          <p:cNvPicPr>
            <a:picLocks noChangeAspect="1"/>
          </p:cNvPicPr>
          <p:nvPr/>
        </p:nvPicPr>
        <p:blipFill>
          <a:blip r:embed="rId2"/>
          <a:stretch>
            <a:fillRect/>
          </a:stretch>
        </p:blipFill>
        <p:spPr>
          <a:xfrm>
            <a:off x="1881857" y="2253673"/>
            <a:ext cx="3729128" cy="3771921"/>
          </a:xfrm>
          <a:prstGeom prst="rect">
            <a:avLst/>
          </a:prstGeom>
        </p:spPr>
      </p:pic>
    </p:spTree>
    <p:extLst>
      <p:ext uri="{BB962C8B-B14F-4D97-AF65-F5344CB8AC3E}">
        <p14:creationId xmlns:p14="http://schemas.microsoft.com/office/powerpoint/2010/main" val="1404211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B2F734-6631-DCA1-D4A4-2A123062B4CC}"/>
              </a:ext>
            </a:extLst>
          </p:cNvPr>
          <p:cNvSpPr txBox="1"/>
          <p:nvPr/>
        </p:nvSpPr>
        <p:spPr>
          <a:xfrm>
            <a:off x="378692" y="1360644"/>
            <a:ext cx="4276436" cy="400110"/>
          </a:xfrm>
          <a:prstGeom prst="rect">
            <a:avLst/>
          </a:prstGeom>
          <a:noFill/>
        </p:spPr>
        <p:txBody>
          <a:bodyPr wrap="square">
            <a:spAutoFit/>
          </a:bodyPr>
          <a:lstStyle/>
          <a:p>
            <a:r>
              <a:rPr lang="en-US" sz="2000" b="1" dirty="0">
                <a:solidFill>
                  <a:srgbClr val="1869A6"/>
                </a:solidFill>
              </a:rPr>
              <a:t>Practical Visualization Examples</a:t>
            </a:r>
          </a:p>
        </p:txBody>
      </p:sp>
      <p:sp>
        <p:nvSpPr>
          <p:cNvPr id="3" name="TextBox 2">
            <a:extLst>
              <a:ext uri="{FF2B5EF4-FFF2-40B4-BE49-F238E27FC236}">
                <a16:creationId xmlns:a16="http://schemas.microsoft.com/office/drawing/2014/main" id="{08B4DF21-1001-E09D-74E5-B0CDB1E1BD00}"/>
              </a:ext>
            </a:extLst>
          </p:cNvPr>
          <p:cNvSpPr txBox="1"/>
          <p:nvPr/>
        </p:nvSpPr>
        <p:spPr>
          <a:xfrm>
            <a:off x="6096000" y="2279478"/>
            <a:ext cx="3713018" cy="1477328"/>
          </a:xfrm>
          <a:prstGeom prst="rect">
            <a:avLst/>
          </a:prstGeom>
          <a:noFill/>
        </p:spPr>
        <p:txBody>
          <a:bodyPr wrap="square">
            <a:spAutoFit/>
          </a:bodyPr>
          <a:lstStyle/>
          <a:p>
            <a:pPr marL="285750" indent="-285750">
              <a:buFont typeface="Arial" panose="020B0604020202020204" pitchFamily="34" charset="0"/>
              <a:buChar char="•"/>
            </a:pPr>
            <a:r>
              <a:rPr lang="en-US" dirty="0"/>
              <a:t>Box plots provide a summary of the distribution, including median, quartiles, and potential outliers, for the total bill amounts categorized by day.</a:t>
            </a:r>
          </a:p>
        </p:txBody>
      </p:sp>
      <p:sp>
        <p:nvSpPr>
          <p:cNvPr id="4" name="TextBox 3">
            <a:extLst>
              <a:ext uri="{FF2B5EF4-FFF2-40B4-BE49-F238E27FC236}">
                <a16:creationId xmlns:a16="http://schemas.microsoft.com/office/drawing/2014/main" id="{84056F41-501A-49AC-A811-AF25A42ACF94}"/>
              </a:ext>
            </a:extLst>
          </p:cNvPr>
          <p:cNvSpPr txBox="1"/>
          <p:nvPr/>
        </p:nvSpPr>
        <p:spPr>
          <a:xfrm>
            <a:off x="1773383" y="1910146"/>
            <a:ext cx="6096000" cy="369332"/>
          </a:xfrm>
          <a:prstGeom prst="rect">
            <a:avLst/>
          </a:prstGeom>
          <a:noFill/>
        </p:spPr>
        <p:txBody>
          <a:bodyPr wrap="square">
            <a:spAutoFit/>
          </a:bodyPr>
          <a:lstStyle/>
          <a:p>
            <a:r>
              <a:rPr lang="en-US" dirty="0"/>
              <a:t>Box Plot to Visualize Distribution and Outliers</a:t>
            </a:r>
          </a:p>
        </p:txBody>
      </p:sp>
      <p:pic>
        <p:nvPicPr>
          <p:cNvPr id="7" name="Picture 6">
            <a:extLst>
              <a:ext uri="{FF2B5EF4-FFF2-40B4-BE49-F238E27FC236}">
                <a16:creationId xmlns:a16="http://schemas.microsoft.com/office/drawing/2014/main" id="{833FBB23-4F90-4C24-3D69-F6985BFD81F7}"/>
              </a:ext>
            </a:extLst>
          </p:cNvPr>
          <p:cNvPicPr>
            <a:picLocks noChangeAspect="1"/>
          </p:cNvPicPr>
          <p:nvPr/>
        </p:nvPicPr>
        <p:blipFill>
          <a:blip r:embed="rId2"/>
          <a:stretch>
            <a:fillRect/>
          </a:stretch>
        </p:blipFill>
        <p:spPr>
          <a:xfrm>
            <a:off x="2113496" y="2348607"/>
            <a:ext cx="3785277" cy="3904350"/>
          </a:xfrm>
          <a:prstGeom prst="rect">
            <a:avLst/>
          </a:prstGeom>
        </p:spPr>
      </p:pic>
    </p:spTree>
    <p:extLst>
      <p:ext uri="{BB962C8B-B14F-4D97-AF65-F5344CB8AC3E}">
        <p14:creationId xmlns:p14="http://schemas.microsoft.com/office/powerpoint/2010/main" val="1775034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70C672-084F-029A-29D1-534BA5294C27}"/>
              </a:ext>
            </a:extLst>
          </p:cNvPr>
          <p:cNvSpPr txBox="1"/>
          <p:nvPr/>
        </p:nvSpPr>
        <p:spPr>
          <a:xfrm>
            <a:off x="437518" y="1260824"/>
            <a:ext cx="4276436" cy="400110"/>
          </a:xfrm>
          <a:prstGeom prst="rect">
            <a:avLst/>
          </a:prstGeom>
          <a:noFill/>
        </p:spPr>
        <p:txBody>
          <a:bodyPr wrap="square">
            <a:spAutoFit/>
          </a:bodyPr>
          <a:lstStyle/>
          <a:p>
            <a:r>
              <a:rPr lang="en-US" sz="2000" b="1" dirty="0">
                <a:solidFill>
                  <a:srgbClr val="1869A6"/>
                </a:solidFill>
              </a:rPr>
              <a:t>Practical Visualization Examples</a:t>
            </a:r>
          </a:p>
        </p:txBody>
      </p:sp>
      <p:sp>
        <p:nvSpPr>
          <p:cNvPr id="3" name="TextBox 2">
            <a:extLst>
              <a:ext uri="{FF2B5EF4-FFF2-40B4-BE49-F238E27FC236}">
                <a16:creationId xmlns:a16="http://schemas.microsoft.com/office/drawing/2014/main" id="{8B19D713-064F-4440-3D4E-9821FE0FFAC9}"/>
              </a:ext>
            </a:extLst>
          </p:cNvPr>
          <p:cNvSpPr txBox="1"/>
          <p:nvPr/>
        </p:nvSpPr>
        <p:spPr>
          <a:xfrm>
            <a:off x="6071700" y="2228671"/>
            <a:ext cx="3713018" cy="1200329"/>
          </a:xfrm>
          <a:prstGeom prst="rect">
            <a:avLst/>
          </a:prstGeom>
          <a:noFill/>
        </p:spPr>
        <p:txBody>
          <a:bodyPr wrap="square">
            <a:spAutoFit/>
          </a:bodyPr>
          <a:lstStyle/>
          <a:p>
            <a:pPr marL="285750" indent="-285750">
              <a:buFont typeface="Arial" panose="020B0604020202020204" pitchFamily="34" charset="0"/>
              <a:buChar char="•"/>
            </a:pPr>
            <a:r>
              <a:rPr lang="en-US" dirty="0"/>
              <a:t>Violin plots combine the features of box plots and KDE, showing the distribution and density of total bill amounts by day.</a:t>
            </a:r>
          </a:p>
        </p:txBody>
      </p:sp>
      <p:sp>
        <p:nvSpPr>
          <p:cNvPr id="4" name="TextBox 3">
            <a:extLst>
              <a:ext uri="{FF2B5EF4-FFF2-40B4-BE49-F238E27FC236}">
                <a16:creationId xmlns:a16="http://schemas.microsoft.com/office/drawing/2014/main" id="{1C0A182B-451C-6729-CB23-0BC93504A6CC}"/>
              </a:ext>
            </a:extLst>
          </p:cNvPr>
          <p:cNvSpPr txBox="1"/>
          <p:nvPr/>
        </p:nvSpPr>
        <p:spPr>
          <a:xfrm>
            <a:off x="1832209" y="1810326"/>
            <a:ext cx="6096000" cy="369332"/>
          </a:xfrm>
          <a:prstGeom prst="rect">
            <a:avLst/>
          </a:prstGeom>
          <a:noFill/>
        </p:spPr>
        <p:txBody>
          <a:bodyPr wrap="square">
            <a:spAutoFit/>
          </a:bodyPr>
          <a:lstStyle/>
          <a:p>
            <a:r>
              <a:rPr lang="en-US" dirty="0"/>
              <a:t>Violin Plot to Show Density and Distribution</a:t>
            </a:r>
          </a:p>
        </p:txBody>
      </p:sp>
      <p:pic>
        <p:nvPicPr>
          <p:cNvPr id="7" name="Picture 6">
            <a:extLst>
              <a:ext uri="{FF2B5EF4-FFF2-40B4-BE49-F238E27FC236}">
                <a16:creationId xmlns:a16="http://schemas.microsoft.com/office/drawing/2014/main" id="{651F6115-D914-90CA-A4D5-B40D5F4709F1}"/>
              </a:ext>
            </a:extLst>
          </p:cNvPr>
          <p:cNvPicPr>
            <a:picLocks noChangeAspect="1"/>
          </p:cNvPicPr>
          <p:nvPr/>
        </p:nvPicPr>
        <p:blipFill>
          <a:blip r:embed="rId2"/>
          <a:stretch>
            <a:fillRect/>
          </a:stretch>
        </p:blipFill>
        <p:spPr>
          <a:xfrm>
            <a:off x="2006022" y="2419927"/>
            <a:ext cx="3801232" cy="3692279"/>
          </a:xfrm>
          <a:prstGeom prst="rect">
            <a:avLst/>
          </a:prstGeom>
        </p:spPr>
      </p:pic>
    </p:spTree>
    <p:extLst>
      <p:ext uri="{BB962C8B-B14F-4D97-AF65-F5344CB8AC3E}">
        <p14:creationId xmlns:p14="http://schemas.microsoft.com/office/powerpoint/2010/main" val="3408423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8298457-B626-F7C9-D094-144405654BAC}"/>
              </a:ext>
            </a:extLst>
          </p:cNvPr>
          <p:cNvSpPr txBox="1"/>
          <p:nvPr/>
        </p:nvSpPr>
        <p:spPr>
          <a:xfrm>
            <a:off x="397165" y="1474619"/>
            <a:ext cx="4276436" cy="400110"/>
          </a:xfrm>
          <a:prstGeom prst="rect">
            <a:avLst/>
          </a:prstGeom>
          <a:noFill/>
        </p:spPr>
        <p:txBody>
          <a:bodyPr wrap="square">
            <a:spAutoFit/>
          </a:bodyPr>
          <a:lstStyle/>
          <a:p>
            <a:r>
              <a:rPr lang="en-US" sz="2000" b="1" dirty="0">
                <a:solidFill>
                  <a:srgbClr val="1869A6"/>
                </a:solidFill>
              </a:rPr>
              <a:t>Practical Visualization Examples</a:t>
            </a:r>
          </a:p>
        </p:txBody>
      </p:sp>
      <p:sp>
        <p:nvSpPr>
          <p:cNvPr id="5" name="TextBox 4">
            <a:extLst>
              <a:ext uri="{FF2B5EF4-FFF2-40B4-BE49-F238E27FC236}">
                <a16:creationId xmlns:a16="http://schemas.microsoft.com/office/drawing/2014/main" id="{B70484FA-7D6E-B678-3416-431D35C5873E}"/>
              </a:ext>
            </a:extLst>
          </p:cNvPr>
          <p:cNvSpPr txBox="1"/>
          <p:nvPr/>
        </p:nvSpPr>
        <p:spPr>
          <a:xfrm>
            <a:off x="5283201" y="2710222"/>
            <a:ext cx="3713018" cy="1754326"/>
          </a:xfrm>
          <a:prstGeom prst="rect">
            <a:avLst/>
          </a:prstGeom>
          <a:noFill/>
        </p:spPr>
        <p:txBody>
          <a:bodyPr wrap="square">
            <a:spAutoFit/>
          </a:bodyPr>
          <a:lstStyle/>
          <a:p>
            <a:pPr marL="285750" indent="-285750">
              <a:buFont typeface="Arial" panose="020B0604020202020204" pitchFamily="34" charset="0"/>
              <a:buChar char="•"/>
            </a:pPr>
            <a:r>
              <a:rPr lang="en-US" dirty="0"/>
              <a:t>Pair plots display pairwise relationships between different numerical variables in the dataset, helping to identify potential correlations and distributions.</a:t>
            </a:r>
          </a:p>
        </p:txBody>
      </p:sp>
      <p:sp>
        <p:nvSpPr>
          <p:cNvPr id="6" name="TextBox 5">
            <a:extLst>
              <a:ext uri="{FF2B5EF4-FFF2-40B4-BE49-F238E27FC236}">
                <a16:creationId xmlns:a16="http://schemas.microsoft.com/office/drawing/2014/main" id="{8E0321E0-6B2E-F7E5-E898-3AD4C9AFD38A}"/>
              </a:ext>
            </a:extLst>
          </p:cNvPr>
          <p:cNvSpPr txBox="1"/>
          <p:nvPr/>
        </p:nvSpPr>
        <p:spPr>
          <a:xfrm>
            <a:off x="1791856" y="2024121"/>
            <a:ext cx="6096000" cy="369332"/>
          </a:xfrm>
          <a:prstGeom prst="rect">
            <a:avLst/>
          </a:prstGeom>
          <a:noFill/>
        </p:spPr>
        <p:txBody>
          <a:bodyPr wrap="square">
            <a:spAutoFit/>
          </a:bodyPr>
          <a:lstStyle/>
          <a:p>
            <a:r>
              <a:rPr lang="en-US" dirty="0"/>
              <a:t>Pair Plot to Show Pairwise Relationships</a:t>
            </a:r>
          </a:p>
        </p:txBody>
      </p:sp>
      <p:pic>
        <p:nvPicPr>
          <p:cNvPr id="9" name="Picture 8">
            <a:extLst>
              <a:ext uri="{FF2B5EF4-FFF2-40B4-BE49-F238E27FC236}">
                <a16:creationId xmlns:a16="http://schemas.microsoft.com/office/drawing/2014/main" id="{E712C286-02F2-0FBE-77F4-24501AF44327}"/>
              </a:ext>
            </a:extLst>
          </p:cNvPr>
          <p:cNvPicPr>
            <a:picLocks noChangeAspect="1"/>
          </p:cNvPicPr>
          <p:nvPr/>
        </p:nvPicPr>
        <p:blipFill>
          <a:blip r:embed="rId2"/>
          <a:stretch>
            <a:fillRect/>
          </a:stretch>
        </p:blipFill>
        <p:spPr>
          <a:xfrm>
            <a:off x="1983660" y="2622733"/>
            <a:ext cx="3165769" cy="3630224"/>
          </a:xfrm>
          <a:prstGeom prst="rect">
            <a:avLst/>
          </a:prstGeom>
        </p:spPr>
      </p:pic>
    </p:spTree>
    <p:extLst>
      <p:ext uri="{BB962C8B-B14F-4D97-AF65-F5344CB8AC3E}">
        <p14:creationId xmlns:p14="http://schemas.microsoft.com/office/powerpoint/2010/main" val="2725917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7E9D01-9484-2324-5AD4-C14EEBAA3E5B}"/>
              </a:ext>
            </a:extLst>
          </p:cNvPr>
          <p:cNvSpPr txBox="1"/>
          <p:nvPr/>
        </p:nvSpPr>
        <p:spPr>
          <a:xfrm>
            <a:off x="461819" y="1474619"/>
            <a:ext cx="4276436" cy="400110"/>
          </a:xfrm>
          <a:prstGeom prst="rect">
            <a:avLst/>
          </a:prstGeom>
          <a:noFill/>
        </p:spPr>
        <p:txBody>
          <a:bodyPr wrap="square">
            <a:spAutoFit/>
          </a:bodyPr>
          <a:lstStyle/>
          <a:p>
            <a:r>
              <a:rPr lang="en-US" sz="2000" b="1" dirty="0">
                <a:solidFill>
                  <a:srgbClr val="1869A6"/>
                </a:solidFill>
              </a:rPr>
              <a:t>Practical Visualization Examples</a:t>
            </a:r>
          </a:p>
        </p:txBody>
      </p:sp>
      <p:sp>
        <p:nvSpPr>
          <p:cNvPr id="3" name="TextBox 2">
            <a:extLst>
              <a:ext uri="{FF2B5EF4-FFF2-40B4-BE49-F238E27FC236}">
                <a16:creationId xmlns:a16="http://schemas.microsoft.com/office/drawing/2014/main" id="{2B72100F-08D7-4957-E774-DAB4941DB8CA}"/>
              </a:ext>
            </a:extLst>
          </p:cNvPr>
          <p:cNvSpPr txBox="1"/>
          <p:nvPr/>
        </p:nvSpPr>
        <p:spPr>
          <a:xfrm>
            <a:off x="5347693" y="2542845"/>
            <a:ext cx="3713018" cy="1477328"/>
          </a:xfrm>
          <a:prstGeom prst="rect">
            <a:avLst/>
          </a:prstGeom>
          <a:noFill/>
        </p:spPr>
        <p:txBody>
          <a:bodyPr wrap="square">
            <a:spAutoFit/>
          </a:bodyPr>
          <a:lstStyle/>
          <a:p>
            <a:pPr marL="285750" indent="-285750">
              <a:buFont typeface="Arial" panose="020B0604020202020204" pitchFamily="34" charset="0"/>
              <a:buChar char="•"/>
            </a:pPr>
            <a:r>
              <a:rPr lang="en-US" dirty="0"/>
              <a:t>Count plots visualize the frequency of occurrences for categorical data. This example shows how many entries exist for each day in the 'tips' dataset.</a:t>
            </a:r>
          </a:p>
        </p:txBody>
      </p:sp>
      <p:sp>
        <p:nvSpPr>
          <p:cNvPr id="4" name="TextBox 3">
            <a:extLst>
              <a:ext uri="{FF2B5EF4-FFF2-40B4-BE49-F238E27FC236}">
                <a16:creationId xmlns:a16="http://schemas.microsoft.com/office/drawing/2014/main" id="{A3A70ED7-B0B5-44F5-93D0-B3714803640B}"/>
              </a:ext>
            </a:extLst>
          </p:cNvPr>
          <p:cNvSpPr txBox="1"/>
          <p:nvPr/>
        </p:nvSpPr>
        <p:spPr>
          <a:xfrm>
            <a:off x="1856510" y="2024121"/>
            <a:ext cx="6096000" cy="369332"/>
          </a:xfrm>
          <a:prstGeom prst="rect">
            <a:avLst/>
          </a:prstGeom>
          <a:noFill/>
        </p:spPr>
        <p:txBody>
          <a:bodyPr wrap="square">
            <a:spAutoFit/>
          </a:bodyPr>
          <a:lstStyle/>
          <a:p>
            <a:r>
              <a:rPr lang="en-US" dirty="0"/>
              <a:t>Count Plot to Show the Frequency of Categorical Values</a:t>
            </a:r>
          </a:p>
        </p:txBody>
      </p:sp>
      <p:pic>
        <p:nvPicPr>
          <p:cNvPr id="7" name="Picture 6">
            <a:extLst>
              <a:ext uri="{FF2B5EF4-FFF2-40B4-BE49-F238E27FC236}">
                <a16:creationId xmlns:a16="http://schemas.microsoft.com/office/drawing/2014/main" id="{A6D99ADE-3A10-2268-08D1-98D80DF7D591}"/>
              </a:ext>
            </a:extLst>
          </p:cNvPr>
          <p:cNvPicPr>
            <a:picLocks noChangeAspect="1"/>
          </p:cNvPicPr>
          <p:nvPr/>
        </p:nvPicPr>
        <p:blipFill>
          <a:blip r:embed="rId2"/>
          <a:stretch>
            <a:fillRect/>
          </a:stretch>
        </p:blipFill>
        <p:spPr>
          <a:xfrm>
            <a:off x="1865746" y="2465648"/>
            <a:ext cx="3481947" cy="3509757"/>
          </a:xfrm>
          <a:prstGeom prst="rect">
            <a:avLst/>
          </a:prstGeom>
        </p:spPr>
      </p:pic>
    </p:spTree>
    <p:extLst>
      <p:ext uri="{BB962C8B-B14F-4D97-AF65-F5344CB8AC3E}">
        <p14:creationId xmlns:p14="http://schemas.microsoft.com/office/powerpoint/2010/main" val="12907225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D397A1-B753-CB4B-4BCE-CF25C7A74CC4}"/>
              </a:ext>
            </a:extLst>
          </p:cNvPr>
          <p:cNvSpPr txBox="1"/>
          <p:nvPr/>
        </p:nvSpPr>
        <p:spPr>
          <a:xfrm>
            <a:off x="443346" y="1273159"/>
            <a:ext cx="4276436" cy="400110"/>
          </a:xfrm>
          <a:prstGeom prst="rect">
            <a:avLst/>
          </a:prstGeom>
          <a:noFill/>
        </p:spPr>
        <p:txBody>
          <a:bodyPr wrap="square">
            <a:spAutoFit/>
          </a:bodyPr>
          <a:lstStyle/>
          <a:p>
            <a:r>
              <a:rPr lang="en-US" sz="2000" b="1" dirty="0">
                <a:solidFill>
                  <a:srgbClr val="1869A6"/>
                </a:solidFill>
              </a:rPr>
              <a:t>Practical Visualization Examples</a:t>
            </a:r>
          </a:p>
        </p:txBody>
      </p:sp>
      <p:sp>
        <p:nvSpPr>
          <p:cNvPr id="3" name="TextBox 2">
            <a:extLst>
              <a:ext uri="{FF2B5EF4-FFF2-40B4-BE49-F238E27FC236}">
                <a16:creationId xmlns:a16="http://schemas.microsoft.com/office/drawing/2014/main" id="{4BAD6335-6E4D-AB71-ACAB-A89E2830C025}"/>
              </a:ext>
            </a:extLst>
          </p:cNvPr>
          <p:cNvSpPr txBox="1"/>
          <p:nvPr/>
        </p:nvSpPr>
        <p:spPr>
          <a:xfrm>
            <a:off x="5458692" y="2290741"/>
            <a:ext cx="3713018" cy="1477328"/>
          </a:xfrm>
          <a:prstGeom prst="rect">
            <a:avLst/>
          </a:prstGeom>
          <a:noFill/>
        </p:spPr>
        <p:txBody>
          <a:bodyPr wrap="square">
            <a:spAutoFit/>
          </a:bodyPr>
          <a:lstStyle/>
          <a:p>
            <a:pPr marL="285750" indent="-285750">
              <a:buFont typeface="Arial" panose="020B0604020202020204" pitchFamily="34" charset="0"/>
              <a:buChar char="•"/>
            </a:pPr>
            <a:r>
              <a:rPr lang="en-US" dirty="0"/>
              <a:t>A joint plot combines a scatter plot and histograms, showing the relationship between total bill and tip amounts, along with their individual distributions.</a:t>
            </a:r>
          </a:p>
        </p:txBody>
      </p:sp>
      <p:sp>
        <p:nvSpPr>
          <p:cNvPr id="4" name="TextBox 3">
            <a:extLst>
              <a:ext uri="{FF2B5EF4-FFF2-40B4-BE49-F238E27FC236}">
                <a16:creationId xmlns:a16="http://schemas.microsoft.com/office/drawing/2014/main" id="{6049FC31-21B3-9AF8-E7EE-2AF576F0DBF2}"/>
              </a:ext>
            </a:extLst>
          </p:cNvPr>
          <p:cNvSpPr txBox="1"/>
          <p:nvPr/>
        </p:nvSpPr>
        <p:spPr>
          <a:xfrm>
            <a:off x="1838037" y="1822661"/>
            <a:ext cx="6096000" cy="369332"/>
          </a:xfrm>
          <a:prstGeom prst="rect">
            <a:avLst/>
          </a:prstGeom>
          <a:noFill/>
        </p:spPr>
        <p:txBody>
          <a:bodyPr wrap="square">
            <a:spAutoFit/>
          </a:bodyPr>
          <a:lstStyle/>
          <a:p>
            <a:r>
              <a:rPr lang="en-US" dirty="0"/>
              <a:t>Joint Plot to Show Distribution and Relationship</a:t>
            </a:r>
          </a:p>
        </p:txBody>
      </p:sp>
      <p:pic>
        <p:nvPicPr>
          <p:cNvPr id="7" name="Picture 6">
            <a:extLst>
              <a:ext uri="{FF2B5EF4-FFF2-40B4-BE49-F238E27FC236}">
                <a16:creationId xmlns:a16="http://schemas.microsoft.com/office/drawing/2014/main" id="{A4F14F03-1E97-254D-1AE4-8419184DDAD6}"/>
              </a:ext>
            </a:extLst>
          </p:cNvPr>
          <p:cNvPicPr>
            <a:picLocks noChangeAspect="1"/>
          </p:cNvPicPr>
          <p:nvPr/>
        </p:nvPicPr>
        <p:blipFill>
          <a:blip r:embed="rId2"/>
          <a:stretch>
            <a:fillRect/>
          </a:stretch>
        </p:blipFill>
        <p:spPr>
          <a:xfrm>
            <a:off x="2068880" y="2290741"/>
            <a:ext cx="3224004" cy="3941588"/>
          </a:xfrm>
          <a:prstGeom prst="rect">
            <a:avLst/>
          </a:prstGeom>
        </p:spPr>
      </p:pic>
    </p:spTree>
    <p:extLst>
      <p:ext uri="{BB962C8B-B14F-4D97-AF65-F5344CB8AC3E}">
        <p14:creationId xmlns:p14="http://schemas.microsoft.com/office/powerpoint/2010/main" val="2411584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TotalTime>
  <Words>1124</Words>
  <Application>Microsoft Office PowerPoint</Application>
  <PresentationFormat>Widescreen</PresentationFormat>
  <Paragraphs>97</Paragraphs>
  <Slides>30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Nader Genidy</dc:creator>
  <cp:lastModifiedBy>Mahmoud Dy</cp:lastModifiedBy>
  <cp:revision>16</cp:revision>
  <dcterms:created xsi:type="dcterms:W3CDTF">2024-09-02T19:01:06Z</dcterms:created>
  <dcterms:modified xsi:type="dcterms:W3CDTF">2025-09-07T10:16:08Z</dcterms:modified>
</cp:coreProperties>
</file>