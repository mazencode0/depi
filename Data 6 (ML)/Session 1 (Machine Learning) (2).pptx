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83" r:id="rId7"/>
    <p:sldId id="282" r:id="rId8"/>
    <p:sldId id="284" r:id="rId9"/>
    <p:sldId id="261" r:id="rId10"/>
    <p:sldId id="262" r:id="rId11"/>
    <p:sldId id="263" r:id="rId12"/>
    <p:sldId id="264" r:id="rId13"/>
    <p:sldId id="267" r:id="rId14"/>
    <p:sldId id="285" r:id="rId15"/>
    <p:sldId id="271" r:id="rId16"/>
    <p:sldId id="286" r:id="rId17"/>
    <p:sldId id="288" r:id="rId18"/>
    <p:sldId id="275" r:id="rId19"/>
    <p:sldId id="276" r:id="rId20"/>
    <p:sldId id="277" r:id="rId21"/>
    <p:sldId id="278" r:id="rId22"/>
    <p:sldId id="279" r:id="rId23"/>
    <p:sldId id="280" r:id="rId24"/>
    <p:sldId id="287" r:id="rId25"/>
    <p:sldId id="28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869A6"/>
    <a:srgbClr val="2AAF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83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59BC0-A19E-4A5C-A033-E8C56E1B6C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4F9A878-1FB2-4391-80D1-E159427E19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A31606C-7A8F-4C14-A035-93EADF05F321}"/>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5" name="Footer Placeholder 4">
            <a:extLst>
              <a:ext uri="{FF2B5EF4-FFF2-40B4-BE49-F238E27FC236}">
                <a16:creationId xmlns:a16="http://schemas.microsoft.com/office/drawing/2014/main" id="{9A19E533-E847-4768-AFBC-CDC64DAC9A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99B01E-5CA3-4FDD-BC38-5EEC6FA93D9F}"/>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8990131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91C0F-6C58-478E-90BB-ACA5EC3090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3CE2A9F-CBBD-48A5-81E1-249D24FB1F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A2A67A-B6D3-41A3-AD32-8551B9495B90}"/>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5" name="Footer Placeholder 4">
            <a:extLst>
              <a:ext uri="{FF2B5EF4-FFF2-40B4-BE49-F238E27FC236}">
                <a16:creationId xmlns:a16="http://schemas.microsoft.com/office/drawing/2014/main" id="{20ADF493-FC96-4E0D-A6A7-A8087A3CAF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E2D12D-1DD0-4DA3-B99C-FC88CE672C38}"/>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3103904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D04A8-03DA-4C2D-B822-EE34CF48F80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54C9CB9-CDE3-44E3-AABF-7056179CB1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B9F825-31AC-44FA-9668-9F03E2E1D3AE}"/>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5" name="Footer Placeholder 4">
            <a:extLst>
              <a:ext uri="{FF2B5EF4-FFF2-40B4-BE49-F238E27FC236}">
                <a16:creationId xmlns:a16="http://schemas.microsoft.com/office/drawing/2014/main" id="{7E18FE18-B9DB-4653-BCC7-C87D8BA0C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FA37C9-A1C2-4F1C-A7A3-6471AB2ABC84}"/>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1897047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F0CD7-A4FC-4CA1-99F7-9F3FE949570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65B238-1B9E-489F-AD44-5FB027E454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9BDA37C-DC0F-4EF5-AE8E-EB6BA816E0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AE66A8-AA81-4FEC-808F-BE80460FA043}"/>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6" name="Footer Placeholder 5">
            <a:extLst>
              <a:ext uri="{FF2B5EF4-FFF2-40B4-BE49-F238E27FC236}">
                <a16:creationId xmlns:a16="http://schemas.microsoft.com/office/drawing/2014/main" id="{EA417C6B-FECE-4A9E-A80F-CB83EAAEBF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C404F7-1C89-4444-8EC2-084E5E6F552D}"/>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9675762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0B73D-BCAF-4EA4-B43F-4ED14665AA8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403610B-B677-4BFE-A20F-75C396F859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1B8C8D-D8A8-4C43-91B5-58ECA139F8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077AB1-048B-4DA1-8D4B-1F222CAF69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71CAA4-9050-4362-94B7-117CA99C62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C778CFC-601F-4D29-805D-8CF4A81886AD}"/>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8" name="Footer Placeholder 7">
            <a:extLst>
              <a:ext uri="{FF2B5EF4-FFF2-40B4-BE49-F238E27FC236}">
                <a16:creationId xmlns:a16="http://schemas.microsoft.com/office/drawing/2014/main" id="{9BFCA3A6-9A7B-448B-9D1B-D6EE64B49F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5E0308-7543-4FFA-90CB-5D3EB1BA1FAB}"/>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748874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959E6-8FF5-4EEB-AC85-34EDFEDE224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31756D2-3FB9-41BA-B854-CFF6CAACC02A}"/>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4" name="Footer Placeholder 3">
            <a:extLst>
              <a:ext uri="{FF2B5EF4-FFF2-40B4-BE49-F238E27FC236}">
                <a16:creationId xmlns:a16="http://schemas.microsoft.com/office/drawing/2014/main" id="{83D36A28-0668-4412-B603-9C40C293D1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1B8DAFE-E154-4A46-B684-79358C8CDFE1}"/>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4121978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AF21D4-E7BB-4978-9666-5BBB9DFE5BC1}"/>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3" name="Footer Placeholder 2">
            <a:extLst>
              <a:ext uri="{FF2B5EF4-FFF2-40B4-BE49-F238E27FC236}">
                <a16:creationId xmlns:a16="http://schemas.microsoft.com/office/drawing/2014/main" id="{C1479CE5-E352-4B60-BFD1-0C0C02F1ED9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AC1BBB-A1E8-4809-9C0D-E09647C5E880}"/>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2436081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6D727-0EBC-45B2-9CDE-EDDCB38DD2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770EFE-AE71-4076-8E76-57EC7E10A3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6B9DB15-8585-479F-9B94-07D73C6FA3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F53C53-ED36-49B4-A2D7-A397B42AD1AD}"/>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6" name="Footer Placeholder 5">
            <a:extLst>
              <a:ext uri="{FF2B5EF4-FFF2-40B4-BE49-F238E27FC236}">
                <a16:creationId xmlns:a16="http://schemas.microsoft.com/office/drawing/2014/main" id="{61B6141A-F7C2-49A8-A5A0-2258E29A3F8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F881B8-D220-4870-A1DE-1D6DCB90474F}"/>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22301661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67754-0C56-423A-A581-91C286D09B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115D83B-7BE8-470A-834B-78B7ABECA9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A1567B-9F52-48EB-8254-DB486E1C2F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9B7032E-E03A-41A9-8426-DE84B8A77E99}"/>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6" name="Footer Placeholder 5">
            <a:extLst>
              <a:ext uri="{FF2B5EF4-FFF2-40B4-BE49-F238E27FC236}">
                <a16:creationId xmlns:a16="http://schemas.microsoft.com/office/drawing/2014/main" id="{B5317A34-90FD-4657-9F86-833148B18AB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DC2B73-9C67-4B62-95D6-A5A078E79F63}"/>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3185170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86EB4-0D54-4DE2-9E08-6F7368AE16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35CD55-D93C-4688-97AB-F15B8E5F94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00345-18DF-4934-904C-B325DCD7D9C8}"/>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5" name="Footer Placeholder 4">
            <a:extLst>
              <a:ext uri="{FF2B5EF4-FFF2-40B4-BE49-F238E27FC236}">
                <a16:creationId xmlns:a16="http://schemas.microsoft.com/office/drawing/2014/main" id="{3F9C96DE-B471-470B-AD0F-F72D5C197C7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35A443-6101-4175-BF8F-112F8596F86E}"/>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21573234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EBDA98-2DD2-4B03-BAE4-B70F76EA020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B9B5B4D-06DC-4E44-B5F6-F15E08EE54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9A0FD-9059-46D7-952A-075C00DD6BFF}"/>
              </a:ext>
            </a:extLst>
          </p:cNvPr>
          <p:cNvSpPr>
            <a:spLocks noGrp="1"/>
          </p:cNvSpPr>
          <p:nvPr>
            <p:ph type="dt" sz="half" idx="10"/>
          </p:nvPr>
        </p:nvSpPr>
        <p:spPr/>
        <p:txBody>
          <a:bodyPr/>
          <a:lstStyle/>
          <a:p>
            <a:fld id="{B186E36C-4390-4DE0-8BBA-34EAE2E92B76}" type="datetimeFigureOut">
              <a:rPr lang="en-US" smtClean="0"/>
              <a:t>9/7/2025</a:t>
            </a:fld>
            <a:endParaRPr lang="en-US"/>
          </a:p>
        </p:txBody>
      </p:sp>
      <p:sp>
        <p:nvSpPr>
          <p:cNvPr id="5" name="Footer Placeholder 4">
            <a:extLst>
              <a:ext uri="{FF2B5EF4-FFF2-40B4-BE49-F238E27FC236}">
                <a16:creationId xmlns:a16="http://schemas.microsoft.com/office/drawing/2014/main" id="{132B5539-E82E-4B4A-A611-9294A5A3DE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448094-EED8-45B5-A71D-F4C401686E71}"/>
              </a:ext>
            </a:extLst>
          </p:cNvPr>
          <p:cNvSpPr>
            <a:spLocks noGrp="1"/>
          </p:cNvSpPr>
          <p:nvPr>
            <p:ph type="sldNum" sz="quarter" idx="12"/>
          </p:nvPr>
        </p:nvSpPr>
        <p:spPr/>
        <p:txBody>
          <a:bodyPr/>
          <a:lstStyle/>
          <a:p>
            <a:fld id="{AF7ACD0E-A9EA-46D3-A882-5BF410AF714A}" type="slidenum">
              <a:rPr lang="en-US" smtClean="0"/>
              <a:t>‹#›</a:t>
            </a:fld>
            <a:endParaRPr lang="en-US"/>
          </a:p>
        </p:txBody>
      </p:sp>
    </p:spTree>
    <p:extLst>
      <p:ext uri="{BB962C8B-B14F-4D97-AF65-F5344CB8AC3E}">
        <p14:creationId xmlns:p14="http://schemas.microsoft.com/office/powerpoint/2010/main" val="1375471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5B0E387-EA5C-4830-97A1-EC1C7CF33A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46EA1C3-8027-4CA2-8CE6-82E1E2BC7F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9B781-E7B5-45DD-9F5C-78A29E48DB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86E36C-4390-4DE0-8BBA-34EAE2E92B76}" type="datetimeFigureOut">
              <a:rPr lang="en-US" smtClean="0"/>
              <a:t>9/7/2025</a:t>
            </a:fld>
            <a:endParaRPr lang="en-US"/>
          </a:p>
        </p:txBody>
      </p:sp>
      <p:sp>
        <p:nvSpPr>
          <p:cNvPr id="5" name="Footer Placeholder 4">
            <a:extLst>
              <a:ext uri="{FF2B5EF4-FFF2-40B4-BE49-F238E27FC236}">
                <a16:creationId xmlns:a16="http://schemas.microsoft.com/office/drawing/2014/main" id="{18796433-9665-4F59-9ED0-BBE4DA4F01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B9C5C0-7165-44F7-961E-12FB5B9F55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7ACD0E-A9EA-46D3-A882-5BF410AF714A}" type="slidenum">
              <a:rPr lang="en-US" smtClean="0"/>
              <a:t>‹#›</a:t>
            </a:fld>
            <a:endParaRPr lang="en-US"/>
          </a:p>
        </p:txBody>
      </p:sp>
    </p:spTree>
    <p:extLst>
      <p:ext uri="{BB962C8B-B14F-4D97-AF65-F5344CB8AC3E}">
        <p14:creationId xmlns:p14="http://schemas.microsoft.com/office/powerpoint/2010/main" val="3261384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gif"/><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83FD5F6-B92A-83E0-1F38-346D37419133}"/>
              </a:ext>
            </a:extLst>
          </p:cNvPr>
          <p:cNvSpPr txBox="1"/>
          <p:nvPr/>
        </p:nvSpPr>
        <p:spPr>
          <a:xfrm>
            <a:off x="2147598" y="2782669"/>
            <a:ext cx="7896800" cy="646331"/>
          </a:xfrm>
          <a:prstGeom prst="rect">
            <a:avLst/>
          </a:prstGeom>
          <a:noFill/>
        </p:spPr>
        <p:txBody>
          <a:bodyPr wrap="square">
            <a:spAutoFit/>
          </a:bodyPr>
          <a:lstStyle/>
          <a:p>
            <a:pPr algn="ctr"/>
            <a:r>
              <a:rPr lang="en-US" sz="3600" b="1" dirty="0">
                <a:solidFill>
                  <a:srgbClr val="2AAF82"/>
                </a:solidFill>
              </a:rPr>
              <a:t>Machine Learning</a:t>
            </a:r>
          </a:p>
        </p:txBody>
      </p:sp>
      <p:sp>
        <p:nvSpPr>
          <p:cNvPr id="5" name="TextBox 4">
            <a:extLst>
              <a:ext uri="{FF2B5EF4-FFF2-40B4-BE49-F238E27FC236}">
                <a16:creationId xmlns:a16="http://schemas.microsoft.com/office/drawing/2014/main" id="{548A4853-EE11-284A-9E6A-0C4F5E3D58EA}"/>
              </a:ext>
            </a:extLst>
          </p:cNvPr>
          <p:cNvSpPr txBox="1"/>
          <p:nvPr/>
        </p:nvSpPr>
        <p:spPr>
          <a:xfrm>
            <a:off x="3930313" y="3429000"/>
            <a:ext cx="4331369" cy="307777"/>
          </a:xfrm>
          <a:prstGeom prst="rect">
            <a:avLst/>
          </a:prstGeom>
          <a:noFill/>
        </p:spPr>
        <p:txBody>
          <a:bodyPr wrap="square">
            <a:spAutoFit/>
          </a:bodyPr>
          <a:lstStyle/>
          <a:p>
            <a:pPr algn="ctr"/>
            <a:r>
              <a:rPr lang="en-US" sz="1400" b="1" dirty="0">
                <a:solidFill>
                  <a:srgbClr val="2AAF82"/>
                </a:solidFill>
              </a:rPr>
              <a:t>Session 1</a:t>
            </a:r>
          </a:p>
        </p:txBody>
      </p:sp>
    </p:spTree>
    <p:extLst>
      <p:ext uri="{BB962C8B-B14F-4D97-AF65-F5344CB8AC3E}">
        <p14:creationId xmlns:p14="http://schemas.microsoft.com/office/powerpoint/2010/main" val="1178974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BB84B7-358C-33CC-D6FC-3364DCE55FD2}"/>
              </a:ext>
            </a:extLst>
          </p:cNvPr>
          <p:cNvSpPr txBox="1"/>
          <p:nvPr/>
        </p:nvSpPr>
        <p:spPr>
          <a:xfrm>
            <a:off x="1723541" y="1283228"/>
            <a:ext cx="1745673" cy="523220"/>
          </a:xfrm>
          <a:prstGeom prst="rect">
            <a:avLst/>
          </a:prstGeom>
          <a:noFill/>
        </p:spPr>
        <p:txBody>
          <a:bodyPr wrap="square">
            <a:spAutoFit/>
          </a:bodyPr>
          <a:lstStyle/>
          <a:p>
            <a:r>
              <a:rPr lang="en-US" sz="2800" b="1" dirty="0">
                <a:solidFill>
                  <a:srgbClr val="1869A6"/>
                </a:solidFill>
              </a:rPr>
              <a:t>Agenda</a:t>
            </a:r>
            <a:r>
              <a:rPr lang="en-US" sz="2800" dirty="0">
                <a:solidFill>
                  <a:srgbClr val="1869A6"/>
                </a:solidFill>
              </a:rPr>
              <a:t>:</a:t>
            </a:r>
          </a:p>
        </p:txBody>
      </p:sp>
      <p:graphicFrame>
        <p:nvGraphicFramePr>
          <p:cNvPr id="5" name="Table 4">
            <a:extLst>
              <a:ext uri="{FF2B5EF4-FFF2-40B4-BE49-F238E27FC236}">
                <a16:creationId xmlns:a16="http://schemas.microsoft.com/office/drawing/2014/main" id="{A00CF8F1-ADA8-FE1E-671E-D7E21719F2CF}"/>
              </a:ext>
            </a:extLst>
          </p:cNvPr>
          <p:cNvGraphicFramePr>
            <a:graphicFrameLocks noGrp="1"/>
          </p:cNvGraphicFramePr>
          <p:nvPr>
            <p:extLst>
              <p:ext uri="{D42A27DB-BD31-4B8C-83A1-F6EECF244321}">
                <p14:modId xmlns:p14="http://schemas.microsoft.com/office/powerpoint/2010/main" val="170339798"/>
              </p:ext>
            </p:extLst>
          </p:nvPr>
        </p:nvGraphicFramePr>
        <p:xfrm>
          <a:off x="2596378" y="2225964"/>
          <a:ext cx="6999244" cy="1474963"/>
        </p:xfrm>
        <a:graphic>
          <a:graphicData uri="http://schemas.openxmlformats.org/drawingml/2006/table">
            <a:tbl>
              <a:tblPr firstRow="1" bandRow="1">
                <a:tableStyleId>{5C22544A-7EE6-4342-B048-85BDC9FD1C3A}</a:tableStyleId>
              </a:tblPr>
              <a:tblGrid>
                <a:gridCol w="568311">
                  <a:extLst>
                    <a:ext uri="{9D8B030D-6E8A-4147-A177-3AD203B41FA5}">
                      <a16:colId xmlns:a16="http://schemas.microsoft.com/office/drawing/2014/main" val="2296649913"/>
                    </a:ext>
                  </a:extLst>
                </a:gridCol>
                <a:gridCol w="6430933">
                  <a:extLst>
                    <a:ext uri="{9D8B030D-6E8A-4147-A177-3AD203B41FA5}">
                      <a16:colId xmlns:a16="http://schemas.microsoft.com/office/drawing/2014/main" val="4021298204"/>
                    </a:ext>
                  </a:extLst>
                </a:gridCol>
              </a:tblGrid>
              <a:tr h="482121">
                <a:tc>
                  <a:txBody>
                    <a:bodyPr/>
                    <a:lstStyle/>
                    <a:p>
                      <a:pPr algn="ctr"/>
                      <a:r>
                        <a:rPr lang="en-US" b="1" dirty="0">
                          <a:solidFill>
                            <a:schemeClr val="bg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dirty="0"/>
                        <a:t>Introduction to Machine Learning</a:t>
                      </a:r>
                      <a:endParaRPr lang="en-US" b="1" dirty="0">
                        <a:solidFill>
                          <a:schemeClr val="bg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3138608899"/>
                  </a:ext>
                </a:extLst>
              </a:tr>
              <a:tr h="496421">
                <a:tc>
                  <a:txBody>
                    <a:bodyPr/>
                    <a:lstStyle/>
                    <a:p>
                      <a:pPr algn="ctr"/>
                      <a:r>
                        <a:rPr lang="en-US" b="1" dirty="0">
                          <a:solidFill>
                            <a:schemeClr val="bg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Linear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4082344712"/>
                  </a:ext>
                </a:extLst>
              </a:tr>
              <a:tr h="496421">
                <a:tc>
                  <a:txBody>
                    <a:bodyPr/>
                    <a:lstStyle/>
                    <a:p>
                      <a:pPr algn="ctr"/>
                      <a:r>
                        <a:rPr lang="en-US" b="1" dirty="0">
                          <a:solidFill>
                            <a:schemeClr val="bg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tc>
                  <a:txBody>
                    <a:bodyPr/>
                    <a:lstStyle/>
                    <a:p>
                      <a:pPr algn="ctr"/>
                      <a:r>
                        <a:rPr lang="en-US" b="1" dirty="0">
                          <a:solidFill>
                            <a:schemeClr val="bg1"/>
                          </a:solidFill>
                        </a:rPr>
                        <a:t>Polynomial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69A6"/>
                    </a:solidFill>
                  </a:tcPr>
                </a:tc>
                <a:extLst>
                  <a:ext uri="{0D108BD9-81ED-4DB2-BD59-A6C34878D82A}">
                    <a16:rowId xmlns:a16="http://schemas.microsoft.com/office/drawing/2014/main" val="1545105015"/>
                  </a:ext>
                </a:extLst>
              </a:tr>
            </a:tbl>
          </a:graphicData>
        </a:graphic>
      </p:graphicFrame>
    </p:spTree>
    <p:extLst>
      <p:ext uri="{BB962C8B-B14F-4D97-AF65-F5344CB8AC3E}">
        <p14:creationId xmlns:p14="http://schemas.microsoft.com/office/powerpoint/2010/main" val="3536621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0F59492-79DC-414E-7600-C1FEAC1210D8}"/>
              </a:ext>
            </a:extLst>
          </p:cNvPr>
          <p:cNvSpPr txBox="1"/>
          <p:nvPr/>
        </p:nvSpPr>
        <p:spPr>
          <a:xfrm>
            <a:off x="2073563" y="2782669"/>
            <a:ext cx="8044873" cy="646331"/>
          </a:xfrm>
          <a:prstGeom prst="rect">
            <a:avLst/>
          </a:prstGeom>
          <a:noFill/>
        </p:spPr>
        <p:txBody>
          <a:bodyPr wrap="square">
            <a:spAutoFit/>
          </a:bodyPr>
          <a:lstStyle/>
          <a:p>
            <a:pPr algn="ctr"/>
            <a:r>
              <a:rPr lang="en-US" sz="3600" b="1" dirty="0">
                <a:solidFill>
                  <a:srgbClr val="2AAF82"/>
                </a:solidFill>
              </a:rPr>
              <a:t>Introduction to Machine Learning</a:t>
            </a:r>
          </a:p>
        </p:txBody>
      </p:sp>
    </p:spTree>
    <p:extLst>
      <p:ext uri="{BB962C8B-B14F-4D97-AF65-F5344CB8AC3E}">
        <p14:creationId xmlns:p14="http://schemas.microsoft.com/office/powerpoint/2010/main" val="3924623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64470C0-A3E2-C748-2F46-E5F9528FEB91}"/>
              </a:ext>
            </a:extLst>
          </p:cNvPr>
          <p:cNvSpPr txBox="1"/>
          <p:nvPr/>
        </p:nvSpPr>
        <p:spPr>
          <a:xfrm>
            <a:off x="674255" y="1602571"/>
            <a:ext cx="3435927" cy="400110"/>
          </a:xfrm>
          <a:prstGeom prst="rect">
            <a:avLst/>
          </a:prstGeom>
          <a:noFill/>
        </p:spPr>
        <p:txBody>
          <a:bodyPr wrap="square">
            <a:spAutoFit/>
          </a:bodyPr>
          <a:lstStyle/>
          <a:p>
            <a:r>
              <a:rPr lang="en-US" sz="2000" b="1" dirty="0">
                <a:solidFill>
                  <a:srgbClr val="1869A6"/>
                </a:solidFill>
              </a:rPr>
              <a:t>What is Machine Learning?</a:t>
            </a:r>
          </a:p>
        </p:txBody>
      </p:sp>
      <p:sp>
        <p:nvSpPr>
          <p:cNvPr id="5" name="TextBox 4">
            <a:extLst>
              <a:ext uri="{FF2B5EF4-FFF2-40B4-BE49-F238E27FC236}">
                <a16:creationId xmlns:a16="http://schemas.microsoft.com/office/drawing/2014/main" id="{2534DF74-4297-D6E4-A642-1E7010F1B10B}"/>
              </a:ext>
            </a:extLst>
          </p:cNvPr>
          <p:cNvSpPr txBox="1"/>
          <p:nvPr/>
        </p:nvSpPr>
        <p:spPr>
          <a:xfrm>
            <a:off x="1551709" y="2002681"/>
            <a:ext cx="9993746" cy="923330"/>
          </a:xfrm>
          <a:prstGeom prst="rect">
            <a:avLst/>
          </a:prstGeom>
          <a:noFill/>
        </p:spPr>
        <p:txBody>
          <a:bodyPr wrap="square">
            <a:spAutoFit/>
          </a:bodyPr>
          <a:lstStyle/>
          <a:p>
            <a:pPr algn="just"/>
            <a:r>
              <a:rPr lang="en-US" dirty="0"/>
              <a:t>Machine Learning is a branch of artificial intelligence (AI) that focuses on building systems that can learn from and make decisions based on data. Instead of being explicitly programmed to perform a task, ML models identify patterns and learn from the data they are provided.</a:t>
            </a:r>
          </a:p>
        </p:txBody>
      </p:sp>
    </p:spTree>
    <p:extLst>
      <p:ext uri="{BB962C8B-B14F-4D97-AF65-F5344CB8AC3E}">
        <p14:creationId xmlns:p14="http://schemas.microsoft.com/office/powerpoint/2010/main" val="1750046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2814BD-606A-4521-DA48-6D82E758E9DC}"/>
              </a:ext>
            </a:extLst>
          </p:cNvPr>
          <p:cNvSpPr txBox="1"/>
          <p:nvPr/>
        </p:nvSpPr>
        <p:spPr>
          <a:xfrm>
            <a:off x="581891" y="1621042"/>
            <a:ext cx="3426691" cy="400110"/>
          </a:xfrm>
          <a:prstGeom prst="rect">
            <a:avLst/>
          </a:prstGeom>
          <a:noFill/>
        </p:spPr>
        <p:txBody>
          <a:bodyPr wrap="square">
            <a:spAutoFit/>
          </a:bodyPr>
          <a:lstStyle/>
          <a:p>
            <a:r>
              <a:rPr lang="en-US" sz="2000" b="1" dirty="0">
                <a:solidFill>
                  <a:srgbClr val="1869A6"/>
                </a:solidFill>
              </a:rPr>
              <a:t>Types of Machine Learning</a:t>
            </a:r>
          </a:p>
        </p:txBody>
      </p:sp>
      <p:sp>
        <p:nvSpPr>
          <p:cNvPr id="5" name="TextBox 4">
            <a:extLst>
              <a:ext uri="{FF2B5EF4-FFF2-40B4-BE49-F238E27FC236}">
                <a16:creationId xmlns:a16="http://schemas.microsoft.com/office/drawing/2014/main" id="{EE14829D-3B00-8091-6D53-B0EECAC59966}"/>
              </a:ext>
            </a:extLst>
          </p:cNvPr>
          <p:cNvSpPr txBox="1"/>
          <p:nvPr/>
        </p:nvSpPr>
        <p:spPr>
          <a:xfrm>
            <a:off x="1671781" y="2111076"/>
            <a:ext cx="9319492" cy="2862322"/>
          </a:xfrm>
          <a:prstGeom prst="rect">
            <a:avLst/>
          </a:prstGeom>
          <a:noFill/>
        </p:spPr>
        <p:txBody>
          <a:bodyPr wrap="square">
            <a:spAutoFit/>
          </a:bodyPr>
          <a:lstStyle/>
          <a:p>
            <a:pPr marL="285750" indent="-285750">
              <a:buFont typeface="Arial" panose="020B0604020202020204" pitchFamily="34" charset="0"/>
              <a:buChar char="•"/>
            </a:pPr>
            <a:r>
              <a:rPr lang="en-US" b="1" dirty="0"/>
              <a:t>Supervised Learning</a:t>
            </a:r>
            <a:r>
              <a:rPr lang="en-US" dirty="0"/>
              <a:t>: Models are trained on labeled data (i.e., input-output pairs), making predictions based on this training. Examples include classification (e.g., spam detection) and regression (e.g., predicting house prices).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Unsupervised Learning</a:t>
            </a:r>
            <a:r>
              <a:rPr lang="en-US" dirty="0"/>
              <a:t>: Models learn from unlabeled data by finding hidden patterns or intrinsic structures in input data. Examples include clustering (e.g., customer segmentation) and association (e.g., market basket analysis).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Reinforcement Learning</a:t>
            </a:r>
            <a:r>
              <a:rPr lang="en-US" dirty="0"/>
              <a:t>: Models learn by interacting with an environment and receiving rewards or penalties, like teaching a robot to navigate a maze.</a:t>
            </a:r>
          </a:p>
        </p:txBody>
      </p:sp>
    </p:spTree>
    <p:extLst>
      <p:ext uri="{BB962C8B-B14F-4D97-AF65-F5344CB8AC3E}">
        <p14:creationId xmlns:p14="http://schemas.microsoft.com/office/powerpoint/2010/main" val="1434883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7722703-0100-6E3E-9CBF-26374AF95E21}"/>
              </a:ext>
            </a:extLst>
          </p:cNvPr>
          <p:cNvSpPr txBox="1"/>
          <p:nvPr/>
        </p:nvSpPr>
        <p:spPr>
          <a:xfrm>
            <a:off x="401782" y="1417844"/>
            <a:ext cx="3906982" cy="461665"/>
          </a:xfrm>
          <a:prstGeom prst="rect">
            <a:avLst/>
          </a:prstGeom>
          <a:noFill/>
        </p:spPr>
        <p:txBody>
          <a:bodyPr wrap="square">
            <a:spAutoFit/>
          </a:bodyPr>
          <a:lstStyle/>
          <a:p>
            <a:pPr algn="l"/>
            <a:r>
              <a:rPr lang="en-US" sz="2400" b="1" i="0" dirty="0">
                <a:solidFill>
                  <a:srgbClr val="1869A6"/>
                </a:solidFill>
                <a:effectLst/>
                <a:latin typeface="Studio-Feixen-Sans"/>
              </a:rPr>
              <a:t>Supervised vs. Unsupervised</a:t>
            </a:r>
          </a:p>
        </p:txBody>
      </p:sp>
      <p:pic>
        <p:nvPicPr>
          <p:cNvPr id="5" name="Picture 4">
            <a:extLst>
              <a:ext uri="{FF2B5EF4-FFF2-40B4-BE49-F238E27FC236}">
                <a16:creationId xmlns:a16="http://schemas.microsoft.com/office/drawing/2014/main" id="{468B898E-22A0-CA8A-C6EA-D6DF1ACB16A6}"/>
              </a:ext>
            </a:extLst>
          </p:cNvPr>
          <p:cNvPicPr>
            <a:picLocks noChangeAspect="1"/>
          </p:cNvPicPr>
          <p:nvPr/>
        </p:nvPicPr>
        <p:blipFill>
          <a:blip r:embed="rId2"/>
          <a:stretch>
            <a:fillRect/>
          </a:stretch>
        </p:blipFill>
        <p:spPr>
          <a:xfrm>
            <a:off x="2593442" y="2124074"/>
            <a:ext cx="7005115" cy="3636599"/>
          </a:xfrm>
          <a:prstGeom prst="rect">
            <a:avLst/>
          </a:prstGeom>
        </p:spPr>
      </p:pic>
    </p:spTree>
    <p:extLst>
      <p:ext uri="{BB962C8B-B14F-4D97-AF65-F5344CB8AC3E}">
        <p14:creationId xmlns:p14="http://schemas.microsoft.com/office/powerpoint/2010/main" val="44323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oding Deep Learning For Beginners - Types of Machine Learning">
            <a:extLst>
              <a:ext uri="{FF2B5EF4-FFF2-40B4-BE49-F238E27FC236}">
                <a16:creationId xmlns:a16="http://schemas.microsoft.com/office/drawing/2014/main" id="{F8B26624-F421-4233-9E69-B026B8710A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1336" y="1272449"/>
            <a:ext cx="7309327" cy="494841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99F9DB9-D431-0C0D-E58D-820A0F31FF98}"/>
              </a:ext>
            </a:extLst>
          </p:cNvPr>
          <p:cNvSpPr txBox="1"/>
          <p:nvPr/>
        </p:nvSpPr>
        <p:spPr>
          <a:xfrm>
            <a:off x="4382654" y="711781"/>
            <a:ext cx="3426691" cy="400110"/>
          </a:xfrm>
          <a:prstGeom prst="rect">
            <a:avLst/>
          </a:prstGeom>
          <a:noFill/>
        </p:spPr>
        <p:txBody>
          <a:bodyPr wrap="square">
            <a:spAutoFit/>
          </a:bodyPr>
          <a:lstStyle/>
          <a:p>
            <a:r>
              <a:rPr lang="en-US" sz="2000" b="1" dirty="0">
                <a:solidFill>
                  <a:srgbClr val="1869A6"/>
                </a:solidFill>
              </a:rPr>
              <a:t>Types of Machine Learning</a:t>
            </a:r>
          </a:p>
        </p:txBody>
      </p:sp>
    </p:spTree>
    <p:extLst>
      <p:ext uri="{BB962C8B-B14F-4D97-AF65-F5344CB8AC3E}">
        <p14:creationId xmlns:p14="http://schemas.microsoft.com/office/powerpoint/2010/main" val="1114593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DCF50F-516F-52B4-6622-A84361D4E79D}"/>
              </a:ext>
            </a:extLst>
          </p:cNvPr>
          <p:cNvPicPr>
            <a:picLocks noChangeAspect="1"/>
          </p:cNvPicPr>
          <p:nvPr/>
        </p:nvPicPr>
        <p:blipFill>
          <a:blip r:embed="rId2"/>
          <a:stretch>
            <a:fillRect/>
          </a:stretch>
        </p:blipFill>
        <p:spPr>
          <a:xfrm>
            <a:off x="3674274" y="3429000"/>
            <a:ext cx="4843452" cy="2714549"/>
          </a:xfrm>
          <a:prstGeom prst="rect">
            <a:avLst/>
          </a:prstGeom>
        </p:spPr>
      </p:pic>
      <p:sp>
        <p:nvSpPr>
          <p:cNvPr id="6" name="TextBox 5">
            <a:extLst>
              <a:ext uri="{FF2B5EF4-FFF2-40B4-BE49-F238E27FC236}">
                <a16:creationId xmlns:a16="http://schemas.microsoft.com/office/drawing/2014/main" id="{7B6FCEC3-8C04-A717-E319-B4F377F307E3}"/>
              </a:ext>
            </a:extLst>
          </p:cNvPr>
          <p:cNvSpPr txBox="1"/>
          <p:nvPr/>
        </p:nvSpPr>
        <p:spPr>
          <a:xfrm>
            <a:off x="498764" y="1279297"/>
            <a:ext cx="6096000" cy="461665"/>
          </a:xfrm>
          <a:prstGeom prst="rect">
            <a:avLst/>
          </a:prstGeom>
          <a:noFill/>
        </p:spPr>
        <p:txBody>
          <a:bodyPr wrap="square">
            <a:spAutoFit/>
          </a:bodyPr>
          <a:lstStyle/>
          <a:p>
            <a:r>
              <a:rPr lang="en-US" sz="2400" b="1" dirty="0">
                <a:solidFill>
                  <a:srgbClr val="1869A6"/>
                </a:solidFill>
              </a:rPr>
              <a:t>Key Differences</a:t>
            </a:r>
          </a:p>
        </p:txBody>
      </p:sp>
      <p:sp>
        <p:nvSpPr>
          <p:cNvPr id="8" name="TextBox 7">
            <a:extLst>
              <a:ext uri="{FF2B5EF4-FFF2-40B4-BE49-F238E27FC236}">
                <a16:creationId xmlns:a16="http://schemas.microsoft.com/office/drawing/2014/main" id="{8D7D2D20-25D1-1A51-6421-9152DDD191BA}"/>
              </a:ext>
            </a:extLst>
          </p:cNvPr>
          <p:cNvSpPr txBox="1"/>
          <p:nvPr/>
        </p:nvSpPr>
        <p:spPr>
          <a:xfrm>
            <a:off x="1422399" y="1740962"/>
            <a:ext cx="10021455" cy="1477328"/>
          </a:xfrm>
          <a:prstGeom prst="rect">
            <a:avLst/>
          </a:prstGeom>
          <a:noFill/>
        </p:spPr>
        <p:txBody>
          <a:bodyPr wrap="square">
            <a:spAutoFit/>
          </a:bodyPr>
          <a:lstStyle/>
          <a:p>
            <a:pPr marL="285750" indent="-285750" algn="just">
              <a:buFont typeface="Arial" panose="020B0604020202020204" pitchFamily="34" charset="0"/>
              <a:buChar char="•"/>
            </a:pPr>
            <a:r>
              <a:rPr lang="en-US" b="1" dirty="0"/>
              <a:t>Classification</a:t>
            </a:r>
            <a:r>
              <a:rPr lang="en-US" dirty="0"/>
              <a:t>: The goal is to divide data into different categories using a boundary (e.g., identifying spam emails from non-spam emails).</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b="1" dirty="0"/>
              <a:t>Regression</a:t>
            </a:r>
            <a:r>
              <a:rPr lang="en-US" dirty="0"/>
              <a:t>: The goal is to predict continuous numerical values by fitting a line or curve to the data (e.g., predicting house prices).</a:t>
            </a:r>
          </a:p>
        </p:txBody>
      </p:sp>
    </p:spTree>
    <p:extLst>
      <p:ext uri="{BB962C8B-B14F-4D97-AF65-F5344CB8AC3E}">
        <p14:creationId xmlns:p14="http://schemas.microsoft.com/office/powerpoint/2010/main" val="3691817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E37C76F-C8DF-5848-C48F-4E052E6F5695}"/>
              </a:ext>
            </a:extLst>
          </p:cNvPr>
          <p:cNvSpPr txBox="1"/>
          <p:nvPr/>
        </p:nvSpPr>
        <p:spPr>
          <a:xfrm>
            <a:off x="4064000" y="2782669"/>
            <a:ext cx="4064000" cy="646331"/>
          </a:xfrm>
          <a:prstGeom prst="rect">
            <a:avLst/>
          </a:prstGeom>
          <a:noFill/>
        </p:spPr>
        <p:txBody>
          <a:bodyPr wrap="square">
            <a:spAutoFit/>
          </a:bodyPr>
          <a:lstStyle/>
          <a:p>
            <a:pPr algn="ctr"/>
            <a:r>
              <a:rPr lang="en-US" sz="3600" b="1" dirty="0">
                <a:solidFill>
                  <a:srgbClr val="2AAF82"/>
                </a:solidFill>
              </a:rPr>
              <a:t>Linear Regression</a:t>
            </a:r>
          </a:p>
        </p:txBody>
      </p:sp>
    </p:spTree>
    <p:extLst>
      <p:ext uri="{BB962C8B-B14F-4D97-AF65-F5344CB8AC3E}">
        <p14:creationId xmlns:p14="http://schemas.microsoft.com/office/powerpoint/2010/main" val="3868356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B007DE3-2059-F494-0D96-A1BD1103A24B}"/>
              </a:ext>
            </a:extLst>
          </p:cNvPr>
          <p:cNvSpPr txBox="1"/>
          <p:nvPr/>
        </p:nvSpPr>
        <p:spPr>
          <a:xfrm>
            <a:off x="1339273" y="2002681"/>
            <a:ext cx="10261600" cy="923330"/>
          </a:xfrm>
          <a:prstGeom prst="rect">
            <a:avLst/>
          </a:prstGeom>
          <a:noFill/>
        </p:spPr>
        <p:txBody>
          <a:bodyPr wrap="square">
            <a:spAutoFit/>
          </a:bodyPr>
          <a:lstStyle/>
          <a:p>
            <a:r>
              <a:rPr lang="en-US" dirty="0"/>
              <a:t>Linear regression is one of the simplest and most commonly used predictive modeling techniques. It models the relationship between a dependent (target) variable and one or more independent (predictor) variables by fitting a linear equation to observed data.</a:t>
            </a:r>
          </a:p>
        </p:txBody>
      </p:sp>
      <p:sp>
        <p:nvSpPr>
          <p:cNvPr id="5" name="TextBox 4">
            <a:extLst>
              <a:ext uri="{FF2B5EF4-FFF2-40B4-BE49-F238E27FC236}">
                <a16:creationId xmlns:a16="http://schemas.microsoft.com/office/drawing/2014/main" id="{31DB119C-2EAC-F3F0-DC8F-4AC28D29C40D}"/>
              </a:ext>
            </a:extLst>
          </p:cNvPr>
          <p:cNvSpPr txBox="1"/>
          <p:nvPr/>
        </p:nvSpPr>
        <p:spPr>
          <a:xfrm>
            <a:off x="683491" y="1602571"/>
            <a:ext cx="2327564" cy="400110"/>
          </a:xfrm>
          <a:prstGeom prst="rect">
            <a:avLst/>
          </a:prstGeom>
          <a:noFill/>
        </p:spPr>
        <p:txBody>
          <a:bodyPr wrap="square">
            <a:spAutoFit/>
          </a:bodyPr>
          <a:lstStyle/>
          <a:p>
            <a:r>
              <a:rPr lang="en-US" sz="2000" b="1" dirty="0">
                <a:solidFill>
                  <a:srgbClr val="1869A6"/>
                </a:solidFill>
              </a:rPr>
              <a:t>Linear Regression</a:t>
            </a:r>
          </a:p>
        </p:txBody>
      </p:sp>
    </p:spTree>
    <p:extLst>
      <p:ext uri="{BB962C8B-B14F-4D97-AF65-F5344CB8AC3E}">
        <p14:creationId xmlns:p14="http://schemas.microsoft.com/office/powerpoint/2010/main" val="1522181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imple linear regression — STATS 202">
            <a:extLst>
              <a:ext uri="{FF2B5EF4-FFF2-40B4-BE49-F238E27FC236}">
                <a16:creationId xmlns:a16="http://schemas.microsoft.com/office/drawing/2014/main" id="{172EBADE-21BB-737D-62EC-692FF01098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7039" y="2782668"/>
            <a:ext cx="5117578" cy="329969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94FABF8-2C69-891F-A63D-EE2D66CAA08E}"/>
              </a:ext>
            </a:extLst>
          </p:cNvPr>
          <p:cNvSpPr txBox="1"/>
          <p:nvPr/>
        </p:nvSpPr>
        <p:spPr>
          <a:xfrm>
            <a:off x="1191491" y="1846575"/>
            <a:ext cx="10113818" cy="646331"/>
          </a:xfrm>
          <a:prstGeom prst="rect">
            <a:avLst/>
          </a:prstGeom>
          <a:noFill/>
        </p:spPr>
        <p:txBody>
          <a:bodyPr wrap="square">
            <a:spAutoFit/>
          </a:bodyPr>
          <a:lstStyle/>
          <a:p>
            <a:r>
              <a:rPr lang="en-US" dirty="0"/>
              <a:t>The objective of linear regression is to identify the line of best fit, known as the regression line, that reduces the difference between the predicted values and the actual data points as much as possible.</a:t>
            </a:r>
          </a:p>
        </p:txBody>
      </p:sp>
      <p:sp>
        <p:nvSpPr>
          <p:cNvPr id="4" name="TextBox 3">
            <a:extLst>
              <a:ext uri="{FF2B5EF4-FFF2-40B4-BE49-F238E27FC236}">
                <a16:creationId xmlns:a16="http://schemas.microsoft.com/office/drawing/2014/main" id="{78836DA3-1975-5F96-E8CE-85CD46B27D80}"/>
              </a:ext>
            </a:extLst>
          </p:cNvPr>
          <p:cNvSpPr txBox="1"/>
          <p:nvPr/>
        </p:nvSpPr>
        <p:spPr>
          <a:xfrm>
            <a:off x="609600" y="1446465"/>
            <a:ext cx="2327564" cy="400110"/>
          </a:xfrm>
          <a:prstGeom prst="rect">
            <a:avLst/>
          </a:prstGeom>
          <a:noFill/>
        </p:spPr>
        <p:txBody>
          <a:bodyPr wrap="square">
            <a:spAutoFit/>
          </a:bodyPr>
          <a:lstStyle/>
          <a:p>
            <a:r>
              <a:rPr lang="en-US" sz="2000" b="1" dirty="0">
                <a:solidFill>
                  <a:srgbClr val="1869A6"/>
                </a:solidFill>
              </a:rPr>
              <a:t>Linear Regression</a:t>
            </a:r>
          </a:p>
        </p:txBody>
      </p:sp>
    </p:spTree>
    <p:extLst>
      <p:ext uri="{BB962C8B-B14F-4D97-AF65-F5344CB8AC3E}">
        <p14:creationId xmlns:p14="http://schemas.microsoft.com/office/powerpoint/2010/main" val="2433467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61CD6A-8276-EBB8-5ED6-703F3BEC9170}"/>
              </a:ext>
            </a:extLst>
          </p:cNvPr>
          <p:cNvSpPr txBox="1"/>
          <p:nvPr/>
        </p:nvSpPr>
        <p:spPr>
          <a:xfrm>
            <a:off x="498763" y="1223880"/>
            <a:ext cx="3306618" cy="400110"/>
          </a:xfrm>
          <a:prstGeom prst="rect">
            <a:avLst/>
          </a:prstGeom>
          <a:noFill/>
        </p:spPr>
        <p:txBody>
          <a:bodyPr wrap="square">
            <a:spAutoFit/>
          </a:bodyPr>
          <a:lstStyle/>
          <a:p>
            <a:r>
              <a:rPr lang="en-US" sz="2000" b="1" dirty="0">
                <a:solidFill>
                  <a:srgbClr val="1869A6"/>
                </a:solidFill>
              </a:rPr>
              <a:t>Simple Linear Regression</a:t>
            </a:r>
          </a:p>
        </p:txBody>
      </p:sp>
      <p:sp>
        <p:nvSpPr>
          <p:cNvPr id="5" name="TextBox 4">
            <a:extLst>
              <a:ext uri="{FF2B5EF4-FFF2-40B4-BE49-F238E27FC236}">
                <a16:creationId xmlns:a16="http://schemas.microsoft.com/office/drawing/2014/main" id="{EDD81FAE-13EF-4EC8-3CB3-11951A582682}"/>
              </a:ext>
            </a:extLst>
          </p:cNvPr>
          <p:cNvSpPr txBox="1"/>
          <p:nvPr/>
        </p:nvSpPr>
        <p:spPr>
          <a:xfrm>
            <a:off x="1459345" y="1731971"/>
            <a:ext cx="10058399" cy="646331"/>
          </a:xfrm>
          <a:prstGeom prst="rect">
            <a:avLst/>
          </a:prstGeom>
          <a:noFill/>
        </p:spPr>
        <p:txBody>
          <a:bodyPr wrap="square">
            <a:spAutoFit/>
          </a:bodyPr>
          <a:lstStyle/>
          <a:p>
            <a:r>
              <a:rPr lang="en-US" dirty="0"/>
              <a:t>Simple linear regression uses one independent variable to predict a dependent variable. The relationship is modeled by a straight line</a:t>
            </a:r>
          </a:p>
        </p:txBody>
      </p:sp>
      <p:pic>
        <p:nvPicPr>
          <p:cNvPr id="11" name="Picture 10">
            <a:extLst>
              <a:ext uri="{FF2B5EF4-FFF2-40B4-BE49-F238E27FC236}">
                <a16:creationId xmlns:a16="http://schemas.microsoft.com/office/drawing/2014/main" id="{3A99D7B8-1670-660B-93D0-8C996A8223EE}"/>
              </a:ext>
            </a:extLst>
          </p:cNvPr>
          <p:cNvPicPr>
            <a:picLocks noChangeAspect="1"/>
          </p:cNvPicPr>
          <p:nvPr/>
        </p:nvPicPr>
        <p:blipFill>
          <a:blip r:embed="rId2"/>
          <a:stretch>
            <a:fillRect/>
          </a:stretch>
        </p:blipFill>
        <p:spPr>
          <a:xfrm>
            <a:off x="3645405" y="2697706"/>
            <a:ext cx="3072389" cy="963613"/>
          </a:xfrm>
          <a:prstGeom prst="rect">
            <a:avLst/>
          </a:prstGeom>
        </p:spPr>
      </p:pic>
      <p:pic>
        <p:nvPicPr>
          <p:cNvPr id="13" name="Picture 12">
            <a:extLst>
              <a:ext uri="{FF2B5EF4-FFF2-40B4-BE49-F238E27FC236}">
                <a16:creationId xmlns:a16="http://schemas.microsoft.com/office/drawing/2014/main" id="{BDECBC17-62AD-6483-6078-D5D183D1C9A7}"/>
              </a:ext>
            </a:extLst>
          </p:cNvPr>
          <p:cNvPicPr>
            <a:picLocks noChangeAspect="1"/>
          </p:cNvPicPr>
          <p:nvPr/>
        </p:nvPicPr>
        <p:blipFill>
          <a:blip r:embed="rId3"/>
          <a:stretch>
            <a:fillRect/>
          </a:stretch>
        </p:blipFill>
        <p:spPr>
          <a:xfrm>
            <a:off x="1210686" y="3873851"/>
            <a:ext cx="3943206" cy="2307813"/>
          </a:xfrm>
          <a:prstGeom prst="rect">
            <a:avLst/>
          </a:prstGeom>
        </p:spPr>
      </p:pic>
      <p:pic>
        <p:nvPicPr>
          <p:cNvPr id="4" name="Picture 3">
            <a:extLst>
              <a:ext uri="{FF2B5EF4-FFF2-40B4-BE49-F238E27FC236}">
                <a16:creationId xmlns:a16="http://schemas.microsoft.com/office/drawing/2014/main" id="{B40B1849-2C30-C022-48D0-AC26EC2FB2FD}"/>
              </a:ext>
            </a:extLst>
          </p:cNvPr>
          <p:cNvPicPr>
            <a:picLocks noChangeAspect="1"/>
          </p:cNvPicPr>
          <p:nvPr/>
        </p:nvPicPr>
        <p:blipFill>
          <a:blip r:embed="rId4"/>
          <a:stretch>
            <a:fillRect/>
          </a:stretch>
        </p:blipFill>
        <p:spPr>
          <a:xfrm>
            <a:off x="7177520" y="3186257"/>
            <a:ext cx="3365943" cy="3261302"/>
          </a:xfrm>
          <a:prstGeom prst="rect">
            <a:avLst/>
          </a:prstGeom>
        </p:spPr>
      </p:pic>
    </p:spTree>
    <p:extLst>
      <p:ext uri="{BB962C8B-B14F-4D97-AF65-F5344CB8AC3E}">
        <p14:creationId xmlns:p14="http://schemas.microsoft.com/office/powerpoint/2010/main" val="1066500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CC1CBDE-39B8-8191-5A80-EE06E66E45A8}"/>
              </a:ext>
            </a:extLst>
          </p:cNvPr>
          <p:cNvSpPr txBox="1"/>
          <p:nvPr/>
        </p:nvSpPr>
        <p:spPr>
          <a:xfrm>
            <a:off x="591128" y="1445552"/>
            <a:ext cx="3343564" cy="400110"/>
          </a:xfrm>
          <a:prstGeom prst="rect">
            <a:avLst/>
          </a:prstGeom>
          <a:noFill/>
        </p:spPr>
        <p:txBody>
          <a:bodyPr wrap="square">
            <a:spAutoFit/>
          </a:bodyPr>
          <a:lstStyle/>
          <a:p>
            <a:r>
              <a:rPr lang="en-US" sz="2000" b="1" dirty="0">
                <a:solidFill>
                  <a:srgbClr val="1869A6"/>
                </a:solidFill>
              </a:rPr>
              <a:t>Multiple Linear Regression</a:t>
            </a:r>
          </a:p>
        </p:txBody>
      </p:sp>
      <p:sp>
        <p:nvSpPr>
          <p:cNvPr id="5" name="TextBox 4">
            <a:extLst>
              <a:ext uri="{FF2B5EF4-FFF2-40B4-BE49-F238E27FC236}">
                <a16:creationId xmlns:a16="http://schemas.microsoft.com/office/drawing/2014/main" id="{F2AB61BB-A343-F46E-9D2F-92706D558462}"/>
              </a:ext>
            </a:extLst>
          </p:cNvPr>
          <p:cNvSpPr txBox="1"/>
          <p:nvPr/>
        </p:nvSpPr>
        <p:spPr>
          <a:xfrm>
            <a:off x="1717963" y="1935171"/>
            <a:ext cx="8977745" cy="646331"/>
          </a:xfrm>
          <a:prstGeom prst="rect">
            <a:avLst/>
          </a:prstGeom>
          <a:noFill/>
        </p:spPr>
        <p:txBody>
          <a:bodyPr wrap="square">
            <a:spAutoFit/>
          </a:bodyPr>
          <a:lstStyle/>
          <a:p>
            <a:r>
              <a:rPr lang="en-US" dirty="0"/>
              <a:t>Multiple linear regression extends simple linear regression by using two or more independent variables to predict a dependent variable. The equation is</a:t>
            </a:r>
          </a:p>
        </p:txBody>
      </p:sp>
      <p:pic>
        <p:nvPicPr>
          <p:cNvPr id="7" name="Picture 6">
            <a:extLst>
              <a:ext uri="{FF2B5EF4-FFF2-40B4-BE49-F238E27FC236}">
                <a16:creationId xmlns:a16="http://schemas.microsoft.com/office/drawing/2014/main" id="{3CED7500-4274-20E4-D24A-A5E2316DF05A}"/>
              </a:ext>
            </a:extLst>
          </p:cNvPr>
          <p:cNvPicPr>
            <a:picLocks noChangeAspect="1"/>
          </p:cNvPicPr>
          <p:nvPr/>
        </p:nvPicPr>
        <p:blipFill>
          <a:blip r:embed="rId2"/>
          <a:stretch>
            <a:fillRect/>
          </a:stretch>
        </p:blipFill>
        <p:spPr>
          <a:xfrm>
            <a:off x="3271425" y="3034434"/>
            <a:ext cx="5501367" cy="807893"/>
          </a:xfrm>
          <a:prstGeom prst="rect">
            <a:avLst/>
          </a:prstGeom>
        </p:spPr>
      </p:pic>
      <p:pic>
        <p:nvPicPr>
          <p:cNvPr id="9" name="Picture 8">
            <a:extLst>
              <a:ext uri="{FF2B5EF4-FFF2-40B4-BE49-F238E27FC236}">
                <a16:creationId xmlns:a16="http://schemas.microsoft.com/office/drawing/2014/main" id="{C987C1D3-5771-5039-CB3E-5BA3EC358D4E}"/>
              </a:ext>
            </a:extLst>
          </p:cNvPr>
          <p:cNvPicPr>
            <a:picLocks noChangeAspect="1"/>
          </p:cNvPicPr>
          <p:nvPr/>
        </p:nvPicPr>
        <p:blipFill>
          <a:blip r:embed="rId3"/>
          <a:stretch>
            <a:fillRect/>
          </a:stretch>
        </p:blipFill>
        <p:spPr>
          <a:xfrm>
            <a:off x="1587066" y="3784726"/>
            <a:ext cx="5608061" cy="2455225"/>
          </a:xfrm>
          <a:prstGeom prst="rect">
            <a:avLst/>
          </a:prstGeom>
        </p:spPr>
      </p:pic>
    </p:spTree>
    <p:extLst>
      <p:ext uri="{BB962C8B-B14F-4D97-AF65-F5344CB8AC3E}">
        <p14:creationId xmlns:p14="http://schemas.microsoft.com/office/powerpoint/2010/main" val="4239775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37C3BC6-F597-7D10-4457-F0B1E5078817}"/>
              </a:ext>
            </a:extLst>
          </p:cNvPr>
          <p:cNvPicPr>
            <a:picLocks noChangeAspect="1"/>
          </p:cNvPicPr>
          <p:nvPr/>
        </p:nvPicPr>
        <p:blipFill>
          <a:blip r:embed="rId2"/>
          <a:stretch>
            <a:fillRect/>
          </a:stretch>
        </p:blipFill>
        <p:spPr>
          <a:xfrm>
            <a:off x="1933574" y="3053665"/>
            <a:ext cx="8324850" cy="2647950"/>
          </a:xfrm>
          <a:prstGeom prst="rect">
            <a:avLst/>
          </a:prstGeom>
        </p:spPr>
      </p:pic>
      <p:sp>
        <p:nvSpPr>
          <p:cNvPr id="5" name="TextBox 4">
            <a:extLst>
              <a:ext uri="{FF2B5EF4-FFF2-40B4-BE49-F238E27FC236}">
                <a16:creationId xmlns:a16="http://schemas.microsoft.com/office/drawing/2014/main" id="{2D1B3F62-5441-B161-8A73-DD58EF5523F9}"/>
              </a:ext>
            </a:extLst>
          </p:cNvPr>
          <p:cNvSpPr txBox="1"/>
          <p:nvPr/>
        </p:nvSpPr>
        <p:spPr>
          <a:xfrm>
            <a:off x="591128" y="1445552"/>
            <a:ext cx="3343564" cy="400110"/>
          </a:xfrm>
          <a:prstGeom prst="rect">
            <a:avLst/>
          </a:prstGeom>
          <a:noFill/>
        </p:spPr>
        <p:txBody>
          <a:bodyPr wrap="square">
            <a:spAutoFit/>
          </a:bodyPr>
          <a:lstStyle/>
          <a:p>
            <a:r>
              <a:rPr lang="en-US" sz="2000" b="1" dirty="0">
                <a:solidFill>
                  <a:srgbClr val="1869A6"/>
                </a:solidFill>
              </a:rPr>
              <a:t>Multiple Linear Regression</a:t>
            </a:r>
          </a:p>
        </p:txBody>
      </p:sp>
      <p:pic>
        <p:nvPicPr>
          <p:cNvPr id="6" name="Picture 5">
            <a:extLst>
              <a:ext uri="{FF2B5EF4-FFF2-40B4-BE49-F238E27FC236}">
                <a16:creationId xmlns:a16="http://schemas.microsoft.com/office/drawing/2014/main" id="{80909967-4FDE-75C1-D8D7-F88FD515C252}"/>
              </a:ext>
            </a:extLst>
          </p:cNvPr>
          <p:cNvPicPr>
            <a:picLocks noChangeAspect="1"/>
          </p:cNvPicPr>
          <p:nvPr/>
        </p:nvPicPr>
        <p:blipFill>
          <a:blip r:embed="rId3"/>
          <a:stretch>
            <a:fillRect/>
          </a:stretch>
        </p:blipFill>
        <p:spPr>
          <a:xfrm>
            <a:off x="3077462" y="1845662"/>
            <a:ext cx="5501367" cy="807893"/>
          </a:xfrm>
          <a:prstGeom prst="rect">
            <a:avLst/>
          </a:prstGeom>
        </p:spPr>
      </p:pic>
    </p:spTree>
    <p:extLst>
      <p:ext uri="{BB962C8B-B14F-4D97-AF65-F5344CB8AC3E}">
        <p14:creationId xmlns:p14="http://schemas.microsoft.com/office/powerpoint/2010/main" val="40228998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D7E3FA-3851-26D7-3E48-7135AB1397D4}"/>
              </a:ext>
            </a:extLst>
          </p:cNvPr>
          <p:cNvSpPr txBox="1"/>
          <p:nvPr/>
        </p:nvSpPr>
        <p:spPr>
          <a:xfrm>
            <a:off x="508000" y="1353188"/>
            <a:ext cx="2964873" cy="400110"/>
          </a:xfrm>
          <a:prstGeom prst="rect">
            <a:avLst/>
          </a:prstGeom>
          <a:noFill/>
        </p:spPr>
        <p:txBody>
          <a:bodyPr wrap="square">
            <a:spAutoFit/>
          </a:bodyPr>
          <a:lstStyle/>
          <a:p>
            <a:r>
              <a:rPr lang="en-US" sz="2000" b="1" dirty="0">
                <a:solidFill>
                  <a:srgbClr val="1869A6"/>
                </a:solidFill>
              </a:rPr>
              <a:t>Polynomial Regression</a:t>
            </a:r>
          </a:p>
        </p:txBody>
      </p:sp>
      <p:sp>
        <p:nvSpPr>
          <p:cNvPr id="5" name="TextBox 4">
            <a:extLst>
              <a:ext uri="{FF2B5EF4-FFF2-40B4-BE49-F238E27FC236}">
                <a16:creationId xmlns:a16="http://schemas.microsoft.com/office/drawing/2014/main" id="{5F4F786C-E41C-2C96-4D48-0A7E7172F61A}"/>
              </a:ext>
            </a:extLst>
          </p:cNvPr>
          <p:cNvSpPr txBox="1"/>
          <p:nvPr/>
        </p:nvSpPr>
        <p:spPr>
          <a:xfrm>
            <a:off x="1330036" y="1753298"/>
            <a:ext cx="10058399" cy="923330"/>
          </a:xfrm>
          <a:prstGeom prst="rect">
            <a:avLst/>
          </a:prstGeom>
          <a:noFill/>
        </p:spPr>
        <p:txBody>
          <a:bodyPr wrap="square">
            <a:spAutoFit/>
          </a:bodyPr>
          <a:lstStyle/>
          <a:p>
            <a:r>
              <a:rPr lang="en-US" dirty="0"/>
              <a:t>Polynomial regression is a type of regression analysis where the relationship between the independent variable x and the dependent variable y is modeled as an n-degree polynomial. Unlike linear regression, which fits a straight line, polynomial regression fits a curve to the data.</a:t>
            </a:r>
          </a:p>
        </p:txBody>
      </p:sp>
      <p:pic>
        <p:nvPicPr>
          <p:cNvPr id="7" name="Picture 6">
            <a:extLst>
              <a:ext uri="{FF2B5EF4-FFF2-40B4-BE49-F238E27FC236}">
                <a16:creationId xmlns:a16="http://schemas.microsoft.com/office/drawing/2014/main" id="{FF100137-9508-F9FE-FE49-14E011DCA5F3}"/>
              </a:ext>
            </a:extLst>
          </p:cNvPr>
          <p:cNvPicPr>
            <a:picLocks noChangeAspect="1"/>
          </p:cNvPicPr>
          <p:nvPr/>
        </p:nvPicPr>
        <p:blipFill>
          <a:blip r:embed="rId2"/>
          <a:stretch>
            <a:fillRect/>
          </a:stretch>
        </p:blipFill>
        <p:spPr>
          <a:xfrm>
            <a:off x="3331008" y="2943803"/>
            <a:ext cx="5100777" cy="1138670"/>
          </a:xfrm>
          <a:prstGeom prst="rect">
            <a:avLst/>
          </a:prstGeom>
        </p:spPr>
      </p:pic>
      <p:pic>
        <p:nvPicPr>
          <p:cNvPr id="9" name="Picture 8">
            <a:extLst>
              <a:ext uri="{FF2B5EF4-FFF2-40B4-BE49-F238E27FC236}">
                <a16:creationId xmlns:a16="http://schemas.microsoft.com/office/drawing/2014/main" id="{4CC247A4-4BC6-0986-C7B4-6F7E67F2989C}"/>
              </a:ext>
            </a:extLst>
          </p:cNvPr>
          <p:cNvPicPr>
            <a:picLocks noChangeAspect="1"/>
          </p:cNvPicPr>
          <p:nvPr/>
        </p:nvPicPr>
        <p:blipFill>
          <a:blip r:embed="rId3"/>
          <a:stretch>
            <a:fillRect/>
          </a:stretch>
        </p:blipFill>
        <p:spPr>
          <a:xfrm>
            <a:off x="1330036" y="4082473"/>
            <a:ext cx="3740728" cy="2021585"/>
          </a:xfrm>
          <a:prstGeom prst="rect">
            <a:avLst/>
          </a:prstGeom>
        </p:spPr>
      </p:pic>
      <p:pic>
        <p:nvPicPr>
          <p:cNvPr id="4" name="Picture 3">
            <a:extLst>
              <a:ext uri="{FF2B5EF4-FFF2-40B4-BE49-F238E27FC236}">
                <a16:creationId xmlns:a16="http://schemas.microsoft.com/office/drawing/2014/main" id="{28BF0867-922B-3702-E2BF-64C0D251AA7A}"/>
              </a:ext>
            </a:extLst>
          </p:cNvPr>
          <p:cNvPicPr>
            <a:picLocks noChangeAspect="1"/>
          </p:cNvPicPr>
          <p:nvPr/>
        </p:nvPicPr>
        <p:blipFill>
          <a:blip r:embed="rId4"/>
          <a:stretch>
            <a:fillRect/>
          </a:stretch>
        </p:blipFill>
        <p:spPr>
          <a:xfrm>
            <a:off x="6372016" y="3867336"/>
            <a:ext cx="4119537" cy="2795400"/>
          </a:xfrm>
          <a:prstGeom prst="rect">
            <a:avLst/>
          </a:prstGeom>
        </p:spPr>
      </p:pic>
    </p:spTree>
    <p:extLst>
      <p:ext uri="{BB962C8B-B14F-4D97-AF65-F5344CB8AC3E}">
        <p14:creationId xmlns:p14="http://schemas.microsoft.com/office/powerpoint/2010/main" val="1255110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08E5CCB-9C14-66C1-AA5D-EAC3A823C452}"/>
              </a:ext>
            </a:extLst>
          </p:cNvPr>
          <p:cNvSpPr txBox="1"/>
          <p:nvPr/>
        </p:nvSpPr>
        <p:spPr>
          <a:xfrm>
            <a:off x="609600" y="1353189"/>
            <a:ext cx="6096000" cy="400110"/>
          </a:xfrm>
          <a:prstGeom prst="rect">
            <a:avLst/>
          </a:prstGeom>
          <a:noFill/>
        </p:spPr>
        <p:txBody>
          <a:bodyPr wrap="square">
            <a:spAutoFit/>
          </a:bodyPr>
          <a:lstStyle/>
          <a:p>
            <a:r>
              <a:rPr lang="en-US" sz="2000" b="1" dirty="0">
                <a:solidFill>
                  <a:srgbClr val="1869A6"/>
                </a:solidFill>
              </a:rPr>
              <a:t>Key Characteristics</a:t>
            </a:r>
          </a:p>
        </p:txBody>
      </p:sp>
      <p:sp>
        <p:nvSpPr>
          <p:cNvPr id="7" name="TextBox 6">
            <a:extLst>
              <a:ext uri="{FF2B5EF4-FFF2-40B4-BE49-F238E27FC236}">
                <a16:creationId xmlns:a16="http://schemas.microsoft.com/office/drawing/2014/main" id="{BCA41579-1A5F-C8C4-44B2-CE697DDD6B6E}"/>
              </a:ext>
            </a:extLst>
          </p:cNvPr>
          <p:cNvSpPr txBox="1"/>
          <p:nvPr/>
        </p:nvSpPr>
        <p:spPr>
          <a:xfrm>
            <a:off x="1246909" y="1753299"/>
            <a:ext cx="6096000" cy="369332"/>
          </a:xfrm>
          <a:prstGeom prst="rect">
            <a:avLst/>
          </a:prstGeom>
          <a:noFill/>
        </p:spPr>
        <p:txBody>
          <a:bodyPr wrap="square">
            <a:spAutoFit/>
          </a:bodyPr>
          <a:lstStyle/>
          <a:p>
            <a:r>
              <a:rPr lang="en-US" b="1" dirty="0"/>
              <a:t>1. Linear Model with Modifications</a:t>
            </a:r>
          </a:p>
        </p:txBody>
      </p:sp>
      <p:sp>
        <p:nvSpPr>
          <p:cNvPr id="9" name="TextBox 8">
            <a:extLst>
              <a:ext uri="{FF2B5EF4-FFF2-40B4-BE49-F238E27FC236}">
                <a16:creationId xmlns:a16="http://schemas.microsoft.com/office/drawing/2014/main" id="{183D83A5-A2C2-084D-D283-714F684D109E}"/>
              </a:ext>
            </a:extLst>
          </p:cNvPr>
          <p:cNvSpPr txBox="1"/>
          <p:nvPr/>
        </p:nvSpPr>
        <p:spPr>
          <a:xfrm>
            <a:off x="1625599" y="2153409"/>
            <a:ext cx="9836727" cy="1477328"/>
          </a:xfrm>
          <a:prstGeom prst="rect">
            <a:avLst/>
          </a:prstGeom>
          <a:noFill/>
        </p:spPr>
        <p:txBody>
          <a:bodyPr wrap="square">
            <a:spAutoFit/>
          </a:bodyPr>
          <a:lstStyle/>
          <a:p>
            <a:pPr marL="285750" indent="-285750" algn="just">
              <a:buFont typeface="Arial" panose="020B0604020202020204" pitchFamily="34" charset="0"/>
              <a:buChar char="•"/>
            </a:pPr>
            <a:r>
              <a:rPr lang="en-US" dirty="0"/>
              <a:t>Although polynomial regression includes non-linear terms, the overall model is still considered linear in the parameters, because the coefficients ( , 𝑏1b 1 , etc.) are linear.</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These additional terms allow the model to </a:t>
            </a:r>
            <a:r>
              <a:rPr lang="en-US" b="1" dirty="0"/>
              <a:t>fit curves</a:t>
            </a:r>
            <a:r>
              <a:rPr lang="en-US" dirty="0"/>
              <a:t> to the data, improving accuracy when the relationship between the variables is non-linear.</a:t>
            </a:r>
          </a:p>
        </p:txBody>
      </p:sp>
      <p:sp>
        <p:nvSpPr>
          <p:cNvPr id="10" name="TextBox 9">
            <a:extLst>
              <a:ext uri="{FF2B5EF4-FFF2-40B4-BE49-F238E27FC236}">
                <a16:creationId xmlns:a16="http://schemas.microsoft.com/office/drawing/2014/main" id="{B588A45E-F8AF-EFEF-C063-27EED260D943}"/>
              </a:ext>
            </a:extLst>
          </p:cNvPr>
          <p:cNvSpPr txBox="1"/>
          <p:nvPr/>
        </p:nvSpPr>
        <p:spPr>
          <a:xfrm>
            <a:off x="1246909" y="3661515"/>
            <a:ext cx="6096000" cy="369332"/>
          </a:xfrm>
          <a:prstGeom prst="rect">
            <a:avLst/>
          </a:prstGeom>
          <a:noFill/>
        </p:spPr>
        <p:txBody>
          <a:bodyPr wrap="square">
            <a:spAutoFit/>
          </a:bodyPr>
          <a:lstStyle/>
          <a:p>
            <a:r>
              <a:rPr lang="en-US" b="1" dirty="0"/>
              <a:t>2. Non-Linear Dataset</a:t>
            </a:r>
          </a:p>
        </p:txBody>
      </p:sp>
      <p:sp>
        <p:nvSpPr>
          <p:cNvPr id="11" name="TextBox 10">
            <a:extLst>
              <a:ext uri="{FF2B5EF4-FFF2-40B4-BE49-F238E27FC236}">
                <a16:creationId xmlns:a16="http://schemas.microsoft.com/office/drawing/2014/main" id="{4353416E-DF2B-6C09-7637-0D70AD35B512}"/>
              </a:ext>
            </a:extLst>
          </p:cNvPr>
          <p:cNvSpPr txBox="1"/>
          <p:nvPr/>
        </p:nvSpPr>
        <p:spPr>
          <a:xfrm>
            <a:off x="1625599" y="4061625"/>
            <a:ext cx="9836727" cy="1477328"/>
          </a:xfrm>
          <a:prstGeom prst="rect">
            <a:avLst/>
          </a:prstGeom>
          <a:noFill/>
        </p:spPr>
        <p:txBody>
          <a:bodyPr wrap="square">
            <a:spAutoFit/>
          </a:bodyPr>
          <a:lstStyle/>
          <a:p>
            <a:pPr marL="285750" indent="-285750" algn="just">
              <a:buFont typeface="Arial" panose="020B0604020202020204" pitchFamily="34" charset="0"/>
              <a:buChar char="•"/>
            </a:pPr>
            <a:r>
              <a:rPr lang="en-US" dirty="0"/>
              <a:t>Polynomial regression is often used for datasets where the relationship between the independent variable (X) and the dependent variable (Y) is </a:t>
            </a:r>
            <a:r>
              <a:rPr lang="en-US" b="1" dirty="0"/>
              <a:t>non-linear</a:t>
            </a:r>
            <a:r>
              <a:rPr lang="en-US" dirty="0"/>
              <a:t>.</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In the </a:t>
            </a:r>
            <a:r>
              <a:rPr lang="en-US" b="1" dirty="0"/>
              <a:t>simple linear regression</a:t>
            </a:r>
            <a:r>
              <a:rPr lang="en-US" dirty="0"/>
              <a:t> example, the model fits a straight line, but this does not always capture the true relationship. The </a:t>
            </a:r>
            <a:r>
              <a:rPr lang="en-US" b="1" dirty="0"/>
              <a:t>polynomial model</a:t>
            </a:r>
            <a:r>
              <a:rPr lang="en-US" dirty="0"/>
              <a:t> better fits the data by allowing for curves.</a:t>
            </a:r>
          </a:p>
        </p:txBody>
      </p:sp>
    </p:spTree>
    <p:extLst>
      <p:ext uri="{BB962C8B-B14F-4D97-AF65-F5344CB8AC3E}">
        <p14:creationId xmlns:p14="http://schemas.microsoft.com/office/powerpoint/2010/main" val="22192736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7A377C5-6774-EDC9-4A7D-4C8497EF2649}"/>
              </a:ext>
            </a:extLst>
          </p:cNvPr>
          <p:cNvSpPr txBox="1"/>
          <p:nvPr/>
        </p:nvSpPr>
        <p:spPr>
          <a:xfrm>
            <a:off x="609600" y="1353189"/>
            <a:ext cx="6096000" cy="400110"/>
          </a:xfrm>
          <a:prstGeom prst="rect">
            <a:avLst/>
          </a:prstGeom>
          <a:noFill/>
        </p:spPr>
        <p:txBody>
          <a:bodyPr wrap="square">
            <a:spAutoFit/>
          </a:bodyPr>
          <a:lstStyle/>
          <a:p>
            <a:r>
              <a:rPr lang="en-US" sz="2000" b="1" dirty="0">
                <a:solidFill>
                  <a:srgbClr val="1869A6"/>
                </a:solidFill>
              </a:rPr>
              <a:t>Key Characteristics</a:t>
            </a:r>
          </a:p>
        </p:txBody>
      </p:sp>
      <p:pic>
        <p:nvPicPr>
          <p:cNvPr id="6" name="Picture 5">
            <a:extLst>
              <a:ext uri="{FF2B5EF4-FFF2-40B4-BE49-F238E27FC236}">
                <a16:creationId xmlns:a16="http://schemas.microsoft.com/office/drawing/2014/main" id="{72861B9B-DD93-5040-545A-E590B9271DED}"/>
              </a:ext>
            </a:extLst>
          </p:cNvPr>
          <p:cNvPicPr>
            <a:picLocks noChangeAspect="1"/>
          </p:cNvPicPr>
          <p:nvPr/>
        </p:nvPicPr>
        <p:blipFill>
          <a:blip r:embed="rId2"/>
          <a:stretch>
            <a:fillRect/>
          </a:stretch>
        </p:blipFill>
        <p:spPr>
          <a:xfrm>
            <a:off x="2540938" y="1891815"/>
            <a:ext cx="7110124" cy="3612996"/>
          </a:xfrm>
          <a:prstGeom prst="rect">
            <a:avLst/>
          </a:prstGeom>
        </p:spPr>
      </p:pic>
    </p:spTree>
    <p:extLst>
      <p:ext uri="{BB962C8B-B14F-4D97-AF65-F5344CB8AC3E}">
        <p14:creationId xmlns:p14="http://schemas.microsoft.com/office/powerpoint/2010/main" val="25164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AB07C4-4964-474E-CDD7-F77FE4E37B1C}"/>
              </a:ext>
            </a:extLst>
          </p:cNvPr>
          <p:cNvSpPr txBox="1"/>
          <p:nvPr/>
        </p:nvSpPr>
        <p:spPr>
          <a:xfrm>
            <a:off x="618836" y="1445553"/>
            <a:ext cx="1939636" cy="400110"/>
          </a:xfrm>
          <a:prstGeom prst="rect">
            <a:avLst/>
          </a:prstGeom>
          <a:noFill/>
        </p:spPr>
        <p:txBody>
          <a:bodyPr wrap="square">
            <a:spAutoFit/>
          </a:bodyPr>
          <a:lstStyle/>
          <a:p>
            <a:r>
              <a:rPr lang="en-US" sz="2000" b="1" dirty="0">
                <a:solidFill>
                  <a:srgbClr val="1869A6"/>
                </a:solidFill>
              </a:rPr>
              <a:t>Cost Function</a:t>
            </a:r>
          </a:p>
        </p:txBody>
      </p:sp>
      <p:sp>
        <p:nvSpPr>
          <p:cNvPr id="7" name="TextBox 6">
            <a:extLst>
              <a:ext uri="{FF2B5EF4-FFF2-40B4-BE49-F238E27FC236}">
                <a16:creationId xmlns:a16="http://schemas.microsoft.com/office/drawing/2014/main" id="{100B5FE3-3DB5-C08D-FA2A-24CEFB585596}"/>
              </a:ext>
            </a:extLst>
          </p:cNvPr>
          <p:cNvSpPr txBox="1"/>
          <p:nvPr/>
        </p:nvSpPr>
        <p:spPr>
          <a:xfrm>
            <a:off x="1320799" y="1972164"/>
            <a:ext cx="9642763" cy="646331"/>
          </a:xfrm>
          <a:prstGeom prst="rect">
            <a:avLst/>
          </a:prstGeom>
          <a:noFill/>
        </p:spPr>
        <p:txBody>
          <a:bodyPr wrap="square">
            <a:spAutoFit/>
          </a:bodyPr>
          <a:lstStyle/>
          <a:p>
            <a:r>
              <a:rPr lang="en-US" dirty="0"/>
              <a:t>The cost function                     assesses the performance of the linear regression model by measuring the difference between the predicted values              and the actual observed values 𝑦.</a:t>
            </a:r>
          </a:p>
        </p:txBody>
      </p:sp>
      <p:pic>
        <p:nvPicPr>
          <p:cNvPr id="9" name="Picture 8">
            <a:extLst>
              <a:ext uri="{FF2B5EF4-FFF2-40B4-BE49-F238E27FC236}">
                <a16:creationId xmlns:a16="http://schemas.microsoft.com/office/drawing/2014/main" id="{4D7F40AA-B438-AEF5-9056-17109A1F09AB}"/>
              </a:ext>
            </a:extLst>
          </p:cNvPr>
          <p:cNvPicPr>
            <a:picLocks noChangeAspect="1"/>
          </p:cNvPicPr>
          <p:nvPr/>
        </p:nvPicPr>
        <p:blipFill>
          <a:blip r:embed="rId2"/>
          <a:stretch>
            <a:fillRect/>
          </a:stretch>
        </p:blipFill>
        <p:spPr>
          <a:xfrm>
            <a:off x="3178030" y="1972164"/>
            <a:ext cx="904444" cy="407497"/>
          </a:xfrm>
          <a:prstGeom prst="rect">
            <a:avLst/>
          </a:prstGeom>
        </p:spPr>
      </p:pic>
      <p:pic>
        <p:nvPicPr>
          <p:cNvPr id="11" name="Picture 10">
            <a:extLst>
              <a:ext uri="{FF2B5EF4-FFF2-40B4-BE49-F238E27FC236}">
                <a16:creationId xmlns:a16="http://schemas.microsoft.com/office/drawing/2014/main" id="{9C993552-2A0B-E91C-433B-1002B0928D84}"/>
              </a:ext>
            </a:extLst>
          </p:cNvPr>
          <p:cNvPicPr>
            <a:picLocks noChangeAspect="1"/>
          </p:cNvPicPr>
          <p:nvPr/>
        </p:nvPicPr>
        <p:blipFill>
          <a:blip r:embed="rId3"/>
          <a:stretch>
            <a:fillRect/>
          </a:stretch>
        </p:blipFill>
        <p:spPr>
          <a:xfrm>
            <a:off x="6881957" y="2295329"/>
            <a:ext cx="581025" cy="371475"/>
          </a:xfrm>
          <a:prstGeom prst="rect">
            <a:avLst/>
          </a:prstGeom>
        </p:spPr>
      </p:pic>
      <p:sp>
        <p:nvSpPr>
          <p:cNvPr id="13" name="TextBox 12">
            <a:extLst>
              <a:ext uri="{FF2B5EF4-FFF2-40B4-BE49-F238E27FC236}">
                <a16:creationId xmlns:a16="http://schemas.microsoft.com/office/drawing/2014/main" id="{4BEAA29A-6D9A-FC69-09EC-3213FFE400E7}"/>
              </a:ext>
            </a:extLst>
          </p:cNvPr>
          <p:cNvSpPr txBox="1"/>
          <p:nvPr/>
        </p:nvSpPr>
        <p:spPr>
          <a:xfrm>
            <a:off x="1366982" y="2784052"/>
            <a:ext cx="6096000" cy="369332"/>
          </a:xfrm>
          <a:prstGeom prst="rect">
            <a:avLst/>
          </a:prstGeom>
          <a:noFill/>
        </p:spPr>
        <p:txBody>
          <a:bodyPr wrap="square">
            <a:spAutoFit/>
          </a:bodyPr>
          <a:lstStyle/>
          <a:p>
            <a:r>
              <a:rPr lang="en-US" b="1" dirty="0"/>
              <a:t>Mean Squared Error (MSE)</a:t>
            </a:r>
            <a:r>
              <a:rPr lang="en-US" dirty="0"/>
              <a:t>:</a:t>
            </a:r>
          </a:p>
        </p:txBody>
      </p:sp>
      <p:pic>
        <p:nvPicPr>
          <p:cNvPr id="15" name="Picture 14">
            <a:extLst>
              <a:ext uri="{FF2B5EF4-FFF2-40B4-BE49-F238E27FC236}">
                <a16:creationId xmlns:a16="http://schemas.microsoft.com/office/drawing/2014/main" id="{AC4363C3-E3E9-9225-5452-620A71D59E06}"/>
              </a:ext>
            </a:extLst>
          </p:cNvPr>
          <p:cNvPicPr>
            <a:picLocks noChangeAspect="1"/>
          </p:cNvPicPr>
          <p:nvPr/>
        </p:nvPicPr>
        <p:blipFill>
          <a:blip r:embed="rId4"/>
          <a:stretch>
            <a:fillRect/>
          </a:stretch>
        </p:blipFill>
        <p:spPr>
          <a:xfrm>
            <a:off x="2404627" y="3318941"/>
            <a:ext cx="3857625" cy="1200150"/>
          </a:xfrm>
          <a:prstGeom prst="rect">
            <a:avLst/>
          </a:prstGeom>
        </p:spPr>
      </p:pic>
      <p:pic>
        <p:nvPicPr>
          <p:cNvPr id="17" name="Picture 16">
            <a:extLst>
              <a:ext uri="{FF2B5EF4-FFF2-40B4-BE49-F238E27FC236}">
                <a16:creationId xmlns:a16="http://schemas.microsoft.com/office/drawing/2014/main" id="{34875F3A-C09E-3E70-8CA8-1801BA4C1409}"/>
              </a:ext>
            </a:extLst>
          </p:cNvPr>
          <p:cNvPicPr>
            <a:picLocks noChangeAspect="1"/>
          </p:cNvPicPr>
          <p:nvPr/>
        </p:nvPicPr>
        <p:blipFill>
          <a:blip r:embed="rId5"/>
          <a:stretch>
            <a:fillRect/>
          </a:stretch>
        </p:blipFill>
        <p:spPr>
          <a:xfrm>
            <a:off x="1454727" y="4407611"/>
            <a:ext cx="5920509" cy="1862215"/>
          </a:xfrm>
          <a:prstGeom prst="rect">
            <a:avLst/>
          </a:prstGeom>
        </p:spPr>
      </p:pic>
    </p:spTree>
    <p:extLst>
      <p:ext uri="{BB962C8B-B14F-4D97-AF65-F5344CB8AC3E}">
        <p14:creationId xmlns:p14="http://schemas.microsoft.com/office/powerpoint/2010/main" val="4112946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1FEE7F-487A-71FA-A3A7-9CC9C997F15E}"/>
              </a:ext>
            </a:extLst>
          </p:cNvPr>
          <p:cNvSpPr txBox="1"/>
          <p:nvPr/>
        </p:nvSpPr>
        <p:spPr>
          <a:xfrm>
            <a:off x="498764" y="1445551"/>
            <a:ext cx="6096000" cy="369332"/>
          </a:xfrm>
          <a:prstGeom prst="rect">
            <a:avLst/>
          </a:prstGeom>
          <a:noFill/>
        </p:spPr>
        <p:txBody>
          <a:bodyPr wrap="square">
            <a:spAutoFit/>
          </a:bodyPr>
          <a:lstStyle/>
          <a:p>
            <a:r>
              <a:rPr lang="en-US" b="1" dirty="0">
                <a:solidFill>
                  <a:srgbClr val="1869A6"/>
                </a:solidFill>
              </a:rPr>
              <a:t>Different Evaluation Metrics</a:t>
            </a:r>
          </a:p>
        </p:txBody>
      </p:sp>
      <p:sp>
        <p:nvSpPr>
          <p:cNvPr id="5" name="TextBox 4">
            <a:extLst>
              <a:ext uri="{FF2B5EF4-FFF2-40B4-BE49-F238E27FC236}">
                <a16:creationId xmlns:a16="http://schemas.microsoft.com/office/drawing/2014/main" id="{B8E3BDD9-05AC-FFEA-001A-29FE1FBC850D}"/>
              </a:ext>
            </a:extLst>
          </p:cNvPr>
          <p:cNvSpPr txBox="1"/>
          <p:nvPr/>
        </p:nvSpPr>
        <p:spPr>
          <a:xfrm>
            <a:off x="1237673" y="2045915"/>
            <a:ext cx="6096000" cy="369332"/>
          </a:xfrm>
          <a:prstGeom prst="rect">
            <a:avLst/>
          </a:prstGeom>
          <a:noFill/>
        </p:spPr>
        <p:txBody>
          <a:bodyPr wrap="square">
            <a:spAutoFit/>
          </a:bodyPr>
          <a:lstStyle/>
          <a:p>
            <a:r>
              <a:rPr lang="en-US" b="1" dirty="0"/>
              <a:t>Mean Squared Error (MSE)</a:t>
            </a:r>
            <a:r>
              <a:rPr lang="en-US" dirty="0"/>
              <a:t>:</a:t>
            </a:r>
          </a:p>
        </p:txBody>
      </p:sp>
      <p:pic>
        <p:nvPicPr>
          <p:cNvPr id="7" name="Picture 6">
            <a:extLst>
              <a:ext uri="{FF2B5EF4-FFF2-40B4-BE49-F238E27FC236}">
                <a16:creationId xmlns:a16="http://schemas.microsoft.com/office/drawing/2014/main" id="{722321E4-1A7B-6841-61B6-F851883B32B4}"/>
              </a:ext>
            </a:extLst>
          </p:cNvPr>
          <p:cNvPicPr>
            <a:picLocks noChangeAspect="1"/>
          </p:cNvPicPr>
          <p:nvPr/>
        </p:nvPicPr>
        <p:blipFill>
          <a:blip r:embed="rId2"/>
          <a:stretch>
            <a:fillRect/>
          </a:stretch>
        </p:blipFill>
        <p:spPr>
          <a:xfrm>
            <a:off x="3294206" y="2646279"/>
            <a:ext cx="2647950" cy="876300"/>
          </a:xfrm>
          <a:prstGeom prst="rect">
            <a:avLst/>
          </a:prstGeom>
        </p:spPr>
      </p:pic>
      <p:sp>
        <p:nvSpPr>
          <p:cNvPr id="10" name="TextBox 9">
            <a:extLst>
              <a:ext uri="{FF2B5EF4-FFF2-40B4-BE49-F238E27FC236}">
                <a16:creationId xmlns:a16="http://schemas.microsoft.com/office/drawing/2014/main" id="{F8F9C739-E540-67CD-C75D-3331D48C0CDD}"/>
              </a:ext>
            </a:extLst>
          </p:cNvPr>
          <p:cNvSpPr txBox="1"/>
          <p:nvPr/>
        </p:nvSpPr>
        <p:spPr>
          <a:xfrm>
            <a:off x="979053" y="4105763"/>
            <a:ext cx="9809019" cy="923330"/>
          </a:xfrm>
          <a:prstGeom prst="rect">
            <a:avLst/>
          </a:prstGeom>
          <a:noFill/>
        </p:spPr>
        <p:txBody>
          <a:bodyPr wrap="square">
            <a:spAutoFit/>
          </a:bodyPr>
          <a:lstStyle/>
          <a:p>
            <a:pPr marL="285750" indent="-285750">
              <a:buFont typeface="Arial" panose="020B0604020202020204" pitchFamily="34" charset="0"/>
              <a:buChar char="•"/>
            </a:pPr>
            <a:r>
              <a:rPr lang="en-US" dirty="0"/>
              <a:t>Measures the average of the squared differences between actual and predicted values.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Commonly used because it effectively penalizes larger errors and is simple to calculate.</a:t>
            </a:r>
          </a:p>
        </p:txBody>
      </p:sp>
    </p:spTree>
    <p:extLst>
      <p:ext uri="{BB962C8B-B14F-4D97-AF65-F5344CB8AC3E}">
        <p14:creationId xmlns:p14="http://schemas.microsoft.com/office/powerpoint/2010/main" val="39446402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AF56C9-F018-D249-905D-91B4D3EB20B3}"/>
              </a:ext>
            </a:extLst>
          </p:cNvPr>
          <p:cNvSpPr txBox="1"/>
          <p:nvPr/>
        </p:nvSpPr>
        <p:spPr>
          <a:xfrm>
            <a:off x="508000" y="1528679"/>
            <a:ext cx="6096000" cy="369332"/>
          </a:xfrm>
          <a:prstGeom prst="rect">
            <a:avLst/>
          </a:prstGeom>
          <a:noFill/>
        </p:spPr>
        <p:txBody>
          <a:bodyPr wrap="square">
            <a:spAutoFit/>
          </a:bodyPr>
          <a:lstStyle/>
          <a:p>
            <a:r>
              <a:rPr lang="en-US" b="1" dirty="0">
                <a:solidFill>
                  <a:srgbClr val="1869A6"/>
                </a:solidFill>
              </a:rPr>
              <a:t>Different Evaluation Metrics</a:t>
            </a:r>
          </a:p>
        </p:txBody>
      </p:sp>
      <p:sp>
        <p:nvSpPr>
          <p:cNvPr id="3" name="TextBox 2">
            <a:extLst>
              <a:ext uri="{FF2B5EF4-FFF2-40B4-BE49-F238E27FC236}">
                <a16:creationId xmlns:a16="http://schemas.microsoft.com/office/drawing/2014/main" id="{F0DFC1A9-9BEB-5307-F5DF-7D8E5A548800}"/>
              </a:ext>
            </a:extLst>
          </p:cNvPr>
          <p:cNvSpPr txBox="1"/>
          <p:nvPr/>
        </p:nvSpPr>
        <p:spPr>
          <a:xfrm>
            <a:off x="1246909" y="2129043"/>
            <a:ext cx="6096000" cy="369332"/>
          </a:xfrm>
          <a:prstGeom prst="rect">
            <a:avLst/>
          </a:prstGeom>
          <a:noFill/>
        </p:spPr>
        <p:txBody>
          <a:bodyPr wrap="square">
            <a:spAutoFit/>
          </a:bodyPr>
          <a:lstStyle/>
          <a:p>
            <a:r>
              <a:rPr lang="en-US" b="1" dirty="0"/>
              <a:t>Root Mean Squared Error (RMSE)</a:t>
            </a:r>
            <a:r>
              <a:rPr lang="en-US" dirty="0"/>
              <a:t>:</a:t>
            </a:r>
          </a:p>
        </p:txBody>
      </p:sp>
      <p:sp>
        <p:nvSpPr>
          <p:cNvPr id="5" name="TextBox 4">
            <a:extLst>
              <a:ext uri="{FF2B5EF4-FFF2-40B4-BE49-F238E27FC236}">
                <a16:creationId xmlns:a16="http://schemas.microsoft.com/office/drawing/2014/main" id="{1821118B-814F-2DEB-CB04-0108B20FCC48}"/>
              </a:ext>
            </a:extLst>
          </p:cNvPr>
          <p:cNvSpPr txBox="1"/>
          <p:nvPr/>
        </p:nvSpPr>
        <p:spPr>
          <a:xfrm>
            <a:off x="988289" y="4188891"/>
            <a:ext cx="9809019" cy="646331"/>
          </a:xfrm>
          <a:prstGeom prst="rect">
            <a:avLst/>
          </a:prstGeom>
          <a:noFill/>
        </p:spPr>
        <p:txBody>
          <a:bodyPr wrap="square">
            <a:spAutoFit/>
          </a:bodyPr>
          <a:lstStyle/>
          <a:p>
            <a:pPr marL="285750" indent="-285750">
              <a:buFont typeface="Arial" panose="020B0604020202020204" pitchFamily="34" charset="0"/>
              <a:buChar char="•"/>
            </a:pPr>
            <a:r>
              <a:rPr lang="en-US" dirty="0"/>
              <a:t>The square root of MSE. It represents error in the same units as the original data, making it easier to interpret.</a:t>
            </a:r>
          </a:p>
        </p:txBody>
      </p:sp>
      <p:pic>
        <p:nvPicPr>
          <p:cNvPr id="7" name="Picture 6">
            <a:extLst>
              <a:ext uri="{FF2B5EF4-FFF2-40B4-BE49-F238E27FC236}">
                <a16:creationId xmlns:a16="http://schemas.microsoft.com/office/drawing/2014/main" id="{460D0D39-B154-FDAE-D3D1-979961D4EC55}"/>
              </a:ext>
            </a:extLst>
          </p:cNvPr>
          <p:cNvPicPr>
            <a:picLocks noChangeAspect="1"/>
          </p:cNvPicPr>
          <p:nvPr/>
        </p:nvPicPr>
        <p:blipFill>
          <a:blip r:embed="rId2"/>
          <a:stretch>
            <a:fillRect/>
          </a:stretch>
        </p:blipFill>
        <p:spPr>
          <a:xfrm>
            <a:off x="2250786" y="2838808"/>
            <a:ext cx="3238500" cy="1009650"/>
          </a:xfrm>
          <a:prstGeom prst="rect">
            <a:avLst/>
          </a:prstGeom>
        </p:spPr>
      </p:pic>
    </p:spTree>
    <p:extLst>
      <p:ext uri="{BB962C8B-B14F-4D97-AF65-F5344CB8AC3E}">
        <p14:creationId xmlns:p14="http://schemas.microsoft.com/office/powerpoint/2010/main" val="23777852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1C7C4D6-A33E-7129-044E-A0CA81DF1E23}"/>
              </a:ext>
            </a:extLst>
          </p:cNvPr>
          <p:cNvSpPr txBox="1"/>
          <p:nvPr/>
        </p:nvSpPr>
        <p:spPr>
          <a:xfrm>
            <a:off x="535709" y="1464025"/>
            <a:ext cx="6096000" cy="369332"/>
          </a:xfrm>
          <a:prstGeom prst="rect">
            <a:avLst/>
          </a:prstGeom>
          <a:noFill/>
        </p:spPr>
        <p:txBody>
          <a:bodyPr wrap="square">
            <a:spAutoFit/>
          </a:bodyPr>
          <a:lstStyle/>
          <a:p>
            <a:r>
              <a:rPr lang="en-US" b="1" dirty="0">
                <a:solidFill>
                  <a:srgbClr val="1869A6"/>
                </a:solidFill>
              </a:rPr>
              <a:t>Different Evaluation Metrics</a:t>
            </a:r>
          </a:p>
        </p:txBody>
      </p:sp>
      <p:sp>
        <p:nvSpPr>
          <p:cNvPr id="3" name="TextBox 2">
            <a:extLst>
              <a:ext uri="{FF2B5EF4-FFF2-40B4-BE49-F238E27FC236}">
                <a16:creationId xmlns:a16="http://schemas.microsoft.com/office/drawing/2014/main" id="{47E980A1-7753-2DE9-3A8E-B25CC3B8CA7E}"/>
              </a:ext>
            </a:extLst>
          </p:cNvPr>
          <p:cNvSpPr txBox="1"/>
          <p:nvPr/>
        </p:nvSpPr>
        <p:spPr>
          <a:xfrm>
            <a:off x="1274618" y="2064389"/>
            <a:ext cx="6096000" cy="369332"/>
          </a:xfrm>
          <a:prstGeom prst="rect">
            <a:avLst/>
          </a:prstGeom>
          <a:noFill/>
        </p:spPr>
        <p:txBody>
          <a:bodyPr wrap="square">
            <a:spAutoFit/>
          </a:bodyPr>
          <a:lstStyle/>
          <a:p>
            <a:r>
              <a:rPr lang="en-US" b="1" dirty="0"/>
              <a:t>Mean Absolute Error (MAE)</a:t>
            </a:r>
            <a:r>
              <a:rPr lang="en-US" dirty="0"/>
              <a:t>:</a:t>
            </a:r>
          </a:p>
        </p:txBody>
      </p:sp>
      <p:sp>
        <p:nvSpPr>
          <p:cNvPr id="4" name="TextBox 3">
            <a:extLst>
              <a:ext uri="{FF2B5EF4-FFF2-40B4-BE49-F238E27FC236}">
                <a16:creationId xmlns:a16="http://schemas.microsoft.com/office/drawing/2014/main" id="{46646ACA-6D7C-E538-D5E4-722167A7C0A5}"/>
              </a:ext>
            </a:extLst>
          </p:cNvPr>
          <p:cNvSpPr txBox="1"/>
          <p:nvPr/>
        </p:nvSpPr>
        <p:spPr>
          <a:xfrm>
            <a:off x="1015998" y="4124237"/>
            <a:ext cx="9809019" cy="646331"/>
          </a:xfrm>
          <a:prstGeom prst="rect">
            <a:avLst/>
          </a:prstGeom>
          <a:noFill/>
        </p:spPr>
        <p:txBody>
          <a:bodyPr wrap="square">
            <a:spAutoFit/>
          </a:bodyPr>
          <a:lstStyle/>
          <a:p>
            <a:pPr marL="285750" indent="-285750">
              <a:buFont typeface="Arial" panose="020B0604020202020204" pitchFamily="34" charset="0"/>
              <a:buChar char="•"/>
            </a:pPr>
            <a:r>
              <a:rPr lang="en-US" dirty="0"/>
              <a:t>Measures the average absolute difference between the actual and predicted values.</a:t>
            </a:r>
          </a:p>
          <a:p>
            <a:pPr marL="285750" indent="-285750">
              <a:buFont typeface="Arial" panose="020B0604020202020204" pitchFamily="34" charset="0"/>
              <a:buChar char="•"/>
            </a:pPr>
            <a:r>
              <a:rPr lang="en-US" dirty="0"/>
              <a:t>Less sensitive to outliers compared to MSE, providing a more robust evaluation metric.</a:t>
            </a:r>
          </a:p>
        </p:txBody>
      </p:sp>
      <p:pic>
        <p:nvPicPr>
          <p:cNvPr id="8" name="Picture 7">
            <a:extLst>
              <a:ext uri="{FF2B5EF4-FFF2-40B4-BE49-F238E27FC236}">
                <a16:creationId xmlns:a16="http://schemas.microsoft.com/office/drawing/2014/main" id="{6376AA1A-EEE0-33B4-58B7-FB8749A36864}"/>
              </a:ext>
            </a:extLst>
          </p:cNvPr>
          <p:cNvPicPr>
            <a:picLocks noChangeAspect="1"/>
          </p:cNvPicPr>
          <p:nvPr/>
        </p:nvPicPr>
        <p:blipFill>
          <a:blip r:embed="rId2"/>
          <a:stretch>
            <a:fillRect/>
          </a:stretch>
        </p:blipFill>
        <p:spPr>
          <a:xfrm>
            <a:off x="2735551" y="2664753"/>
            <a:ext cx="2638425" cy="1047750"/>
          </a:xfrm>
          <a:prstGeom prst="rect">
            <a:avLst/>
          </a:prstGeom>
        </p:spPr>
      </p:pic>
    </p:spTree>
    <p:extLst>
      <p:ext uri="{BB962C8B-B14F-4D97-AF65-F5344CB8AC3E}">
        <p14:creationId xmlns:p14="http://schemas.microsoft.com/office/powerpoint/2010/main" val="2069359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49C86F-6204-998F-DFFF-D614AF3045D9}"/>
              </a:ext>
            </a:extLst>
          </p:cNvPr>
          <p:cNvSpPr txBox="1"/>
          <p:nvPr/>
        </p:nvSpPr>
        <p:spPr>
          <a:xfrm>
            <a:off x="498764" y="1454789"/>
            <a:ext cx="2161309" cy="369332"/>
          </a:xfrm>
          <a:prstGeom prst="rect">
            <a:avLst/>
          </a:prstGeom>
          <a:noFill/>
        </p:spPr>
        <p:txBody>
          <a:bodyPr wrap="square">
            <a:spAutoFit/>
          </a:bodyPr>
          <a:lstStyle/>
          <a:p>
            <a:r>
              <a:rPr lang="en-US" b="1" dirty="0">
                <a:solidFill>
                  <a:srgbClr val="1869A6"/>
                </a:solidFill>
              </a:rPr>
              <a:t>Gradient Descent</a:t>
            </a:r>
          </a:p>
        </p:txBody>
      </p:sp>
      <p:pic>
        <p:nvPicPr>
          <p:cNvPr id="5" name="Picture 4">
            <a:extLst>
              <a:ext uri="{FF2B5EF4-FFF2-40B4-BE49-F238E27FC236}">
                <a16:creationId xmlns:a16="http://schemas.microsoft.com/office/drawing/2014/main" id="{D98BED76-8958-6014-66C3-CD00B95C144A}"/>
              </a:ext>
            </a:extLst>
          </p:cNvPr>
          <p:cNvPicPr>
            <a:picLocks noChangeAspect="1"/>
          </p:cNvPicPr>
          <p:nvPr/>
        </p:nvPicPr>
        <p:blipFill>
          <a:blip r:embed="rId2"/>
          <a:stretch>
            <a:fillRect/>
          </a:stretch>
        </p:blipFill>
        <p:spPr>
          <a:xfrm>
            <a:off x="1579418" y="2232830"/>
            <a:ext cx="8172450" cy="1066800"/>
          </a:xfrm>
          <a:prstGeom prst="rect">
            <a:avLst/>
          </a:prstGeom>
        </p:spPr>
      </p:pic>
      <p:sp>
        <p:nvSpPr>
          <p:cNvPr id="7" name="TextBox 6">
            <a:extLst>
              <a:ext uri="{FF2B5EF4-FFF2-40B4-BE49-F238E27FC236}">
                <a16:creationId xmlns:a16="http://schemas.microsoft.com/office/drawing/2014/main" id="{01126664-5F0D-1618-A06A-7B5E70189AD0}"/>
              </a:ext>
            </a:extLst>
          </p:cNvPr>
          <p:cNvSpPr txBox="1"/>
          <p:nvPr/>
        </p:nvSpPr>
        <p:spPr>
          <a:xfrm>
            <a:off x="993774" y="3403661"/>
            <a:ext cx="6096000" cy="369332"/>
          </a:xfrm>
          <a:prstGeom prst="rect">
            <a:avLst/>
          </a:prstGeom>
          <a:noFill/>
        </p:spPr>
        <p:txBody>
          <a:bodyPr wrap="square">
            <a:spAutoFit/>
          </a:bodyPr>
          <a:lstStyle/>
          <a:p>
            <a:r>
              <a:rPr lang="en-US" b="1" dirty="0"/>
              <a:t>Cost Function and Partial Derivatives</a:t>
            </a:r>
          </a:p>
        </p:txBody>
      </p:sp>
      <p:sp>
        <p:nvSpPr>
          <p:cNvPr id="9" name="TextBox 8">
            <a:extLst>
              <a:ext uri="{FF2B5EF4-FFF2-40B4-BE49-F238E27FC236}">
                <a16:creationId xmlns:a16="http://schemas.microsoft.com/office/drawing/2014/main" id="{FEAEC1AE-14B0-4E15-5591-FF3335C73186}"/>
              </a:ext>
            </a:extLst>
          </p:cNvPr>
          <p:cNvSpPr txBox="1"/>
          <p:nvPr/>
        </p:nvSpPr>
        <p:spPr>
          <a:xfrm>
            <a:off x="993774" y="1863498"/>
            <a:ext cx="6096000" cy="369332"/>
          </a:xfrm>
          <a:prstGeom prst="rect">
            <a:avLst/>
          </a:prstGeom>
          <a:noFill/>
        </p:spPr>
        <p:txBody>
          <a:bodyPr wrap="square">
            <a:spAutoFit/>
          </a:bodyPr>
          <a:lstStyle/>
          <a:p>
            <a:r>
              <a:rPr lang="en-US" b="1" dirty="0"/>
              <a:t>Purpose of Gradient Descent</a:t>
            </a:r>
            <a:endParaRPr lang="en-US" dirty="0"/>
          </a:p>
        </p:txBody>
      </p:sp>
      <p:sp>
        <p:nvSpPr>
          <p:cNvPr id="11" name="TextBox 10">
            <a:extLst>
              <a:ext uri="{FF2B5EF4-FFF2-40B4-BE49-F238E27FC236}">
                <a16:creationId xmlns:a16="http://schemas.microsoft.com/office/drawing/2014/main" id="{D20D979F-439A-14B6-EF42-9B15D8BB5427}"/>
              </a:ext>
            </a:extLst>
          </p:cNvPr>
          <p:cNvSpPr txBox="1"/>
          <p:nvPr/>
        </p:nvSpPr>
        <p:spPr>
          <a:xfrm>
            <a:off x="1579418" y="3824130"/>
            <a:ext cx="7573818" cy="646331"/>
          </a:xfrm>
          <a:prstGeom prst="rect">
            <a:avLst/>
          </a:prstGeom>
          <a:noFill/>
        </p:spPr>
        <p:txBody>
          <a:bodyPr wrap="square">
            <a:spAutoFit/>
          </a:bodyPr>
          <a:lstStyle/>
          <a:p>
            <a:r>
              <a:rPr lang="en-US" dirty="0"/>
              <a:t>The cost function used in Gradient Descent is the Mean Squared Error (MSE), represented as:</a:t>
            </a:r>
          </a:p>
        </p:txBody>
      </p:sp>
      <p:pic>
        <p:nvPicPr>
          <p:cNvPr id="13" name="Picture 12">
            <a:extLst>
              <a:ext uri="{FF2B5EF4-FFF2-40B4-BE49-F238E27FC236}">
                <a16:creationId xmlns:a16="http://schemas.microsoft.com/office/drawing/2014/main" id="{64A8FF4C-D28F-D592-1E4D-00B77A0E7623}"/>
              </a:ext>
            </a:extLst>
          </p:cNvPr>
          <p:cNvPicPr>
            <a:picLocks noChangeAspect="1"/>
          </p:cNvPicPr>
          <p:nvPr/>
        </p:nvPicPr>
        <p:blipFill>
          <a:blip r:embed="rId3"/>
          <a:stretch>
            <a:fillRect/>
          </a:stretch>
        </p:blipFill>
        <p:spPr>
          <a:xfrm>
            <a:off x="3925455" y="4150063"/>
            <a:ext cx="2456874" cy="497517"/>
          </a:xfrm>
          <a:prstGeom prst="rect">
            <a:avLst/>
          </a:prstGeom>
        </p:spPr>
      </p:pic>
      <p:pic>
        <p:nvPicPr>
          <p:cNvPr id="15" name="Picture 14">
            <a:extLst>
              <a:ext uri="{FF2B5EF4-FFF2-40B4-BE49-F238E27FC236}">
                <a16:creationId xmlns:a16="http://schemas.microsoft.com/office/drawing/2014/main" id="{D0495DC8-3935-F528-F72A-FFF7AA7BCE88}"/>
              </a:ext>
            </a:extLst>
          </p:cNvPr>
          <p:cNvPicPr>
            <a:picLocks noChangeAspect="1"/>
          </p:cNvPicPr>
          <p:nvPr/>
        </p:nvPicPr>
        <p:blipFill>
          <a:blip r:embed="rId4"/>
          <a:stretch>
            <a:fillRect/>
          </a:stretch>
        </p:blipFill>
        <p:spPr>
          <a:xfrm>
            <a:off x="1644217" y="4647580"/>
            <a:ext cx="6631566" cy="1529179"/>
          </a:xfrm>
          <a:prstGeom prst="rect">
            <a:avLst/>
          </a:prstGeom>
        </p:spPr>
      </p:pic>
      <p:pic>
        <p:nvPicPr>
          <p:cNvPr id="2" name="Picture 2" descr="Fundamental of Linear Regression. Build a Simple Linear Regression model… |  by Looi Kian Seong | DataDrivenInvestor">
            <a:extLst>
              <a:ext uri="{FF2B5EF4-FFF2-40B4-BE49-F238E27FC236}">
                <a16:creationId xmlns:a16="http://schemas.microsoft.com/office/drawing/2014/main" id="{C2A5A0CD-399E-4D15-65F8-7255FB9818B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63567" y="3051605"/>
            <a:ext cx="3126580" cy="2837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392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46DB4BF-EAF7-78DF-7D8D-D41E9A944D52}"/>
              </a:ext>
            </a:extLst>
          </p:cNvPr>
          <p:cNvSpPr txBox="1"/>
          <p:nvPr/>
        </p:nvSpPr>
        <p:spPr>
          <a:xfrm>
            <a:off x="387927" y="1325480"/>
            <a:ext cx="2835564" cy="369332"/>
          </a:xfrm>
          <a:prstGeom prst="rect">
            <a:avLst/>
          </a:prstGeom>
          <a:noFill/>
        </p:spPr>
        <p:txBody>
          <a:bodyPr wrap="square">
            <a:spAutoFit/>
          </a:bodyPr>
          <a:lstStyle/>
          <a:p>
            <a:r>
              <a:rPr lang="en-US" b="1" dirty="0">
                <a:solidFill>
                  <a:srgbClr val="1869A6"/>
                </a:solidFill>
              </a:rPr>
              <a:t>Parameter Update Rules</a:t>
            </a:r>
          </a:p>
        </p:txBody>
      </p:sp>
      <p:sp>
        <p:nvSpPr>
          <p:cNvPr id="5" name="TextBox 4">
            <a:extLst>
              <a:ext uri="{FF2B5EF4-FFF2-40B4-BE49-F238E27FC236}">
                <a16:creationId xmlns:a16="http://schemas.microsoft.com/office/drawing/2014/main" id="{8367FF8C-194D-BCB3-B67E-D477AAB6509D}"/>
              </a:ext>
            </a:extLst>
          </p:cNvPr>
          <p:cNvSpPr txBox="1"/>
          <p:nvPr/>
        </p:nvSpPr>
        <p:spPr>
          <a:xfrm>
            <a:off x="1533236" y="1898181"/>
            <a:ext cx="6096000" cy="646331"/>
          </a:xfrm>
          <a:prstGeom prst="rect">
            <a:avLst/>
          </a:prstGeom>
          <a:noFill/>
        </p:spPr>
        <p:txBody>
          <a:bodyPr wrap="square">
            <a:spAutoFit/>
          </a:bodyPr>
          <a:lstStyle/>
          <a:p>
            <a:r>
              <a:rPr lang="en-US" dirty="0"/>
              <a:t>Gradient Descent iteratively adjusts the parameters using the following update rules: </a:t>
            </a:r>
          </a:p>
        </p:txBody>
      </p:sp>
      <p:pic>
        <p:nvPicPr>
          <p:cNvPr id="7" name="Picture 6">
            <a:extLst>
              <a:ext uri="{FF2B5EF4-FFF2-40B4-BE49-F238E27FC236}">
                <a16:creationId xmlns:a16="http://schemas.microsoft.com/office/drawing/2014/main" id="{4207F62C-6B95-71D8-531D-788D55123CA1}"/>
              </a:ext>
            </a:extLst>
          </p:cNvPr>
          <p:cNvPicPr>
            <a:picLocks noChangeAspect="1"/>
          </p:cNvPicPr>
          <p:nvPr/>
        </p:nvPicPr>
        <p:blipFill>
          <a:blip r:embed="rId2"/>
          <a:stretch>
            <a:fillRect/>
          </a:stretch>
        </p:blipFill>
        <p:spPr>
          <a:xfrm>
            <a:off x="3304741" y="2747881"/>
            <a:ext cx="2440277" cy="2031213"/>
          </a:xfrm>
          <a:prstGeom prst="rect">
            <a:avLst/>
          </a:prstGeom>
        </p:spPr>
      </p:pic>
      <p:sp>
        <p:nvSpPr>
          <p:cNvPr id="9" name="TextBox 8">
            <a:extLst>
              <a:ext uri="{FF2B5EF4-FFF2-40B4-BE49-F238E27FC236}">
                <a16:creationId xmlns:a16="http://schemas.microsoft.com/office/drawing/2014/main" id="{A2711D16-26BD-5100-D8FC-0D62C6866D79}"/>
              </a:ext>
            </a:extLst>
          </p:cNvPr>
          <p:cNvSpPr txBox="1"/>
          <p:nvPr/>
        </p:nvSpPr>
        <p:spPr>
          <a:xfrm>
            <a:off x="1533235" y="4863099"/>
            <a:ext cx="7028873" cy="923330"/>
          </a:xfrm>
          <a:prstGeom prst="rect">
            <a:avLst/>
          </a:prstGeom>
          <a:noFill/>
        </p:spPr>
        <p:txBody>
          <a:bodyPr wrap="square">
            <a:spAutoFit/>
          </a:bodyPr>
          <a:lstStyle/>
          <a:p>
            <a:r>
              <a:rPr lang="en-US" dirty="0"/>
              <a:t>Here, 𝛼 represents the learning rate, a small positive value that controls the size of each step taken in the opposite direction of the gradient to reach the minimum cost.</a:t>
            </a:r>
          </a:p>
        </p:txBody>
      </p:sp>
    </p:spTree>
    <p:extLst>
      <p:ext uri="{BB962C8B-B14F-4D97-AF65-F5344CB8AC3E}">
        <p14:creationId xmlns:p14="http://schemas.microsoft.com/office/powerpoint/2010/main" val="38502329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87F8E0-E99A-7CBE-29D3-182C21FD9B83}"/>
              </a:ext>
            </a:extLst>
          </p:cNvPr>
          <p:cNvSpPr txBox="1"/>
          <p:nvPr/>
        </p:nvSpPr>
        <p:spPr>
          <a:xfrm>
            <a:off x="498764" y="1454789"/>
            <a:ext cx="2161309" cy="369332"/>
          </a:xfrm>
          <a:prstGeom prst="rect">
            <a:avLst/>
          </a:prstGeom>
          <a:noFill/>
        </p:spPr>
        <p:txBody>
          <a:bodyPr wrap="square">
            <a:spAutoFit/>
          </a:bodyPr>
          <a:lstStyle/>
          <a:p>
            <a:r>
              <a:rPr lang="en-US" b="1" dirty="0">
                <a:solidFill>
                  <a:srgbClr val="1869A6"/>
                </a:solidFill>
              </a:rPr>
              <a:t>Gradient Descent</a:t>
            </a:r>
          </a:p>
        </p:txBody>
      </p:sp>
      <p:pic>
        <p:nvPicPr>
          <p:cNvPr id="6" name="Picture 5">
            <a:extLst>
              <a:ext uri="{FF2B5EF4-FFF2-40B4-BE49-F238E27FC236}">
                <a16:creationId xmlns:a16="http://schemas.microsoft.com/office/drawing/2014/main" id="{913FD705-9A2E-3E05-663F-A4E9C972E566}"/>
              </a:ext>
            </a:extLst>
          </p:cNvPr>
          <p:cNvPicPr>
            <a:picLocks noChangeAspect="1"/>
          </p:cNvPicPr>
          <p:nvPr/>
        </p:nvPicPr>
        <p:blipFill>
          <a:blip r:embed="rId2"/>
          <a:stretch>
            <a:fillRect/>
          </a:stretch>
        </p:blipFill>
        <p:spPr>
          <a:xfrm>
            <a:off x="2071687" y="1824121"/>
            <a:ext cx="8048625" cy="4286250"/>
          </a:xfrm>
          <a:prstGeom prst="rect">
            <a:avLst/>
          </a:prstGeom>
        </p:spPr>
      </p:pic>
    </p:spTree>
    <p:extLst>
      <p:ext uri="{BB962C8B-B14F-4D97-AF65-F5344CB8AC3E}">
        <p14:creationId xmlns:p14="http://schemas.microsoft.com/office/powerpoint/2010/main" val="3175885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3D75954-2B82-02BE-EC82-AF34E3564A2B}"/>
              </a:ext>
            </a:extLst>
          </p:cNvPr>
          <p:cNvSpPr txBox="1"/>
          <p:nvPr/>
        </p:nvSpPr>
        <p:spPr>
          <a:xfrm>
            <a:off x="406400" y="1288534"/>
            <a:ext cx="6096000" cy="369332"/>
          </a:xfrm>
          <a:prstGeom prst="rect">
            <a:avLst/>
          </a:prstGeom>
          <a:noFill/>
        </p:spPr>
        <p:txBody>
          <a:bodyPr wrap="square">
            <a:spAutoFit/>
          </a:bodyPr>
          <a:lstStyle/>
          <a:p>
            <a:r>
              <a:rPr lang="en-US" b="1" dirty="0">
                <a:solidFill>
                  <a:srgbClr val="1869A6"/>
                </a:solidFill>
              </a:rPr>
              <a:t>Gradient Descent Iterative Process</a:t>
            </a:r>
          </a:p>
        </p:txBody>
      </p:sp>
      <p:sp>
        <p:nvSpPr>
          <p:cNvPr id="5" name="TextBox 4">
            <a:extLst>
              <a:ext uri="{FF2B5EF4-FFF2-40B4-BE49-F238E27FC236}">
                <a16:creationId xmlns:a16="http://schemas.microsoft.com/office/drawing/2014/main" id="{73ED7C1E-0F9B-4DBF-EAF9-3E74512C3CAB}"/>
              </a:ext>
            </a:extLst>
          </p:cNvPr>
          <p:cNvSpPr txBox="1"/>
          <p:nvPr/>
        </p:nvSpPr>
        <p:spPr>
          <a:xfrm>
            <a:off x="1237673" y="1925843"/>
            <a:ext cx="6096000" cy="369332"/>
          </a:xfrm>
          <a:prstGeom prst="rect">
            <a:avLst/>
          </a:prstGeom>
          <a:noFill/>
        </p:spPr>
        <p:txBody>
          <a:bodyPr wrap="square">
            <a:spAutoFit/>
          </a:bodyPr>
          <a:lstStyle/>
          <a:p>
            <a:r>
              <a:rPr lang="en-US" b="1" dirty="0"/>
              <a:t>1. Finding Global Minimum</a:t>
            </a:r>
            <a:endParaRPr lang="en-US" dirty="0"/>
          </a:p>
        </p:txBody>
      </p:sp>
      <p:sp>
        <p:nvSpPr>
          <p:cNvPr id="7" name="TextBox 6">
            <a:extLst>
              <a:ext uri="{FF2B5EF4-FFF2-40B4-BE49-F238E27FC236}">
                <a16:creationId xmlns:a16="http://schemas.microsoft.com/office/drawing/2014/main" id="{C968FC13-10AE-34A3-8F5E-96C58DF828E3}"/>
              </a:ext>
            </a:extLst>
          </p:cNvPr>
          <p:cNvSpPr txBox="1"/>
          <p:nvPr/>
        </p:nvSpPr>
        <p:spPr>
          <a:xfrm>
            <a:off x="1681017" y="2240460"/>
            <a:ext cx="8506691" cy="923330"/>
          </a:xfrm>
          <a:prstGeom prst="rect">
            <a:avLst/>
          </a:prstGeom>
          <a:noFill/>
        </p:spPr>
        <p:txBody>
          <a:bodyPr wrap="square">
            <a:spAutoFit/>
          </a:bodyPr>
          <a:lstStyle/>
          <a:p>
            <a:r>
              <a:rPr lang="en-US" dirty="0"/>
              <a:t>The objective of Gradient Descent is to achieve the global minimum of the cost function. During each iteration, parameters are updated based on the computed gradient, guiding the process toward the lowest point on the cost function curve.</a:t>
            </a:r>
          </a:p>
        </p:txBody>
      </p:sp>
      <p:sp>
        <p:nvSpPr>
          <p:cNvPr id="9" name="TextBox 8">
            <a:extLst>
              <a:ext uri="{FF2B5EF4-FFF2-40B4-BE49-F238E27FC236}">
                <a16:creationId xmlns:a16="http://schemas.microsoft.com/office/drawing/2014/main" id="{25AA97DC-5CCF-1531-581A-A59955DD6431}"/>
              </a:ext>
            </a:extLst>
          </p:cNvPr>
          <p:cNvSpPr txBox="1"/>
          <p:nvPr/>
        </p:nvSpPr>
        <p:spPr>
          <a:xfrm>
            <a:off x="1237673" y="3173194"/>
            <a:ext cx="6096000" cy="369332"/>
          </a:xfrm>
          <a:prstGeom prst="rect">
            <a:avLst/>
          </a:prstGeom>
          <a:noFill/>
        </p:spPr>
        <p:txBody>
          <a:bodyPr wrap="square">
            <a:spAutoFit/>
          </a:bodyPr>
          <a:lstStyle/>
          <a:p>
            <a:r>
              <a:rPr lang="en-US" b="1" dirty="0"/>
              <a:t>2. Effect of Learning Rate (α)</a:t>
            </a:r>
          </a:p>
        </p:txBody>
      </p:sp>
      <p:sp>
        <p:nvSpPr>
          <p:cNvPr id="11" name="TextBox 10">
            <a:extLst>
              <a:ext uri="{FF2B5EF4-FFF2-40B4-BE49-F238E27FC236}">
                <a16:creationId xmlns:a16="http://schemas.microsoft.com/office/drawing/2014/main" id="{9B9240FA-2266-7E0A-3221-EAA27795F42A}"/>
              </a:ext>
            </a:extLst>
          </p:cNvPr>
          <p:cNvSpPr txBox="1"/>
          <p:nvPr/>
        </p:nvSpPr>
        <p:spPr>
          <a:xfrm>
            <a:off x="1681017" y="3681881"/>
            <a:ext cx="9005456" cy="1477328"/>
          </a:xfrm>
          <a:prstGeom prst="rect">
            <a:avLst/>
          </a:prstGeom>
          <a:noFill/>
        </p:spPr>
        <p:txBody>
          <a:bodyPr wrap="square">
            <a:spAutoFit/>
          </a:bodyPr>
          <a:lstStyle/>
          <a:p>
            <a:pPr marL="285750" indent="-285750">
              <a:buFont typeface="Arial" panose="020B0604020202020204" pitchFamily="34" charset="0"/>
              <a:buChar char="•"/>
            </a:pPr>
            <a:r>
              <a:rPr lang="en-US" dirty="0"/>
              <a:t>The learning rate controls the size of the steps taken toward the minimum. A small learning rate leads to slow convergence, while a large learning rate might cause overshooting or fluctuation around the minimum.</a:t>
            </a:r>
          </a:p>
          <a:p>
            <a:pPr marL="285750" indent="-285750">
              <a:buFont typeface="Arial" panose="020B0604020202020204" pitchFamily="34" charset="0"/>
              <a:buChar char="•"/>
            </a:pPr>
            <a:r>
              <a:rPr lang="en-US" dirty="0"/>
              <a:t>Experimentation is usually necessary to determine an optimal learning rate that achieves stable and efficient convergence.</a:t>
            </a:r>
          </a:p>
        </p:txBody>
      </p:sp>
      <p:pic>
        <p:nvPicPr>
          <p:cNvPr id="12" name="Picture 4" descr="small learning rate vs big learning rate - Stack Overflow">
            <a:extLst>
              <a:ext uri="{FF2B5EF4-FFF2-40B4-BE49-F238E27FC236}">
                <a16:creationId xmlns:a16="http://schemas.microsoft.com/office/drawing/2014/main" id="{EBFACE5E-B9BD-5C09-6F72-F9DE3A2302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0581" y="5159209"/>
            <a:ext cx="2563092" cy="15626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5788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166</TotalTime>
  <Words>912</Words>
  <Application>Microsoft Office PowerPoint</Application>
  <PresentationFormat>Widescreen</PresentationFormat>
  <Paragraphs>75</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Studio-Feixen-Sans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Nader Genidy</dc:creator>
  <cp:lastModifiedBy>Mahmoud Dy</cp:lastModifiedBy>
  <cp:revision>37</cp:revision>
  <dcterms:created xsi:type="dcterms:W3CDTF">2024-09-03T01:31:30Z</dcterms:created>
  <dcterms:modified xsi:type="dcterms:W3CDTF">2025-09-07T10:19:32Z</dcterms:modified>
</cp:coreProperties>
</file>